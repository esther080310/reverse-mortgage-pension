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media/image101.svg" ContentType="image/svg+xml"/>
  <Override PartName="/ppt/media/image103.svg" ContentType="image/svg+xml"/>
  <Override PartName="/ppt/media/image105.svg" ContentType="image/svg+xml"/>
  <Override PartName="/ppt/media/image107.svg" ContentType="image/svg+xml"/>
  <Override PartName="/ppt/media/image109.svg" ContentType="image/svg+xml"/>
  <Override PartName="/ppt/media/image111.svg" ContentType="image/svg+xml"/>
  <Override PartName="/ppt/media/image113.svg" ContentType="image/svg+xml"/>
  <Override PartName="/ppt/media/image120.svg" ContentType="image/svg+xml"/>
  <Override PartName="/ppt/media/image123.svg" ContentType="image/svg+xml"/>
  <Override PartName="/ppt/media/image125.svg" ContentType="image/svg+xml"/>
  <Override PartName="/ppt/media/image126.svg" ContentType="image/svg+xml"/>
  <Override PartName="/ppt/media/image127.svg" ContentType="image/svg+xml"/>
  <Override PartName="/ppt/media/image129.svg" ContentType="image/svg+xml"/>
  <Override PartName="/ppt/media/image135.svg" ContentType="image/svg+xml"/>
  <Override PartName="/ppt/media/image139.svg" ContentType="image/svg+xml"/>
  <Override PartName="/ppt/media/image143.svg" ContentType="image/svg+xml"/>
  <Override PartName="/ppt/media/image149.svg" ContentType="image/svg+xml"/>
  <Override PartName="/ppt/media/image151.svg" ContentType="image/svg+xml"/>
  <Override PartName="/ppt/media/image153.svg" ContentType="image/svg+xml"/>
  <Override PartName="/ppt/media/image155.svg" ContentType="image/svg+xml"/>
  <Override PartName="/ppt/media/image157.svg" ContentType="image/svg+xml"/>
  <Override PartName="/ppt/media/image22.svg" ContentType="image/svg+xml"/>
  <Override PartName="/ppt/media/image25.svg" ContentType="image/svg+xml"/>
  <Override PartName="/ppt/media/image27.svg" ContentType="image/svg+xml"/>
  <Override PartName="/ppt/media/image34.svg" ContentType="image/svg+xml"/>
  <Override PartName="/ppt/media/image38.svg" ContentType="image/svg+xml"/>
  <Override PartName="/ppt/media/image44.svg" ContentType="image/svg+xml"/>
  <Override PartName="/ppt/media/image46.svg" ContentType="image/svg+xml"/>
  <Override PartName="/ppt/media/image48.svg" ContentType="image/svg+xml"/>
  <Override PartName="/ppt/media/image5.svg" ContentType="image/svg+xml"/>
  <Override PartName="/ppt/media/image50.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72.svg" ContentType="image/svg+xml"/>
  <Override PartName="/ppt/media/image74.svg" ContentType="image/svg+xml"/>
  <Override PartName="/ppt/media/image76.svg" ContentType="image/svg+xml"/>
  <Override PartName="/ppt/media/image81.svg" ContentType="image/svg+xml"/>
  <Override PartName="/ppt/media/image83.svg" ContentType="image/svg+xml"/>
  <Override PartName="/ppt/media/image85.svg" ContentType="image/svg+xml"/>
  <Override PartName="/ppt/media/image87.svg" ContentType="image/svg+xml"/>
  <Override PartName="/ppt/media/image91.svg" ContentType="image/svg+xml"/>
  <Override PartName="/ppt/media/image93.svg" ContentType="image/svg+xml"/>
  <Override PartName="/ppt/media/image95.svg" ContentType="image/svg+xml"/>
  <Override PartName="/ppt/media/image97.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3"/>
    <p:sldMasterId id="2147483672" r:id="rId4"/>
  </p:sldMasterIdLst>
  <p:notesMasterIdLst>
    <p:notesMasterId r:id="rId6"/>
  </p:notesMasterIdLst>
  <p:handoutMasterIdLst>
    <p:handoutMasterId r:id="rId28"/>
  </p:handoutMasterIdLst>
  <p:sldIdLst>
    <p:sldId id="317" r:id="rId5"/>
    <p:sldId id="304" r:id="rId7"/>
    <p:sldId id="300" r:id="rId8"/>
    <p:sldId id="334" r:id="rId9"/>
    <p:sldId id="333" r:id="rId10"/>
    <p:sldId id="329" r:id="rId11"/>
    <p:sldId id="319" r:id="rId12"/>
    <p:sldId id="271" r:id="rId13"/>
    <p:sldId id="320" r:id="rId14"/>
    <p:sldId id="303" r:id="rId15"/>
    <p:sldId id="310" r:id="rId16"/>
    <p:sldId id="316" r:id="rId17"/>
    <p:sldId id="268" r:id="rId18"/>
    <p:sldId id="325" r:id="rId19"/>
    <p:sldId id="326" r:id="rId20"/>
    <p:sldId id="323" r:id="rId21"/>
    <p:sldId id="324" r:id="rId22"/>
    <p:sldId id="328" r:id="rId23"/>
    <p:sldId id="327" r:id="rId24"/>
    <p:sldId id="307" r:id="rId25"/>
    <p:sldId id="321" r:id="rId26"/>
    <p:sldId id="322" r:id="rId27"/>
  </p:sldIdLst>
  <p:sldSz cx="18288000" cy="10287000"/>
  <p:notesSz cx="6858000" cy="9144000"/>
  <p:embeddedFontLst>
    <p:embeddedFont>
      <p:font typeface="微软雅黑" panose="020B0503020204020204" pitchFamily="34" charset="-122"/>
      <p:regular r:id="rId33"/>
    </p:embeddedFont>
    <p:embeddedFont>
      <p:font typeface="Calibri" panose="020F0502020204030204"/>
      <p:regular r:id="rId34"/>
      <p:bold r:id="rId35"/>
      <p:italic r:id="rId36"/>
      <p:boldItalic r:id="rId37"/>
    </p:embeddedFont>
    <p:embeddedFont>
      <p:font typeface="阿里巴巴普惠体 Bold" panose="00020600040101010101" charset="-122"/>
      <p:bold r:id="rId38"/>
    </p:embeddedFont>
    <p:embeddedFont>
      <p:font typeface="可画手书" panose="02010600030101010101" charset="-122"/>
      <p:regular r:id="rId39"/>
    </p:embeddedFont>
    <p:embeddedFont>
      <p:font typeface="演示流云楷" panose="02000600000000000000" charset="-122"/>
      <p:regular r:id="rId40"/>
    </p:embeddedFont>
    <p:embeddedFont>
      <p:font typeface="仿宋" panose="02010609060101010101" charset="-122"/>
      <p:regular r:id="rId41"/>
    </p:embeddedFont>
    <p:embeddedFont>
      <p:font typeface="华文中宋" panose="02010600040101010101" charset="-122"/>
      <p:regular r:id="rId42"/>
    </p:embeddedFont>
    <p:embeddedFont>
      <p:font typeface="华文楷体" panose="02010600040101010101" charset="-122"/>
      <p:regular r:id="rId43"/>
    </p:embeddedFont>
    <p:embeddedFont>
      <p:font typeface="OPPOSans R" panose="00020600040101010101" pitchFamily="18" charset="-122"/>
      <p:regular r:id="rId44"/>
    </p:embeddedFont>
  </p:embeddedFontLst>
  <p:custDataLst>
    <p:tags r:id="rId4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40" userDrawn="1">
          <p15:clr>
            <a:srgbClr val="A4A3A4"/>
          </p15:clr>
        </p15:guide>
        <p15:guide id="2" pos="285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一 宵" initials="一宵" lastIdx="0" clrIdx="0"/>
  <p:cmAuthor id="2" name="欣欣" initials="authorId_241912900" lastIdx="0" clrIdx="1"/>
  <p:cmAuthor id="3" name="WPS" initials="W" lastIdx="0" clrIdx="2"/>
  <p:cmAuthor id="4" name="作者" initials="A" lastIdx="0" clrIdx="3"/>
  <p:cmAuthor id="5" name="WPS_1528025827" initials="authorId_375755511" lastIdx="0" clrIdx="4"/>
  <p:cmAuthor id="6" name="WPS_1679281038" initials="W" lastIdx="0" clrIdx="5"/>
  <p:cmAuthor id="7" name="微软用户" initials="微软用户" lastIdx="0" clrIdx="6"/>
  <p:cmAuthor id="8" name="86135" initials="8" lastIdx="0" clrIdx="7"/>
  <p:cmAuthor id="9" name="朔 张" initials="朔张" lastIdx="0" clrIdx="8"/>
  <p:cmAuthor id="10" name="Administrator" initials="A" lastIdx="0" clrIdx="9"/>
  <p:cmAuthor id="11" name="王习习" initials="王" lastIdx="0" clrIdx="10"/>
  <p:cmAuthor id="12" name=" " initials="" lastIdx="0" clrIdx="11"/>
  <p:cmAuthor id="13" name="40733" initials="4" lastIdx="0" clrIdx="1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7900"/>
    <a:srgbClr val="FFFFFF"/>
    <a:srgbClr val="F89F56"/>
    <a:srgbClr val="DC5400"/>
    <a:srgbClr val="B03600"/>
    <a:srgbClr val="FDF3CF"/>
    <a:srgbClr val="FEF4EC"/>
    <a:srgbClr val="FCD1AE"/>
    <a:srgbClr val="FAB882"/>
    <a:srgbClr val="F79B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873" autoAdjust="0"/>
    <p:restoredTop sz="78593" autoAdjust="0"/>
  </p:normalViewPr>
  <p:slideViewPr>
    <p:cSldViewPr showGuides="1">
      <p:cViewPr varScale="1">
        <p:scale>
          <a:sx n="37" d="100"/>
          <a:sy n="37" d="100"/>
        </p:scale>
        <p:origin x="44" y="716"/>
      </p:cViewPr>
      <p:guideLst>
        <p:guide orient="horz" pos="2340"/>
        <p:guide pos="2854"/>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5" Type="http://schemas.openxmlformats.org/officeDocument/2006/relationships/tags" Target="tags/tag142.xml"/><Relationship Id="rId44" Type="http://schemas.openxmlformats.org/officeDocument/2006/relationships/font" Target="fonts/font12.fntdata"/><Relationship Id="rId43" Type="http://schemas.openxmlformats.org/officeDocument/2006/relationships/font" Target="fonts/font11.fntdata"/><Relationship Id="rId42" Type="http://schemas.openxmlformats.org/officeDocument/2006/relationships/font" Target="fonts/font10.fntdata"/><Relationship Id="rId41" Type="http://schemas.openxmlformats.org/officeDocument/2006/relationships/font" Target="fonts/font9.fntdata"/><Relationship Id="rId40" Type="http://schemas.openxmlformats.org/officeDocument/2006/relationships/font" Target="fonts/font8.fntdata"/><Relationship Id="rId4" Type="http://schemas.openxmlformats.org/officeDocument/2006/relationships/slideMaster" Target="slideMasters/slideMaster3.xml"/><Relationship Id="rId39" Type="http://schemas.openxmlformats.org/officeDocument/2006/relationships/font" Target="fonts/font7.fntdata"/><Relationship Id="rId38" Type="http://schemas.openxmlformats.org/officeDocument/2006/relationships/font" Target="fonts/font6.fntdata"/><Relationship Id="rId37" Type="http://schemas.openxmlformats.org/officeDocument/2006/relationships/font" Target="fonts/font5.fntdata"/><Relationship Id="rId36" Type="http://schemas.openxmlformats.org/officeDocument/2006/relationships/font" Target="fonts/font4.fntdata"/><Relationship Id="rId35" Type="http://schemas.openxmlformats.org/officeDocument/2006/relationships/font" Target="fonts/font3.fntdata"/><Relationship Id="rId34" Type="http://schemas.openxmlformats.org/officeDocument/2006/relationships/font" Target="fonts/font2.fntdata"/><Relationship Id="rId33" Type="http://schemas.openxmlformats.org/officeDocument/2006/relationships/font" Target="fonts/font1.fntdata"/><Relationship Id="rId32" Type="http://schemas.openxmlformats.org/officeDocument/2006/relationships/commentAuthors" Target="commentAuthors.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Master" Target="slideMasters/slideMaster2.xml"/><Relationship Id="rId29" Type="http://schemas.openxmlformats.org/officeDocument/2006/relationships/presProps" Target="presProps.xml"/><Relationship Id="rId28" Type="http://schemas.openxmlformats.org/officeDocument/2006/relationships/handoutMaster" Target="handoutMasters/handoutMaster1.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pitchFamily="34" charset="-122"/>
              <a:cs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pitchFamily="34" charset="-122"/>
                <a:cs typeface="微软雅黑" panose="020B0503020204020204" pitchFamily="34" charset="-122"/>
              </a:rPr>
            </a:fld>
            <a:endParaRPr lang="zh-CN" altLang="en-US">
              <a:latin typeface="微软雅黑" panose="020B0503020204020204" pitchFamily="34" charset="-122"/>
              <a:cs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pitchFamily="34" charset="-122"/>
              <a:cs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pitchFamily="34" charset="-122"/>
                <a:cs typeface="微软雅黑" panose="020B0503020204020204" pitchFamily="34" charset="-122"/>
              </a:rPr>
            </a:fld>
            <a:endParaRPr lang="zh-CN" altLang="en-US">
              <a:latin typeface="微软雅黑" panose="020B0503020204020204" pitchFamily="34" charset="-122"/>
              <a:cs typeface="微软雅黑" panose="020B0503020204020204"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cs typeface="微软雅黑" panose="020B0503020204020204"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cs typeface="微软雅黑" panose="020B0503020204020204" pitchFamily="34" charset="-122"/>
              </a:defRPr>
            </a:lvl1pPr>
          </a:lstStyle>
          <a:p>
            <a:fld id="{0561CAAB-C6A3-421A-B878-E21EE68F432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cs typeface="微软雅黑" panose="020B0503020204020204"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cs typeface="微软雅黑" panose="020B0503020204020204" pitchFamily="34" charset="-122"/>
              </a:defRPr>
            </a:lvl1pPr>
          </a:lstStyle>
          <a:p>
            <a:fld id="{F12B671F-FAC1-4BD5-8E0D-F1207F531139}"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尊敬的评委老师好，我们的大创主题是</a:t>
            </a:r>
            <a:endParaRPr lang="zh-CN" altLang="en-US"/>
          </a:p>
          <a:p>
            <a:r>
              <a:rPr lang="zh-CN" altLang="en-US"/>
              <a:t>上海市信托破局以房养老的策略研究</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在深度老龄化背景下，老年住房是一座规模巨大却长期沉睡的财富池为盘活老年住房资产，以房养老模式应运而生</a:t>
            </a:r>
            <a:endParaRPr lang="zh-CN" altLang="en-US">
              <a:sym typeface="+mn-ea"/>
            </a:endParaRPr>
          </a:p>
          <a:p>
            <a:endParaRPr lang="zh-CN" altLang="en-US"/>
          </a:p>
          <a:p>
            <a:r>
              <a:rPr kumimoji="1" lang="zh-CN" altLang="en-US" dirty="0"/>
              <a:t> 所谓“以房养老”，是指老人将自己房子的资产价值转化为养老资金的一种模式以房养老本该是刚需，但传统模式在政策支持下推行了</a:t>
            </a:r>
            <a:r>
              <a:rPr kumimoji="1" lang="en-US" altLang="zh-CN" dirty="0"/>
              <a:t>10</a:t>
            </a:r>
            <a:r>
              <a:rPr kumimoji="1" lang="zh-CN" altLang="en-US" dirty="0"/>
              <a:t>年，签约数寥寥无几底层问题是，中国家庭对房产价值托付缺乏信任</a:t>
            </a:r>
            <a:endParaRPr kumimoji="1" lang="zh-CN" altLang="en-US" dirty="0"/>
          </a:p>
        </p:txBody>
      </p:sp>
      <p:sp>
        <p:nvSpPr>
          <p:cNvPr id="4" name="灯片编号占位符 3"/>
          <p:cNvSpPr>
            <a:spLocks noGrp="1"/>
          </p:cNvSpPr>
          <p:nvPr>
            <p:ph type="sldNum" sz="quarter" idx="5"/>
          </p:nvPr>
        </p:nvSpPr>
        <p:spPr/>
        <p:txBody>
          <a:bodyPr/>
          <a:lstStyle/>
          <a:p>
            <a:fld id="{F12B671F-FAC1-4BD5-8E0D-F1207F531139}"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而信托，凭借风险隔离、资源整合、权益灵活、期限覆盖四大核心优势，有望重构中国家庭对房产价值托付的底层信任，从而释放巨大养老潜能</a:t>
            </a:r>
            <a:endParaRPr kumimoji="1" lang="zh-CN" altLang="en-US" dirty="0"/>
          </a:p>
        </p:txBody>
      </p:sp>
      <p:sp>
        <p:nvSpPr>
          <p:cNvPr id="4" name="灯片编号占位符 3"/>
          <p:cNvSpPr>
            <a:spLocks noGrp="1"/>
          </p:cNvSpPr>
          <p:nvPr>
            <p:ph type="sldNum" sz="quarter" idx="5"/>
          </p:nvPr>
        </p:nvSpPr>
        <p:spPr/>
        <p:txBody>
          <a:bodyPr/>
          <a:lstStyle/>
          <a:p>
            <a:fld id="{F12B671F-FAC1-4BD5-8E0D-F1207F531139}"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F12B671F-FAC1-4BD5-8E0D-F1207F531139}"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因此，在大创项目中，我们将进一步重点聚焦</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围绕以上三大问题，我们将进行业界实地访谈，验证我们提出两款产品的可行性；并通过动态精算定价细化契约条款；设计出一款数字化管理平台</a:t>
            </a:r>
            <a:endParaRPr lang="zh-CN" altLang="en-US" dirty="0"/>
          </a:p>
        </p:txBody>
      </p:sp>
      <p:sp>
        <p:nvSpPr>
          <p:cNvPr id="4" name="灯片编号占位符 3"/>
          <p:cNvSpPr>
            <a:spLocks noGrp="1"/>
          </p:cNvSpPr>
          <p:nvPr>
            <p:ph type="sldNum" sz="quarter" idx="5"/>
          </p:nvPr>
        </p:nvSpPr>
        <p:spPr/>
        <p:txBody>
          <a:bodyPr/>
          <a:lstStyle/>
          <a:p>
            <a:fld id="{F12B671F-FAC1-4BD5-8E0D-F1207F531139}"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运用这些研究方法</a:t>
            </a:r>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通过对现有文献的解析，我们发现目前类似的研究极为有限</a:t>
            </a:r>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随后我们解析美新日三国以房养老模式，提炼出法律风险隔离、政市协同、产品灵活三大关键经验</a:t>
            </a:r>
            <a:endParaRPr lang="zh-CN" altLang="en-US">
              <a:sym typeface="+mn-ea"/>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回到中国市场，通过词云图、</a:t>
            </a:r>
            <a:r>
              <a:rPr lang="en-US" altLang="zh-CN">
                <a:sym typeface="+mn-ea"/>
              </a:rPr>
              <a:t>LDA</a:t>
            </a:r>
            <a:r>
              <a:rPr lang="zh-CN" altLang="en-US">
                <a:sym typeface="+mn-ea"/>
              </a:rPr>
              <a:t>主题建模等多种分析方法，发现大众目前对房产抵押持保守态度</a:t>
            </a:r>
            <a:endParaRPr lang="zh-CN" altLang="en-US">
              <a:sym typeface="+mn-ea"/>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并对中老年人进行了深度访谈</a:t>
            </a:r>
            <a:endParaRPr lang="zh-CN" altLang="en-US" dirty="0">
              <a:sym typeface="+mn-ea"/>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数据分析发现制度信任和金融素养影响信托以房养老的参与意愿</a:t>
            </a:r>
            <a:endParaRPr lang="zh-CN" altLang="en-US">
              <a:sym typeface="+mn-ea"/>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因此，我们以产品类型、保障增强为自变量，设计情境实验探究其对公众参与意愿的作用效果</a:t>
            </a:r>
            <a:endParaRPr lang="zh-CN" altLang="en-US" dirty="0">
              <a:sym typeface="+mn-ea"/>
            </a:endParaRPr>
          </a:p>
          <a:p>
            <a:endParaRPr lang="zh-CN" altLang="en-US" dirty="0"/>
          </a:p>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发现政府兜底、可赎回能显著增强两代人参与意愿；但他们偏好的产品有所不同</a:t>
            </a:r>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针对老年人偏好的现金型，我们提出保险年金险模式设立信托、银行、保险三方协同的机制，打通房产非交易过户、低息贷款与年金险产品</a:t>
            </a:r>
            <a:endParaRPr lang="zh-CN" altLang="en-US" dirty="0">
              <a:sym typeface="+mn-ea"/>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另一种是针对中青年偏好，提供一站式养老服务，以及风险和收益更高的金融理财</a:t>
            </a:r>
            <a:endParaRPr lang="zh-CN" altLang="en-US" dirty="0"/>
          </a:p>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lvl="1"/>
            <a:r>
              <a:rPr lang="zh-CN" altLang="en-US" dirty="0"/>
              <a:t>项目旨在通过务实的调研，聚焦产品落地</a:t>
            </a:r>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2B671F-FAC1-4BD5-8E0D-F1207F531139}"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最后，希望信托以房养老能唤醒房产的存量价值，成为品质养老的实在支撑，助力家庭和睦我们的答辩到此结束，恳请评委老师批评指正！</a:t>
            </a:r>
            <a:endParaRPr lang="zh-CN" altLang="en-US"/>
          </a:p>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themeOverride" Target="../theme/themeOverride1.xml"/><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8" Type="http://schemas.openxmlformats.org/officeDocument/2006/relationships/notesSlide" Target="../notesSlides/notesSlide1.xml"/><Relationship Id="rId17" Type="http://schemas.openxmlformats.org/officeDocument/2006/relationships/slideLayout" Target="../slideLayouts/slideLayout7.xml"/><Relationship Id="rId16" Type="http://schemas.microsoft.com/office/2007/relationships/hdphoto" Target="../media/image16.wdp"/><Relationship Id="rId15" Type="http://schemas.openxmlformats.org/officeDocument/2006/relationships/image" Target="../media/image15.png"/><Relationship Id="rId14" Type="http://schemas.openxmlformats.org/officeDocument/2006/relationships/image" Target="../media/image14.png"/><Relationship Id="rId13" Type="http://schemas.openxmlformats.org/officeDocument/2006/relationships/image" Target="../media/image13.png"/><Relationship Id="rId12" Type="http://schemas.openxmlformats.org/officeDocument/2006/relationships/image" Target="../media/image12.png"/><Relationship Id="rId11" Type="http://schemas.openxmlformats.org/officeDocument/2006/relationships/image" Target="../media/image11.png"/><Relationship Id="rId10" Type="http://schemas.openxmlformats.org/officeDocument/2006/relationships/image" Target="../media/image10.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tags" Target="../tags/tag2.xml"/><Relationship Id="rId7" Type="http://schemas.openxmlformats.org/officeDocument/2006/relationships/image" Target="../media/image22.svg"/><Relationship Id="rId63" Type="http://schemas.openxmlformats.org/officeDocument/2006/relationships/notesSlide" Target="../notesSlides/notesSlide2.xml"/><Relationship Id="rId62" Type="http://schemas.openxmlformats.org/officeDocument/2006/relationships/slideLayout" Target="../slideLayouts/slideLayout7.xml"/><Relationship Id="rId61" Type="http://schemas.openxmlformats.org/officeDocument/2006/relationships/image" Target="../media/image37.png"/><Relationship Id="rId60" Type="http://schemas.openxmlformats.org/officeDocument/2006/relationships/image" Target="../media/image36.png"/><Relationship Id="rId6" Type="http://schemas.openxmlformats.org/officeDocument/2006/relationships/image" Target="../media/image21.png"/><Relationship Id="rId59" Type="http://schemas.openxmlformats.org/officeDocument/2006/relationships/image" Target="../media/image35.png"/><Relationship Id="rId58" Type="http://schemas.openxmlformats.org/officeDocument/2006/relationships/image" Target="../media/image34.svg"/><Relationship Id="rId57" Type="http://schemas.openxmlformats.org/officeDocument/2006/relationships/image" Target="../media/image33.png"/><Relationship Id="rId56" Type="http://schemas.openxmlformats.org/officeDocument/2006/relationships/image" Target="../media/image32.png"/><Relationship Id="rId55" Type="http://schemas.openxmlformats.org/officeDocument/2006/relationships/image" Target="../media/image31.png"/><Relationship Id="rId54" Type="http://schemas.openxmlformats.org/officeDocument/2006/relationships/image" Target="../media/image30.png"/><Relationship Id="rId53" Type="http://schemas.openxmlformats.org/officeDocument/2006/relationships/image" Target="../media/image29.png"/><Relationship Id="rId52" Type="http://schemas.openxmlformats.org/officeDocument/2006/relationships/image" Target="../media/image28.png"/><Relationship Id="rId51" Type="http://schemas.openxmlformats.org/officeDocument/2006/relationships/image" Target="../media/image27.svg"/><Relationship Id="rId50" Type="http://schemas.openxmlformats.org/officeDocument/2006/relationships/image" Target="../media/image26.png"/><Relationship Id="rId5" Type="http://schemas.openxmlformats.org/officeDocument/2006/relationships/tags" Target="../tags/tag1.xml"/><Relationship Id="rId49" Type="http://schemas.openxmlformats.org/officeDocument/2006/relationships/image" Target="../media/image25.svg"/><Relationship Id="rId48" Type="http://schemas.openxmlformats.org/officeDocument/2006/relationships/image" Target="../media/image24.png"/><Relationship Id="rId47" Type="http://schemas.openxmlformats.org/officeDocument/2006/relationships/tags" Target="../tags/tag40.xml"/><Relationship Id="rId46" Type="http://schemas.openxmlformats.org/officeDocument/2006/relationships/tags" Target="../tags/tag39.xml"/><Relationship Id="rId45" Type="http://schemas.openxmlformats.org/officeDocument/2006/relationships/tags" Target="../tags/tag38.xml"/><Relationship Id="rId44" Type="http://schemas.openxmlformats.org/officeDocument/2006/relationships/tags" Target="../tags/tag37.xml"/><Relationship Id="rId43" Type="http://schemas.openxmlformats.org/officeDocument/2006/relationships/tags" Target="../tags/tag36.xml"/><Relationship Id="rId42" Type="http://schemas.openxmlformats.org/officeDocument/2006/relationships/tags" Target="../tags/tag35.xml"/><Relationship Id="rId41" Type="http://schemas.openxmlformats.org/officeDocument/2006/relationships/tags" Target="../tags/tag34.xml"/><Relationship Id="rId40" Type="http://schemas.openxmlformats.org/officeDocument/2006/relationships/tags" Target="../tags/tag33.xml"/><Relationship Id="rId4" Type="http://schemas.openxmlformats.org/officeDocument/2006/relationships/image" Target="../media/image20.png"/><Relationship Id="rId39" Type="http://schemas.openxmlformats.org/officeDocument/2006/relationships/tags" Target="../tags/tag32.xml"/><Relationship Id="rId38" Type="http://schemas.openxmlformats.org/officeDocument/2006/relationships/tags" Target="../tags/tag31.xml"/><Relationship Id="rId37" Type="http://schemas.openxmlformats.org/officeDocument/2006/relationships/tags" Target="../tags/tag30.xml"/><Relationship Id="rId36" Type="http://schemas.openxmlformats.org/officeDocument/2006/relationships/tags" Target="../tags/tag29.xml"/><Relationship Id="rId35" Type="http://schemas.openxmlformats.org/officeDocument/2006/relationships/tags" Target="../tags/tag28.xml"/><Relationship Id="rId34" Type="http://schemas.openxmlformats.org/officeDocument/2006/relationships/tags" Target="../tags/tag27.xml"/><Relationship Id="rId33" Type="http://schemas.openxmlformats.org/officeDocument/2006/relationships/tags" Target="../tags/tag26.xml"/><Relationship Id="rId32" Type="http://schemas.openxmlformats.org/officeDocument/2006/relationships/tags" Target="../tags/tag25.xml"/><Relationship Id="rId31" Type="http://schemas.openxmlformats.org/officeDocument/2006/relationships/tags" Target="../tags/tag24.xml"/><Relationship Id="rId30" Type="http://schemas.openxmlformats.org/officeDocument/2006/relationships/tags" Target="../tags/tag23.xml"/><Relationship Id="rId3" Type="http://schemas.openxmlformats.org/officeDocument/2006/relationships/image" Target="../media/image19.png"/><Relationship Id="rId29" Type="http://schemas.openxmlformats.org/officeDocument/2006/relationships/tags" Target="../tags/tag22.xml"/><Relationship Id="rId28" Type="http://schemas.openxmlformats.org/officeDocument/2006/relationships/tags" Target="../tags/tag21.xml"/><Relationship Id="rId27" Type="http://schemas.openxmlformats.org/officeDocument/2006/relationships/tags" Target="../tags/tag20.xml"/><Relationship Id="rId26" Type="http://schemas.openxmlformats.org/officeDocument/2006/relationships/tags" Target="../tags/tag19.xml"/><Relationship Id="rId25" Type="http://schemas.openxmlformats.org/officeDocument/2006/relationships/tags" Target="../tags/tag18.xml"/><Relationship Id="rId24" Type="http://schemas.openxmlformats.org/officeDocument/2006/relationships/tags" Target="../tags/tag17.xml"/><Relationship Id="rId23" Type="http://schemas.openxmlformats.org/officeDocument/2006/relationships/tags" Target="../tags/tag16.xml"/><Relationship Id="rId22" Type="http://schemas.openxmlformats.org/officeDocument/2006/relationships/tags" Target="../tags/tag15.xml"/><Relationship Id="rId21" Type="http://schemas.openxmlformats.org/officeDocument/2006/relationships/tags" Target="../tags/tag14.xml"/><Relationship Id="rId20" Type="http://schemas.openxmlformats.org/officeDocument/2006/relationships/tags" Target="../tags/tag13.xml"/><Relationship Id="rId2" Type="http://schemas.openxmlformats.org/officeDocument/2006/relationships/image" Target="../media/image18.png"/><Relationship Id="rId19" Type="http://schemas.openxmlformats.org/officeDocument/2006/relationships/tags" Target="../tags/tag12.xml"/><Relationship Id="rId18" Type="http://schemas.openxmlformats.org/officeDocument/2006/relationships/tags" Target="../tags/tag11.xml"/><Relationship Id="rId17" Type="http://schemas.openxmlformats.org/officeDocument/2006/relationships/tags" Target="../tags/tag10.xml"/><Relationship Id="rId16" Type="http://schemas.openxmlformats.org/officeDocument/2006/relationships/tags" Target="../tags/tag9.xml"/><Relationship Id="rId15" Type="http://schemas.openxmlformats.org/officeDocument/2006/relationships/tags" Target="../tags/tag8.xml"/><Relationship Id="rId14" Type="http://schemas.openxmlformats.org/officeDocument/2006/relationships/tags" Target="../tags/tag7.xml"/><Relationship Id="rId13" Type="http://schemas.openxmlformats.org/officeDocument/2006/relationships/tags" Target="../tags/tag6.xml"/><Relationship Id="rId12" Type="http://schemas.openxmlformats.org/officeDocument/2006/relationships/tags" Target="../tags/tag5.xml"/><Relationship Id="rId11" Type="http://schemas.openxmlformats.org/officeDocument/2006/relationships/tags" Target="../tags/tag4.xml"/><Relationship Id="rId10" Type="http://schemas.openxmlformats.org/officeDocument/2006/relationships/tags" Target="../tags/tag3.xml"/><Relationship Id="rId1" Type="http://schemas.openxmlformats.org/officeDocument/2006/relationships/image" Target="../media/image17.jpeg"/></Relationships>
</file>

<file path=ppt/slides/_rels/slide3.xml.rels><?xml version="1.0" encoding="UTF-8" standalone="yes"?>
<Relationships xmlns="http://schemas.openxmlformats.org/package/2006/relationships"><Relationship Id="rId9" Type="http://schemas.openxmlformats.org/officeDocument/2006/relationships/image" Target="../media/image41.png"/><Relationship Id="rId8" Type="http://schemas.openxmlformats.org/officeDocument/2006/relationships/image" Target="../media/image40.png"/><Relationship Id="rId7" Type="http://schemas.openxmlformats.org/officeDocument/2006/relationships/image" Target="../media/image39.png"/><Relationship Id="rId6" Type="http://schemas.openxmlformats.org/officeDocument/2006/relationships/image" Target="../media/image20.png"/><Relationship Id="rId5" Type="http://schemas.openxmlformats.org/officeDocument/2006/relationships/image" Target="../media/image38.svg"/><Relationship Id="rId4" Type="http://schemas.openxmlformats.org/officeDocument/2006/relationships/image" Target="../media/image26.png"/><Relationship Id="rId3" Type="http://schemas.openxmlformats.org/officeDocument/2006/relationships/image" Target="../media/image19.png"/><Relationship Id="rId22" Type="http://schemas.openxmlformats.org/officeDocument/2006/relationships/notesSlide" Target="../notesSlides/notesSlide3.xml"/><Relationship Id="rId21" Type="http://schemas.openxmlformats.org/officeDocument/2006/relationships/slideLayout" Target="../slideLayouts/slideLayout7.xml"/><Relationship Id="rId20" Type="http://schemas.openxmlformats.org/officeDocument/2006/relationships/image" Target="../media/image8.png"/><Relationship Id="rId2" Type="http://schemas.openxmlformats.org/officeDocument/2006/relationships/image" Target="../media/image18.png"/><Relationship Id="rId19" Type="http://schemas.openxmlformats.org/officeDocument/2006/relationships/image" Target="../media/image7.png"/><Relationship Id="rId18" Type="http://schemas.openxmlformats.org/officeDocument/2006/relationships/image" Target="../media/image50.svg"/><Relationship Id="rId17" Type="http://schemas.openxmlformats.org/officeDocument/2006/relationships/image" Target="../media/image49.png"/><Relationship Id="rId16" Type="http://schemas.openxmlformats.org/officeDocument/2006/relationships/image" Target="../media/image48.svg"/><Relationship Id="rId15" Type="http://schemas.openxmlformats.org/officeDocument/2006/relationships/image" Target="../media/image47.png"/><Relationship Id="rId14" Type="http://schemas.openxmlformats.org/officeDocument/2006/relationships/image" Target="../media/image46.svg"/><Relationship Id="rId13" Type="http://schemas.openxmlformats.org/officeDocument/2006/relationships/image" Target="../media/image45.png"/><Relationship Id="rId12" Type="http://schemas.openxmlformats.org/officeDocument/2006/relationships/image" Target="../media/image44.svg"/><Relationship Id="rId11" Type="http://schemas.openxmlformats.org/officeDocument/2006/relationships/image" Target="../media/image43.png"/><Relationship Id="rId10" Type="http://schemas.openxmlformats.org/officeDocument/2006/relationships/image" Target="../media/image42.png"/><Relationship Id="rId1" Type="http://schemas.openxmlformats.org/officeDocument/2006/relationships/image" Target="../media/image17.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0.png"/><Relationship Id="rId1" Type="http://schemas.openxmlformats.org/officeDocument/2006/relationships/image" Target="../media/image5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0.png"/><Relationship Id="rId1" Type="http://schemas.openxmlformats.org/officeDocument/2006/relationships/image" Target="../media/image5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53.png"/></Relationships>
</file>

<file path=ppt/slides/_rels/slide7.xml.rels><?xml version="1.0" encoding="UTF-8" standalone="yes"?>
<Relationships xmlns="http://schemas.openxmlformats.org/package/2006/relationships"><Relationship Id="rId9" Type="http://schemas.openxmlformats.org/officeDocument/2006/relationships/image" Target="../media/image56.png"/><Relationship Id="rId8" Type="http://schemas.openxmlformats.org/officeDocument/2006/relationships/image" Target="../media/image55.jpeg"/><Relationship Id="rId7" Type="http://schemas.openxmlformats.org/officeDocument/2006/relationships/image" Target="../media/image20.png"/><Relationship Id="rId6" Type="http://schemas.openxmlformats.org/officeDocument/2006/relationships/image" Target="../media/image38.svg"/><Relationship Id="rId5" Type="http://schemas.openxmlformats.org/officeDocument/2006/relationships/image" Target="../media/image26.png"/><Relationship Id="rId4" Type="http://schemas.openxmlformats.org/officeDocument/2006/relationships/image" Target="../media/image19.png"/><Relationship Id="rId3" Type="http://schemas.openxmlformats.org/officeDocument/2006/relationships/image" Target="../media/image54.png"/><Relationship Id="rId2" Type="http://schemas.openxmlformats.org/officeDocument/2006/relationships/image" Target="../media/image18.png"/><Relationship Id="rId13" Type="http://schemas.openxmlformats.org/officeDocument/2006/relationships/notesSlide" Target="../notesSlides/notesSlide5.xml"/><Relationship Id="rId12" Type="http://schemas.openxmlformats.org/officeDocument/2006/relationships/slideLayout" Target="../slideLayouts/slideLayout7.xml"/><Relationship Id="rId11" Type="http://schemas.openxmlformats.org/officeDocument/2006/relationships/image" Target="../media/image58.png"/><Relationship Id="rId10" Type="http://schemas.openxmlformats.org/officeDocument/2006/relationships/image" Target="../media/image57.jpeg"/><Relationship Id="rId1" Type="http://schemas.openxmlformats.org/officeDocument/2006/relationships/image" Target="../media/image17.jpeg"/></Relationships>
</file>

<file path=ppt/slides/_rels/slide8.xml.rels><?xml version="1.0" encoding="UTF-8" standalone="yes"?>
<Relationships xmlns="http://schemas.openxmlformats.org/package/2006/relationships"><Relationship Id="rId9" Type="http://schemas.openxmlformats.org/officeDocument/2006/relationships/image" Target="../media/image63.png"/><Relationship Id="rId8" Type="http://schemas.openxmlformats.org/officeDocument/2006/relationships/image" Target="../media/image62.svg"/><Relationship Id="rId7" Type="http://schemas.openxmlformats.org/officeDocument/2006/relationships/image" Target="../media/image61.png"/><Relationship Id="rId6" Type="http://schemas.openxmlformats.org/officeDocument/2006/relationships/image" Target="../media/image60.jpeg"/><Relationship Id="rId5" Type="http://schemas.openxmlformats.org/officeDocument/2006/relationships/image" Target="../media/image59.png"/><Relationship Id="rId4" Type="http://schemas.openxmlformats.org/officeDocument/2006/relationships/image" Target="../media/image20.png"/><Relationship Id="rId3" Type="http://schemas.openxmlformats.org/officeDocument/2006/relationships/image" Target="../media/image18.png"/><Relationship Id="rId2" Type="http://schemas.openxmlformats.org/officeDocument/2006/relationships/image" Target="../media/image19.png"/><Relationship Id="rId18" Type="http://schemas.openxmlformats.org/officeDocument/2006/relationships/notesSlide" Target="../notesSlides/notesSlide6.xml"/><Relationship Id="rId17" Type="http://schemas.openxmlformats.org/officeDocument/2006/relationships/slideLayout" Target="../slideLayouts/slideLayout7.xml"/><Relationship Id="rId16" Type="http://schemas.openxmlformats.org/officeDocument/2006/relationships/image" Target="../media/image70.png"/><Relationship Id="rId15" Type="http://schemas.openxmlformats.org/officeDocument/2006/relationships/image" Target="../media/image69.png"/><Relationship Id="rId14" Type="http://schemas.openxmlformats.org/officeDocument/2006/relationships/image" Target="../media/image68.svg"/><Relationship Id="rId13" Type="http://schemas.openxmlformats.org/officeDocument/2006/relationships/image" Target="../media/image67.png"/><Relationship Id="rId12" Type="http://schemas.openxmlformats.org/officeDocument/2006/relationships/image" Target="../media/image66.svg"/><Relationship Id="rId11" Type="http://schemas.openxmlformats.org/officeDocument/2006/relationships/image" Target="../media/image65.png"/><Relationship Id="rId10" Type="http://schemas.openxmlformats.org/officeDocument/2006/relationships/image" Target="../media/image64.svg"/><Relationship Id="rId1" Type="http://schemas.openxmlformats.org/officeDocument/2006/relationships/image" Target="../media/image17.jpeg"/></Relationships>
</file>

<file path=ppt/slides/_rels/slide9.xml.rels><?xml version="1.0" encoding="UTF-8" standalone="yes"?>
<Relationships xmlns="http://schemas.openxmlformats.org/package/2006/relationships"><Relationship Id="rId9" Type="http://schemas.openxmlformats.org/officeDocument/2006/relationships/image" Target="../media/image75.png"/><Relationship Id="rId8" Type="http://schemas.openxmlformats.org/officeDocument/2006/relationships/image" Target="../media/image74.svg"/><Relationship Id="rId7" Type="http://schemas.openxmlformats.org/officeDocument/2006/relationships/image" Target="../media/image73.png"/><Relationship Id="rId6" Type="http://schemas.openxmlformats.org/officeDocument/2006/relationships/image" Target="../media/image72.svg"/><Relationship Id="rId5" Type="http://schemas.openxmlformats.org/officeDocument/2006/relationships/image" Target="../media/image71.png"/><Relationship Id="rId4" Type="http://schemas.openxmlformats.org/officeDocument/2006/relationships/image" Target="../media/image20.png"/><Relationship Id="rId30" Type="http://schemas.openxmlformats.org/officeDocument/2006/relationships/notesSlide" Target="../notesSlides/notesSlide7.xml"/><Relationship Id="rId3" Type="http://schemas.openxmlformats.org/officeDocument/2006/relationships/image" Target="../media/image19.png"/><Relationship Id="rId29" Type="http://schemas.openxmlformats.org/officeDocument/2006/relationships/slideLayout" Target="../slideLayouts/slideLayout7.xml"/><Relationship Id="rId28" Type="http://schemas.openxmlformats.org/officeDocument/2006/relationships/image" Target="../media/image79.png"/><Relationship Id="rId27" Type="http://schemas.openxmlformats.org/officeDocument/2006/relationships/tags" Target="../tags/tag55.xml"/><Relationship Id="rId26" Type="http://schemas.openxmlformats.org/officeDocument/2006/relationships/tags" Target="../tags/tag54.xml"/><Relationship Id="rId25" Type="http://schemas.openxmlformats.org/officeDocument/2006/relationships/tags" Target="../tags/tag53.xml"/><Relationship Id="rId24" Type="http://schemas.openxmlformats.org/officeDocument/2006/relationships/tags" Target="../tags/tag52.xml"/><Relationship Id="rId23" Type="http://schemas.openxmlformats.org/officeDocument/2006/relationships/tags" Target="../tags/tag51.xml"/><Relationship Id="rId22" Type="http://schemas.openxmlformats.org/officeDocument/2006/relationships/tags" Target="../tags/tag50.xml"/><Relationship Id="rId21" Type="http://schemas.openxmlformats.org/officeDocument/2006/relationships/tags" Target="../tags/tag49.xml"/><Relationship Id="rId20" Type="http://schemas.openxmlformats.org/officeDocument/2006/relationships/tags" Target="../tags/tag48.xml"/><Relationship Id="rId2" Type="http://schemas.openxmlformats.org/officeDocument/2006/relationships/image" Target="../media/image18.png"/><Relationship Id="rId19" Type="http://schemas.openxmlformats.org/officeDocument/2006/relationships/tags" Target="../tags/tag47.xml"/><Relationship Id="rId18" Type="http://schemas.openxmlformats.org/officeDocument/2006/relationships/tags" Target="../tags/tag46.xml"/><Relationship Id="rId17" Type="http://schemas.openxmlformats.org/officeDocument/2006/relationships/tags" Target="../tags/tag45.xml"/><Relationship Id="rId16" Type="http://schemas.openxmlformats.org/officeDocument/2006/relationships/tags" Target="../tags/tag44.xml"/><Relationship Id="rId15" Type="http://schemas.openxmlformats.org/officeDocument/2006/relationships/tags" Target="../tags/tag43.xml"/><Relationship Id="rId14" Type="http://schemas.openxmlformats.org/officeDocument/2006/relationships/tags" Target="../tags/tag42.xml"/><Relationship Id="rId13" Type="http://schemas.openxmlformats.org/officeDocument/2006/relationships/tags" Target="../tags/tag41.xml"/><Relationship Id="rId12" Type="http://schemas.openxmlformats.org/officeDocument/2006/relationships/image" Target="../media/image78.png"/><Relationship Id="rId11" Type="http://schemas.openxmlformats.org/officeDocument/2006/relationships/image" Target="../media/image77.png"/><Relationship Id="rId10" Type="http://schemas.openxmlformats.org/officeDocument/2006/relationships/image" Target="../media/image76.svg"/><Relationship Id="rId1" Type="http://schemas.openxmlformats.org/officeDocument/2006/relationships/image" Target="../media/image17.jpeg"/></Relationships>
</file>

<file path=ppt/slides/_rels/slide10.xml.rels><?xml version="1.0" encoding="UTF-8" standalone="yes"?>
<Relationships xmlns="http://schemas.openxmlformats.org/package/2006/relationships"><Relationship Id="rId9" Type="http://schemas.openxmlformats.org/officeDocument/2006/relationships/image" Target="../media/image84.png"/><Relationship Id="rId8" Type="http://schemas.openxmlformats.org/officeDocument/2006/relationships/image" Target="../media/image83.svg"/><Relationship Id="rId7" Type="http://schemas.openxmlformats.org/officeDocument/2006/relationships/image" Target="../media/image82.png"/><Relationship Id="rId6" Type="http://schemas.openxmlformats.org/officeDocument/2006/relationships/image" Target="../media/image81.svg"/><Relationship Id="rId5" Type="http://schemas.openxmlformats.org/officeDocument/2006/relationships/image" Target="../media/image80.png"/><Relationship Id="rId4" Type="http://schemas.openxmlformats.org/officeDocument/2006/relationships/image" Target="../media/image20.png"/><Relationship Id="rId3" Type="http://schemas.openxmlformats.org/officeDocument/2006/relationships/image" Target="../media/image19.png"/><Relationship Id="rId20" Type="http://schemas.openxmlformats.org/officeDocument/2006/relationships/notesSlide" Target="../notesSlides/notesSlide8.xml"/><Relationship Id="rId2" Type="http://schemas.openxmlformats.org/officeDocument/2006/relationships/image" Target="../media/image18.png"/><Relationship Id="rId19" Type="http://schemas.openxmlformats.org/officeDocument/2006/relationships/slideLayout" Target="../slideLayouts/slideLayout7.xml"/><Relationship Id="rId18" Type="http://schemas.openxmlformats.org/officeDocument/2006/relationships/image" Target="../media/image93.svg"/><Relationship Id="rId17" Type="http://schemas.openxmlformats.org/officeDocument/2006/relationships/image" Target="../media/image92.png"/><Relationship Id="rId16" Type="http://schemas.openxmlformats.org/officeDocument/2006/relationships/image" Target="../media/image91.svg"/><Relationship Id="rId15" Type="http://schemas.openxmlformats.org/officeDocument/2006/relationships/image" Target="../media/image90.png"/><Relationship Id="rId14" Type="http://schemas.openxmlformats.org/officeDocument/2006/relationships/image" Target="../media/image89.png"/><Relationship Id="rId13" Type="http://schemas.openxmlformats.org/officeDocument/2006/relationships/image" Target="../media/image88.png"/><Relationship Id="rId12" Type="http://schemas.openxmlformats.org/officeDocument/2006/relationships/image" Target="../media/image87.svg"/><Relationship Id="rId11" Type="http://schemas.openxmlformats.org/officeDocument/2006/relationships/image" Target="../media/image86.png"/><Relationship Id="rId10" Type="http://schemas.openxmlformats.org/officeDocument/2006/relationships/image" Target="../media/image85.svg"/><Relationship Id="rId1" Type="http://schemas.openxmlformats.org/officeDocument/2006/relationships/image" Target="../media/image17.jpeg"/></Relationships>
</file>

<file path=ppt/slides/_rels/slide11.xml.rels><?xml version="1.0" encoding="UTF-8" standalone="yes"?>
<Relationships xmlns="http://schemas.openxmlformats.org/package/2006/relationships"><Relationship Id="rId9" Type="http://schemas.openxmlformats.org/officeDocument/2006/relationships/image" Target="../media/image97.svg"/><Relationship Id="rId8" Type="http://schemas.openxmlformats.org/officeDocument/2006/relationships/image" Target="../media/image96.png"/><Relationship Id="rId7" Type="http://schemas.openxmlformats.org/officeDocument/2006/relationships/image" Target="../media/image95.svg"/><Relationship Id="rId6" Type="http://schemas.openxmlformats.org/officeDocument/2006/relationships/image" Target="../media/image94.png"/><Relationship Id="rId5" Type="http://schemas.openxmlformats.org/officeDocument/2006/relationships/image" Target="../media/image60.jpeg"/><Relationship Id="rId4" Type="http://schemas.openxmlformats.org/officeDocument/2006/relationships/image" Target="../media/image20.png"/><Relationship Id="rId3" Type="http://schemas.openxmlformats.org/officeDocument/2006/relationships/image" Target="../media/image19.png"/><Relationship Id="rId27" Type="http://schemas.openxmlformats.org/officeDocument/2006/relationships/notesSlide" Target="../notesSlides/notesSlide9.xml"/><Relationship Id="rId26" Type="http://schemas.openxmlformats.org/officeDocument/2006/relationships/slideLayout" Target="../slideLayouts/slideLayout7.xml"/><Relationship Id="rId25" Type="http://schemas.openxmlformats.org/officeDocument/2006/relationships/image" Target="../media/image113.svg"/><Relationship Id="rId24" Type="http://schemas.openxmlformats.org/officeDocument/2006/relationships/image" Target="../media/image112.png"/><Relationship Id="rId23" Type="http://schemas.openxmlformats.org/officeDocument/2006/relationships/image" Target="../media/image111.svg"/><Relationship Id="rId22" Type="http://schemas.openxmlformats.org/officeDocument/2006/relationships/image" Target="../media/image110.png"/><Relationship Id="rId21" Type="http://schemas.openxmlformats.org/officeDocument/2006/relationships/image" Target="../media/image109.svg"/><Relationship Id="rId20" Type="http://schemas.openxmlformats.org/officeDocument/2006/relationships/image" Target="../media/image108.png"/><Relationship Id="rId2" Type="http://schemas.openxmlformats.org/officeDocument/2006/relationships/image" Target="../media/image18.png"/><Relationship Id="rId19" Type="http://schemas.openxmlformats.org/officeDocument/2006/relationships/image" Target="../media/image107.svg"/><Relationship Id="rId18" Type="http://schemas.openxmlformats.org/officeDocument/2006/relationships/image" Target="../media/image106.png"/><Relationship Id="rId17" Type="http://schemas.openxmlformats.org/officeDocument/2006/relationships/image" Target="../media/image105.svg"/><Relationship Id="rId16" Type="http://schemas.openxmlformats.org/officeDocument/2006/relationships/image" Target="../media/image104.png"/><Relationship Id="rId15" Type="http://schemas.openxmlformats.org/officeDocument/2006/relationships/image" Target="../media/image103.svg"/><Relationship Id="rId14" Type="http://schemas.openxmlformats.org/officeDocument/2006/relationships/image" Target="../media/image102.png"/><Relationship Id="rId13" Type="http://schemas.openxmlformats.org/officeDocument/2006/relationships/image" Target="../media/image101.svg"/><Relationship Id="rId12" Type="http://schemas.openxmlformats.org/officeDocument/2006/relationships/image" Target="../media/image100.png"/><Relationship Id="rId11" Type="http://schemas.openxmlformats.org/officeDocument/2006/relationships/image" Target="../media/image99.svg"/><Relationship Id="rId10" Type="http://schemas.openxmlformats.org/officeDocument/2006/relationships/image" Target="../media/image98.png"/><Relationship Id="rId1" Type="http://schemas.openxmlformats.org/officeDocument/2006/relationships/image" Target="../media/image17.jpeg"/></Relationships>
</file>

<file path=ppt/slides/_rels/slide12.xml.rels><?xml version="1.0" encoding="UTF-8" standalone="yes"?>
<Relationships xmlns="http://schemas.openxmlformats.org/package/2006/relationships"><Relationship Id="rId9" Type="http://schemas.openxmlformats.org/officeDocument/2006/relationships/image" Target="../media/image115.png"/><Relationship Id="rId8" Type="http://schemas.openxmlformats.org/officeDocument/2006/relationships/tags" Target="../tags/tag59.xml"/><Relationship Id="rId7" Type="http://schemas.openxmlformats.org/officeDocument/2006/relationships/image" Target="../media/image114.png"/><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31" Type="http://schemas.openxmlformats.org/officeDocument/2006/relationships/notesSlide" Target="../notesSlides/notesSlide10.xml"/><Relationship Id="rId30" Type="http://schemas.openxmlformats.org/officeDocument/2006/relationships/slideLayout" Target="../slideLayouts/slideLayout7.xml"/><Relationship Id="rId3" Type="http://schemas.openxmlformats.org/officeDocument/2006/relationships/image" Target="../media/image20.png"/><Relationship Id="rId29" Type="http://schemas.openxmlformats.org/officeDocument/2006/relationships/tags" Target="../tags/tag76.xml"/><Relationship Id="rId28" Type="http://schemas.openxmlformats.org/officeDocument/2006/relationships/tags" Target="../tags/tag75.xml"/><Relationship Id="rId27" Type="http://schemas.openxmlformats.org/officeDocument/2006/relationships/tags" Target="../tags/tag74.xml"/><Relationship Id="rId26" Type="http://schemas.openxmlformats.org/officeDocument/2006/relationships/tags" Target="../tags/tag73.xml"/><Relationship Id="rId25" Type="http://schemas.openxmlformats.org/officeDocument/2006/relationships/tags" Target="../tags/tag72.xml"/><Relationship Id="rId24" Type="http://schemas.openxmlformats.org/officeDocument/2006/relationships/tags" Target="../tags/tag71.xml"/><Relationship Id="rId23" Type="http://schemas.openxmlformats.org/officeDocument/2006/relationships/image" Target="../media/image118.png"/><Relationship Id="rId22" Type="http://schemas.openxmlformats.org/officeDocument/2006/relationships/image" Target="../media/image117.png"/><Relationship Id="rId21" Type="http://schemas.openxmlformats.org/officeDocument/2006/relationships/image" Target="../media/image116.png"/><Relationship Id="rId20" Type="http://schemas.openxmlformats.org/officeDocument/2006/relationships/tags" Target="../tags/tag70.xml"/><Relationship Id="rId2" Type="http://schemas.openxmlformats.org/officeDocument/2006/relationships/image" Target="../media/image19.png"/><Relationship Id="rId19" Type="http://schemas.openxmlformats.org/officeDocument/2006/relationships/tags" Target="../tags/tag69.xml"/><Relationship Id="rId18" Type="http://schemas.openxmlformats.org/officeDocument/2006/relationships/tags" Target="../tags/tag68.xml"/><Relationship Id="rId17" Type="http://schemas.openxmlformats.org/officeDocument/2006/relationships/tags" Target="../tags/tag67.xml"/><Relationship Id="rId16" Type="http://schemas.openxmlformats.org/officeDocument/2006/relationships/tags" Target="../tags/tag66.xml"/><Relationship Id="rId15" Type="http://schemas.openxmlformats.org/officeDocument/2006/relationships/tags" Target="../tags/tag65.xml"/><Relationship Id="rId14" Type="http://schemas.openxmlformats.org/officeDocument/2006/relationships/tags" Target="../tags/tag64.xml"/><Relationship Id="rId13" Type="http://schemas.openxmlformats.org/officeDocument/2006/relationships/tags" Target="../tags/tag63.xml"/><Relationship Id="rId12" Type="http://schemas.openxmlformats.org/officeDocument/2006/relationships/tags" Target="../tags/tag62.xml"/><Relationship Id="rId11" Type="http://schemas.openxmlformats.org/officeDocument/2006/relationships/tags" Target="../tags/tag61.xml"/><Relationship Id="rId10" Type="http://schemas.openxmlformats.org/officeDocument/2006/relationships/tags" Target="../tags/tag60.xml"/><Relationship Id="rId1" Type="http://schemas.openxmlformats.org/officeDocument/2006/relationships/image" Target="../media/image17.jpeg"/></Relationships>
</file>

<file path=ppt/slides/_rels/slide13.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4" Type="http://schemas.openxmlformats.org/officeDocument/2006/relationships/notesSlide" Target="../notesSlides/notesSlide11.xml"/><Relationship Id="rId43" Type="http://schemas.openxmlformats.org/officeDocument/2006/relationships/slideLayout" Target="../slideLayouts/slideLayout7.xml"/><Relationship Id="rId42" Type="http://schemas.openxmlformats.org/officeDocument/2006/relationships/tags" Target="../tags/tag114.xml"/><Relationship Id="rId41" Type="http://schemas.openxmlformats.org/officeDocument/2006/relationships/tags" Target="../tags/tag113.xml"/><Relationship Id="rId40" Type="http://schemas.openxmlformats.org/officeDocument/2006/relationships/tags" Target="../tags/tag112.xml"/><Relationship Id="rId4" Type="http://schemas.openxmlformats.org/officeDocument/2006/relationships/image" Target="../media/image20.png"/><Relationship Id="rId39" Type="http://schemas.openxmlformats.org/officeDocument/2006/relationships/tags" Target="../tags/tag111.xml"/><Relationship Id="rId38" Type="http://schemas.openxmlformats.org/officeDocument/2006/relationships/tags" Target="../tags/tag110.xml"/><Relationship Id="rId37" Type="http://schemas.openxmlformats.org/officeDocument/2006/relationships/tags" Target="../tags/tag109.xml"/><Relationship Id="rId36" Type="http://schemas.openxmlformats.org/officeDocument/2006/relationships/tags" Target="../tags/tag108.xml"/><Relationship Id="rId35" Type="http://schemas.openxmlformats.org/officeDocument/2006/relationships/tags" Target="../tags/tag107.xml"/><Relationship Id="rId34" Type="http://schemas.openxmlformats.org/officeDocument/2006/relationships/tags" Target="../tags/tag106.xml"/><Relationship Id="rId33" Type="http://schemas.openxmlformats.org/officeDocument/2006/relationships/tags" Target="../tags/tag105.xml"/><Relationship Id="rId32" Type="http://schemas.openxmlformats.org/officeDocument/2006/relationships/tags" Target="../tags/tag104.xml"/><Relationship Id="rId31" Type="http://schemas.openxmlformats.org/officeDocument/2006/relationships/tags" Target="../tags/tag103.xml"/><Relationship Id="rId30" Type="http://schemas.openxmlformats.org/officeDocument/2006/relationships/tags" Target="../tags/tag102.xml"/><Relationship Id="rId3" Type="http://schemas.openxmlformats.org/officeDocument/2006/relationships/image" Target="../media/image18.png"/><Relationship Id="rId29" Type="http://schemas.openxmlformats.org/officeDocument/2006/relationships/tags" Target="../tags/tag101.xml"/><Relationship Id="rId28" Type="http://schemas.openxmlformats.org/officeDocument/2006/relationships/tags" Target="../tags/tag100.xml"/><Relationship Id="rId27" Type="http://schemas.openxmlformats.org/officeDocument/2006/relationships/tags" Target="../tags/tag99.xml"/><Relationship Id="rId26" Type="http://schemas.openxmlformats.org/officeDocument/2006/relationships/tags" Target="../tags/tag98.xml"/><Relationship Id="rId25" Type="http://schemas.openxmlformats.org/officeDocument/2006/relationships/tags" Target="../tags/tag97.xml"/><Relationship Id="rId24" Type="http://schemas.openxmlformats.org/officeDocument/2006/relationships/tags" Target="../tags/tag96.xml"/><Relationship Id="rId23" Type="http://schemas.openxmlformats.org/officeDocument/2006/relationships/tags" Target="../tags/tag95.xml"/><Relationship Id="rId22" Type="http://schemas.openxmlformats.org/officeDocument/2006/relationships/tags" Target="../tags/tag94.xml"/><Relationship Id="rId21" Type="http://schemas.openxmlformats.org/officeDocument/2006/relationships/tags" Target="../tags/tag93.xml"/><Relationship Id="rId20" Type="http://schemas.openxmlformats.org/officeDocument/2006/relationships/tags" Target="../tags/tag92.xml"/><Relationship Id="rId2" Type="http://schemas.openxmlformats.org/officeDocument/2006/relationships/image" Target="../media/image19.png"/><Relationship Id="rId19" Type="http://schemas.openxmlformats.org/officeDocument/2006/relationships/tags" Target="../tags/tag91.xml"/><Relationship Id="rId18" Type="http://schemas.openxmlformats.org/officeDocument/2006/relationships/tags" Target="../tags/tag90.xml"/><Relationship Id="rId17" Type="http://schemas.openxmlformats.org/officeDocument/2006/relationships/tags" Target="../tags/tag89.xml"/><Relationship Id="rId16" Type="http://schemas.openxmlformats.org/officeDocument/2006/relationships/tags" Target="../tags/tag88.xml"/><Relationship Id="rId15" Type="http://schemas.openxmlformats.org/officeDocument/2006/relationships/tags" Target="../tags/tag87.xml"/><Relationship Id="rId14" Type="http://schemas.openxmlformats.org/officeDocument/2006/relationships/tags" Target="../tags/tag86.xml"/><Relationship Id="rId13" Type="http://schemas.openxmlformats.org/officeDocument/2006/relationships/tags" Target="../tags/tag85.xml"/><Relationship Id="rId12" Type="http://schemas.openxmlformats.org/officeDocument/2006/relationships/tags" Target="../tags/tag84.xml"/><Relationship Id="rId11" Type="http://schemas.openxmlformats.org/officeDocument/2006/relationships/tags" Target="../tags/tag83.xml"/><Relationship Id="rId10" Type="http://schemas.openxmlformats.org/officeDocument/2006/relationships/tags" Target="../tags/tag82.xml"/><Relationship Id="rId1" Type="http://schemas.openxmlformats.org/officeDocument/2006/relationships/image" Target="../media/image17.jpeg"/></Relationships>
</file>

<file path=ppt/slides/_rels/slide14.xml.rels><?xml version="1.0" encoding="UTF-8" standalone="yes"?>
<Relationships xmlns="http://schemas.openxmlformats.org/package/2006/relationships"><Relationship Id="rId9" Type="http://schemas.openxmlformats.org/officeDocument/2006/relationships/image" Target="../media/image121.png"/><Relationship Id="rId8" Type="http://schemas.openxmlformats.org/officeDocument/2006/relationships/image" Target="../media/image60.jpeg"/><Relationship Id="rId7" Type="http://schemas.openxmlformats.org/officeDocument/2006/relationships/image" Target="../media/image59.png"/><Relationship Id="rId6" Type="http://schemas.openxmlformats.org/officeDocument/2006/relationships/image" Target="../media/image120.svg"/><Relationship Id="rId5" Type="http://schemas.openxmlformats.org/officeDocument/2006/relationships/image" Target="../media/image119.png"/><Relationship Id="rId4" Type="http://schemas.openxmlformats.org/officeDocument/2006/relationships/image" Target="../media/image20.png"/><Relationship Id="rId3" Type="http://schemas.openxmlformats.org/officeDocument/2006/relationships/image" Target="../media/image18.png"/><Relationship Id="rId21" Type="http://schemas.openxmlformats.org/officeDocument/2006/relationships/notesSlide" Target="../notesSlides/notesSlide12.xml"/><Relationship Id="rId20" Type="http://schemas.openxmlformats.org/officeDocument/2006/relationships/slideLayout" Target="../slideLayouts/slideLayout7.xml"/><Relationship Id="rId2" Type="http://schemas.openxmlformats.org/officeDocument/2006/relationships/image" Target="../media/image19.png"/><Relationship Id="rId19" Type="http://schemas.openxmlformats.org/officeDocument/2006/relationships/image" Target="../media/image129.svg"/><Relationship Id="rId18" Type="http://schemas.openxmlformats.org/officeDocument/2006/relationships/image" Target="../media/image128.png"/><Relationship Id="rId17" Type="http://schemas.openxmlformats.org/officeDocument/2006/relationships/image" Target="../media/image127.svg"/><Relationship Id="rId16" Type="http://schemas.openxmlformats.org/officeDocument/2006/relationships/image" Target="../media/image67.png"/><Relationship Id="rId15" Type="http://schemas.openxmlformats.org/officeDocument/2006/relationships/image" Target="../media/image126.svg"/><Relationship Id="rId14" Type="http://schemas.openxmlformats.org/officeDocument/2006/relationships/image" Target="../media/image65.png"/><Relationship Id="rId13" Type="http://schemas.openxmlformats.org/officeDocument/2006/relationships/image" Target="../media/image125.svg"/><Relationship Id="rId12" Type="http://schemas.openxmlformats.org/officeDocument/2006/relationships/image" Target="../media/image124.png"/><Relationship Id="rId11" Type="http://schemas.openxmlformats.org/officeDocument/2006/relationships/image" Target="../media/image123.svg"/><Relationship Id="rId10" Type="http://schemas.openxmlformats.org/officeDocument/2006/relationships/image" Target="../media/image122.png"/><Relationship Id="rId1" Type="http://schemas.openxmlformats.org/officeDocument/2006/relationships/image" Target="../media/image17.jpeg"/></Relationships>
</file>

<file path=ppt/slides/_rels/slide15.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slideLayout" Target="../slideLayouts/slideLayout7.xml"/><Relationship Id="rId7" Type="http://schemas.openxmlformats.org/officeDocument/2006/relationships/image" Target="../media/image132.png"/><Relationship Id="rId6" Type="http://schemas.openxmlformats.org/officeDocument/2006/relationships/image" Target="../media/image131.png"/><Relationship Id="rId5" Type="http://schemas.openxmlformats.org/officeDocument/2006/relationships/image" Target="../media/image130.png"/><Relationship Id="rId4" Type="http://schemas.openxmlformats.org/officeDocument/2006/relationships/image" Target="../media/image20.png"/><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image" Target="../media/image17.jpeg"/></Relationships>
</file>

<file path=ppt/slides/_rels/slide16.xml.rels><?xml version="1.0" encoding="UTF-8" standalone="yes"?>
<Relationships xmlns="http://schemas.openxmlformats.org/package/2006/relationships"><Relationship Id="rId9" Type="http://schemas.openxmlformats.org/officeDocument/2006/relationships/tags" Target="../tags/tag121.xml"/><Relationship Id="rId8" Type="http://schemas.openxmlformats.org/officeDocument/2006/relationships/tags" Target="../tags/tag120.xml"/><Relationship Id="rId7" Type="http://schemas.openxmlformats.org/officeDocument/2006/relationships/tags" Target="../tags/tag119.xml"/><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3" Type="http://schemas.openxmlformats.org/officeDocument/2006/relationships/notesSlide" Target="../notesSlides/notesSlide14.xml"/><Relationship Id="rId22" Type="http://schemas.openxmlformats.org/officeDocument/2006/relationships/slideLayout" Target="../slideLayouts/slideLayout7.xml"/><Relationship Id="rId21" Type="http://schemas.openxmlformats.org/officeDocument/2006/relationships/image" Target="../media/image20.png"/><Relationship Id="rId20" Type="http://schemas.openxmlformats.org/officeDocument/2006/relationships/image" Target="../media/image19.png"/><Relationship Id="rId2" Type="http://schemas.openxmlformats.org/officeDocument/2006/relationships/image" Target="../media/image18.png"/><Relationship Id="rId19" Type="http://schemas.openxmlformats.org/officeDocument/2006/relationships/tags" Target="../tags/tag131.xml"/><Relationship Id="rId18" Type="http://schemas.openxmlformats.org/officeDocument/2006/relationships/tags" Target="../tags/tag130.xml"/><Relationship Id="rId17" Type="http://schemas.openxmlformats.org/officeDocument/2006/relationships/tags" Target="../tags/tag129.xml"/><Relationship Id="rId16" Type="http://schemas.openxmlformats.org/officeDocument/2006/relationships/tags" Target="../tags/tag128.xml"/><Relationship Id="rId15" Type="http://schemas.openxmlformats.org/officeDocument/2006/relationships/tags" Target="../tags/tag127.xml"/><Relationship Id="rId14" Type="http://schemas.openxmlformats.org/officeDocument/2006/relationships/tags" Target="../tags/tag126.xml"/><Relationship Id="rId13" Type="http://schemas.openxmlformats.org/officeDocument/2006/relationships/tags" Target="../tags/tag125.xml"/><Relationship Id="rId12" Type="http://schemas.openxmlformats.org/officeDocument/2006/relationships/tags" Target="../tags/tag124.xml"/><Relationship Id="rId11" Type="http://schemas.openxmlformats.org/officeDocument/2006/relationships/tags" Target="../tags/tag123.xml"/><Relationship Id="rId10" Type="http://schemas.openxmlformats.org/officeDocument/2006/relationships/tags" Target="../tags/tag122.xml"/><Relationship Id="rId1" Type="http://schemas.openxmlformats.org/officeDocument/2006/relationships/image" Target="../media/image133.jpeg"/></Relationships>
</file>

<file path=ppt/slides/_rels/slide17.xml.rels><?xml version="1.0" encoding="UTF-8" standalone="yes"?>
<Relationships xmlns="http://schemas.openxmlformats.org/package/2006/relationships"><Relationship Id="rId9" Type="http://schemas.openxmlformats.org/officeDocument/2006/relationships/image" Target="../media/image140.png"/><Relationship Id="rId8" Type="http://schemas.openxmlformats.org/officeDocument/2006/relationships/image" Target="../media/image139.svg"/><Relationship Id="rId7" Type="http://schemas.openxmlformats.org/officeDocument/2006/relationships/image" Target="../media/image138.png"/><Relationship Id="rId6" Type="http://schemas.openxmlformats.org/officeDocument/2006/relationships/image" Target="../media/image137.png"/><Relationship Id="rId5" Type="http://schemas.openxmlformats.org/officeDocument/2006/relationships/image" Target="../media/image136.png"/><Relationship Id="rId4" Type="http://schemas.openxmlformats.org/officeDocument/2006/relationships/image" Target="../media/image135.svg"/><Relationship Id="rId3" Type="http://schemas.openxmlformats.org/officeDocument/2006/relationships/image" Target="../media/image134.png"/><Relationship Id="rId2" Type="http://schemas.openxmlformats.org/officeDocument/2006/relationships/image" Target="../media/image18.png"/><Relationship Id="rId16" Type="http://schemas.openxmlformats.org/officeDocument/2006/relationships/notesSlide" Target="../notesSlides/notesSlide15.xml"/><Relationship Id="rId15" Type="http://schemas.openxmlformats.org/officeDocument/2006/relationships/slideLayout" Target="../slideLayouts/slideLayout7.xml"/><Relationship Id="rId14" Type="http://schemas.openxmlformats.org/officeDocument/2006/relationships/image" Target="../media/image20.png"/><Relationship Id="rId13" Type="http://schemas.openxmlformats.org/officeDocument/2006/relationships/image" Target="../media/image19.png"/><Relationship Id="rId12" Type="http://schemas.openxmlformats.org/officeDocument/2006/relationships/image" Target="../media/image143.svg"/><Relationship Id="rId11" Type="http://schemas.openxmlformats.org/officeDocument/2006/relationships/image" Target="../media/image142.png"/><Relationship Id="rId10" Type="http://schemas.openxmlformats.org/officeDocument/2006/relationships/image" Target="../media/image141.png"/><Relationship Id="rId1" Type="http://schemas.openxmlformats.org/officeDocument/2006/relationships/image" Target="../media/image17.jpeg"/></Relationships>
</file>

<file path=ppt/slides/_rels/slide18.xml.rels><?xml version="1.0" encoding="UTF-8" standalone="yes"?>
<Relationships xmlns="http://schemas.openxmlformats.org/package/2006/relationships"><Relationship Id="rId9" Type="http://schemas.openxmlformats.org/officeDocument/2006/relationships/notesSlide" Target="../notesSlides/notesSlide16.xml"/><Relationship Id="rId8" Type="http://schemas.openxmlformats.org/officeDocument/2006/relationships/slideLayout" Target="../slideLayouts/slideLayout7.xml"/><Relationship Id="rId7" Type="http://schemas.openxmlformats.org/officeDocument/2006/relationships/image" Target="../media/image146.png"/><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20.png"/><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image" Target="../media/image17.jpeg"/></Relationships>
</file>

<file path=ppt/slides/_rels/slide19.xml.rels><?xml version="1.0" encoding="UTF-8" standalone="yes"?>
<Relationships xmlns="http://schemas.openxmlformats.org/package/2006/relationships"><Relationship Id="rId9" Type="http://schemas.openxmlformats.org/officeDocument/2006/relationships/notesSlide" Target="../notesSlides/notesSlide17.xml"/><Relationship Id="rId8" Type="http://schemas.openxmlformats.org/officeDocument/2006/relationships/slideLayout" Target="../slideLayouts/slideLayout7.xml"/><Relationship Id="rId7" Type="http://schemas.openxmlformats.org/officeDocument/2006/relationships/image" Target="../media/image145.png"/><Relationship Id="rId6" Type="http://schemas.openxmlformats.org/officeDocument/2006/relationships/image" Target="../media/image144.png"/><Relationship Id="rId5" Type="http://schemas.openxmlformats.org/officeDocument/2006/relationships/image" Target="../media/image147.png"/><Relationship Id="rId4" Type="http://schemas.openxmlformats.org/officeDocument/2006/relationships/image" Target="../media/image20.png"/><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image" Target="../media/image17.jpeg"/></Relationships>
</file>

<file path=ppt/slides/_rels/slide20.xml.rels><?xml version="1.0" encoding="UTF-8" standalone="yes"?>
<Relationships xmlns="http://schemas.openxmlformats.org/package/2006/relationships"><Relationship Id="rId9" Type="http://schemas.openxmlformats.org/officeDocument/2006/relationships/image" Target="../media/image150.png"/><Relationship Id="rId8" Type="http://schemas.openxmlformats.org/officeDocument/2006/relationships/tags" Target="../tags/tag133.xml"/><Relationship Id="rId7" Type="http://schemas.openxmlformats.org/officeDocument/2006/relationships/image" Target="../media/image149.svg"/><Relationship Id="rId6" Type="http://schemas.openxmlformats.org/officeDocument/2006/relationships/image" Target="../media/image148.png"/><Relationship Id="rId5" Type="http://schemas.openxmlformats.org/officeDocument/2006/relationships/tags" Target="../tags/tag132.xml"/><Relationship Id="rId4" Type="http://schemas.openxmlformats.org/officeDocument/2006/relationships/image" Target="../media/image20.png"/><Relationship Id="rId3" Type="http://schemas.openxmlformats.org/officeDocument/2006/relationships/image" Target="../media/image19.png"/><Relationship Id="rId29" Type="http://schemas.openxmlformats.org/officeDocument/2006/relationships/notesSlide" Target="../notesSlides/notesSlide18.xml"/><Relationship Id="rId28" Type="http://schemas.openxmlformats.org/officeDocument/2006/relationships/slideLayout" Target="../slideLayouts/slideLayout18.xml"/><Relationship Id="rId27" Type="http://schemas.openxmlformats.org/officeDocument/2006/relationships/image" Target="../media/image70.png"/><Relationship Id="rId26" Type="http://schemas.openxmlformats.org/officeDocument/2006/relationships/image" Target="../media/image69.png"/><Relationship Id="rId25" Type="http://schemas.openxmlformats.org/officeDocument/2006/relationships/image" Target="../media/image158.png"/><Relationship Id="rId24" Type="http://schemas.openxmlformats.org/officeDocument/2006/relationships/tags" Target="../tags/tag141.xml"/><Relationship Id="rId23" Type="http://schemas.openxmlformats.org/officeDocument/2006/relationships/tags" Target="../tags/tag140.xml"/><Relationship Id="rId22" Type="http://schemas.openxmlformats.org/officeDocument/2006/relationships/tags" Target="../tags/tag139.xml"/><Relationship Id="rId21" Type="http://schemas.openxmlformats.org/officeDocument/2006/relationships/tags" Target="../tags/tag138.xml"/><Relationship Id="rId20" Type="http://schemas.openxmlformats.org/officeDocument/2006/relationships/tags" Target="../tags/tag137.xml"/><Relationship Id="rId2" Type="http://schemas.openxmlformats.org/officeDocument/2006/relationships/image" Target="../media/image18.png"/><Relationship Id="rId19" Type="http://schemas.openxmlformats.org/officeDocument/2006/relationships/tags" Target="../tags/tag136.xml"/><Relationship Id="rId18" Type="http://schemas.openxmlformats.org/officeDocument/2006/relationships/image" Target="../media/image157.svg"/><Relationship Id="rId17" Type="http://schemas.openxmlformats.org/officeDocument/2006/relationships/image" Target="../media/image156.png"/><Relationship Id="rId16" Type="http://schemas.openxmlformats.org/officeDocument/2006/relationships/image" Target="../media/image155.svg"/><Relationship Id="rId15" Type="http://schemas.openxmlformats.org/officeDocument/2006/relationships/image" Target="../media/image154.png"/><Relationship Id="rId14" Type="http://schemas.openxmlformats.org/officeDocument/2006/relationships/tags" Target="../tags/tag135.xml"/><Relationship Id="rId13" Type="http://schemas.openxmlformats.org/officeDocument/2006/relationships/image" Target="../media/image153.svg"/><Relationship Id="rId12" Type="http://schemas.openxmlformats.org/officeDocument/2006/relationships/image" Target="../media/image152.png"/><Relationship Id="rId11" Type="http://schemas.openxmlformats.org/officeDocument/2006/relationships/tags" Target="../tags/tag134.xml"/><Relationship Id="rId10" Type="http://schemas.openxmlformats.org/officeDocument/2006/relationships/image" Target="../media/image151.svg"/><Relationship Id="rId1" Type="http://schemas.openxmlformats.org/officeDocument/2006/relationships/image" Target="../media/image17.jpe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18.xml"/><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jpeg"/></Relationships>
</file>

<file path=ppt/slides/_rels/slide22.xml.rels><?xml version="1.0" encoding="UTF-8" standalone="yes"?>
<Relationships xmlns="http://schemas.openxmlformats.org/package/2006/relationships"><Relationship Id="rId9" Type="http://schemas.openxmlformats.org/officeDocument/2006/relationships/image" Target="../media/image161.png"/><Relationship Id="rId8" Type="http://schemas.openxmlformats.org/officeDocument/2006/relationships/image" Target="../media/image160.png"/><Relationship Id="rId7" Type="http://schemas.openxmlformats.org/officeDocument/2006/relationships/image" Target="../media/image12.png"/><Relationship Id="rId6" Type="http://schemas.openxmlformats.org/officeDocument/2006/relationships/image" Target="../media/image38.svg"/><Relationship Id="rId5" Type="http://schemas.openxmlformats.org/officeDocument/2006/relationships/image" Target="../media/image159.png"/><Relationship Id="rId4" Type="http://schemas.openxmlformats.org/officeDocument/2006/relationships/image" Target="../media/image54.png"/><Relationship Id="rId3" Type="http://schemas.openxmlformats.org/officeDocument/2006/relationships/image" Target="../media/image6.png"/><Relationship Id="rId2" Type="http://schemas.openxmlformats.org/officeDocument/2006/relationships/image" Target="../media/image3.png"/><Relationship Id="rId12" Type="http://schemas.openxmlformats.org/officeDocument/2006/relationships/notesSlide" Target="../notesSlides/notesSlide20.xml"/><Relationship Id="rId11" Type="http://schemas.openxmlformats.org/officeDocument/2006/relationships/slideLayout" Target="../slideLayouts/slideLayout7.xml"/><Relationship Id="rId10" Type="http://schemas.microsoft.com/office/2007/relationships/hdphoto" Target="../media/image16.wdp"/><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0"/>
            <a:ext cx="18409097" cy="10516306"/>
          </a:xfrm>
          <a:custGeom>
            <a:avLst/>
            <a:gdLst/>
            <a:ahLst/>
            <a:cxnLst/>
            <a:rect l="l" t="t" r="r" b="b"/>
            <a:pathLst>
              <a:path w="18409097" h="10516306">
                <a:moveTo>
                  <a:pt x="0" y="0"/>
                </a:moveTo>
                <a:lnTo>
                  <a:pt x="18409097" y="0"/>
                </a:lnTo>
                <a:lnTo>
                  <a:pt x="18409097" y="10516306"/>
                </a:lnTo>
                <a:lnTo>
                  <a:pt x="0" y="10516306"/>
                </a:lnTo>
                <a:lnTo>
                  <a:pt x="0" y="0"/>
                </a:lnTo>
                <a:close/>
              </a:path>
            </a:pathLst>
          </a:custGeom>
          <a:blipFill>
            <a:blip r:embed="rId1"/>
            <a:stretch>
              <a:fillRect l="-676" r="-676"/>
            </a:stretch>
          </a:blipFill>
        </p:spPr>
      </p:sp>
      <p:sp>
        <p:nvSpPr>
          <p:cNvPr id="3" name="Freeform 3"/>
          <p:cNvSpPr/>
          <p:nvPr/>
        </p:nvSpPr>
        <p:spPr>
          <a:xfrm>
            <a:off x="0" y="563457"/>
            <a:ext cx="9491267" cy="7367596"/>
          </a:xfrm>
          <a:custGeom>
            <a:avLst/>
            <a:gdLst/>
            <a:ahLst/>
            <a:cxnLst/>
            <a:rect l="l" t="t" r="r" b="b"/>
            <a:pathLst>
              <a:path w="9491267" h="7367596">
                <a:moveTo>
                  <a:pt x="0" y="0"/>
                </a:moveTo>
                <a:lnTo>
                  <a:pt x="9491267" y="0"/>
                </a:lnTo>
                <a:lnTo>
                  <a:pt x="9491267" y="7367596"/>
                </a:lnTo>
                <a:lnTo>
                  <a:pt x="0" y="7367596"/>
                </a:lnTo>
                <a:lnTo>
                  <a:pt x="0" y="0"/>
                </a:lnTo>
                <a:close/>
              </a:path>
            </a:pathLst>
          </a:custGeom>
          <a:blipFill>
            <a:blip r:embed="rId2">
              <a:alphaModFix amt="30000"/>
            </a:blip>
            <a:stretch>
              <a:fillRect/>
            </a:stretch>
          </a:blipFill>
        </p:spPr>
      </p:sp>
      <p:sp>
        <p:nvSpPr>
          <p:cNvPr id="4" name="Freeform 4"/>
          <p:cNvSpPr/>
          <p:nvPr/>
        </p:nvSpPr>
        <p:spPr>
          <a:xfrm>
            <a:off x="-2429673" y="8142545"/>
            <a:ext cx="13708378" cy="2233323"/>
          </a:xfrm>
          <a:custGeom>
            <a:avLst/>
            <a:gdLst/>
            <a:ahLst/>
            <a:cxnLst/>
            <a:rect l="l" t="t" r="r" b="b"/>
            <a:pathLst>
              <a:path w="13708378" h="2233323">
                <a:moveTo>
                  <a:pt x="0" y="0"/>
                </a:moveTo>
                <a:lnTo>
                  <a:pt x="13708378" y="0"/>
                </a:lnTo>
                <a:lnTo>
                  <a:pt x="13708378" y="2233324"/>
                </a:lnTo>
                <a:lnTo>
                  <a:pt x="0" y="2233324"/>
                </a:lnTo>
                <a:lnTo>
                  <a:pt x="0" y="0"/>
                </a:lnTo>
                <a:close/>
              </a:path>
            </a:pathLst>
          </a:custGeom>
          <a:blipFill>
            <a:blip r:embed="rId3"/>
            <a:stretch>
              <a:fillRect/>
            </a:stretch>
          </a:blipFill>
        </p:spPr>
      </p:sp>
      <p:sp>
        <p:nvSpPr>
          <p:cNvPr id="5" name="Freeform 5"/>
          <p:cNvSpPr/>
          <p:nvPr/>
        </p:nvSpPr>
        <p:spPr>
          <a:xfrm>
            <a:off x="1519360" y="7724332"/>
            <a:ext cx="7315200" cy="2340864"/>
          </a:xfrm>
          <a:custGeom>
            <a:avLst/>
            <a:gdLst/>
            <a:ahLst/>
            <a:cxnLst/>
            <a:rect l="l" t="t" r="r" b="b"/>
            <a:pathLst>
              <a:path w="7315200" h="2340864">
                <a:moveTo>
                  <a:pt x="0" y="0"/>
                </a:moveTo>
                <a:lnTo>
                  <a:pt x="7315200" y="0"/>
                </a:lnTo>
                <a:lnTo>
                  <a:pt x="7315200" y="2340864"/>
                </a:lnTo>
                <a:lnTo>
                  <a:pt x="0" y="2340864"/>
                </a:lnTo>
                <a:lnTo>
                  <a:pt x="0" y="0"/>
                </a:lnTo>
                <a:close/>
              </a:path>
            </a:pathLst>
          </a:custGeom>
          <a:blipFill>
            <a:blip r:embed="rId4">
              <a:alphaModFix amt="60000"/>
              <a:extLst>
                <a:ext uri="{96DAC541-7B7A-43D3-8B79-37D633B846F1}">
                  <asvg:svgBlip xmlns:asvg="http://schemas.microsoft.com/office/drawing/2016/SVG/main" r:embed="rId5"/>
                </a:ext>
              </a:extLst>
            </a:blip>
            <a:stretch>
              <a:fillRect/>
            </a:stretch>
          </a:blipFill>
        </p:spPr>
      </p:sp>
      <p:sp>
        <p:nvSpPr>
          <p:cNvPr id="6" name="Freeform 6"/>
          <p:cNvSpPr/>
          <p:nvPr/>
        </p:nvSpPr>
        <p:spPr>
          <a:xfrm>
            <a:off x="-1014377" y="7029239"/>
            <a:ext cx="3083848" cy="2883398"/>
          </a:xfrm>
          <a:custGeom>
            <a:avLst/>
            <a:gdLst/>
            <a:ahLst/>
            <a:cxnLst/>
            <a:rect l="l" t="t" r="r" b="b"/>
            <a:pathLst>
              <a:path w="3083848" h="2883398">
                <a:moveTo>
                  <a:pt x="0" y="0"/>
                </a:moveTo>
                <a:lnTo>
                  <a:pt x="3083848" y="0"/>
                </a:lnTo>
                <a:lnTo>
                  <a:pt x="3083848" y="2883397"/>
                </a:lnTo>
                <a:lnTo>
                  <a:pt x="0" y="2883397"/>
                </a:lnTo>
                <a:lnTo>
                  <a:pt x="0" y="0"/>
                </a:lnTo>
                <a:close/>
              </a:path>
            </a:pathLst>
          </a:custGeom>
          <a:blipFill>
            <a:blip r:embed="rId6"/>
            <a:stretch>
              <a:fillRect/>
            </a:stretch>
          </a:blipFill>
        </p:spPr>
      </p:sp>
      <p:grpSp>
        <p:nvGrpSpPr>
          <p:cNvPr id="7" name="Group 7"/>
          <p:cNvGrpSpPr/>
          <p:nvPr/>
        </p:nvGrpSpPr>
        <p:grpSpPr>
          <a:xfrm>
            <a:off x="-659163" y="6428047"/>
            <a:ext cx="19359385" cy="5431995"/>
            <a:chOff x="0" y="0"/>
            <a:chExt cx="25812513" cy="7242659"/>
          </a:xfrm>
        </p:grpSpPr>
        <p:sp>
          <p:nvSpPr>
            <p:cNvPr id="8" name="Freeform 8"/>
            <p:cNvSpPr/>
            <p:nvPr/>
          </p:nvSpPr>
          <p:spPr>
            <a:xfrm rot="149234">
              <a:off x="129408" y="551966"/>
              <a:ext cx="25566632" cy="5922828"/>
            </a:xfrm>
            <a:custGeom>
              <a:avLst/>
              <a:gdLst/>
              <a:ahLst/>
              <a:cxnLst/>
              <a:rect l="l" t="t" r="r" b="b"/>
              <a:pathLst>
                <a:path w="25566632" h="5922828">
                  <a:moveTo>
                    <a:pt x="0" y="0"/>
                  </a:moveTo>
                  <a:lnTo>
                    <a:pt x="25566632" y="0"/>
                  </a:lnTo>
                  <a:lnTo>
                    <a:pt x="25566632" y="5922827"/>
                  </a:lnTo>
                  <a:lnTo>
                    <a:pt x="0" y="5922827"/>
                  </a:lnTo>
                  <a:lnTo>
                    <a:pt x="0" y="0"/>
                  </a:lnTo>
                  <a:close/>
                </a:path>
              </a:pathLst>
            </a:custGeom>
            <a:blipFill>
              <a:blip r:embed="rId7"/>
              <a:stretch>
                <a:fillRect t="-8274" b="-8274"/>
              </a:stretch>
            </a:blipFill>
          </p:spPr>
        </p:sp>
        <p:sp>
          <p:nvSpPr>
            <p:cNvPr id="9" name="Freeform 9"/>
            <p:cNvSpPr/>
            <p:nvPr/>
          </p:nvSpPr>
          <p:spPr>
            <a:xfrm rot="149234">
              <a:off x="116473" y="767866"/>
              <a:ext cx="25566632" cy="5922828"/>
            </a:xfrm>
            <a:custGeom>
              <a:avLst/>
              <a:gdLst/>
              <a:ahLst/>
              <a:cxnLst/>
              <a:rect l="l" t="t" r="r" b="b"/>
              <a:pathLst>
                <a:path w="25566632" h="5922828">
                  <a:moveTo>
                    <a:pt x="0" y="0"/>
                  </a:moveTo>
                  <a:lnTo>
                    <a:pt x="25566632" y="0"/>
                  </a:lnTo>
                  <a:lnTo>
                    <a:pt x="25566632" y="5922827"/>
                  </a:lnTo>
                  <a:lnTo>
                    <a:pt x="0" y="5922827"/>
                  </a:lnTo>
                  <a:lnTo>
                    <a:pt x="0" y="0"/>
                  </a:lnTo>
                  <a:close/>
                </a:path>
              </a:pathLst>
            </a:custGeom>
            <a:blipFill>
              <a:blip r:embed="rId8"/>
              <a:stretch>
                <a:fillRect t="-8274" b="-8274"/>
              </a:stretch>
            </a:blipFill>
          </p:spPr>
        </p:sp>
      </p:grpSp>
      <p:sp>
        <p:nvSpPr>
          <p:cNvPr id="10" name="Freeform 10"/>
          <p:cNvSpPr/>
          <p:nvPr/>
        </p:nvSpPr>
        <p:spPr>
          <a:xfrm>
            <a:off x="10836552" y="5348252"/>
            <a:ext cx="7451448" cy="5588586"/>
          </a:xfrm>
          <a:custGeom>
            <a:avLst/>
            <a:gdLst/>
            <a:ahLst/>
            <a:cxnLst/>
            <a:rect l="l" t="t" r="r" b="b"/>
            <a:pathLst>
              <a:path w="7451448" h="5588586">
                <a:moveTo>
                  <a:pt x="0" y="0"/>
                </a:moveTo>
                <a:lnTo>
                  <a:pt x="7451448" y="0"/>
                </a:lnTo>
                <a:lnTo>
                  <a:pt x="7451448" y="5588586"/>
                </a:lnTo>
                <a:lnTo>
                  <a:pt x="0" y="5588586"/>
                </a:lnTo>
                <a:lnTo>
                  <a:pt x="0" y="0"/>
                </a:lnTo>
                <a:close/>
              </a:path>
            </a:pathLst>
          </a:custGeom>
          <a:blipFill>
            <a:blip r:embed="rId9"/>
            <a:stretch>
              <a:fillRect/>
            </a:stretch>
          </a:blipFill>
        </p:spPr>
      </p:sp>
      <p:sp>
        <p:nvSpPr>
          <p:cNvPr id="11" name="Freeform 11"/>
          <p:cNvSpPr/>
          <p:nvPr/>
        </p:nvSpPr>
        <p:spPr>
          <a:xfrm>
            <a:off x="153014" y="2293080"/>
            <a:ext cx="2404648" cy="2400757"/>
          </a:xfrm>
          <a:custGeom>
            <a:avLst/>
            <a:gdLst/>
            <a:ahLst/>
            <a:cxnLst/>
            <a:rect l="l" t="t" r="r" b="b"/>
            <a:pathLst>
              <a:path w="2404648" h="2400757">
                <a:moveTo>
                  <a:pt x="0" y="0"/>
                </a:moveTo>
                <a:lnTo>
                  <a:pt x="2404648" y="0"/>
                </a:lnTo>
                <a:lnTo>
                  <a:pt x="2404648" y="2400757"/>
                </a:lnTo>
                <a:lnTo>
                  <a:pt x="0" y="2400757"/>
                </a:lnTo>
                <a:lnTo>
                  <a:pt x="0" y="0"/>
                </a:lnTo>
                <a:close/>
              </a:path>
            </a:pathLst>
          </a:custGeom>
          <a:blipFill>
            <a:blip r:embed="rId10">
              <a:alphaModFix amt="43000"/>
            </a:blip>
            <a:stretch>
              <a:fillRect/>
            </a:stretch>
          </a:blipFill>
        </p:spPr>
      </p:sp>
      <p:sp>
        <p:nvSpPr>
          <p:cNvPr id="12" name="Freeform 12"/>
          <p:cNvSpPr/>
          <p:nvPr/>
        </p:nvSpPr>
        <p:spPr>
          <a:xfrm flipH="1">
            <a:off x="1176614" y="363432"/>
            <a:ext cx="2603792" cy="2293816"/>
          </a:xfrm>
          <a:custGeom>
            <a:avLst/>
            <a:gdLst/>
            <a:ahLst/>
            <a:cxnLst/>
            <a:rect l="l" t="t" r="r" b="b"/>
            <a:pathLst>
              <a:path w="2603792" h="2293816">
                <a:moveTo>
                  <a:pt x="2603792" y="0"/>
                </a:moveTo>
                <a:lnTo>
                  <a:pt x="0" y="0"/>
                </a:lnTo>
                <a:lnTo>
                  <a:pt x="0" y="2293816"/>
                </a:lnTo>
                <a:lnTo>
                  <a:pt x="2603792" y="2293816"/>
                </a:lnTo>
                <a:lnTo>
                  <a:pt x="2603792" y="0"/>
                </a:lnTo>
                <a:close/>
              </a:path>
            </a:pathLst>
          </a:custGeom>
          <a:blipFill>
            <a:blip r:embed="rId11"/>
            <a:stretch>
              <a:fillRect/>
            </a:stretch>
          </a:blipFill>
        </p:spPr>
      </p:sp>
      <p:sp>
        <p:nvSpPr>
          <p:cNvPr id="13" name="Freeform 13"/>
          <p:cNvSpPr/>
          <p:nvPr/>
        </p:nvSpPr>
        <p:spPr>
          <a:xfrm>
            <a:off x="5018656" y="227623"/>
            <a:ext cx="8647771" cy="2003178"/>
          </a:xfrm>
          <a:custGeom>
            <a:avLst/>
            <a:gdLst/>
            <a:ahLst/>
            <a:cxnLst/>
            <a:rect l="l" t="t" r="r" b="b"/>
            <a:pathLst>
              <a:path w="8647771" h="2003178">
                <a:moveTo>
                  <a:pt x="0" y="0"/>
                </a:moveTo>
                <a:lnTo>
                  <a:pt x="8647770" y="0"/>
                </a:lnTo>
                <a:lnTo>
                  <a:pt x="8647770" y="2003178"/>
                </a:lnTo>
                <a:lnTo>
                  <a:pt x="0" y="2003178"/>
                </a:lnTo>
                <a:lnTo>
                  <a:pt x="0" y="0"/>
                </a:lnTo>
                <a:close/>
              </a:path>
            </a:pathLst>
          </a:custGeom>
          <a:blipFill>
            <a:blip r:embed="rId12"/>
            <a:stretch>
              <a:fillRect/>
            </a:stretch>
          </a:blipFill>
        </p:spPr>
      </p:sp>
      <p:sp>
        <p:nvSpPr>
          <p:cNvPr id="14" name="TextBox 14"/>
          <p:cNvSpPr txBox="1"/>
          <p:nvPr/>
        </p:nvSpPr>
        <p:spPr>
          <a:xfrm>
            <a:off x="2267853" y="3617052"/>
            <a:ext cx="8808353" cy="2625779"/>
          </a:xfrm>
          <a:prstGeom prst="rect">
            <a:avLst/>
          </a:prstGeom>
        </p:spPr>
        <p:txBody>
          <a:bodyPr lIns="0" tIns="0" rIns="0" bIns="0" rtlCol="0" anchor="t">
            <a:spAutoFit/>
          </a:bodyPr>
          <a:lstStyle/>
          <a:p>
            <a:pPr marL="0" marR="0" lvl="0" indent="0" algn="r" defTabSz="914400" rtl="0" eaLnBrk="1" fontAlgn="auto" latinLnBrk="0" hangingPunct="1">
              <a:lnSpc>
                <a:spcPts val="7000"/>
              </a:lnSpc>
              <a:spcBef>
                <a:spcPts val="0"/>
              </a:spcBef>
              <a:spcAft>
                <a:spcPts val="0"/>
              </a:spcAft>
              <a:buClrTx/>
              <a:buSzTx/>
              <a:buFontTx/>
              <a:buNone/>
              <a:defRPr/>
            </a:pPr>
            <a:endParaRPr kumimoji="0" sz="1800" b="0" i="0" u="none" strike="noStrike" kern="1200" cap="none" spc="0" normalizeH="0" baseline="0" noProof="0" dirty="0">
              <a:ln>
                <a:noFill/>
              </a:ln>
              <a:solidFill>
                <a:prstClr val="black"/>
              </a:solidFill>
              <a:effectLst>
                <a:outerShdw blurRad="38100" dist="25400" dir="2700000" algn="tl" rotWithShape="0">
                  <a:srgbClr val="7E2700">
                    <a:alpha val="84000"/>
                  </a:srgbClr>
                </a:outerShdw>
              </a:effectLst>
              <a:uLnTx/>
              <a:uFillTx/>
              <a:latin typeface="Calibri" panose="020F0502020204030204"/>
              <a:ea typeface="+mn-ea"/>
              <a:cs typeface="+mn-cs"/>
            </a:endParaRPr>
          </a:p>
          <a:p>
            <a:pPr marL="0" marR="0" lvl="0" indent="0" algn="just" defTabSz="914400" rtl="0" eaLnBrk="1" fontAlgn="auto" latinLnBrk="0" hangingPunct="1">
              <a:lnSpc>
                <a:spcPts val="7000"/>
              </a:lnSpc>
              <a:spcBef>
                <a:spcPts val="0"/>
              </a:spcBef>
              <a:spcAft>
                <a:spcPts val="0"/>
              </a:spcAft>
              <a:buClrTx/>
              <a:buSzTx/>
              <a:buFontTx/>
              <a:buNone/>
              <a:defRPr/>
            </a:pPr>
            <a:r>
              <a:rPr kumimoji="0" lang="en-US" sz="5000" b="1" i="0" u="none" strike="noStrike" kern="1200" cap="none" spc="-220" normalizeH="0" baseline="0" noProof="0" dirty="0">
                <a:ln>
                  <a:noFill/>
                </a:ln>
                <a:gradFill>
                  <a:gsLst>
                    <a:gs pos="0">
                      <a:srgbClr val="FF6400">
                        <a:alpha val="100000"/>
                      </a:srgbClr>
                    </a:gs>
                    <a:gs pos="100000">
                      <a:srgbClr val="FFB800">
                        <a:alpha val="100000"/>
                      </a:srgbClr>
                    </a:gs>
                  </a:gsLst>
                  <a:lin ang="5400000"/>
                </a:gradFill>
                <a:effectLst>
                  <a:outerShdw blurRad="38100" dist="25400" dir="2700000" algn="tl" rotWithShape="0">
                    <a:srgbClr val="7E2700">
                      <a:alpha val="84000"/>
                    </a:srgbClr>
                  </a:outerShdw>
                </a:effectLst>
                <a:uLnTx/>
                <a:uFillTx/>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rPr>
              <a:t>——</a:t>
            </a:r>
            <a:r>
              <a:rPr kumimoji="0" lang="en-US" sz="5000" b="1" i="0" u="none" strike="noStrike" kern="1200" cap="none" spc="-220" normalizeH="0" baseline="0" noProof="0" dirty="0" err="1">
                <a:ln>
                  <a:noFill/>
                </a:ln>
                <a:gradFill>
                  <a:gsLst>
                    <a:gs pos="0">
                      <a:srgbClr val="FF6400">
                        <a:alpha val="100000"/>
                      </a:srgbClr>
                    </a:gs>
                    <a:gs pos="100000">
                      <a:srgbClr val="FFB800">
                        <a:alpha val="100000"/>
                      </a:srgbClr>
                    </a:gs>
                  </a:gsLst>
                  <a:lin ang="5400000"/>
                </a:gradFill>
                <a:effectLst>
                  <a:outerShdw blurRad="38100" dist="25400" dir="2700000" algn="tl" rotWithShape="0">
                    <a:srgbClr val="7E2700">
                      <a:alpha val="84000"/>
                    </a:srgbClr>
                  </a:outerShdw>
                </a:effectLst>
                <a:uLnTx/>
                <a:uFillTx/>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rPr>
              <a:t>上海市信托破局</a:t>
            </a:r>
            <a:endParaRPr kumimoji="0" lang="en-US" sz="5000" b="1" i="0" u="none" strike="noStrike" kern="1200" cap="none" spc="-220" normalizeH="0" baseline="0" noProof="0" dirty="0">
              <a:ln>
                <a:noFill/>
              </a:ln>
              <a:gradFill>
                <a:gsLst>
                  <a:gs pos="0">
                    <a:srgbClr val="FF6400">
                      <a:alpha val="100000"/>
                    </a:srgbClr>
                  </a:gs>
                  <a:gs pos="100000">
                    <a:srgbClr val="FFB800">
                      <a:alpha val="100000"/>
                    </a:srgbClr>
                  </a:gs>
                </a:gsLst>
                <a:lin ang="5400000"/>
              </a:gradFill>
              <a:effectLst>
                <a:outerShdw blurRad="38100" dist="25400" dir="2700000" algn="tl" rotWithShape="0">
                  <a:srgbClr val="7E2700">
                    <a:alpha val="84000"/>
                  </a:srgbClr>
                </a:outerShdw>
              </a:effectLst>
              <a:uLnTx/>
              <a:uFillTx/>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endParaRPr>
          </a:p>
          <a:p>
            <a:pPr marL="0" marR="0" lvl="0" indent="0" algn="l" defTabSz="914400" rtl="0" eaLnBrk="1" fontAlgn="auto" latinLnBrk="0" hangingPunct="1">
              <a:lnSpc>
                <a:spcPts val="7000"/>
              </a:lnSpc>
              <a:spcBef>
                <a:spcPct val="0"/>
              </a:spcBef>
              <a:spcAft>
                <a:spcPts val="0"/>
              </a:spcAft>
              <a:buClrTx/>
              <a:buSzTx/>
              <a:buFontTx/>
              <a:buNone/>
              <a:defRPr/>
            </a:pPr>
            <a:r>
              <a:rPr kumimoji="0" lang="en-US" sz="5000" b="1" i="0" u="none" strike="noStrike" kern="1200" cap="none" spc="-220" normalizeH="0" baseline="0" noProof="0" dirty="0">
                <a:ln>
                  <a:noFill/>
                </a:ln>
                <a:gradFill>
                  <a:gsLst>
                    <a:gs pos="0">
                      <a:srgbClr val="FF6400">
                        <a:alpha val="100000"/>
                      </a:srgbClr>
                    </a:gs>
                    <a:gs pos="100000">
                      <a:srgbClr val="FFB800">
                        <a:alpha val="100000"/>
                      </a:srgbClr>
                    </a:gs>
                  </a:gsLst>
                  <a:lin ang="5400000"/>
                </a:gradFill>
                <a:effectLst>
                  <a:outerShdw blurRad="38100" dist="25400" dir="2700000" algn="tl" rotWithShape="0">
                    <a:srgbClr val="7E2700">
                      <a:alpha val="84000"/>
                    </a:srgbClr>
                  </a:outerShdw>
                </a:effectLst>
                <a:uLnTx/>
                <a:uFillTx/>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rPr>
              <a:t>                  </a:t>
            </a:r>
            <a:r>
              <a:rPr kumimoji="0" lang="en-US" sz="5000" b="1" i="0" u="none" strike="noStrike" kern="1200" cap="none" spc="-220" normalizeH="0" baseline="0" noProof="0" dirty="0" err="1">
                <a:ln>
                  <a:noFill/>
                </a:ln>
                <a:gradFill>
                  <a:gsLst>
                    <a:gs pos="0">
                      <a:srgbClr val="FF6400">
                        <a:alpha val="100000"/>
                      </a:srgbClr>
                    </a:gs>
                    <a:gs pos="100000">
                      <a:srgbClr val="FFB800">
                        <a:alpha val="100000"/>
                      </a:srgbClr>
                    </a:gs>
                  </a:gsLst>
                  <a:lin ang="5400000"/>
                </a:gradFill>
                <a:effectLst>
                  <a:outerShdw blurRad="38100" dist="25400" dir="2700000" algn="tl" rotWithShape="0">
                    <a:srgbClr val="7E2700">
                      <a:alpha val="84000"/>
                    </a:srgbClr>
                  </a:outerShdw>
                </a:effectLst>
                <a:uLnTx/>
                <a:uFillTx/>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rPr>
              <a:t>以房养老的策略研究</a:t>
            </a:r>
            <a:endParaRPr kumimoji="0" lang="en-US" sz="5000" b="1" i="0" u="none" strike="noStrike" kern="1200" cap="none" spc="-220" normalizeH="0" baseline="0" noProof="0" dirty="0">
              <a:ln>
                <a:noFill/>
              </a:ln>
              <a:gradFill>
                <a:gsLst>
                  <a:gs pos="0">
                    <a:srgbClr val="FF6400">
                      <a:alpha val="100000"/>
                    </a:srgbClr>
                  </a:gs>
                  <a:gs pos="100000">
                    <a:srgbClr val="FFB800">
                      <a:alpha val="100000"/>
                    </a:srgbClr>
                  </a:gs>
                </a:gsLst>
                <a:lin ang="5400000"/>
              </a:gradFill>
              <a:effectLst>
                <a:outerShdw blurRad="38100" dist="25400" dir="2700000" algn="tl" rotWithShape="0">
                  <a:srgbClr val="7E2700">
                    <a:alpha val="84000"/>
                  </a:srgbClr>
                </a:outerShdw>
              </a:effectLst>
              <a:uLnTx/>
              <a:uFillTx/>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endParaRPr>
          </a:p>
        </p:txBody>
      </p:sp>
      <p:grpSp>
        <p:nvGrpSpPr>
          <p:cNvPr id="15" name="Group 15"/>
          <p:cNvGrpSpPr/>
          <p:nvPr/>
        </p:nvGrpSpPr>
        <p:grpSpPr>
          <a:xfrm>
            <a:off x="826115" y="2407217"/>
            <a:ext cx="9206377" cy="2181770"/>
            <a:chOff x="0" y="-333375"/>
            <a:chExt cx="12275170" cy="2909028"/>
          </a:xfrm>
        </p:grpSpPr>
        <p:sp>
          <p:nvSpPr>
            <p:cNvPr id="16" name="TextBox 16"/>
            <p:cNvSpPr txBox="1"/>
            <p:nvPr/>
          </p:nvSpPr>
          <p:spPr>
            <a:xfrm>
              <a:off x="4130818" y="-296763"/>
              <a:ext cx="1908349" cy="2701595"/>
            </a:xfrm>
            <a:prstGeom prst="rect">
              <a:avLst/>
            </a:prstGeom>
          </p:spPr>
          <p:txBody>
            <a:bodyPr lIns="0" tIns="0" rIns="0" bIns="0" rtlCol="0" anchor="t">
              <a:spAutoFit/>
            </a:bodyPr>
            <a:lstStyle/>
            <a:p>
              <a:pPr marL="0" marR="0" lvl="0" indent="0" algn="ctr" defTabSz="914400" rtl="0" eaLnBrk="1" fontAlgn="auto" latinLnBrk="0" hangingPunct="1">
                <a:lnSpc>
                  <a:spcPts val="15775"/>
                </a:lnSpc>
                <a:spcBef>
                  <a:spcPts val="0"/>
                </a:spcBef>
                <a:spcAft>
                  <a:spcPts val="0"/>
                </a:spcAft>
                <a:buClrTx/>
                <a:buSzTx/>
                <a:buFontTx/>
                <a:buNone/>
                <a:defRPr/>
              </a:pPr>
              <a:r>
                <a:rPr kumimoji="0" lang="en-US" sz="11270" b="0" i="0" u="none" strike="noStrike" kern="1200" cap="none" spc="0" normalizeH="0" baseline="0" noProof="0">
                  <a:ln>
                    <a:noFill/>
                  </a:ln>
                  <a:gradFill>
                    <a:gsLst>
                      <a:gs pos="0">
                        <a:srgbClr val="9E2F00">
                          <a:alpha val="100000"/>
                        </a:srgbClr>
                      </a:gs>
                      <a:gs pos="100000">
                        <a:srgbClr val="FF74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rPr>
                <a:t>信</a:t>
              </a:r>
              <a:endParaRPr kumimoji="0" lang="en-US" sz="11270" b="0" i="0" u="none" strike="noStrike" kern="1200" cap="none" spc="0" normalizeH="0" baseline="0" noProof="0">
                <a:ln>
                  <a:noFill/>
                </a:ln>
                <a:gradFill>
                  <a:gsLst>
                    <a:gs pos="0">
                      <a:srgbClr val="9E2F00">
                        <a:alpha val="100000"/>
                      </a:srgbClr>
                    </a:gs>
                    <a:gs pos="100000">
                      <a:srgbClr val="FF74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endParaRPr>
            </a:p>
          </p:txBody>
        </p:sp>
        <p:sp>
          <p:nvSpPr>
            <p:cNvPr id="17" name="TextBox 17"/>
            <p:cNvSpPr txBox="1"/>
            <p:nvPr/>
          </p:nvSpPr>
          <p:spPr>
            <a:xfrm>
              <a:off x="1186336" y="-333375"/>
              <a:ext cx="1958121" cy="2769990"/>
            </a:xfrm>
            <a:prstGeom prst="rect">
              <a:avLst/>
            </a:prstGeom>
          </p:spPr>
          <p:txBody>
            <a:bodyPr lIns="0" tIns="0" rIns="0" bIns="0" rtlCol="0" anchor="t">
              <a:spAutoFit/>
            </a:bodyPr>
            <a:lstStyle/>
            <a:p>
              <a:pPr marL="0" marR="0" lvl="0" indent="0" algn="ctr" defTabSz="914400" rtl="0" eaLnBrk="1" fontAlgn="auto" latinLnBrk="0" hangingPunct="1">
                <a:lnSpc>
                  <a:spcPts val="16190"/>
                </a:lnSpc>
                <a:spcBef>
                  <a:spcPts val="0"/>
                </a:spcBef>
                <a:spcAft>
                  <a:spcPts val="0"/>
                </a:spcAft>
                <a:buClrTx/>
                <a:buSzTx/>
                <a:buFontTx/>
                <a:buNone/>
                <a:defRPr/>
              </a:pPr>
              <a:r>
                <a:rPr kumimoji="0" lang="en-US" sz="11565" b="0" i="0" u="none" strike="noStrike" kern="1200" cap="none" spc="0" normalizeH="0" baseline="0" noProof="0" dirty="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rPr>
                <a:t>有</a:t>
              </a:r>
              <a:endParaRPr kumimoji="0" lang="en-US" sz="11565" b="0" i="0" u="none" strike="noStrike" kern="1200" cap="none" spc="0" normalizeH="0" baseline="0" noProof="0" dirty="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endParaRPr>
            </a:p>
          </p:txBody>
        </p:sp>
        <p:sp>
          <p:nvSpPr>
            <p:cNvPr id="18" name="TextBox 18"/>
            <p:cNvSpPr txBox="1"/>
            <p:nvPr/>
          </p:nvSpPr>
          <p:spPr>
            <a:xfrm>
              <a:off x="0" y="8468"/>
              <a:ext cx="1678069" cy="2376719"/>
            </a:xfrm>
            <a:prstGeom prst="rect">
              <a:avLst/>
            </a:prstGeom>
          </p:spPr>
          <p:txBody>
            <a:bodyPr lIns="0" tIns="0" rIns="0" bIns="0" rtlCol="0" anchor="t">
              <a:spAutoFit/>
            </a:bodyPr>
            <a:lstStyle/>
            <a:p>
              <a:pPr marL="0" marR="0" lvl="0" indent="0" algn="ctr" defTabSz="914400" rtl="0" eaLnBrk="1" fontAlgn="auto" latinLnBrk="0" hangingPunct="1">
                <a:lnSpc>
                  <a:spcPts val="13875"/>
                </a:lnSpc>
                <a:spcBef>
                  <a:spcPts val="0"/>
                </a:spcBef>
                <a:spcAft>
                  <a:spcPts val="0"/>
                </a:spcAft>
                <a:buClrTx/>
                <a:buSzTx/>
                <a:buFontTx/>
                <a:buNone/>
                <a:defRPr/>
              </a:pPr>
              <a:r>
                <a:rPr kumimoji="0" lang="en-US" sz="9910" b="0" i="0" u="none" strike="noStrike" kern="1200" cap="none" spc="0" normalizeH="0" baseline="0" noProof="0" dirty="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rPr>
                <a:t>房</a:t>
              </a:r>
              <a:endParaRPr kumimoji="0" lang="en-US" sz="9910" b="0" i="0" u="none" strike="noStrike" kern="1200" cap="none" spc="0" normalizeH="0" baseline="0" noProof="0" dirty="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endParaRPr>
            </a:p>
          </p:txBody>
        </p:sp>
        <p:sp>
          <p:nvSpPr>
            <p:cNvPr id="19" name="TextBox 19"/>
            <p:cNvSpPr txBox="1"/>
            <p:nvPr/>
          </p:nvSpPr>
          <p:spPr>
            <a:xfrm>
              <a:off x="2792512" y="474491"/>
              <a:ext cx="1247689" cy="1915055"/>
            </a:xfrm>
            <a:prstGeom prst="rect">
              <a:avLst/>
            </a:prstGeom>
          </p:spPr>
          <p:txBody>
            <a:bodyPr lIns="0" tIns="0" rIns="0" bIns="0" rtlCol="0" anchor="t">
              <a:spAutoFit/>
            </a:bodyPr>
            <a:lstStyle/>
            <a:p>
              <a:pPr marL="0" marR="0" lvl="0" indent="0" algn="ctr" defTabSz="914400" rtl="0" eaLnBrk="1" fontAlgn="auto" latinLnBrk="0" hangingPunct="1">
                <a:lnSpc>
                  <a:spcPts val="11205"/>
                </a:lnSpc>
                <a:spcBef>
                  <a:spcPct val="0"/>
                </a:spcBef>
                <a:spcAft>
                  <a:spcPts val="0"/>
                </a:spcAft>
                <a:buClrTx/>
                <a:buSzTx/>
                <a:buFontTx/>
                <a:buNone/>
                <a:defRPr/>
              </a:pPr>
              <a:r>
                <a:rPr kumimoji="0" lang="en-US" sz="8000" b="0" i="0" u="none" strike="noStrike" kern="1200" cap="none" spc="0" normalizeH="0" baseline="0" noProof="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rPr>
                <a:t>所</a:t>
              </a:r>
              <a:endParaRPr kumimoji="0" lang="en-US" sz="8000" b="0" i="0" u="none" strike="noStrike" kern="1200" cap="none" spc="0" normalizeH="0" baseline="0" noProof="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endParaRPr>
            </a:p>
          </p:txBody>
        </p:sp>
        <p:sp>
          <p:nvSpPr>
            <p:cNvPr id="20" name="TextBox 20"/>
            <p:cNvSpPr txBox="1"/>
            <p:nvPr/>
          </p:nvSpPr>
          <p:spPr>
            <a:xfrm>
              <a:off x="10354538" y="-276831"/>
              <a:ext cx="1920632" cy="2718694"/>
            </a:xfrm>
            <a:prstGeom prst="rect">
              <a:avLst/>
            </a:prstGeom>
          </p:spPr>
          <p:txBody>
            <a:bodyPr lIns="0" tIns="0" rIns="0" bIns="0" rtlCol="0" anchor="t">
              <a:spAutoFit/>
            </a:bodyPr>
            <a:lstStyle/>
            <a:p>
              <a:pPr marL="0" marR="0" lvl="0" indent="0" algn="ctr" defTabSz="914400" rtl="0" eaLnBrk="1" fontAlgn="auto" latinLnBrk="0" hangingPunct="1">
                <a:lnSpc>
                  <a:spcPts val="15880"/>
                </a:lnSpc>
                <a:spcBef>
                  <a:spcPts val="0"/>
                </a:spcBef>
                <a:spcAft>
                  <a:spcPts val="0"/>
                </a:spcAft>
                <a:buClrTx/>
                <a:buSzTx/>
                <a:buFontTx/>
                <a:buNone/>
                <a:defRPr/>
              </a:pPr>
              <a:r>
                <a:rPr kumimoji="0" lang="en-US" sz="11340" b="0" i="0" u="none" strike="noStrike" kern="1200" cap="none" spc="0" normalizeH="0" baseline="0" noProof="0" dirty="0">
                  <a:ln>
                    <a:noFill/>
                  </a:ln>
                  <a:gradFill>
                    <a:gsLst>
                      <a:gs pos="0">
                        <a:srgbClr val="9E2F00">
                          <a:alpha val="100000"/>
                        </a:srgbClr>
                      </a:gs>
                      <a:gs pos="100000">
                        <a:srgbClr val="FF74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rPr>
                <a:t>托</a:t>
              </a:r>
              <a:endParaRPr kumimoji="0" lang="en-US" sz="11340" b="0" i="0" u="none" strike="noStrike" kern="1200" cap="none" spc="0" normalizeH="0" baseline="0" noProof="0" dirty="0">
                <a:ln>
                  <a:noFill/>
                </a:ln>
                <a:gradFill>
                  <a:gsLst>
                    <a:gs pos="0">
                      <a:srgbClr val="9E2F00">
                        <a:alpha val="100000"/>
                      </a:srgbClr>
                    </a:gs>
                    <a:gs pos="100000">
                      <a:srgbClr val="FF74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endParaRPr>
            </a:p>
          </p:txBody>
        </p:sp>
        <p:sp>
          <p:nvSpPr>
            <p:cNvPr id="21" name="TextBox 21"/>
            <p:cNvSpPr txBox="1"/>
            <p:nvPr/>
          </p:nvSpPr>
          <p:spPr>
            <a:xfrm>
              <a:off x="7391107" y="-323142"/>
              <a:ext cx="1970724" cy="2787089"/>
            </a:xfrm>
            <a:prstGeom prst="rect">
              <a:avLst/>
            </a:prstGeom>
          </p:spPr>
          <p:txBody>
            <a:bodyPr lIns="0" tIns="0" rIns="0" bIns="0" rtlCol="0" anchor="t">
              <a:spAutoFit/>
            </a:bodyPr>
            <a:lstStyle/>
            <a:p>
              <a:pPr marL="0" marR="0" lvl="0" indent="0" algn="ctr" defTabSz="914400" rtl="0" eaLnBrk="1" fontAlgn="auto" latinLnBrk="0" hangingPunct="1">
                <a:lnSpc>
                  <a:spcPts val="16295"/>
                </a:lnSpc>
                <a:spcBef>
                  <a:spcPts val="0"/>
                </a:spcBef>
                <a:spcAft>
                  <a:spcPts val="0"/>
                </a:spcAft>
                <a:buClrTx/>
                <a:buSzTx/>
                <a:buFontTx/>
                <a:buNone/>
                <a:defRPr/>
              </a:pPr>
              <a:r>
                <a:rPr kumimoji="0" lang="en-US" sz="11640" b="0" i="0" u="none" strike="noStrike" kern="1200" cap="none" spc="0" normalizeH="0" baseline="0" noProof="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rPr>
                <a:t>有</a:t>
              </a:r>
              <a:endParaRPr kumimoji="0" lang="en-US" sz="11640" b="0" i="0" u="none" strike="noStrike" kern="1200" cap="none" spc="0" normalizeH="0" baseline="0" noProof="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endParaRPr>
            </a:p>
          </p:txBody>
        </p:sp>
        <p:sp>
          <p:nvSpPr>
            <p:cNvPr id="22" name="TextBox 22"/>
            <p:cNvSpPr txBox="1"/>
            <p:nvPr/>
          </p:nvSpPr>
          <p:spPr>
            <a:xfrm>
              <a:off x="9005164" y="643499"/>
              <a:ext cx="1349373" cy="1932154"/>
            </a:xfrm>
            <a:prstGeom prst="rect">
              <a:avLst/>
            </a:prstGeom>
          </p:spPr>
          <p:txBody>
            <a:bodyPr lIns="0" tIns="0" rIns="0" bIns="0" rtlCol="0" anchor="t">
              <a:spAutoFit/>
            </a:bodyPr>
            <a:lstStyle/>
            <a:p>
              <a:pPr marL="0" marR="0" lvl="0" indent="0" algn="ctr" defTabSz="914400" rtl="0" eaLnBrk="1" fontAlgn="auto" latinLnBrk="0" hangingPunct="1">
                <a:lnSpc>
                  <a:spcPts val="11275"/>
                </a:lnSpc>
                <a:spcBef>
                  <a:spcPct val="0"/>
                </a:spcBef>
                <a:spcAft>
                  <a:spcPts val="0"/>
                </a:spcAft>
                <a:buClrTx/>
                <a:buSzTx/>
                <a:buFontTx/>
                <a:buNone/>
                <a:defRPr/>
              </a:pPr>
              <a:r>
                <a:rPr kumimoji="0" lang="en-US" sz="8055" b="0" i="0" u="none" strike="noStrike" kern="1200" cap="none" spc="0" normalizeH="0" baseline="0" noProof="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rPr>
                <a:t>所</a:t>
              </a:r>
              <a:endParaRPr kumimoji="0" lang="en-US" sz="8055" b="0" i="0" u="none" strike="noStrike" kern="1200" cap="none" spc="0" normalizeH="0" baseline="0" noProof="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endParaRPr>
            </a:p>
          </p:txBody>
        </p:sp>
        <p:sp>
          <p:nvSpPr>
            <p:cNvPr id="23" name="TextBox 23"/>
            <p:cNvSpPr txBox="1"/>
            <p:nvPr/>
          </p:nvSpPr>
          <p:spPr>
            <a:xfrm>
              <a:off x="6320859" y="187839"/>
              <a:ext cx="1565145" cy="2205733"/>
            </a:xfrm>
            <a:prstGeom prst="rect">
              <a:avLst/>
            </a:prstGeom>
          </p:spPr>
          <p:txBody>
            <a:bodyPr lIns="0" tIns="0" rIns="0" bIns="0" rtlCol="0" anchor="t">
              <a:spAutoFit/>
            </a:bodyPr>
            <a:lstStyle/>
            <a:p>
              <a:pPr marL="0" marR="0" lvl="0" indent="0" algn="ctr" defTabSz="914400" rtl="0" eaLnBrk="1" fontAlgn="auto" latinLnBrk="0" hangingPunct="1">
                <a:lnSpc>
                  <a:spcPts val="12940"/>
                </a:lnSpc>
                <a:spcBef>
                  <a:spcPts val="0"/>
                </a:spcBef>
                <a:spcAft>
                  <a:spcPts val="0"/>
                </a:spcAft>
                <a:buClrTx/>
                <a:buSzTx/>
                <a:buFontTx/>
                <a:buNone/>
                <a:defRPr/>
              </a:pPr>
              <a:r>
                <a:rPr kumimoji="0" lang="en-US" sz="9245" b="0" i="0" u="none" strike="noStrike" kern="1200" cap="none" spc="0" normalizeH="0" baseline="0" noProof="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rPr>
                <a:t>老</a:t>
              </a:r>
              <a:endParaRPr kumimoji="0" lang="en-US" sz="9245" b="0" i="0" u="none" strike="noStrike" kern="1200" cap="none" spc="0" normalizeH="0" baseline="0" noProof="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endParaRPr>
            </a:p>
          </p:txBody>
        </p:sp>
      </p:grpSp>
      <p:pic>
        <p:nvPicPr>
          <p:cNvPr id="25" name="图片 24"/>
          <p:cNvPicPr>
            <a:picLocks noChangeAspect="1"/>
          </p:cNvPicPr>
          <p:nvPr/>
        </p:nvPicPr>
        <p:blipFill>
          <a:blip r:embed="rId13"/>
          <a:stretch>
            <a:fillRect/>
          </a:stretch>
        </p:blipFill>
        <p:spPr>
          <a:xfrm>
            <a:off x="-792" y="0"/>
            <a:ext cx="18287998" cy="10287000"/>
          </a:xfrm>
          <a:prstGeom prst="rect">
            <a:avLst/>
          </a:prstGeom>
        </p:spPr>
      </p:pic>
      <p:pic>
        <p:nvPicPr>
          <p:cNvPr id="26" name="图片 25"/>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143" y="643"/>
            <a:ext cx="18285714" cy="10285714"/>
          </a:xfrm>
          <a:prstGeom prst="rect">
            <a:avLst/>
          </a:prstGeom>
        </p:spPr>
      </p:pic>
      <p:grpSp>
        <p:nvGrpSpPr>
          <p:cNvPr id="24" name="组合 23"/>
          <p:cNvGrpSpPr/>
          <p:nvPr/>
        </p:nvGrpSpPr>
        <p:grpSpPr>
          <a:xfrm>
            <a:off x="2069465" y="8496300"/>
            <a:ext cx="6482713" cy="503555"/>
            <a:chOff x="2466100" y="7064544"/>
            <a:chExt cx="4086988" cy="317501"/>
          </a:xfrm>
        </p:grpSpPr>
        <p:sp>
          <p:nvSpPr>
            <p:cNvPr id="27" name="矩形: 圆角 68"/>
            <p:cNvSpPr/>
            <p:nvPr/>
          </p:nvSpPr>
          <p:spPr>
            <a:xfrm>
              <a:off x="2910868" y="7064544"/>
              <a:ext cx="3642220" cy="317501"/>
            </a:xfrm>
            <a:prstGeom prst="roundRect">
              <a:avLst>
                <a:gd name="adj" fmla="val 50000"/>
              </a:avLst>
            </a:prstGeom>
            <a:solidFill>
              <a:sysClr val="window" lastClr="FFFFFF"/>
            </a:solidFill>
            <a:ln w="19050" cap="flat" cmpd="sng" algn="ctr">
              <a:noFill/>
              <a:prstDash val="solid"/>
              <a:miter lim="800000"/>
            </a:ln>
            <a:effectLst/>
          </p:spPr>
          <p:txBody>
            <a:bodyPr rtlCol="0" anchor="ctr"/>
            <a:lstStyle/>
            <a:p>
              <a:pPr algn="ctr"/>
              <a:r>
                <a:rPr lang="en-US" altLang="zh-CN"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          </a:t>
              </a: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路锦非、陈力闻</a:t>
              </a:r>
              <a:endPar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endParaRPr>
            </a:p>
          </p:txBody>
        </p:sp>
        <p:sp>
          <p:nvSpPr>
            <p:cNvPr id="28" name="矩形: 圆角 69"/>
            <p:cNvSpPr/>
            <p:nvPr/>
          </p:nvSpPr>
          <p:spPr>
            <a:xfrm>
              <a:off x="2466100" y="7064544"/>
              <a:ext cx="1190334" cy="317501"/>
            </a:xfrm>
            <a:prstGeom prst="roundRect">
              <a:avLst>
                <a:gd name="adj" fmla="val 50000"/>
              </a:avLst>
            </a:prstGeom>
            <a:gradFill>
              <a:gsLst>
                <a:gs pos="0">
                  <a:srgbClr val="FAB05A"/>
                </a:gs>
                <a:gs pos="95000">
                  <a:srgbClr val="EE6516"/>
                </a:gs>
              </a:gsLst>
              <a:lin ang="0" scaled="1"/>
            </a:gradFill>
            <a:ln w="19050" cap="flat" cmpd="sng" algn="ctr">
              <a:noFill/>
              <a:prstDash val="solid"/>
              <a:miter lim="800000"/>
            </a:ln>
            <a:effectLst/>
          </p:spPr>
          <p:txBody>
            <a:bodyPr rtlCol="0" anchor="ctr"/>
            <a:lstStyle/>
            <a:p>
              <a:pPr algn="ctr"/>
              <a:r>
                <a:rPr lang="zh-CN" altLang="en-US" sz="2800" dirty="0">
                  <a:solidFill>
                    <a:sysClr val="window" lastClr="FFFFFF"/>
                  </a:solidFill>
                  <a:latin typeface="思源宋体 CN Heavy" panose="02020900000000000000" charset="-122"/>
                  <a:ea typeface="思源宋体 CN Heavy" panose="02020900000000000000" charset="-122"/>
                </a:rPr>
                <a:t>指导老师</a:t>
              </a:r>
              <a:endParaRPr lang="zh-CN" altLang="en-US" sz="2800" dirty="0">
                <a:solidFill>
                  <a:sysClr val="window" lastClr="FFFFFF"/>
                </a:solidFill>
                <a:latin typeface="思源宋体 CN Heavy" panose="02020900000000000000" charset="-122"/>
                <a:ea typeface="思源宋体 CN Heavy" panose="02020900000000000000" charset="-122"/>
              </a:endParaRPr>
            </a:p>
          </p:txBody>
        </p:sp>
      </p:grpSp>
      <p:sp>
        <p:nvSpPr>
          <p:cNvPr id="30" name="矩形: 圆角 68"/>
          <p:cNvSpPr/>
          <p:nvPr/>
        </p:nvSpPr>
        <p:spPr>
          <a:xfrm>
            <a:off x="3155950" y="7223125"/>
            <a:ext cx="7539355" cy="503555"/>
          </a:xfrm>
          <a:prstGeom prst="roundRect">
            <a:avLst>
              <a:gd name="adj" fmla="val 50000"/>
            </a:avLst>
          </a:prstGeom>
          <a:solidFill>
            <a:sysClr val="window" lastClr="FFFFFF"/>
          </a:solidFill>
          <a:ln w="19050" cap="flat" cmpd="sng" algn="ctr">
            <a:noFill/>
            <a:prstDash val="solid"/>
            <a:miter lim="800000"/>
          </a:ln>
          <a:effectLst/>
        </p:spPr>
        <p:txBody>
          <a:bodyPr rtlCol="0" anchor="ctr"/>
          <a:lstStyle/>
          <a:p>
            <a:pPr algn="ct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沈妍</a:t>
            </a:r>
            <a:r>
              <a:rPr lang="en-US" altLang="zh-CN"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  </a:t>
            </a: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昝佳禾</a:t>
            </a:r>
            <a:r>
              <a:rPr lang="en-US" altLang="zh-CN"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  </a:t>
            </a: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金羿飞</a:t>
            </a:r>
            <a:r>
              <a:rPr lang="en-US" altLang="zh-CN"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  </a:t>
            </a: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黎逸帆</a:t>
            </a:r>
            <a:r>
              <a:rPr lang="en-US" altLang="zh-CN"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  </a:t>
            </a: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朱子墨</a:t>
            </a:r>
            <a:endPar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endParaRPr>
          </a:p>
        </p:txBody>
      </p:sp>
      <p:sp>
        <p:nvSpPr>
          <p:cNvPr id="31" name="矩形: 圆角 69"/>
          <p:cNvSpPr/>
          <p:nvPr/>
        </p:nvSpPr>
        <p:spPr>
          <a:xfrm>
            <a:off x="2036445" y="7200900"/>
            <a:ext cx="1887855" cy="503555"/>
          </a:xfrm>
          <a:prstGeom prst="roundRect">
            <a:avLst>
              <a:gd name="adj" fmla="val 50000"/>
            </a:avLst>
          </a:prstGeom>
          <a:gradFill>
            <a:gsLst>
              <a:gs pos="0">
                <a:srgbClr val="FAB05A"/>
              </a:gs>
              <a:gs pos="95000">
                <a:srgbClr val="EE6516"/>
              </a:gs>
            </a:gsLst>
            <a:lin ang="0" scaled="1"/>
          </a:gradFill>
          <a:ln w="19050" cap="flat" cmpd="sng" algn="ctr">
            <a:noFill/>
            <a:prstDash val="solid"/>
            <a:miter lim="800000"/>
          </a:ln>
          <a:effectLst/>
        </p:spPr>
        <p:txBody>
          <a:bodyPr rtlCol="0" anchor="ctr"/>
          <a:lstStyle/>
          <a:p>
            <a:pPr algn="ctr"/>
            <a:r>
              <a:rPr lang="zh-CN" altLang="en-US" sz="2800" dirty="0">
                <a:solidFill>
                  <a:sysClr val="window" lastClr="FFFFFF"/>
                </a:solidFill>
                <a:latin typeface="思源宋体 CN Heavy" panose="02020900000000000000" charset="-122"/>
                <a:ea typeface="思源宋体 CN Heavy" panose="02020900000000000000" charset="-122"/>
              </a:rPr>
              <a:t>团队成员</a:t>
            </a:r>
            <a:endParaRPr lang="zh-CN" altLang="en-US" sz="2800" dirty="0">
              <a:solidFill>
                <a:sysClr val="window" lastClr="FFFFFF"/>
              </a:solidFill>
              <a:latin typeface="思源宋体 CN Heavy" panose="02020900000000000000" charset="-122"/>
              <a:ea typeface="思源宋体 CN Heavy" panose="02020900000000000000" charset="-122"/>
            </a:endParaRPr>
          </a:p>
        </p:txBody>
      </p:sp>
      <p:pic>
        <p:nvPicPr>
          <p:cNvPr id="32" name="图片 31"/>
          <p:cNvPicPr>
            <a:picLocks noChangeAspect="1"/>
          </p:cNvPicPr>
          <p:nvPr/>
        </p:nvPicPr>
        <p:blipFill>
          <a:blip r:embed="rId15" cstate="print">
            <a:extLst>
              <a:ext uri="{BEBA8EAE-BF5A-486C-A8C5-ECC9F3942E4B}">
                <a14:imgProps xmlns:a14="http://schemas.microsoft.com/office/drawing/2010/main">
                  <a14:imgLayer r:embed="rId16">
                    <a14:imgEffect>
                      <a14:backgroundRemoval t="9927" b="89961" l="9941" r="98646">
                        <a14:foregroundMark x1="93486" y1="68697" x2="93486" y2="68697"/>
                        <a14:foregroundMark x1="98646" y1="68528" x2="98646" y2="68528"/>
                      </a14:backgroundRemoval>
                    </a14:imgEffect>
                  </a14:imgLayer>
                </a14:imgProps>
              </a:ext>
              <a:ext uri="{28A0092B-C50C-407E-A947-70E740481C1C}">
                <a14:useLocalDpi xmlns:a14="http://schemas.microsoft.com/office/drawing/2010/main" val="0"/>
              </a:ext>
            </a:extLst>
          </a:blip>
          <a:stretch>
            <a:fillRect/>
          </a:stretch>
        </p:blipFill>
        <p:spPr>
          <a:xfrm>
            <a:off x="10826940" y="5348252"/>
            <a:ext cx="7469618" cy="55885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a:off x="6420340" y="767141"/>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2">
              <a:alphaModFix amt="19999"/>
            </a:blip>
            <a:stretch>
              <a:fillRect r="-20235"/>
            </a:stretch>
          </a:blipFill>
        </p:spPr>
      </p:sp>
      <p:sp>
        <p:nvSpPr>
          <p:cNvPr id="10" name="Freeform 10"/>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3"/>
            <a:stretch>
              <a:fillRect t="-883"/>
            </a:stretch>
          </a:blipFill>
        </p:spPr>
        <p:txBody>
          <a:bodyPr/>
          <a:lstStyle/>
          <a:p>
            <a:endParaRPr lang="zh-CN" altLang="en-US" dirty="0"/>
          </a:p>
        </p:txBody>
      </p:sp>
      <p:grpSp>
        <p:nvGrpSpPr>
          <p:cNvPr id="22" name="Group 22"/>
          <p:cNvGrpSpPr/>
          <p:nvPr/>
        </p:nvGrpSpPr>
        <p:grpSpPr>
          <a:xfrm>
            <a:off x="237508" y="-2700949"/>
            <a:ext cx="5108019" cy="4595741"/>
            <a:chOff x="0" y="0"/>
            <a:chExt cx="6810692" cy="6127654"/>
          </a:xfrm>
        </p:grpSpPr>
        <p:grpSp>
          <p:nvGrpSpPr>
            <p:cNvPr id="23" name="Group 23"/>
            <p:cNvGrpSpPr/>
            <p:nvPr/>
          </p:nvGrpSpPr>
          <p:grpSpPr>
            <a:xfrm rot="215490">
              <a:off x="270254" y="293842"/>
              <a:ext cx="6370047" cy="5639832"/>
              <a:chOff x="0" y="0"/>
              <a:chExt cx="2560354" cy="2266854"/>
            </a:xfrm>
          </p:grpSpPr>
          <p:sp>
            <p:nvSpPr>
              <p:cNvPr id="24" name="Freeform 24"/>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25" name="TextBox 25"/>
              <p:cNvSpPr txBox="1"/>
              <p:nvPr/>
            </p:nvSpPr>
            <p:spPr>
              <a:xfrm>
                <a:off x="0" y="-38100"/>
                <a:ext cx="2560354" cy="2304954"/>
              </a:xfrm>
              <a:prstGeom prst="rect">
                <a:avLst/>
              </a:prstGeom>
            </p:spPr>
            <p:txBody>
              <a:bodyPr lIns="50800" tIns="50800" rIns="50800" bIns="50800" rtlCol="0" anchor="ctr"/>
              <a:lstStyle/>
              <a:p>
                <a:pPr algn="ctr">
                  <a:lnSpc>
                    <a:spcPts val="2800"/>
                  </a:lnSpc>
                </a:pPr>
              </a:p>
            </p:txBody>
          </p:sp>
        </p:grpSp>
        <p:grpSp>
          <p:nvGrpSpPr>
            <p:cNvPr id="26" name="Group 26"/>
            <p:cNvGrpSpPr/>
            <p:nvPr/>
          </p:nvGrpSpPr>
          <p:grpSpPr>
            <a:xfrm rot="215490">
              <a:off x="170392" y="193980"/>
              <a:ext cx="6370047" cy="5639832"/>
              <a:chOff x="0" y="0"/>
              <a:chExt cx="2560354" cy="2266854"/>
            </a:xfrm>
          </p:grpSpPr>
          <p:sp>
            <p:nvSpPr>
              <p:cNvPr id="27" name="Freeform 27"/>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28" name="TextBox 28"/>
              <p:cNvSpPr txBox="1"/>
              <p:nvPr/>
            </p:nvSpPr>
            <p:spPr>
              <a:xfrm>
                <a:off x="0" y="-38100"/>
                <a:ext cx="2560354" cy="2304954"/>
              </a:xfrm>
              <a:prstGeom prst="rect">
                <a:avLst/>
              </a:prstGeom>
            </p:spPr>
            <p:txBody>
              <a:bodyPr lIns="50800" tIns="50800" rIns="50800" bIns="50800" rtlCol="0" anchor="ctr"/>
              <a:lstStyle/>
              <a:p>
                <a:pPr algn="ctr">
                  <a:lnSpc>
                    <a:spcPts val="2800"/>
                  </a:lnSpc>
                </a:pPr>
              </a:p>
            </p:txBody>
          </p:sp>
        </p:grpSp>
        <p:grpSp>
          <p:nvGrpSpPr>
            <p:cNvPr id="29" name="Group 29"/>
            <p:cNvGrpSpPr/>
            <p:nvPr/>
          </p:nvGrpSpPr>
          <p:grpSpPr>
            <a:xfrm>
              <a:off x="123568" y="193980"/>
              <a:ext cx="6370047" cy="5639832"/>
              <a:chOff x="0" y="0"/>
              <a:chExt cx="2560354" cy="2266854"/>
            </a:xfrm>
          </p:grpSpPr>
          <p:sp>
            <p:nvSpPr>
              <p:cNvPr id="30" name="Freeform 30"/>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31" name="TextBox 31"/>
              <p:cNvSpPr txBox="1"/>
              <p:nvPr/>
            </p:nvSpPr>
            <p:spPr>
              <a:xfrm>
                <a:off x="0" y="-38100"/>
                <a:ext cx="2560354" cy="2304954"/>
              </a:xfrm>
              <a:prstGeom prst="rect">
                <a:avLst/>
              </a:prstGeom>
            </p:spPr>
            <p:txBody>
              <a:bodyPr lIns="50800" tIns="50800" rIns="50800" bIns="50800" rtlCol="0" anchor="ctr"/>
              <a:lstStyle/>
              <a:p>
                <a:pPr algn="ctr">
                  <a:lnSpc>
                    <a:spcPts val="2800"/>
                  </a:lnSpc>
                </a:pPr>
              </a:p>
            </p:txBody>
          </p:sp>
        </p:grpSp>
        <p:sp>
          <p:nvSpPr>
            <p:cNvPr id="32" name="AutoShape 32"/>
            <p:cNvSpPr/>
            <p:nvPr/>
          </p:nvSpPr>
          <p:spPr>
            <a:xfrm>
              <a:off x="639131" y="215825"/>
              <a:ext cx="5632293" cy="0"/>
            </a:xfrm>
            <a:prstGeom prst="line">
              <a:avLst/>
            </a:prstGeom>
            <a:ln w="43690" cap="rnd">
              <a:solidFill>
                <a:srgbClr val="EE7E35"/>
              </a:solidFill>
              <a:prstDash val="solid"/>
              <a:headEnd type="none" w="sm" len="sm"/>
              <a:tailEnd type="none" w="sm" len="sm"/>
            </a:ln>
          </p:spPr>
        </p:sp>
      </p:grpSp>
      <p:grpSp>
        <p:nvGrpSpPr>
          <p:cNvPr id="35" name="Group 35"/>
          <p:cNvGrpSpPr/>
          <p:nvPr/>
        </p:nvGrpSpPr>
        <p:grpSpPr>
          <a:xfrm>
            <a:off x="5431252" y="80962"/>
            <a:ext cx="2112548" cy="664546"/>
            <a:chOff x="0" y="0"/>
            <a:chExt cx="609349" cy="175024"/>
          </a:xfrm>
        </p:grpSpPr>
        <p:sp>
          <p:nvSpPr>
            <p:cNvPr id="36" name="Freeform 3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sp>
        <p:sp>
          <p:nvSpPr>
            <p:cNvPr id="37" name="TextBox 37"/>
            <p:cNvSpPr txBox="1"/>
            <p:nvPr/>
          </p:nvSpPr>
          <p:spPr>
            <a:xfrm>
              <a:off x="0" y="-123825"/>
              <a:ext cx="609349" cy="298849"/>
            </a:xfrm>
            <a:prstGeom prst="rect">
              <a:avLst/>
            </a:prstGeom>
          </p:spPr>
          <p:txBody>
            <a:bodyPr lIns="50800" tIns="50800" rIns="50800" bIns="50800" rtlCol="0" anchor="ct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50" name="Freeform 50"/>
          <p:cNvSpPr/>
          <p:nvPr/>
        </p:nvSpPr>
        <p:spPr>
          <a:xfrm flipH="1">
            <a:off x="451455" y="-32888"/>
            <a:ext cx="532726" cy="549717"/>
          </a:xfrm>
          <a:custGeom>
            <a:avLst/>
            <a:gdLst/>
            <a:ahLst/>
            <a:cxnLst/>
            <a:rect l="l" t="t" r="r" b="b"/>
            <a:pathLst>
              <a:path w="532726" h="549717">
                <a:moveTo>
                  <a:pt x="532727" y="0"/>
                </a:moveTo>
                <a:lnTo>
                  <a:pt x="0" y="0"/>
                </a:lnTo>
                <a:lnTo>
                  <a:pt x="0" y="549718"/>
                </a:lnTo>
                <a:lnTo>
                  <a:pt x="532727" y="549718"/>
                </a:lnTo>
                <a:lnTo>
                  <a:pt x="532727" y="0"/>
                </a:lnTo>
                <a:close/>
              </a:path>
            </a:pathLst>
          </a:custGeom>
          <a:blipFill>
            <a:blip r:embed="rId4"/>
            <a:stretch>
              <a:fillRect/>
            </a:stretch>
          </a:blipFill>
        </p:spPr>
      </p:sp>
      <p:sp>
        <p:nvSpPr>
          <p:cNvPr id="79" name="TextBox 63"/>
          <p:cNvSpPr txBox="1"/>
          <p:nvPr/>
        </p:nvSpPr>
        <p:spPr>
          <a:xfrm>
            <a:off x="7729845" y="173893"/>
            <a:ext cx="2029460" cy="461665"/>
          </a:xfrm>
          <a:prstGeom prst="rect">
            <a:avLst/>
          </a:prstGeom>
        </p:spPr>
        <p:txBody>
          <a:bodyPr wrap="square" lIns="0" tIns="0" rIns="0" bIns="0" rtlCol="0" anchor="t">
            <a:spAutoFit/>
          </a:body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80" name="TextBox 64"/>
          <p:cNvSpPr txBox="1"/>
          <p:nvPr/>
        </p:nvSpPr>
        <p:spPr>
          <a:xfrm>
            <a:off x="11630025" y="190500"/>
            <a:ext cx="2314575" cy="461645"/>
          </a:xfrm>
          <a:prstGeom prst="rect">
            <a:avLst/>
          </a:prstGeom>
        </p:spPr>
        <p:txBody>
          <a:bodyPr lIns="0" tIns="0" rIns="0" bIns="0" rtlCol="0" anchor="t">
            <a:spAutoFit/>
          </a:body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81" name="TextBox 65"/>
          <p:cNvSpPr txBox="1"/>
          <p:nvPr/>
        </p:nvSpPr>
        <p:spPr>
          <a:xfrm>
            <a:off x="13639800" y="190500"/>
            <a:ext cx="2232413" cy="461645"/>
          </a:xfrm>
          <a:prstGeom prst="rect">
            <a:avLst/>
          </a:prstGeom>
        </p:spPr>
        <p:txBody>
          <a:bodyPr wrap="square" lIns="0" tIns="0" rIns="0" bIns="0" rtlCol="0" anchor="t">
            <a:spAutoFit/>
          </a:body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82" name="TextBox 66"/>
          <p:cNvSpPr txBox="1"/>
          <p:nvPr/>
        </p:nvSpPr>
        <p:spPr>
          <a:xfrm>
            <a:off x="5334000" y="182402"/>
            <a:ext cx="2314575" cy="461665"/>
          </a:xfrm>
          <a:prstGeom prst="rect">
            <a:avLst/>
          </a:prstGeom>
        </p:spPr>
        <p:txBody>
          <a:bodyPr lIns="0" tIns="0" rIns="0" bIns="0" rtlCol="0" anchor="t">
            <a:spAutoFit/>
          </a:bodyPr>
          <a:lstStyle/>
          <a:p>
            <a:pPr algn="ctr">
              <a:lnSpc>
                <a:spcPts val="3600"/>
              </a:lnSpc>
            </a:pPr>
            <a:r>
              <a:rPr lang="en-US" sz="3000" b="1"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83" name="TextBox 67"/>
          <p:cNvSpPr txBox="1"/>
          <p:nvPr/>
        </p:nvSpPr>
        <p:spPr>
          <a:xfrm>
            <a:off x="9607535" y="197861"/>
            <a:ext cx="2314575" cy="461665"/>
          </a:xfrm>
          <a:prstGeom prst="rect">
            <a:avLst/>
          </a:prstGeom>
        </p:spPr>
        <p:txBody>
          <a:bodyPr lIns="0" tIns="0" rIns="0" bIns="0" rtlCol="0" anchor="t">
            <a:spAutoFit/>
          </a:body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84" name="TextBox 62"/>
          <p:cNvSpPr txBox="1"/>
          <p:nvPr/>
        </p:nvSpPr>
        <p:spPr>
          <a:xfrm>
            <a:off x="441930" y="121920"/>
            <a:ext cx="4631327" cy="1180501"/>
          </a:xfrm>
          <a:prstGeom prst="rect">
            <a:avLst/>
          </a:prstGeom>
        </p:spPr>
        <p:txBody>
          <a:bodyPr lIns="0" tIns="0" rIns="0" bIns="0" rtlCol="0" anchor="t">
            <a:spAutoFit/>
          </a:bodyPr>
          <a:lstStyle/>
          <a:p>
            <a:pPr algn="ctr">
              <a:lnSpc>
                <a:spcPts val="4760"/>
              </a:lnSpc>
            </a:pPr>
            <a:r>
              <a:rPr lang="en-US" sz="3400" b="1" spc="-95"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宏观背景:双重矛盾</a:t>
            </a:r>
            <a:endParaRPr lang="en-US" sz="3400" b="1" spc="-95"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algn="ctr">
              <a:lnSpc>
                <a:spcPts val="4760"/>
              </a:lnSpc>
              <a:spcBef>
                <a:spcPct val="0"/>
              </a:spcBef>
            </a:pPr>
            <a:r>
              <a:rPr lang="en-US" sz="3400" b="1" spc="-95"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催生以房养老的需求</a:t>
            </a:r>
            <a:endParaRPr lang="en-US" sz="3400" b="1" spc="-95"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nvGrpSpPr>
          <p:cNvPr id="14" name="组合 13"/>
          <p:cNvGrpSpPr/>
          <p:nvPr/>
        </p:nvGrpSpPr>
        <p:grpSpPr>
          <a:xfrm>
            <a:off x="203835" y="6201410"/>
            <a:ext cx="17731105" cy="3482340"/>
            <a:chOff x="321" y="9766"/>
            <a:chExt cx="27923" cy="5484"/>
          </a:xfrm>
        </p:grpSpPr>
        <p:sp>
          <p:nvSpPr>
            <p:cNvPr id="58" name="Freeform 4"/>
            <p:cNvSpPr/>
            <p:nvPr>
              <p:custDataLst>
                <p:tags r:id="rId5"/>
              </p:custDataLst>
            </p:nvPr>
          </p:nvSpPr>
          <p:spPr>
            <a:xfrm>
              <a:off x="670" y="9766"/>
              <a:ext cx="7285" cy="3592"/>
            </a:xfrm>
            <a:custGeom>
              <a:avLst/>
              <a:gdLst/>
              <a:ahLst/>
              <a:cxnLst/>
              <a:rect l="l" t="t" r="r" b="b"/>
              <a:pathLst>
                <a:path w="3889890" h="3209159">
                  <a:moveTo>
                    <a:pt x="0" y="0"/>
                  </a:moveTo>
                  <a:lnTo>
                    <a:pt x="3889890" y="0"/>
                  </a:lnTo>
                  <a:lnTo>
                    <a:pt x="3889890" y="3209159"/>
                  </a:lnTo>
                  <a:lnTo>
                    <a:pt x="0" y="3209159"/>
                  </a:lnTo>
                  <a:lnTo>
                    <a:pt x="0" y="0"/>
                  </a:lnTo>
                  <a:close/>
                </a:path>
              </a:pathLst>
            </a:custGeom>
            <a:blipFill>
              <a:blip r:embed="rId6">
                <a:alphaModFix amt="85000"/>
                <a:extLst>
                  <a:ext uri="{96DAC541-7B7A-43D3-8B79-37D633B846F1}">
                    <asvg:svgBlip xmlns:asvg="http://schemas.microsoft.com/office/drawing/2016/SVG/main" r:embed="rId7"/>
                  </a:ext>
                </a:extLst>
              </a:blip>
              <a:stretch>
                <a:fillRect/>
              </a:stretch>
            </a:blipFill>
          </p:spPr>
        </p:sp>
        <p:sp>
          <p:nvSpPr>
            <p:cNvPr id="59" name="Freeform 5"/>
            <p:cNvSpPr/>
            <p:nvPr>
              <p:custDataLst>
                <p:tags r:id="rId8"/>
              </p:custDataLst>
            </p:nvPr>
          </p:nvSpPr>
          <p:spPr>
            <a:xfrm>
              <a:off x="7772" y="9766"/>
              <a:ext cx="6818" cy="3598"/>
            </a:xfrm>
            <a:custGeom>
              <a:avLst/>
              <a:gdLst/>
              <a:ahLst/>
              <a:cxnLst/>
              <a:rect l="l" t="t" r="r" b="b"/>
              <a:pathLst>
                <a:path w="3513787" h="2898875">
                  <a:moveTo>
                    <a:pt x="0" y="0"/>
                  </a:moveTo>
                  <a:lnTo>
                    <a:pt x="3513787" y="0"/>
                  </a:lnTo>
                  <a:lnTo>
                    <a:pt x="3513787" y="2898875"/>
                  </a:lnTo>
                  <a:lnTo>
                    <a:pt x="0" y="2898875"/>
                  </a:lnTo>
                  <a:lnTo>
                    <a:pt x="0" y="0"/>
                  </a:lnTo>
                  <a:close/>
                </a:path>
              </a:pathLst>
            </a:custGeom>
            <a:blipFill>
              <a:blip r:embed="rId9">
                <a:alphaModFix amt="50000"/>
              </a:blip>
              <a:stretch>
                <a:fillRect/>
              </a:stretch>
            </a:blipFill>
          </p:spPr>
        </p:sp>
        <p:sp>
          <p:nvSpPr>
            <p:cNvPr id="60" name="Freeform 6"/>
            <p:cNvSpPr/>
            <p:nvPr>
              <p:custDataLst>
                <p:tags r:id="rId10"/>
              </p:custDataLst>
            </p:nvPr>
          </p:nvSpPr>
          <p:spPr>
            <a:xfrm>
              <a:off x="14653" y="9766"/>
              <a:ext cx="6786" cy="3561"/>
            </a:xfrm>
            <a:custGeom>
              <a:avLst/>
              <a:gdLst/>
              <a:ahLst/>
              <a:cxnLst/>
              <a:rect l="l" t="t" r="r" b="b"/>
              <a:pathLst>
                <a:path w="3474908" h="2866799">
                  <a:moveTo>
                    <a:pt x="0" y="0"/>
                  </a:moveTo>
                  <a:lnTo>
                    <a:pt x="3474908" y="0"/>
                  </a:lnTo>
                  <a:lnTo>
                    <a:pt x="3474908" y="2866799"/>
                  </a:lnTo>
                  <a:lnTo>
                    <a:pt x="0" y="2866799"/>
                  </a:lnTo>
                  <a:lnTo>
                    <a:pt x="0" y="0"/>
                  </a:lnTo>
                  <a:close/>
                </a:path>
              </a:pathLst>
            </a:custGeom>
            <a:blipFill>
              <a:blip r:embed="rId6">
                <a:alphaModFix amt="85000"/>
                <a:extLst>
                  <a:ext uri="{96DAC541-7B7A-43D3-8B79-37D633B846F1}">
                    <asvg:svgBlip xmlns:asvg="http://schemas.microsoft.com/office/drawing/2016/SVG/main" r:embed="rId7"/>
                  </a:ext>
                </a:extLst>
              </a:blip>
              <a:stretch>
                <a:fillRect/>
              </a:stretch>
            </a:blipFill>
          </p:spPr>
        </p:sp>
        <p:sp>
          <p:nvSpPr>
            <p:cNvPr id="61" name="Freeform 7"/>
            <p:cNvSpPr/>
            <p:nvPr>
              <p:custDataLst>
                <p:tags r:id="rId11"/>
              </p:custDataLst>
            </p:nvPr>
          </p:nvSpPr>
          <p:spPr>
            <a:xfrm>
              <a:off x="21290" y="9766"/>
              <a:ext cx="6954" cy="3577"/>
            </a:xfrm>
            <a:custGeom>
              <a:avLst/>
              <a:gdLst/>
              <a:ahLst/>
              <a:cxnLst/>
              <a:rect l="l" t="t" r="r" b="b"/>
              <a:pathLst>
                <a:path w="3133237" h="2584920">
                  <a:moveTo>
                    <a:pt x="0" y="0"/>
                  </a:moveTo>
                  <a:lnTo>
                    <a:pt x="3133237" y="0"/>
                  </a:lnTo>
                  <a:lnTo>
                    <a:pt x="3133237" y="2584920"/>
                  </a:lnTo>
                  <a:lnTo>
                    <a:pt x="0" y="2584920"/>
                  </a:lnTo>
                  <a:lnTo>
                    <a:pt x="0" y="0"/>
                  </a:lnTo>
                  <a:close/>
                </a:path>
              </a:pathLst>
            </a:custGeom>
            <a:blipFill>
              <a:blip r:embed="rId9">
                <a:alphaModFix amt="50000"/>
              </a:blip>
              <a:stretch>
                <a:fillRect/>
              </a:stretch>
            </a:blipFill>
          </p:spPr>
        </p:sp>
        <p:grpSp>
          <p:nvGrpSpPr>
            <p:cNvPr id="85" name="Group 29"/>
            <p:cNvGrpSpPr/>
            <p:nvPr>
              <p:custDataLst>
                <p:tags r:id="rId12"/>
              </p:custDataLst>
            </p:nvPr>
          </p:nvGrpSpPr>
          <p:grpSpPr>
            <a:xfrm>
              <a:off x="3340" y="13386"/>
              <a:ext cx="22401" cy="250"/>
              <a:chOff x="0" y="0"/>
              <a:chExt cx="17483328" cy="194982"/>
            </a:xfrm>
          </p:grpSpPr>
          <p:sp>
            <p:nvSpPr>
              <p:cNvPr id="122" name="Freeform 30"/>
              <p:cNvSpPr/>
              <p:nvPr>
                <p:custDataLst>
                  <p:tags r:id="rId13"/>
                </p:custDataLst>
              </p:nvPr>
            </p:nvSpPr>
            <p:spPr>
              <a:xfrm>
                <a:off x="0" y="0"/>
                <a:ext cx="17483328" cy="195072"/>
              </a:xfrm>
              <a:custGeom>
                <a:avLst/>
                <a:gdLst/>
                <a:ahLst/>
                <a:cxnLst/>
                <a:rect l="l" t="t" r="r" b="b"/>
                <a:pathLst>
                  <a:path w="17483328" h="195072">
                    <a:moveTo>
                      <a:pt x="0" y="97536"/>
                    </a:moveTo>
                    <a:cubicBezTo>
                      <a:pt x="0" y="151384"/>
                      <a:pt x="43688" y="195072"/>
                      <a:pt x="97536" y="195072"/>
                    </a:cubicBezTo>
                    <a:lnTo>
                      <a:pt x="17385792" y="195072"/>
                    </a:lnTo>
                    <a:cubicBezTo>
                      <a:pt x="17439639" y="195072"/>
                      <a:pt x="17483328" y="151384"/>
                      <a:pt x="17483328" y="97536"/>
                    </a:cubicBezTo>
                    <a:cubicBezTo>
                      <a:pt x="17483328" y="43688"/>
                      <a:pt x="17439639" y="0"/>
                      <a:pt x="17385792" y="0"/>
                    </a:cubicBezTo>
                    <a:lnTo>
                      <a:pt x="97536" y="0"/>
                    </a:lnTo>
                    <a:cubicBezTo>
                      <a:pt x="43688" y="0"/>
                      <a:pt x="0" y="43688"/>
                      <a:pt x="0" y="97536"/>
                    </a:cubicBezTo>
                    <a:close/>
                  </a:path>
                </a:pathLst>
              </a:custGeom>
              <a:solidFill>
                <a:srgbClr val="FFC88E"/>
              </a:solidFill>
            </p:spPr>
          </p:sp>
        </p:grpSp>
        <p:grpSp>
          <p:nvGrpSpPr>
            <p:cNvPr id="86" name="Group 31"/>
            <p:cNvGrpSpPr/>
            <p:nvPr>
              <p:custDataLst>
                <p:tags r:id="rId14"/>
              </p:custDataLst>
            </p:nvPr>
          </p:nvGrpSpPr>
          <p:grpSpPr>
            <a:xfrm>
              <a:off x="1597" y="13385"/>
              <a:ext cx="6919" cy="252"/>
              <a:chOff x="0" y="0"/>
              <a:chExt cx="5400000" cy="196336"/>
            </a:xfrm>
          </p:grpSpPr>
          <p:sp>
            <p:nvSpPr>
              <p:cNvPr id="121" name="Freeform 32"/>
              <p:cNvSpPr/>
              <p:nvPr>
                <p:custDataLst>
                  <p:tags r:id="rId15"/>
                </p:custDataLst>
              </p:nvPr>
            </p:nvSpPr>
            <p:spPr>
              <a:xfrm>
                <a:off x="0" y="0"/>
                <a:ext cx="5400040" cy="196342"/>
              </a:xfrm>
              <a:custGeom>
                <a:avLst/>
                <a:gdLst/>
                <a:ahLst/>
                <a:cxnLst/>
                <a:rect l="l" t="t" r="r" b="b"/>
                <a:pathLst>
                  <a:path w="5400040" h="196342">
                    <a:moveTo>
                      <a:pt x="0" y="196342"/>
                    </a:moveTo>
                    <a:lnTo>
                      <a:pt x="5400040" y="196342"/>
                    </a:lnTo>
                    <a:lnTo>
                      <a:pt x="5400040" y="0"/>
                    </a:lnTo>
                    <a:lnTo>
                      <a:pt x="0" y="0"/>
                    </a:lnTo>
                  </a:path>
                </a:pathLst>
              </a:custGeom>
              <a:gradFill rotWithShape="1">
                <a:gsLst>
                  <a:gs pos="0">
                    <a:srgbClr val="FF6400">
                      <a:alpha val="100000"/>
                    </a:srgbClr>
                  </a:gs>
                  <a:gs pos="100000">
                    <a:srgbClr val="FCCA90">
                      <a:alpha val="100000"/>
                    </a:srgbClr>
                  </a:gs>
                </a:gsLst>
                <a:lin ang="0"/>
              </a:gradFill>
            </p:spPr>
          </p:sp>
        </p:grpSp>
        <p:grpSp>
          <p:nvGrpSpPr>
            <p:cNvPr id="87" name="Group 33"/>
            <p:cNvGrpSpPr/>
            <p:nvPr>
              <p:custDataLst>
                <p:tags r:id="rId16"/>
              </p:custDataLst>
            </p:nvPr>
          </p:nvGrpSpPr>
          <p:grpSpPr>
            <a:xfrm>
              <a:off x="24919" y="13376"/>
              <a:ext cx="269" cy="269"/>
              <a:chOff x="0" y="0"/>
              <a:chExt cx="209800" cy="209800"/>
            </a:xfrm>
          </p:grpSpPr>
          <p:sp>
            <p:nvSpPr>
              <p:cNvPr id="120" name="Freeform 34"/>
              <p:cNvSpPr/>
              <p:nvPr>
                <p:custDataLst>
                  <p:tags r:id="rId17"/>
                </p:custDataLst>
              </p:nvPr>
            </p:nvSpPr>
            <p:spPr>
              <a:xfrm>
                <a:off x="0" y="0"/>
                <a:ext cx="209804" cy="209804"/>
              </a:xfrm>
              <a:custGeom>
                <a:avLst/>
                <a:gdLst/>
                <a:ahLst/>
                <a:cxnLst/>
                <a:rect l="l" t="t" r="r" b="b"/>
                <a:pathLst>
                  <a:path w="209804" h="209804">
                    <a:moveTo>
                      <a:pt x="0" y="104902"/>
                    </a:moveTo>
                    <a:cubicBezTo>
                      <a:pt x="0" y="162814"/>
                      <a:pt x="46990" y="209804"/>
                      <a:pt x="104902" y="209804"/>
                    </a:cubicBezTo>
                    <a:cubicBezTo>
                      <a:pt x="162814" y="209804"/>
                      <a:pt x="209804" y="162814"/>
                      <a:pt x="209804" y="104902"/>
                    </a:cubicBezTo>
                    <a:cubicBezTo>
                      <a:pt x="209804" y="46990"/>
                      <a:pt x="162814" y="0"/>
                      <a:pt x="104902" y="0"/>
                    </a:cubicBezTo>
                    <a:cubicBezTo>
                      <a:pt x="46990" y="0"/>
                      <a:pt x="0" y="46990"/>
                      <a:pt x="0" y="104902"/>
                    </a:cubicBezTo>
                    <a:close/>
                  </a:path>
                </a:pathLst>
              </a:custGeom>
              <a:solidFill>
                <a:srgbClr val="FFC88E"/>
              </a:solidFill>
            </p:spPr>
          </p:sp>
        </p:grpSp>
        <p:grpSp>
          <p:nvGrpSpPr>
            <p:cNvPr id="88" name="Group 35"/>
            <p:cNvGrpSpPr/>
            <p:nvPr>
              <p:custDataLst>
                <p:tags r:id="rId18"/>
              </p:custDataLst>
            </p:nvPr>
          </p:nvGrpSpPr>
          <p:grpSpPr>
            <a:xfrm>
              <a:off x="25397" y="13376"/>
              <a:ext cx="269" cy="269"/>
              <a:chOff x="0" y="0"/>
              <a:chExt cx="209800" cy="209800"/>
            </a:xfrm>
          </p:grpSpPr>
          <p:sp>
            <p:nvSpPr>
              <p:cNvPr id="119" name="Freeform 36"/>
              <p:cNvSpPr/>
              <p:nvPr>
                <p:custDataLst>
                  <p:tags r:id="rId19"/>
                </p:custDataLst>
              </p:nvPr>
            </p:nvSpPr>
            <p:spPr>
              <a:xfrm>
                <a:off x="0" y="0"/>
                <a:ext cx="209804" cy="209804"/>
              </a:xfrm>
              <a:custGeom>
                <a:avLst/>
                <a:gdLst/>
                <a:ahLst/>
                <a:cxnLst/>
                <a:rect l="l" t="t" r="r" b="b"/>
                <a:pathLst>
                  <a:path w="209804" h="209804">
                    <a:moveTo>
                      <a:pt x="0" y="104902"/>
                    </a:moveTo>
                    <a:cubicBezTo>
                      <a:pt x="0" y="162814"/>
                      <a:pt x="46990" y="209804"/>
                      <a:pt x="104902" y="209804"/>
                    </a:cubicBezTo>
                    <a:cubicBezTo>
                      <a:pt x="162814" y="209804"/>
                      <a:pt x="209804" y="162814"/>
                      <a:pt x="209804" y="104902"/>
                    </a:cubicBezTo>
                    <a:cubicBezTo>
                      <a:pt x="209804" y="46990"/>
                      <a:pt x="162814" y="0"/>
                      <a:pt x="104902" y="0"/>
                    </a:cubicBezTo>
                    <a:cubicBezTo>
                      <a:pt x="46990" y="0"/>
                      <a:pt x="0" y="46990"/>
                      <a:pt x="0" y="104902"/>
                    </a:cubicBezTo>
                    <a:close/>
                  </a:path>
                </a:pathLst>
              </a:custGeom>
              <a:solidFill>
                <a:srgbClr val="FFC88E"/>
              </a:solidFill>
            </p:spPr>
          </p:sp>
        </p:grpSp>
        <p:grpSp>
          <p:nvGrpSpPr>
            <p:cNvPr id="89" name="Group 37"/>
            <p:cNvGrpSpPr/>
            <p:nvPr/>
          </p:nvGrpSpPr>
          <p:grpSpPr>
            <a:xfrm>
              <a:off x="25874" y="13376"/>
              <a:ext cx="269" cy="269"/>
              <a:chOff x="0" y="0"/>
              <a:chExt cx="209800" cy="209800"/>
            </a:xfrm>
          </p:grpSpPr>
          <p:sp>
            <p:nvSpPr>
              <p:cNvPr id="118" name="Freeform 38"/>
              <p:cNvSpPr/>
              <p:nvPr/>
            </p:nvSpPr>
            <p:spPr>
              <a:xfrm>
                <a:off x="0" y="0"/>
                <a:ext cx="209804" cy="209804"/>
              </a:xfrm>
              <a:custGeom>
                <a:avLst/>
                <a:gdLst/>
                <a:ahLst/>
                <a:cxnLst/>
                <a:rect l="l" t="t" r="r" b="b"/>
                <a:pathLst>
                  <a:path w="209804" h="209804">
                    <a:moveTo>
                      <a:pt x="0" y="104902"/>
                    </a:moveTo>
                    <a:cubicBezTo>
                      <a:pt x="0" y="162814"/>
                      <a:pt x="46990" y="209804"/>
                      <a:pt x="104902" y="209804"/>
                    </a:cubicBezTo>
                    <a:cubicBezTo>
                      <a:pt x="162814" y="209804"/>
                      <a:pt x="209804" y="162814"/>
                      <a:pt x="209804" y="104902"/>
                    </a:cubicBezTo>
                    <a:cubicBezTo>
                      <a:pt x="209804" y="46990"/>
                      <a:pt x="162814" y="0"/>
                      <a:pt x="104902" y="0"/>
                    </a:cubicBezTo>
                    <a:cubicBezTo>
                      <a:pt x="46990" y="0"/>
                      <a:pt x="0" y="46990"/>
                      <a:pt x="0" y="104902"/>
                    </a:cubicBezTo>
                    <a:close/>
                  </a:path>
                </a:pathLst>
              </a:custGeom>
              <a:solidFill>
                <a:srgbClr val="FFC88E"/>
              </a:solidFill>
            </p:spPr>
          </p:sp>
        </p:grpSp>
        <p:grpSp>
          <p:nvGrpSpPr>
            <p:cNvPr id="90" name="Group 39"/>
            <p:cNvGrpSpPr/>
            <p:nvPr>
              <p:custDataLst>
                <p:tags r:id="rId20"/>
              </p:custDataLst>
            </p:nvPr>
          </p:nvGrpSpPr>
          <p:grpSpPr>
            <a:xfrm>
              <a:off x="1363" y="13157"/>
              <a:ext cx="582" cy="582"/>
              <a:chOff x="0" y="0"/>
              <a:chExt cx="520811" cy="520811"/>
            </a:xfrm>
          </p:grpSpPr>
          <p:sp>
            <p:nvSpPr>
              <p:cNvPr id="116" name="Freeform 40"/>
              <p:cNvSpPr/>
              <p:nvPr>
                <p:custDataLst>
                  <p:tags r:id="rId21"/>
                </p:custDataLst>
              </p:nvPr>
            </p:nvSpPr>
            <p:spPr>
              <a:xfrm>
                <a:off x="12700" y="12700"/>
                <a:ext cx="502412" cy="502412"/>
              </a:xfrm>
              <a:custGeom>
                <a:avLst/>
                <a:gdLst/>
                <a:ahLst/>
                <a:cxnLst/>
                <a:rect l="l" t="t" r="r" b="b"/>
                <a:pathLst>
                  <a:path w="502412" h="502412">
                    <a:moveTo>
                      <a:pt x="0" y="251206"/>
                    </a:moveTo>
                    <a:cubicBezTo>
                      <a:pt x="0" y="390017"/>
                      <a:pt x="112522" y="502412"/>
                      <a:pt x="251206" y="502412"/>
                    </a:cubicBezTo>
                    <a:cubicBezTo>
                      <a:pt x="389890" y="502412"/>
                      <a:pt x="502412" y="389890"/>
                      <a:pt x="502412" y="251206"/>
                    </a:cubicBezTo>
                    <a:cubicBezTo>
                      <a:pt x="502412" y="112522"/>
                      <a:pt x="390017" y="0"/>
                      <a:pt x="251206" y="0"/>
                    </a:cubicBezTo>
                    <a:cubicBezTo>
                      <a:pt x="112395" y="0"/>
                      <a:pt x="0" y="112522"/>
                      <a:pt x="0" y="251206"/>
                    </a:cubicBezTo>
                    <a:close/>
                  </a:path>
                </a:pathLst>
              </a:custGeom>
              <a:gradFill rotWithShape="1">
                <a:gsLst>
                  <a:gs pos="0">
                    <a:srgbClr val="FF6400">
                      <a:alpha val="100000"/>
                    </a:srgbClr>
                  </a:gs>
                  <a:gs pos="100000">
                    <a:srgbClr val="FFB800">
                      <a:alpha val="100000"/>
                    </a:srgbClr>
                  </a:gs>
                </a:gsLst>
                <a:lin ang="5400000"/>
              </a:gradFill>
            </p:spPr>
          </p:sp>
          <p:sp>
            <p:nvSpPr>
              <p:cNvPr id="117" name="Freeform 41"/>
              <p:cNvSpPr/>
              <p:nvPr>
                <p:custDataLst>
                  <p:tags r:id="rId22"/>
                </p:custDataLst>
              </p:nvPr>
            </p:nvSpPr>
            <p:spPr>
              <a:xfrm>
                <a:off x="0" y="0"/>
                <a:ext cx="527812" cy="527812"/>
              </a:xfrm>
              <a:custGeom>
                <a:avLst/>
                <a:gdLst/>
                <a:ahLst/>
                <a:cxnLst/>
                <a:rect l="l" t="t" r="r" b="b"/>
                <a:pathLst>
                  <a:path w="527812" h="527812">
                    <a:moveTo>
                      <a:pt x="25400" y="263906"/>
                    </a:moveTo>
                    <a:cubicBezTo>
                      <a:pt x="25400" y="395605"/>
                      <a:pt x="132207" y="502412"/>
                      <a:pt x="263906" y="502412"/>
                    </a:cubicBezTo>
                    <a:lnTo>
                      <a:pt x="263906" y="515112"/>
                    </a:lnTo>
                    <a:lnTo>
                      <a:pt x="263906" y="502412"/>
                    </a:lnTo>
                    <a:lnTo>
                      <a:pt x="263906" y="515112"/>
                    </a:lnTo>
                    <a:lnTo>
                      <a:pt x="263906" y="502412"/>
                    </a:lnTo>
                    <a:cubicBezTo>
                      <a:pt x="395605" y="502412"/>
                      <a:pt x="502412" y="395605"/>
                      <a:pt x="502412" y="263906"/>
                    </a:cubicBezTo>
                    <a:lnTo>
                      <a:pt x="515112" y="263906"/>
                    </a:lnTo>
                    <a:lnTo>
                      <a:pt x="502412" y="263906"/>
                    </a:lnTo>
                    <a:cubicBezTo>
                      <a:pt x="502412" y="132207"/>
                      <a:pt x="395605" y="25400"/>
                      <a:pt x="263906" y="25400"/>
                    </a:cubicBezTo>
                    <a:lnTo>
                      <a:pt x="263906" y="12700"/>
                    </a:lnTo>
                    <a:lnTo>
                      <a:pt x="263906" y="25400"/>
                    </a:lnTo>
                    <a:cubicBezTo>
                      <a:pt x="132207" y="25400"/>
                      <a:pt x="25400" y="132207"/>
                      <a:pt x="25400" y="263906"/>
                    </a:cubicBezTo>
                    <a:cubicBezTo>
                      <a:pt x="25400" y="270891"/>
                      <a:pt x="19685" y="276606"/>
                      <a:pt x="12700" y="276606"/>
                    </a:cubicBezTo>
                    <a:cubicBezTo>
                      <a:pt x="5715" y="276606"/>
                      <a:pt x="0" y="270891"/>
                      <a:pt x="0" y="263906"/>
                    </a:cubicBezTo>
                    <a:lnTo>
                      <a:pt x="12700" y="263906"/>
                    </a:lnTo>
                    <a:lnTo>
                      <a:pt x="25400" y="263906"/>
                    </a:lnTo>
                    <a:moveTo>
                      <a:pt x="0" y="263906"/>
                    </a:moveTo>
                    <a:cubicBezTo>
                      <a:pt x="0" y="256921"/>
                      <a:pt x="5715" y="251206"/>
                      <a:pt x="12700" y="251206"/>
                    </a:cubicBezTo>
                    <a:cubicBezTo>
                      <a:pt x="19685" y="251206"/>
                      <a:pt x="25400" y="256921"/>
                      <a:pt x="25400" y="263906"/>
                    </a:cubicBezTo>
                    <a:lnTo>
                      <a:pt x="12700" y="263906"/>
                    </a:lnTo>
                    <a:lnTo>
                      <a:pt x="0" y="263906"/>
                    </a:lnTo>
                    <a:cubicBezTo>
                      <a:pt x="0" y="118110"/>
                      <a:pt x="118110" y="0"/>
                      <a:pt x="263906" y="0"/>
                    </a:cubicBezTo>
                    <a:cubicBezTo>
                      <a:pt x="409702" y="0"/>
                      <a:pt x="527812" y="118110"/>
                      <a:pt x="527812" y="263906"/>
                    </a:cubicBezTo>
                    <a:cubicBezTo>
                      <a:pt x="527812" y="409702"/>
                      <a:pt x="409702" y="527812"/>
                      <a:pt x="263906" y="527812"/>
                    </a:cubicBezTo>
                    <a:cubicBezTo>
                      <a:pt x="118110" y="527812"/>
                      <a:pt x="0" y="409702"/>
                      <a:pt x="0" y="263906"/>
                    </a:cubicBezTo>
                    <a:close/>
                  </a:path>
                </a:pathLst>
              </a:custGeom>
              <a:gradFill rotWithShape="1">
                <a:gsLst>
                  <a:gs pos="0">
                    <a:srgbClr val="FF6400">
                      <a:alpha val="100000"/>
                    </a:srgbClr>
                  </a:gs>
                  <a:gs pos="100000">
                    <a:srgbClr val="FFB800">
                      <a:alpha val="100000"/>
                    </a:srgbClr>
                  </a:gs>
                </a:gsLst>
                <a:lin ang="5400000"/>
              </a:gradFill>
            </p:spPr>
          </p:sp>
        </p:grpSp>
        <p:grpSp>
          <p:nvGrpSpPr>
            <p:cNvPr id="91" name="Group 42"/>
            <p:cNvGrpSpPr/>
            <p:nvPr>
              <p:custDataLst>
                <p:tags r:id="rId23"/>
              </p:custDataLst>
            </p:nvPr>
          </p:nvGrpSpPr>
          <p:grpSpPr>
            <a:xfrm>
              <a:off x="1170" y="12942"/>
              <a:ext cx="989" cy="990"/>
              <a:chOff x="0" y="0"/>
              <a:chExt cx="885203" cy="885203"/>
            </a:xfrm>
          </p:grpSpPr>
          <p:sp>
            <p:nvSpPr>
              <p:cNvPr id="114" name="Freeform 43"/>
              <p:cNvSpPr/>
              <p:nvPr>
                <p:custDataLst>
                  <p:tags r:id="rId24"/>
                </p:custDataLst>
              </p:nvPr>
            </p:nvSpPr>
            <p:spPr>
              <a:xfrm>
                <a:off x="12700" y="12700"/>
                <a:ext cx="866902" cy="866902"/>
              </a:xfrm>
              <a:custGeom>
                <a:avLst/>
                <a:gdLst/>
                <a:ahLst/>
                <a:cxnLst/>
                <a:rect l="l" t="t" r="r" b="b"/>
                <a:pathLst>
                  <a:path w="866902" h="866902">
                    <a:moveTo>
                      <a:pt x="0" y="433451"/>
                    </a:moveTo>
                    <a:cubicBezTo>
                      <a:pt x="0" y="672846"/>
                      <a:pt x="194056" y="866902"/>
                      <a:pt x="433451" y="866902"/>
                    </a:cubicBezTo>
                    <a:cubicBezTo>
                      <a:pt x="672846" y="866902"/>
                      <a:pt x="866902" y="672846"/>
                      <a:pt x="866902" y="433451"/>
                    </a:cubicBezTo>
                    <a:cubicBezTo>
                      <a:pt x="866902" y="194056"/>
                      <a:pt x="672846" y="0"/>
                      <a:pt x="433451" y="0"/>
                    </a:cubicBezTo>
                    <a:cubicBezTo>
                      <a:pt x="194056" y="0"/>
                      <a:pt x="0" y="194056"/>
                      <a:pt x="0" y="433451"/>
                    </a:cubicBezTo>
                    <a:close/>
                    <a:moveTo>
                      <a:pt x="86614" y="433451"/>
                    </a:moveTo>
                    <a:cubicBezTo>
                      <a:pt x="86614" y="241935"/>
                      <a:pt x="241935" y="86614"/>
                      <a:pt x="433451" y="86614"/>
                    </a:cubicBezTo>
                    <a:cubicBezTo>
                      <a:pt x="624967" y="86614"/>
                      <a:pt x="780161" y="241935"/>
                      <a:pt x="780161" y="433451"/>
                    </a:cubicBezTo>
                    <a:cubicBezTo>
                      <a:pt x="780161" y="624967"/>
                      <a:pt x="624967" y="780161"/>
                      <a:pt x="433451" y="780161"/>
                    </a:cubicBezTo>
                    <a:cubicBezTo>
                      <a:pt x="241935" y="780161"/>
                      <a:pt x="86614" y="624967"/>
                      <a:pt x="86614" y="433451"/>
                    </a:cubicBezTo>
                    <a:close/>
                  </a:path>
                </a:pathLst>
              </a:custGeom>
              <a:gradFill rotWithShape="1">
                <a:gsLst>
                  <a:gs pos="0">
                    <a:srgbClr val="FF6400">
                      <a:alpha val="100000"/>
                    </a:srgbClr>
                  </a:gs>
                  <a:gs pos="100000">
                    <a:srgbClr val="FFB800">
                      <a:alpha val="100000"/>
                    </a:srgbClr>
                  </a:gs>
                </a:gsLst>
                <a:lin ang="5400000"/>
              </a:gradFill>
            </p:spPr>
          </p:sp>
          <p:sp>
            <p:nvSpPr>
              <p:cNvPr id="115" name="Freeform 44"/>
              <p:cNvSpPr/>
              <p:nvPr>
                <p:custDataLst>
                  <p:tags r:id="rId25"/>
                </p:custDataLst>
              </p:nvPr>
            </p:nvSpPr>
            <p:spPr>
              <a:xfrm>
                <a:off x="0" y="0"/>
                <a:ext cx="892302" cy="892302"/>
              </a:xfrm>
              <a:custGeom>
                <a:avLst/>
                <a:gdLst/>
                <a:ahLst/>
                <a:cxnLst/>
                <a:rect l="l" t="t" r="r" b="b"/>
                <a:pathLst>
                  <a:path w="892302" h="892302">
                    <a:moveTo>
                      <a:pt x="25400" y="446151"/>
                    </a:moveTo>
                    <a:cubicBezTo>
                      <a:pt x="25400" y="678561"/>
                      <a:pt x="213741" y="866902"/>
                      <a:pt x="446151" y="866902"/>
                    </a:cubicBezTo>
                    <a:lnTo>
                      <a:pt x="446151" y="879602"/>
                    </a:lnTo>
                    <a:lnTo>
                      <a:pt x="446151" y="866902"/>
                    </a:lnTo>
                    <a:lnTo>
                      <a:pt x="446151" y="879602"/>
                    </a:lnTo>
                    <a:lnTo>
                      <a:pt x="446151" y="866902"/>
                    </a:lnTo>
                    <a:cubicBezTo>
                      <a:pt x="678561" y="866902"/>
                      <a:pt x="866902" y="678561"/>
                      <a:pt x="866902" y="446151"/>
                    </a:cubicBezTo>
                    <a:lnTo>
                      <a:pt x="879602" y="446151"/>
                    </a:lnTo>
                    <a:lnTo>
                      <a:pt x="866902" y="446151"/>
                    </a:lnTo>
                    <a:cubicBezTo>
                      <a:pt x="866902" y="213741"/>
                      <a:pt x="678434" y="25400"/>
                      <a:pt x="446151" y="25400"/>
                    </a:cubicBezTo>
                    <a:lnTo>
                      <a:pt x="446151" y="12700"/>
                    </a:lnTo>
                    <a:lnTo>
                      <a:pt x="446151" y="25400"/>
                    </a:lnTo>
                    <a:cubicBezTo>
                      <a:pt x="213741" y="25400"/>
                      <a:pt x="25400" y="213741"/>
                      <a:pt x="25400" y="446151"/>
                    </a:cubicBezTo>
                    <a:cubicBezTo>
                      <a:pt x="25400" y="451866"/>
                      <a:pt x="21590" y="456819"/>
                      <a:pt x="16256" y="458343"/>
                    </a:cubicBezTo>
                    <a:cubicBezTo>
                      <a:pt x="10922" y="459867"/>
                      <a:pt x="4953" y="457708"/>
                      <a:pt x="2032" y="452882"/>
                    </a:cubicBezTo>
                    <a:lnTo>
                      <a:pt x="12700" y="446151"/>
                    </a:lnTo>
                    <a:lnTo>
                      <a:pt x="25400" y="446151"/>
                    </a:lnTo>
                    <a:moveTo>
                      <a:pt x="0" y="446151"/>
                    </a:moveTo>
                    <a:cubicBezTo>
                      <a:pt x="0" y="440436"/>
                      <a:pt x="3810" y="435483"/>
                      <a:pt x="9144" y="433959"/>
                    </a:cubicBezTo>
                    <a:cubicBezTo>
                      <a:pt x="14478" y="432435"/>
                      <a:pt x="20447" y="434594"/>
                      <a:pt x="23368" y="439420"/>
                    </a:cubicBezTo>
                    <a:lnTo>
                      <a:pt x="12700" y="446151"/>
                    </a:lnTo>
                    <a:lnTo>
                      <a:pt x="0" y="446151"/>
                    </a:lnTo>
                    <a:cubicBezTo>
                      <a:pt x="0" y="199771"/>
                      <a:pt x="199771" y="0"/>
                      <a:pt x="446151" y="0"/>
                    </a:cubicBezTo>
                    <a:cubicBezTo>
                      <a:pt x="692531" y="0"/>
                      <a:pt x="892302" y="199771"/>
                      <a:pt x="892302" y="446151"/>
                    </a:cubicBezTo>
                    <a:cubicBezTo>
                      <a:pt x="892302" y="692531"/>
                      <a:pt x="692531" y="892302"/>
                      <a:pt x="446151" y="892302"/>
                    </a:cubicBezTo>
                    <a:cubicBezTo>
                      <a:pt x="199771" y="892302"/>
                      <a:pt x="0" y="692531"/>
                      <a:pt x="0" y="446151"/>
                    </a:cubicBezTo>
                    <a:close/>
                    <a:moveTo>
                      <a:pt x="99314" y="458851"/>
                    </a:moveTo>
                    <a:cubicBezTo>
                      <a:pt x="95885" y="458851"/>
                      <a:pt x="92710" y="457454"/>
                      <a:pt x="90297" y="455168"/>
                    </a:cubicBezTo>
                    <a:cubicBezTo>
                      <a:pt x="87884" y="452882"/>
                      <a:pt x="86614" y="449580"/>
                      <a:pt x="86614" y="446151"/>
                    </a:cubicBezTo>
                    <a:cubicBezTo>
                      <a:pt x="86614" y="247650"/>
                      <a:pt x="247523" y="86614"/>
                      <a:pt x="446151" y="86614"/>
                    </a:cubicBezTo>
                    <a:lnTo>
                      <a:pt x="446151" y="99314"/>
                    </a:lnTo>
                    <a:lnTo>
                      <a:pt x="446151" y="86614"/>
                    </a:lnTo>
                    <a:cubicBezTo>
                      <a:pt x="644652" y="86614"/>
                      <a:pt x="805688" y="247523"/>
                      <a:pt x="805688" y="446151"/>
                    </a:cubicBezTo>
                    <a:lnTo>
                      <a:pt x="792988" y="446151"/>
                    </a:lnTo>
                    <a:lnTo>
                      <a:pt x="805688" y="446151"/>
                    </a:lnTo>
                    <a:cubicBezTo>
                      <a:pt x="805688" y="644652"/>
                      <a:pt x="644779" y="805688"/>
                      <a:pt x="446151" y="805688"/>
                    </a:cubicBezTo>
                    <a:lnTo>
                      <a:pt x="446151" y="792988"/>
                    </a:lnTo>
                    <a:lnTo>
                      <a:pt x="446151" y="780288"/>
                    </a:lnTo>
                    <a:lnTo>
                      <a:pt x="446151" y="792988"/>
                    </a:lnTo>
                    <a:lnTo>
                      <a:pt x="446151" y="805688"/>
                    </a:lnTo>
                    <a:cubicBezTo>
                      <a:pt x="247650" y="805688"/>
                      <a:pt x="86614" y="644779"/>
                      <a:pt x="86614" y="446151"/>
                    </a:cubicBezTo>
                    <a:lnTo>
                      <a:pt x="99314" y="446151"/>
                    </a:lnTo>
                    <a:lnTo>
                      <a:pt x="99314" y="458851"/>
                    </a:lnTo>
                    <a:lnTo>
                      <a:pt x="99314" y="446151"/>
                    </a:lnTo>
                    <a:lnTo>
                      <a:pt x="99314" y="458851"/>
                    </a:lnTo>
                    <a:moveTo>
                      <a:pt x="99314" y="433451"/>
                    </a:moveTo>
                    <a:cubicBezTo>
                      <a:pt x="106299" y="433451"/>
                      <a:pt x="112014" y="439166"/>
                      <a:pt x="112014" y="446151"/>
                    </a:cubicBezTo>
                    <a:cubicBezTo>
                      <a:pt x="112014" y="630682"/>
                      <a:pt x="261620" y="780288"/>
                      <a:pt x="446151" y="780288"/>
                    </a:cubicBezTo>
                    <a:cubicBezTo>
                      <a:pt x="453136" y="780288"/>
                      <a:pt x="458851" y="786003"/>
                      <a:pt x="458851" y="792988"/>
                    </a:cubicBezTo>
                    <a:cubicBezTo>
                      <a:pt x="458851" y="799973"/>
                      <a:pt x="453136" y="805688"/>
                      <a:pt x="446151" y="805688"/>
                    </a:cubicBezTo>
                    <a:cubicBezTo>
                      <a:pt x="439166" y="805688"/>
                      <a:pt x="433451" y="799973"/>
                      <a:pt x="433451" y="792988"/>
                    </a:cubicBezTo>
                    <a:cubicBezTo>
                      <a:pt x="433451" y="786003"/>
                      <a:pt x="439166" y="780288"/>
                      <a:pt x="446151" y="780288"/>
                    </a:cubicBezTo>
                    <a:cubicBezTo>
                      <a:pt x="630682" y="780288"/>
                      <a:pt x="780288" y="630682"/>
                      <a:pt x="780288" y="446151"/>
                    </a:cubicBezTo>
                    <a:cubicBezTo>
                      <a:pt x="780288" y="261620"/>
                      <a:pt x="630682" y="112014"/>
                      <a:pt x="446151" y="112014"/>
                    </a:cubicBezTo>
                    <a:cubicBezTo>
                      <a:pt x="261620" y="112014"/>
                      <a:pt x="112014" y="261620"/>
                      <a:pt x="112014" y="446151"/>
                    </a:cubicBezTo>
                    <a:lnTo>
                      <a:pt x="99314" y="446151"/>
                    </a:lnTo>
                    <a:lnTo>
                      <a:pt x="99314" y="433451"/>
                    </a:lnTo>
                    <a:close/>
                  </a:path>
                </a:pathLst>
              </a:custGeom>
              <a:gradFill rotWithShape="1">
                <a:gsLst>
                  <a:gs pos="0">
                    <a:srgbClr val="FF6400">
                      <a:alpha val="100000"/>
                    </a:srgbClr>
                  </a:gs>
                  <a:gs pos="100000">
                    <a:srgbClr val="FFB800">
                      <a:alpha val="100000"/>
                    </a:srgbClr>
                  </a:gs>
                </a:gsLst>
                <a:lin ang="5400000"/>
              </a:gradFill>
            </p:spPr>
          </p:sp>
        </p:grpSp>
        <p:grpSp>
          <p:nvGrpSpPr>
            <p:cNvPr id="92" name="Group 45"/>
            <p:cNvGrpSpPr/>
            <p:nvPr>
              <p:custDataLst>
                <p:tags r:id="rId26"/>
              </p:custDataLst>
            </p:nvPr>
          </p:nvGrpSpPr>
          <p:grpSpPr>
            <a:xfrm>
              <a:off x="8507" y="13157"/>
              <a:ext cx="561" cy="562"/>
              <a:chOff x="0" y="0"/>
              <a:chExt cx="502456" cy="502456"/>
            </a:xfrm>
          </p:grpSpPr>
          <p:sp>
            <p:nvSpPr>
              <p:cNvPr id="113" name="Freeform 46"/>
              <p:cNvSpPr/>
              <p:nvPr>
                <p:custDataLst>
                  <p:tags r:id="rId27"/>
                </p:custDataLst>
              </p:nvPr>
            </p:nvSpPr>
            <p:spPr>
              <a:xfrm>
                <a:off x="0" y="0"/>
                <a:ext cx="502412" cy="502412"/>
              </a:xfrm>
              <a:custGeom>
                <a:avLst/>
                <a:gdLst/>
                <a:ahLst/>
                <a:cxnLst/>
                <a:rect l="l" t="t" r="r" b="b"/>
                <a:pathLst>
                  <a:path w="502412" h="502412">
                    <a:moveTo>
                      <a:pt x="0" y="251206"/>
                    </a:moveTo>
                    <a:cubicBezTo>
                      <a:pt x="0" y="390017"/>
                      <a:pt x="112522" y="502412"/>
                      <a:pt x="251206" y="502412"/>
                    </a:cubicBezTo>
                    <a:cubicBezTo>
                      <a:pt x="389890" y="502412"/>
                      <a:pt x="502412" y="389890"/>
                      <a:pt x="502412" y="251206"/>
                    </a:cubicBezTo>
                    <a:cubicBezTo>
                      <a:pt x="502412" y="112522"/>
                      <a:pt x="390017" y="0"/>
                      <a:pt x="251206" y="0"/>
                    </a:cubicBezTo>
                    <a:cubicBezTo>
                      <a:pt x="112395" y="0"/>
                      <a:pt x="0" y="112522"/>
                      <a:pt x="0" y="251206"/>
                    </a:cubicBezTo>
                    <a:close/>
                  </a:path>
                </a:pathLst>
              </a:custGeom>
              <a:gradFill rotWithShape="1">
                <a:gsLst>
                  <a:gs pos="0">
                    <a:srgbClr val="FF4C00">
                      <a:alpha val="100000"/>
                    </a:srgbClr>
                  </a:gs>
                  <a:gs pos="100000">
                    <a:srgbClr val="FF7400">
                      <a:alpha val="100000"/>
                    </a:srgbClr>
                  </a:gs>
                </a:gsLst>
                <a:lin ang="5400000"/>
              </a:gradFill>
            </p:spPr>
          </p:sp>
        </p:grpSp>
        <p:grpSp>
          <p:nvGrpSpPr>
            <p:cNvPr id="93" name="Group 47"/>
            <p:cNvGrpSpPr/>
            <p:nvPr>
              <p:custDataLst>
                <p:tags r:id="rId28"/>
              </p:custDataLst>
            </p:nvPr>
          </p:nvGrpSpPr>
          <p:grpSpPr>
            <a:xfrm>
              <a:off x="8314" y="12942"/>
              <a:ext cx="968" cy="969"/>
              <a:chOff x="0" y="0"/>
              <a:chExt cx="866848" cy="866848"/>
            </a:xfrm>
          </p:grpSpPr>
          <p:sp>
            <p:nvSpPr>
              <p:cNvPr id="112" name="Freeform 48"/>
              <p:cNvSpPr/>
              <p:nvPr>
                <p:custDataLst>
                  <p:tags r:id="rId29"/>
                </p:custDataLst>
              </p:nvPr>
            </p:nvSpPr>
            <p:spPr>
              <a:xfrm>
                <a:off x="0" y="0"/>
                <a:ext cx="866902" cy="866902"/>
              </a:xfrm>
              <a:custGeom>
                <a:avLst/>
                <a:gdLst/>
                <a:ahLst/>
                <a:cxnLst/>
                <a:rect l="l" t="t" r="r" b="b"/>
                <a:pathLst>
                  <a:path w="866902" h="866902">
                    <a:moveTo>
                      <a:pt x="0" y="433451"/>
                    </a:moveTo>
                    <a:cubicBezTo>
                      <a:pt x="0" y="672846"/>
                      <a:pt x="194056" y="866902"/>
                      <a:pt x="433451" y="866902"/>
                    </a:cubicBezTo>
                    <a:cubicBezTo>
                      <a:pt x="672846" y="866902"/>
                      <a:pt x="866902" y="672846"/>
                      <a:pt x="866902" y="433451"/>
                    </a:cubicBezTo>
                    <a:cubicBezTo>
                      <a:pt x="866902" y="194056"/>
                      <a:pt x="672846" y="0"/>
                      <a:pt x="433451" y="0"/>
                    </a:cubicBezTo>
                    <a:cubicBezTo>
                      <a:pt x="194056" y="0"/>
                      <a:pt x="0" y="194056"/>
                      <a:pt x="0" y="433451"/>
                    </a:cubicBezTo>
                    <a:close/>
                    <a:moveTo>
                      <a:pt x="86614" y="433451"/>
                    </a:moveTo>
                    <a:cubicBezTo>
                      <a:pt x="86614" y="241935"/>
                      <a:pt x="241935" y="86614"/>
                      <a:pt x="433451" y="86614"/>
                    </a:cubicBezTo>
                    <a:cubicBezTo>
                      <a:pt x="624967" y="86614"/>
                      <a:pt x="780161" y="241935"/>
                      <a:pt x="780161" y="433451"/>
                    </a:cubicBezTo>
                    <a:cubicBezTo>
                      <a:pt x="780161" y="624967"/>
                      <a:pt x="624967" y="780161"/>
                      <a:pt x="433451" y="780161"/>
                    </a:cubicBezTo>
                    <a:cubicBezTo>
                      <a:pt x="241935" y="780161"/>
                      <a:pt x="86614" y="624967"/>
                      <a:pt x="86614" y="433451"/>
                    </a:cubicBezTo>
                    <a:close/>
                  </a:path>
                </a:pathLst>
              </a:custGeom>
              <a:gradFill rotWithShape="1">
                <a:gsLst>
                  <a:gs pos="0">
                    <a:srgbClr val="FF4C00">
                      <a:alpha val="100000"/>
                    </a:srgbClr>
                  </a:gs>
                  <a:gs pos="100000">
                    <a:srgbClr val="FF7400">
                      <a:alpha val="100000"/>
                    </a:srgbClr>
                  </a:gs>
                </a:gsLst>
                <a:lin ang="5400000"/>
              </a:gradFill>
            </p:spPr>
          </p:sp>
        </p:grpSp>
        <p:grpSp>
          <p:nvGrpSpPr>
            <p:cNvPr id="94" name="Group 49"/>
            <p:cNvGrpSpPr/>
            <p:nvPr>
              <p:custDataLst>
                <p:tags r:id="rId30"/>
              </p:custDataLst>
            </p:nvPr>
          </p:nvGrpSpPr>
          <p:grpSpPr>
            <a:xfrm>
              <a:off x="15417" y="13134"/>
              <a:ext cx="582" cy="582"/>
              <a:chOff x="0" y="0"/>
              <a:chExt cx="520811" cy="520811"/>
            </a:xfrm>
          </p:grpSpPr>
          <p:sp>
            <p:nvSpPr>
              <p:cNvPr id="110" name="Freeform 50"/>
              <p:cNvSpPr/>
              <p:nvPr>
                <p:custDataLst>
                  <p:tags r:id="rId31"/>
                </p:custDataLst>
              </p:nvPr>
            </p:nvSpPr>
            <p:spPr>
              <a:xfrm>
                <a:off x="12700" y="12700"/>
                <a:ext cx="502412" cy="502412"/>
              </a:xfrm>
              <a:custGeom>
                <a:avLst/>
                <a:gdLst/>
                <a:ahLst/>
                <a:cxnLst/>
                <a:rect l="l" t="t" r="r" b="b"/>
                <a:pathLst>
                  <a:path w="502412" h="502412">
                    <a:moveTo>
                      <a:pt x="0" y="251206"/>
                    </a:moveTo>
                    <a:cubicBezTo>
                      <a:pt x="0" y="390017"/>
                      <a:pt x="112522" y="502412"/>
                      <a:pt x="251206" y="502412"/>
                    </a:cubicBezTo>
                    <a:cubicBezTo>
                      <a:pt x="389890" y="502412"/>
                      <a:pt x="502412" y="389890"/>
                      <a:pt x="502412" y="251206"/>
                    </a:cubicBezTo>
                    <a:cubicBezTo>
                      <a:pt x="502412" y="112522"/>
                      <a:pt x="390017" y="0"/>
                      <a:pt x="251206" y="0"/>
                    </a:cubicBezTo>
                    <a:cubicBezTo>
                      <a:pt x="112395" y="0"/>
                      <a:pt x="0" y="112522"/>
                      <a:pt x="0" y="251206"/>
                    </a:cubicBezTo>
                    <a:close/>
                  </a:path>
                </a:pathLst>
              </a:custGeom>
              <a:gradFill rotWithShape="1">
                <a:gsLst>
                  <a:gs pos="0">
                    <a:srgbClr val="FF6400">
                      <a:alpha val="100000"/>
                    </a:srgbClr>
                  </a:gs>
                  <a:gs pos="100000">
                    <a:srgbClr val="FFB800">
                      <a:alpha val="100000"/>
                    </a:srgbClr>
                  </a:gs>
                </a:gsLst>
                <a:lin ang="5400000"/>
              </a:gradFill>
            </p:spPr>
          </p:sp>
          <p:sp>
            <p:nvSpPr>
              <p:cNvPr id="111" name="Freeform 51"/>
              <p:cNvSpPr/>
              <p:nvPr>
                <p:custDataLst>
                  <p:tags r:id="rId32"/>
                </p:custDataLst>
              </p:nvPr>
            </p:nvSpPr>
            <p:spPr>
              <a:xfrm>
                <a:off x="0" y="0"/>
                <a:ext cx="527812" cy="527812"/>
              </a:xfrm>
              <a:custGeom>
                <a:avLst/>
                <a:gdLst/>
                <a:ahLst/>
                <a:cxnLst/>
                <a:rect l="l" t="t" r="r" b="b"/>
                <a:pathLst>
                  <a:path w="527812" h="527812">
                    <a:moveTo>
                      <a:pt x="25400" y="263906"/>
                    </a:moveTo>
                    <a:cubicBezTo>
                      <a:pt x="25400" y="395605"/>
                      <a:pt x="132207" y="502412"/>
                      <a:pt x="263906" y="502412"/>
                    </a:cubicBezTo>
                    <a:lnTo>
                      <a:pt x="263906" y="515112"/>
                    </a:lnTo>
                    <a:lnTo>
                      <a:pt x="263906" y="502412"/>
                    </a:lnTo>
                    <a:lnTo>
                      <a:pt x="263906" y="515112"/>
                    </a:lnTo>
                    <a:lnTo>
                      <a:pt x="263906" y="502412"/>
                    </a:lnTo>
                    <a:cubicBezTo>
                      <a:pt x="395605" y="502412"/>
                      <a:pt x="502412" y="395605"/>
                      <a:pt x="502412" y="263906"/>
                    </a:cubicBezTo>
                    <a:lnTo>
                      <a:pt x="515112" y="263906"/>
                    </a:lnTo>
                    <a:lnTo>
                      <a:pt x="502412" y="263906"/>
                    </a:lnTo>
                    <a:cubicBezTo>
                      <a:pt x="502412" y="132207"/>
                      <a:pt x="395605" y="25400"/>
                      <a:pt x="263906" y="25400"/>
                    </a:cubicBezTo>
                    <a:lnTo>
                      <a:pt x="263906" y="12700"/>
                    </a:lnTo>
                    <a:lnTo>
                      <a:pt x="263906" y="25400"/>
                    </a:lnTo>
                    <a:cubicBezTo>
                      <a:pt x="132207" y="25400"/>
                      <a:pt x="25400" y="132207"/>
                      <a:pt x="25400" y="263906"/>
                    </a:cubicBezTo>
                    <a:cubicBezTo>
                      <a:pt x="25400" y="270891"/>
                      <a:pt x="19685" y="276606"/>
                      <a:pt x="12700" y="276606"/>
                    </a:cubicBezTo>
                    <a:cubicBezTo>
                      <a:pt x="5715" y="276606"/>
                      <a:pt x="0" y="270891"/>
                      <a:pt x="0" y="263906"/>
                    </a:cubicBezTo>
                    <a:lnTo>
                      <a:pt x="12700" y="263906"/>
                    </a:lnTo>
                    <a:lnTo>
                      <a:pt x="25400" y="263906"/>
                    </a:lnTo>
                    <a:moveTo>
                      <a:pt x="0" y="263906"/>
                    </a:moveTo>
                    <a:cubicBezTo>
                      <a:pt x="0" y="256921"/>
                      <a:pt x="5715" y="251206"/>
                      <a:pt x="12700" y="251206"/>
                    </a:cubicBezTo>
                    <a:cubicBezTo>
                      <a:pt x="19685" y="251206"/>
                      <a:pt x="25400" y="256921"/>
                      <a:pt x="25400" y="263906"/>
                    </a:cubicBezTo>
                    <a:lnTo>
                      <a:pt x="12700" y="263906"/>
                    </a:lnTo>
                    <a:lnTo>
                      <a:pt x="0" y="263906"/>
                    </a:lnTo>
                    <a:cubicBezTo>
                      <a:pt x="0" y="118110"/>
                      <a:pt x="118110" y="0"/>
                      <a:pt x="263906" y="0"/>
                    </a:cubicBezTo>
                    <a:cubicBezTo>
                      <a:pt x="409702" y="0"/>
                      <a:pt x="527812" y="118110"/>
                      <a:pt x="527812" y="263906"/>
                    </a:cubicBezTo>
                    <a:cubicBezTo>
                      <a:pt x="527812" y="409702"/>
                      <a:pt x="409702" y="527812"/>
                      <a:pt x="263906" y="527812"/>
                    </a:cubicBezTo>
                    <a:cubicBezTo>
                      <a:pt x="118110" y="527812"/>
                      <a:pt x="0" y="409702"/>
                      <a:pt x="0" y="263906"/>
                    </a:cubicBezTo>
                    <a:close/>
                  </a:path>
                </a:pathLst>
              </a:custGeom>
              <a:gradFill rotWithShape="1">
                <a:gsLst>
                  <a:gs pos="0">
                    <a:srgbClr val="FF6400">
                      <a:alpha val="100000"/>
                    </a:srgbClr>
                  </a:gs>
                  <a:gs pos="100000">
                    <a:srgbClr val="FFB800">
                      <a:alpha val="100000"/>
                    </a:srgbClr>
                  </a:gs>
                </a:gsLst>
                <a:lin ang="5400000"/>
              </a:gradFill>
            </p:spPr>
          </p:sp>
        </p:grpSp>
        <p:grpSp>
          <p:nvGrpSpPr>
            <p:cNvPr id="95" name="Group 52"/>
            <p:cNvGrpSpPr/>
            <p:nvPr>
              <p:custDataLst>
                <p:tags r:id="rId33"/>
              </p:custDataLst>
            </p:nvPr>
          </p:nvGrpSpPr>
          <p:grpSpPr>
            <a:xfrm>
              <a:off x="15224" y="12919"/>
              <a:ext cx="989" cy="990"/>
              <a:chOff x="0" y="0"/>
              <a:chExt cx="885203" cy="885203"/>
            </a:xfrm>
          </p:grpSpPr>
          <p:sp>
            <p:nvSpPr>
              <p:cNvPr id="108" name="Freeform 53"/>
              <p:cNvSpPr/>
              <p:nvPr>
                <p:custDataLst>
                  <p:tags r:id="rId34"/>
                </p:custDataLst>
              </p:nvPr>
            </p:nvSpPr>
            <p:spPr>
              <a:xfrm>
                <a:off x="12700" y="12700"/>
                <a:ext cx="866902" cy="866902"/>
              </a:xfrm>
              <a:custGeom>
                <a:avLst/>
                <a:gdLst/>
                <a:ahLst/>
                <a:cxnLst/>
                <a:rect l="l" t="t" r="r" b="b"/>
                <a:pathLst>
                  <a:path w="866902" h="866902">
                    <a:moveTo>
                      <a:pt x="0" y="433451"/>
                    </a:moveTo>
                    <a:cubicBezTo>
                      <a:pt x="0" y="672846"/>
                      <a:pt x="194056" y="866902"/>
                      <a:pt x="433451" y="866902"/>
                    </a:cubicBezTo>
                    <a:cubicBezTo>
                      <a:pt x="672846" y="866902"/>
                      <a:pt x="866902" y="672846"/>
                      <a:pt x="866902" y="433451"/>
                    </a:cubicBezTo>
                    <a:cubicBezTo>
                      <a:pt x="866902" y="194056"/>
                      <a:pt x="672846" y="0"/>
                      <a:pt x="433451" y="0"/>
                    </a:cubicBezTo>
                    <a:cubicBezTo>
                      <a:pt x="194056" y="0"/>
                      <a:pt x="0" y="194056"/>
                      <a:pt x="0" y="433451"/>
                    </a:cubicBezTo>
                    <a:close/>
                    <a:moveTo>
                      <a:pt x="86614" y="433451"/>
                    </a:moveTo>
                    <a:cubicBezTo>
                      <a:pt x="86614" y="241935"/>
                      <a:pt x="241935" y="86614"/>
                      <a:pt x="433451" y="86614"/>
                    </a:cubicBezTo>
                    <a:cubicBezTo>
                      <a:pt x="624967" y="86614"/>
                      <a:pt x="780161" y="241935"/>
                      <a:pt x="780161" y="433451"/>
                    </a:cubicBezTo>
                    <a:cubicBezTo>
                      <a:pt x="780161" y="624967"/>
                      <a:pt x="624967" y="780161"/>
                      <a:pt x="433451" y="780161"/>
                    </a:cubicBezTo>
                    <a:cubicBezTo>
                      <a:pt x="241935" y="780161"/>
                      <a:pt x="86614" y="624967"/>
                      <a:pt x="86614" y="433451"/>
                    </a:cubicBezTo>
                    <a:close/>
                  </a:path>
                </a:pathLst>
              </a:custGeom>
              <a:gradFill rotWithShape="1">
                <a:gsLst>
                  <a:gs pos="0">
                    <a:srgbClr val="FF6400">
                      <a:alpha val="100000"/>
                    </a:srgbClr>
                  </a:gs>
                  <a:gs pos="100000">
                    <a:srgbClr val="FFB800">
                      <a:alpha val="100000"/>
                    </a:srgbClr>
                  </a:gs>
                </a:gsLst>
                <a:lin ang="5400000"/>
              </a:gradFill>
            </p:spPr>
          </p:sp>
          <p:sp>
            <p:nvSpPr>
              <p:cNvPr id="109" name="Freeform 54"/>
              <p:cNvSpPr/>
              <p:nvPr>
                <p:custDataLst>
                  <p:tags r:id="rId35"/>
                </p:custDataLst>
              </p:nvPr>
            </p:nvSpPr>
            <p:spPr>
              <a:xfrm>
                <a:off x="0" y="0"/>
                <a:ext cx="892302" cy="892302"/>
              </a:xfrm>
              <a:custGeom>
                <a:avLst/>
                <a:gdLst/>
                <a:ahLst/>
                <a:cxnLst/>
                <a:rect l="l" t="t" r="r" b="b"/>
                <a:pathLst>
                  <a:path w="892302" h="892302">
                    <a:moveTo>
                      <a:pt x="25400" y="446151"/>
                    </a:moveTo>
                    <a:cubicBezTo>
                      <a:pt x="25400" y="678561"/>
                      <a:pt x="213741" y="866902"/>
                      <a:pt x="446151" y="866902"/>
                    </a:cubicBezTo>
                    <a:lnTo>
                      <a:pt x="446151" y="879602"/>
                    </a:lnTo>
                    <a:lnTo>
                      <a:pt x="446151" y="866902"/>
                    </a:lnTo>
                    <a:lnTo>
                      <a:pt x="446151" y="879602"/>
                    </a:lnTo>
                    <a:lnTo>
                      <a:pt x="446151" y="866902"/>
                    </a:lnTo>
                    <a:cubicBezTo>
                      <a:pt x="678561" y="866902"/>
                      <a:pt x="866902" y="678561"/>
                      <a:pt x="866902" y="446151"/>
                    </a:cubicBezTo>
                    <a:lnTo>
                      <a:pt x="879602" y="446151"/>
                    </a:lnTo>
                    <a:lnTo>
                      <a:pt x="866902" y="446151"/>
                    </a:lnTo>
                    <a:cubicBezTo>
                      <a:pt x="866902" y="213741"/>
                      <a:pt x="678434" y="25400"/>
                      <a:pt x="446151" y="25400"/>
                    </a:cubicBezTo>
                    <a:lnTo>
                      <a:pt x="446151" y="12700"/>
                    </a:lnTo>
                    <a:lnTo>
                      <a:pt x="446151" y="25400"/>
                    </a:lnTo>
                    <a:cubicBezTo>
                      <a:pt x="213741" y="25400"/>
                      <a:pt x="25400" y="213741"/>
                      <a:pt x="25400" y="446151"/>
                    </a:cubicBezTo>
                    <a:cubicBezTo>
                      <a:pt x="25400" y="451866"/>
                      <a:pt x="21590" y="456819"/>
                      <a:pt x="16256" y="458343"/>
                    </a:cubicBezTo>
                    <a:cubicBezTo>
                      <a:pt x="10922" y="459867"/>
                      <a:pt x="4953" y="457708"/>
                      <a:pt x="2032" y="452882"/>
                    </a:cubicBezTo>
                    <a:lnTo>
                      <a:pt x="12700" y="446151"/>
                    </a:lnTo>
                    <a:lnTo>
                      <a:pt x="25400" y="446151"/>
                    </a:lnTo>
                    <a:moveTo>
                      <a:pt x="0" y="446151"/>
                    </a:moveTo>
                    <a:cubicBezTo>
                      <a:pt x="0" y="440436"/>
                      <a:pt x="3810" y="435483"/>
                      <a:pt x="9144" y="433959"/>
                    </a:cubicBezTo>
                    <a:cubicBezTo>
                      <a:pt x="14478" y="432435"/>
                      <a:pt x="20447" y="434594"/>
                      <a:pt x="23368" y="439420"/>
                    </a:cubicBezTo>
                    <a:lnTo>
                      <a:pt x="12700" y="446151"/>
                    </a:lnTo>
                    <a:lnTo>
                      <a:pt x="0" y="446151"/>
                    </a:lnTo>
                    <a:cubicBezTo>
                      <a:pt x="0" y="199771"/>
                      <a:pt x="199771" y="0"/>
                      <a:pt x="446151" y="0"/>
                    </a:cubicBezTo>
                    <a:cubicBezTo>
                      <a:pt x="692531" y="0"/>
                      <a:pt x="892302" y="199771"/>
                      <a:pt x="892302" y="446151"/>
                    </a:cubicBezTo>
                    <a:cubicBezTo>
                      <a:pt x="892302" y="692531"/>
                      <a:pt x="692531" y="892302"/>
                      <a:pt x="446151" y="892302"/>
                    </a:cubicBezTo>
                    <a:cubicBezTo>
                      <a:pt x="199771" y="892302"/>
                      <a:pt x="0" y="692531"/>
                      <a:pt x="0" y="446151"/>
                    </a:cubicBezTo>
                    <a:close/>
                    <a:moveTo>
                      <a:pt x="99314" y="458851"/>
                    </a:moveTo>
                    <a:cubicBezTo>
                      <a:pt x="95885" y="458851"/>
                      <a:pt x="92710" y="457454"/>
                      <a:pt x="90297" y="455168"/>
                    </a:cubicBezTo>
                    <a:cubicBezTo>
                      <a:pt x="87884" y="452882"/>
                      <a:pt x="86614" y="449580"/>
                      <a:pt x="86614" y="446151"/>
                    </a:cubicBezTo>
                    <a:cubicBezTo>
                      <a:pt x="86614" y="247650"/>
                      <a:pt x="247523" y="86614"/>
                      <a:pt x="446151" y="86614"/>
                    </a:cubicBezTo>
                    <a:lnTo>
                      <a:pt x="446151" y="99314"/>
                    </a:lnTo>
                    <a:lnTo>
                      <a:pt x="446151" y="86614"/>
                    </a:lnTo>
                    <a:cubicBezTo>
                      <a:pt x="644652" y="86614"/>
                      <a:pt x="805688" y="247523"/>
                      <a:pt x="805688" y="446151"/>
                    </a:cubicBezTo>
                    <a:lnTo>
                      <a:pt x="792988" y="446151"/>
                    </a:lnTo>
                    <a:lnTo>
                      <a:pt x="805688" y="446151"/>
                    </a:lnTo>
                    <a:cubicBezTo>
                      <a:pt x="805688" y="644652"/>
                      <a:pt x="644779" y="805688"/>
                      <a:pt x="446151" y="805688"/>
                    </a:cubicBezTo>
                    <a:lnTo>
                      <a:pt x="446151" y="792988"/>
                    </a:lnTo>
                    <a:lnTo>
                      <a:pt x="446151" y="780288"/>
                    </a:lnTo>
                    <a:lnTo>
                      <a:pt x="446151" y="792988"/>
                    </a:lnTo>
                    <a:lnTo>
                      <a:pt x="446151" y="805688"/>
                    </a:lnTo>
                    <a:cubicBezTo>
                      <a:pt x="247650" y="805688"/>
                      <a:pt x="86614" y="644779"/>
                      <a:pt x="86614" y="446151"/>
                    </a:cubicBezTo>
                    <a:lnTo>
                      <a:pt x="99314" y="446151"/>
                    </a:lnTo>
                    <a:lnTo>
                      <a:pt x="99314" y="458851"/>
                    </a:lnTo>
                    <a:lnTo>
                      <a:pt x="99314" y="446151"/>
                    </a:lnTo>
                    <a:lnTo>
                      <a:pt x="99314" y="458851"/>
                    </a:lnTo>
                    <a:moveTo>
                      <a:pt x="99314" y="433451"/>
                    </a:moveTo>
                    <a:cubicBezTo>
                      <a:pt x="106299" y="433451"/>
                      <a:pt x="112014" y="439166"/>
                      <a:pt x="112014" y="446151"/>
                    </a:cubicBezTo>
                    <a:cubicBezTo>
                      <a:pt x="112014" y="630682"/>
                      <a:pt x="261620" y="780288"/>
                      <a:pt x="446151" y="780288"/>
                    </a:cubicBezTo>
                    <a:cubicBezTo>
                      <a:pt x="453136" y="780288"/>
                      <a:pt x="458851" y="786003"/>
                      <a:pt x="458851" y="792988"/>
                    </a:cubicBezTo>
                    <a:cubicBezTo>
                      <a:pt x="458851" y="799973"/>
                      <a:pt x="453136" y="805688"/>
                      <a:pt x="446151" y="805688"/>
                    </a:cubicBezTo>
                    <a:cubicBezTo>
                      <a:pt x="439166" y="805688"/>
                      <a:pt x="433451" y="799973"/>
                      <a:pt x="433451" y="792988"/>
                    </a:cubicBezTo>
                    <a:cubicBezTo>
                      <a:pt x="433451" y="786003"/>
                      <a:pt x="439166" y="780288"/>
                      <a:pt x="446151" y="780288"/>
                    </a:cubicBezTo>
                    <a:cubicBezTo>
                      <a:pt x="630682" y="780288"/>
                      <a:pt x="780288" y="630682"/>
                      <a:pt x="780288" y="446151"/>
                    </a:cubicBezTo>
                    <a:cubicBezTo>
                      <a:pt x="780288" y="261620"/>
                      <a:pt x="630682" y="112014"/>
                      <a:pt x="446151" y="112014"/>
                    </a:cubicBezTo>
                    <a:cubicBezTo>
                      <a:pt x="261620" y="112014"/>
                      <a:pt x="112014" y="261620"/>
                      <a:pt x="112014" y="446151"/>
                    </a:cubicBezTo>
                    <a:lnTo>
                      <a:pt x="99314" y="446151"/>
                    </a:lnTo>
                    <a:lnTo>
                      <a:pt x="99314" y="433451"/>
                    </a:lnTo>
                    <a:close/>
                  </a:path>
                </a:pathLst>
              </a:custGeom>
              <a:gradFill rotWithShape="1">
                <a:gsLst>
                  <a:gs pos="0">
                    <a:srgbClr val="FF6400">
                      <a:alpha val="100000"/>
                    </a:srgbClr>
                  </a:gs>
                  <a:gs pos="100000">
                    <a:srgbClr val="FFB800">
                      <a:alpha val="100000"/>
                    </a:srgbClr>
                  </a:gs>
                </a:gsLst>
                <a:lin ang="5400000"/>
              </a:gradFill>
            </p:spPr>
          </p:sp>
        </p:grpSp>
        <p:grpSp>
          <p:nvGrpSpPr>
            <p:cNvPr id="96" name="Group 55"/>
            <p:cNvGrpSpPr/>
            <p:nvPr>
              <p:custDataLst>
                <p:tags r:id="rId36"/>
              </p:custDataLst>
            </p:nvPr>
          </p:nvGrpSpPr>
          <p:grpSpPr>
            <a:xfrm>
              <a:off x="22069" y="13145"/>
              <a:ext cx="561" cy="562"/>
              <a:chOff x="0" y="0"/>
              <a:chExt cx="502456" cy="502456"/>
            </a:xfrm>
          </p:grpSpPr>
          <p:sp>
            <p:nvSpPr>
              <p:cNvPr id="107" name="Freeform 56"/>
              <p:cNvSpPr/>
              <p:nvPr>
                <p:custDataLst>
                  <p:tags r:id="rId37"/>
                </p:custDataLst>
              </p:nvPr>
            </p:nvSpPr>
            <p:spPr>
              <a:xfrm>
                <a:off x="0" y="0"/>
                <a:ext cx="502412" cy="502412"/>
              </a:xfrm>
              <a:custGeom>
                <a:avLst/>
                <a:gdLst/>
                <a:ahLst/>
                <a:cxnLst/>
                <a:rect l="l" t="t" r="r" b="b"/>
                <a:pathLst>
                  <a:path w="502412" h="502412">
                    <a:moveTo>
                      <a:pt x="0" y="251206"/>
                    </a:moveTo>
                    <a:cubicBezTo>
                      <a:pt x="0" y="390017"/>
                      <a:pt x="112522" y="502412"/>
                      <a:pt x="251206" y="502412"/>
                    </a:cubicBezTo>
                    <a:cubicBezTo>
                      <a:pt x="389890" y="502412"/>
                      <a:pt x="502412" y="389890"/>
                      <a:pt x="502412" y="251206"/>
                    </a:cubicBezTo>
                    <a:cubicBezTo>
                      <a:pt x="502412" y="112522"/>
                      <a:pt x="390017" y="0"/>
                      <a:pt x="251206" y="0"/>
                    </a:cubicBezTo>
                    <a:cubicBezTo>
                      <a:pt x="112395" y="0"/>
                      <a:pt x="0" y="112522"/>
                      <a:pt x="0" y="251206"/>
                    </a:cubicBezTo>
                    <a:close/>
                  </a:path>
                </a:pathLst>
              </a:custGeom>
              <a:gradFill rotWithShape="1">
                <a:gsLst>
                  <a:gs pos="0">
                    <a:srgbClr val="FF4C00">
                      <a:alpha val="100000"/>
                    </a:srgbClr>
                  </a:gs>
                  <a:gs pos="100000">
                    <a:srgbClr val="FF7400">
                      <a:alpha val="100000"/>
                    </a:srgbClr>
                  </a:gs>
                </a:gsLst>
                <a:lin ang="5400000"/>
              </a:gradFill>
            </p:spPr>
          </p:sp>
        </p:grpSp>
        <p:grpSp>
          <p:nvGrpSpPr>
            <p:cNvPr id="97" name="Group 57"/>
            <p:cNvGrpSpPr/>
            <p:nvPr>
              <p:custDataLst>
                <p:tags r:id="rId38"/>
              </p:custDataLst>
            </p:nvPr>
          </p:nvGrpSpPr>
          <p:grpSpPr>
            <a:xfrm>
              <a:off x="21875" y="12930"/>
              <a:ext cx="968" cy="969"/>
              <a:chOff x="0" y="0"/>
              <a:chExt cx="866848" cy="866848"/>
            </a:xfrm>
          </p:grpSpPr>
          <p:sp>
            <p:nvSpPr>
              <p:cNvPr id="106" name="Freeform 58"/>
              <p:cNvSpPr/>
              <p:nvPr>
                <p:custDataLst>
                  <p:tags r:id="rId39"/>
                </p:custDataLst>
              </p:nvPr>
            </p:nvSpPr>
            <p:spPr>
              <a:xfrm>
                <a:off x="0" y="0"/>
                <a:ext cx="866902" cy="866902"/>
              </a:xfrm>
              <a:custGeom>
                <a:avLst/>
                <a:gdLst/>
                <a:ahLst/>
                <a:cxnLst/>
                <a:rect l="l" t="t" r="r" b="b"/>
                <a:pathLst>
                  <a:path w="866902" h="866902">
                    <a:moveTo>
                      <a:pt x="0" y="433451"/>
                    </a:moveTo>
                    <a:cubicBezTo>
                      <a:pt x="0" y="672846"/>
                      <a:pt x="194056" y="866902"/>
                      <a:pt x="433451" y="866902"/>
                    </a:cubicBezTo>
                    <a:cubicBezTo>
                      <a:pt x="672846" y="866902"/>
                      <a:pt x="866902" y="672846"/>
                      <a:pt x="866902" y="433451"/>
                    </a:cubicBezTo>
                    <a:cubicBezTo>
                      <a:pt x="866902" y="194056"/>
                      <a:pt x="672846" y="0"/>
                      <a:pt x="433451" y="0"/>
                    </a:cubicBezTo>
                    <a:cubicBezTo>
                      <a:pt x="194056" y="0"/>
                      <a:pt x="0" y="194056"/>
                      <a:pt x="0" y="433451"/>
                    </a:cubicBezTo>
                    <a:close/>
                    <a:moveTo>
                      <a:pt x="86614" y="433451"/>
                    </a:moveTo>
                    <a:cubicBezTo>
                      <a:pt x="86614" y="241935"/>
                      <a:pt x="241935" y="86614"/>
                      <a:pt x="433451" y="86614"/>
                    </a:cubicBezTo>
                    <a:cubicBezTo>
                      <a:pt x="624967" y="86614"/>
                      <a:pt x="780161" y="241935"/>
                      <a:pt x="780161" y="433451"/>
                    </a:cubicBezTo>
                    <a:cubicBezTo>
                      <a:pt x="780161" y="624967"/>
                      <a:pt x="624967" y="780161"/>
                      <a:pt x="433451" y="780161"/>
                    </a:cubicBezTo>
                    <a:cubicBezTo>
                      <a:pt x="241935" y="780161"/>
                      <a:pt x="86614" y="624967"/>
                      <a:pt x="86614" y="433451"/>
                    </a:cubicBezTo>
                    <a:close/>
                  </a:path>
                </a:pathLst>
              </a:custGeom>
              <a:gradFill rotWithShape="1">
                <a:gsLst>
                  <a:gs pos="0">
                    <a:srgbClr val="FF4C00">
                      <a:alpha val="100000"/>
                    </a:srgbClr>
                  </a:gs>
                  <a:gs pos="100000">
                    <a:srgbClr val="FF7400">
                      <a:alpha val="100000"/>
                    </a:srgbClr>
                  </a:gs>
                </a:gsLst>
                <a:lin ang="5400000"/>
              </a:gradFill>
            </p:spPr>
          </p:sp>
        </p:grpSp>
        <p:sp>
          <p:nvSpPr>
            <p:cNvPr id="98" name="TextBox 97"/>
            <p:cNvSpPr txBox="1"/>
            <p:nvPr>
              <p:custDataLst>
                <p:tags r:id="rId40"/>
              </p:custDataLst>
            </p:nvPr>
          </p:nvSpPr>
          <p:spPr>
            <a:xfrm>
              <a:off x="1341" y="10337"/>
              <a:ext cx="6231" cy="2869"/>
            </a:xfrm>
            <a:prstGeom prst="rect">
              <a:avLst/>
            </a:prstGeom>
          </p:spPr>
          <p:txBody>
            <a:bodyPr wrap="square" lIns="0" tIns="0" rIns="0" bIns="0" rtlCol="0" anchor="t">
              <a:spAutoFit/>
            </a:bodyPr>
            <a:lstStyle/>
            <a:p>
              <a:pPr algn="l">
                <a:lnSpc>
                  <a:spcPts val="2380"/>
                </a:lnSpc>
              </a:pPr>
              <a:r>
                <a:rPr lang="en-US" sz="1700"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2003年提出反向抵押概念，2005年多地零星探索，</a:t>
              </a:r>
              <a:r>
                <a:rPr lang="en-US" sz="1700" b="1"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未形成规模与规范政策支撑</a:t>
              </a:r>
              <a:endParaRPr lang="en-US" sz="1700" b="1"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2380"/>
                </a:lnSpc>
              </a:pPr>
              <a:r>
                <a:rPr lang="en-US" sz="1700"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2013年国务院首次明确</a:t>
              </a:r>
              <a:r>
                <a:rPr lang="zh-CN" altLang="en-US" sz="1700"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将</a:t>
              </a:r>
              <a:r>
                <a:rPr lang="en-US" sz="1700"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en-US" sz="1700" spc="32"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开展老年人住房反向抵押养老保险试点”</a:t>
              </a:r>
              <a:r>
                <a:rPr lang="en-US" sz="1700" b="1" spc="32"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纳入国家养老服务体系建设顶层设计</a:t>
              </a:r>
              <a:endParaRPr lang="en-US" sz="1700" b="1"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2380"/>
                </a:lnSpc>
              </a:pPr>
              <a:endParaRPr lang="en-US" sz="1700" b="1"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99" name="TextBox 98"/>
            <p:cNvSpPr txBox="1"/>
            <p:nvPr>
              <p:custDataLst>
                <p:tags r:id="rId41"/>
              </p:custDataLst>
            </p:nvPr>
          </p:nvSpPr>
          <p:spPr>
            <a:xfrm>
              <a:off x="8401" y="10728"/>
              <a:ext cx="5738" cy="1526"/>
            </a:xfrm>
            <a:prstGeom prst="rect">
              <a:avLst/>
            </a:prstGeom>
          </p:spPr>
          <p:txBody>
            <a:bodyPr wrap="square" lIns="0" tIns="0" rIns="0" bIns="0" rtlCol="0" anchor="t">
              <a:spAutoFit/>
            </a:bodyPr>
            <a:lstStyle/>
            <a:p>
              <a:pPr algn="l">
                <a:lnSpc>
                  <a:spcPts val="2565"/>
                </a:lnSpc>
              </a:pPr>
              <a:r>
                <a:rPr lang="en-US" sz="1700"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2014年原中国保监会发文，北上广武4城试点反向抵押养老</a:t>
              </a:r>
              <a:r>
                <a:rPr lang="en-US" sz="1700" b="1"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保险</a:t>
              </a:r>
              <a:endParaRPr lang="en-US" sz="1700"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2565"/>
                </a:lnSpc>
              </a:pPr>
              <a:r>
                <a:rPr lang="en-US" sz="1700"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2015年</a:t>
              </a:r>
              <a:r>
                <a:rPr lang="en-US" sz="1700" b="1"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首款产品</a:t>
              </a:r>
              <a:r>
                <a:rPr lang="en-US" sz="1700"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“幸福房来宝”上市</a:t>
              </a:r>
              <a:endParaRPr lang="en-US" sz="1700" spc="3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00" name="TextBox 99"/>
            <p:cNvSpPr txBox="1"/>
            <p:nvPr>
              <p:custDataLst>
                <p:tags r:id="rId42"/>
              </p:custDataLst>
            </p:nvPr>
          </p:nvSpPr>
          <p:spPr>
            <a:xfrm>
              <a:off x="321" y="14098"/>
              <a:ext cx="4925" cy="1152"/>
            </a:xfrm>
            <a:prstGeom prst="rect">
              <a:avLst/>
            </a:prstGeom>
          </p:spPr>
          <p:txBody>
            <a:bodyPr lIns="0" tIns="0" rIns="0" bIns="0" rtlCol="0" anchor="t">
              <a:spAutoFit/>
            </a:bodyPr>
            <a:lstStyle/>
            <a:p>
              <a:pPr algn="ctr">
                <a:lnSpc>
                  <a:spcPts val="2520"/>
                </a:lnSpc>
              </a:pPr>
              <a:r>
                <a:rPr lang="en-US" sz="2100" b="1" dirty="0" err="1">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早期探索</a:t>
              </a:r>
              <a:endParaRPr lang="en-US" sz="2100" b="1"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ctr">
                <a:lnSpc>
                  <a:spcPts val="2520"/>
                </a:lnSpc>
              </a:pPr>
              <a:r>
                <a:rPr lang="en-US" sz="2100" spc="-39"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( 2003-2013 年 )</a:t>
              </a:r>
              <a:endParaRPr lang="en-US" sz="2100" spc="-39"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01" name="TextBox 100"/>
            <p:cNvSpPr txBox="1"/>
            <p:nvPr>
              <p:custDataLst>
                <p:tags r:id="rId43"/>
              </p:custDataLst>
            </p:nvPr>
          </p:nvSpPr>
          <p:spPr>
            <a:xfrm>
              <a:off x="7671" y="14094"/>
              <a:ext cx="4729" cy="1152"/>
            </a:xfrm>
            <a:prstGeom prst="rect">
              <a:avLst/>
            </a:prstGeom>
          </p:spPr>
          <p:txBody>
            <a:bodyPr lIns="0" tIns="0" rIns="0" bIns="0" rtlCol="0" anchor="t">
              <a:spAutoFit/>
            </a:bodyPr>
            <a:lstStyle/>
            <a:p>
              <a:pPr algn="ctr">
                <a:lnSpc>
                  <a:spcPts val="2520"/>
                </a:lnSpc>
              </a:pPr>
              <a:r>
                <a:rPr lang="en-US" sz="2100" b="1" dirty="0" err="1">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政策试点</a:t>
              </a:r>
              <a:endParaRPr lang="en-US" sz="2100" b="1"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ctr">
                <a:lnSpc>
                  <a:spcPts val="2520"/>
                </a:lnSpc>
              </a:pPr>
              <a:r>
                <a:rPr lang="en-US" sz="2100"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( 2014-2018 </a:t>
              </a:r>
              <a:r>
                <a:rPr lang="en-US" sz="2100" dirty="0" err="1">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年中</a:t>
              </a:r>
              <a:r>
                <a:rPr lang="en-US" sz="2100"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a:t>
              </a:r>
              <a:endParaRPr lang="en-US" sz="2100"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02" name="TextBox 101"/>
            <p:cNvSpPr txBox="1"/>
            <p:nvPr>
              <p:custDataLst>
                <p:tags r:id="rId44"/>
              </p:custDataLst>
            </p:nvPr>
          </p:nvSpPr>
          <p:spPr>
            <a:xfrm>
              <a:off x="14745" y="14085"/>
              <a:ext cx="4872" cy="1152"/>
            </a:xfrm>
            <a:prstGeom prst="rect">
              <a:avLst/>
            </a:prstGeom>
          </p:spPr>
          <p:txBody>
            <a:bodyPr lIns="0" tIns="0" rIns="0" bIns="0" rtlCol="0" anchor="t">
              <a:spAutoFit/>
            </a:bodyPr>
            <a:lstStyle/>
            <a:p>
              <a:pPr algn="ctr">
                <a:lnSpc>
                  <a:spcPts val="2520"/>
                </a:lnSpc>
              </a:pPr>
              <a:r>
                <a:rPr lang="en-US" sz="2100" b="1" dirty="0" err="1">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全国推广</a:t>
              </a:r>
              <a:endParaRPr lang="en-US" sz="2100" b="1"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ctr">
                <a:lnSpc>
                  <a:spcPts val="2520"/>
                </a:lnSpc>
              </a:pPr>
              <a:r>
                <a:rPr lang="en-US" sz="2100"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( 2018年中-2022 年)</a:t>
              </a:r>
              <a:endParaRPr lang="en-US" sz="2100"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03" name="TextBox 102"/>
            <p:cNvSpPr txBox="1"/>
            <p:nvPr>
              <p:custDataLst>
                <p:tags r:id="rId45"/>
              </p:custDataLst>
            </p:nvPr>
          </p:nvSpPr>
          <p:spPr>
            <a:xfrm>
              <a:off x="20816" y="14088"/>
              <a:ext cx="4925" cy="1152"/>
            </a:xfrm>
            <a:prstGeom prst="rect">
              <a:avLst/>
            </a:prstGeom>
          </p:spPr>
          <p:txBody>
            <a:bodyPr lIns="0" tIns="0" rIns="0" bIns="0" rtlCol="0" anchor="t">
              <a:spAutoFit/>
            </a:bodyPr>
            <a:lstStyle/>
            <a:p>
              <a:pPr algn="ctr">
                <a:lnSpc>
                  <a:spcPts val="2520"/>
                </a:lnSpc>
              </a:pPr>
              <a:r>
                <a:rPr lang="en-US" sz="2100" b="1" dirty="0" err="1">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模式拓展</a:t>
              </a:r>
              <a:endParaRPr lang="en-US" sz="2100" b="1"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ctr">
                <a:lnSpc>
                  <a:spcPts val="2520"/>
                </a:lnSpc>
              </a:pPr>
              <a:r>
                <a:rPr lang="en-US" sz="2100"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( 2023 </a:t>
              </a:r>
              <a:r>
                <a:rPr lang="en-US" sz="2100" dirty="0" err="1">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年至今</a:t>
              </a:r>
              <a:r>
                <a:rPr lang="en-US" sz="2100"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endParaRPr lang="en-US" sz="2100"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04" name="TextBox 103"/>
            <p:cNvSpPr txBox="1"/>
            <p:nvPr>
              <p:custDataLst>
                <p:tags r:id="rId46"/>
              </p:custDataLst>
            </p:nvPr>
          </p:nvSpPr>
          <p:spPr>
            <a:xfrm>
              <a:off x="15316" y="10500"/>
              <a:ext cx="5805" cy="1899"/>
            </a:xfrm>
            <a:prstGeom prst="rect">
              <a:avLst/>
            </a:prstGeom>
          </p:spPr>
          <p:txBody>
            <a:bodyPr wrap="square" lIns="0" tIns="0" rIns="0" bIns="0" rtlCol="0" anchor="t">
              <a:spAutoFit/>
            </a:bodyPr>
            <a:lstStyle/>
            <a:p>
              <a:pPr algn="l">
                <a:lnSpc>
                  <a:spcPts val="2380"/>
                </a:lnSpc>
              </a:pPr>
              <a:r>
                <a:rPr lang="en-US" sz="1700" spc="3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2018年7月银保监会将试点扩至全国</a:t>
              </a:r>
              <a:endParaRPr lang="en-US" sz="1700" spc="3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2380"/>
                </a:lnSpc>
              </a:pPr>
              <a:r>
                <a:rPr lang="en-US" sz="1700" spc="3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4家试点险企，</a:t>
              </a:r>
              <a:r>
                <a:rPr lang="en-US" sz="1700" b="1" spc="3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业务集中在一线城市</a:t>
              </a:r>
              <a:endParaRPr lang="en-US" sz="1700" b="1" spc="3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2380"/>
                </a:lnSpc>
              </a:pPr>
              <a:r>
                <a:rPr lang="en-US" sz="1700" spc="3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截至2021年底，全国住房反向抵押养老保险累计承保家庭</a:t>
              </a:r>
              <a:r>
                <a:rPr lang="en-US" sz="1700" b="1" spc="3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不足200户</a:t>
              </a:r>
              <a:endParaRPr lang="en-US" sz="1700" spc="3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05" name="TextBox 104"/>
            <p:cNvSpPr txBox="1"/>
            <p:nvPr>
              <p:custDataLst>
                <p:tags r:id="rId47"/>
              </p:custDataLst>
            </p:nvPr>
          </p:nvSpPr>
          <p:spPr>
            <a:xfrm>
              <a:off x="21925" y="10489"/>
              <a:ext cx="5840" cy="2051"/>
            </a:xfrm>
            <a:prstGeom prst="rect">
              <a:avLst/>
            </a:prstGeom>
          </p:spPr>
          <p:txBody>
            <a:bodyPr wrap="square" lIns="0" tIns="0" rIns="0" bIns="0" rtlCol="0" anchor="t">
              <a:spAutoFit/>
            </a:bodyPr>
            <a:lstStyle/>
            <a:p>
              <a:pPr algn="l">
                <a:lnSpc>
                  <a:spcPts val="2565"/>
                </a:lnSpc>
              </a:pPr>
              <a:r>
                <a:rPr lang="en-US" sz="17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探索保险+信托、银行参与等多元模式</a:t>
              </a:r>
              <a:r>
                <a:rPr lang="en-US" sz="17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a:t>
              </a:r>
              <a:endParaRPr lang="en-US" sz="17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2565"/>
                </a:lnSpc>
              </a:pPr>
              <a:r>
                <a:rPr lang="en-US" sz="17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尝试结合长期护理保险，优化产品设计以适配需求</a:t>
              </a:r>
              <a:endParaRPr lang="en-US" sz="17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2565"/>
                </a:lnSpc>
              </a:pPr>
              <a:r>
                <a:rPr lang="en-US" sz="1700" b="1"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信托以房养老起步，成交流于宣传形式</a:t>
              </a:r>
              <a:endParaRPr lang="en-US" sz="17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7" name="组合 6"/>
          <p:cNvGrpSpPr/>
          <p:nvPr/>
        </p:nvGrpSpPr>
        <p:grpSpPr>
          <a:xfrm>
            <a:off x="1309237" y="1323852"/>
            <a:ext cx="18295791" cy="4587330"/>
            <a:chOff x="2062" y="2085"/>
            <a:chExt cx="28812" cy="7224"/>
          </a:xfrm>
        </p:grpSpPr>
        <p:grpSp>
          <p:nvGrpSpPr>
            <p:cNvPr id="45" name="Group 45"/>
            <p:cNvGrpSpPr/>
            <p:nvPr/>
          </p:nvGrpSpPr>
          <p:grpSpPr>
            <a:xfrm>
              <a:off x="2062" y="2869"/>
              <a:ext cx="13418" cy="971"/>
              <a:chOff x="0" y="38100"/>
              <a:chExt cx="11360750" cy="821904"/>
            </a:xfrm>
          </p:grpSpPr>
          <p:sp>
            <p:nvSpPr>
              <p:cNvPr id="46" name="AutoShape 46"/>
              <p:cNvSpPr/>
              <p:nvPr/>
            </p:nvSpPr>
            <p:spPr>
              <a:xfrm>
                <a:off x="2097173" y="860004"/>
                <a:ext cx="7571130" cy="0"/>
              </a:xfrm>
              <a:prstGeom prst="line">
                <a:avLst/>
              </a:prstGeom>
              <a:ln w="25400" cap="flat">
                <a:solidFill>
                  <a:srgbClr val="EE7E35"/>
                </a:solidFill>
                <a:prstDash val="solid"/>
                <a:headEnd type="none" w="sm" len="sm"/>
                <a:tailEnd type="none" w="sm" len="sm"/>
              </a:ln>
            </p:spPr>
          </p:sp>
          <p:sp>
            <p:nvSpPr>
              <p:cNvPr id="47" name="AutoShape 47"/>
              <p:cNvSpPr/>
              <p:nvPr/>
            </p:nvSpPr>
            <p:spPr>
              <a:xfrm>
                <a:off x="2011740" y="860004"/>
                <a:ext cx="1928912" cy="0"/>
              </a:xfrm>
              <a:prstGeom prst="line">
                <a:avLst/>
              </a:prstGeom>
              <a:ln w="76200" cap="flat">
                <a:solidFill>
                  <a:srgbClr val="EE7E35"/>
                </a:solidFill>
                <a:prstDash val="solid"/>
                <a:headEnd type="none" w="sm" len="sm"/>
                <a:tailEnd type="none" w="sm" len="sm"/>
              </a:ln>
            </p:spPr>
          </p:sp>
          <p:sp>
            <p:nvSpPr>
              <p:cNvPr id="48" name="TextBox 48"/>
              <p:cNvSpPr txBox="1"/>
              <p:nvPr/>
            </p:nvSpPr>
            <p:spPr>
              <a:xfrm>
                <a:off x="0" y="38100"/>
                <a:ext cx="11360750" cy="664633"/>
              </a:xfrm>
              <a:prstGeom prst="rect">
                <a:avLst/>
              </a:prstGeom>
            </p:spPr>
            <p:txBody>
              <a:bodyPr lIns="0" tIns="0" rIns="0" bIns="0" rtlCol="0" anchor="t">
                <a:spAutoFit/>
              </a:bodyPr>
              <a:lstStyle/>
              <a:p>
                <a:pPr algn="l">
                  <a:lnSpc>
                    <a:spcPts val="3890"/>
                  </a:lnSpc>
                </a:pPr>
                <a:r>
                  <a:rPr lang="en-US" sz="3600" b="1" spc="359"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中国已全面进入深度老龄化社会</a:t>
                </a:r>
                <a:endParaRPr lang="en-US" sz="3600" b="1" spc="359"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grpSp>
          <p:nvGrpSpPr>
            <p:cNvPr id="49" name="组合 48"/>
            <p:cNvGrpSpPr/>
            <p:nvPr/>
          </p:nvGrpSpPr>
          <p:grpSpPr>
            <a:xfrm>
              <a:off x="16697" y="2397"/>
              <a:ext cx="11900" cy="6883"/>
              <a:chOff x="9976960" y="5111249"/>
              <a:chExt cx="7556757" cy="4370798"/>
            </a:xfrm>
          </p:grpSpPr>
          <p:grpSp>
            <p:nvGrpSpPr>
              <p:cNvPr id="4" name="Group 4"/>
              <p:cNvGrpSpPr/>
              <p:nvPr/>
            </p:nvGrpSpPr>
            <p:grpSpPr>
              <a:xfrm>
                <a:off x="14550447" y="6353525"/>
                <a:ext cx="1424159" cy="2023672"/>
                <a:chOff x="0" y="947709"/>
                <a:chExt cx="1898879" cy="2698230"/>
              </a:xfrm>
            </p:grpSpPr>
            <p:sp>
              <p:nvSpPr>
                <p:cNvPr id="5" name="Freeform 5"/>
                <p:cNvSpPr/>
                <p:nvPr/>
              </p:nvSpPr>
              <p:spPr>
                <a:xfrm>
                  <a:off x="0" y="947709"/>
                  <a:ext cx="1898879" cy="2698230"/>
                </a:xfrm>
                <a:custGeom>
                  <a:avLst/>
                  <a:gdLst/>
                  <a:ahLst/>
                  <a:cxnLst/>
                  <a:rect l="l" t="t" r="r" b="b"/>
                  <a:pathLst>
                    <a:path w="1898879" h="2698230">
                      <a:moveTo>
                        <a:pt x="0" y="0"/>
                      </a:moveTo>
                      <a:lnTo>
                        <a:pt x="1898879" y="0"/>
                      </a:lnTo>
                      <a:lnTo>
                        <a:pt x="1898879" y="2698230"/>
                      </a:lnTo>
                      <a:lnTo>
                        <a:pt x="0" y="2698230"/>
                      </a:lnTo>
                      <a:lnTo>
                        <a:pt x="0" y="0"/>
                      </a:lnTo>
                      <a:close/>
                    </a:path>
                  </a:pathLst>
                </a:custGeom>
                <a:blipFill>
                  <a:blip r:embed="rId48">
                    <a:alphaModFix amt="60000"/>
                    <a:extLst>
                      <a:ext uri="{96DAC541-7B7A-43D3-8B79-37D633B846F1}">
                        <asvg:svgBlip xmlns:asvg="http://schemas.microsoft.com/office/drawing/2016/SVG/main" r:embed="rId49"/>
                      </a:ext>
                    </a:extLst>
                  </a:blip>
                  <a:stretch>
                    <a:fillRect/>
                  </a:stretch>
                </a:blipFill>
              </p:spPr>
            </p:sp>
            <p:sp>
              <p:nvSpPr>
                <p:cNvPr id="6" name="TextBox 6"/>
                <p:cNvSpPr txBox="1"/>
                <p:nvPr/>
              </p:nvSpPr>
              <p:spPr>
                <a:xfrm>
                  <a:off x="715989" y="1212074"/>
                  <a:ext cx="520207" cy="2111006"/>
                </a:xfrm>
                <a:prstGeom prst="rect">
                  <a:avLst/>
                </a:prstGeom>
              </p:spPr>
              <p:txBody>
                <a:bodyPr lIns="0" tIns="0" rIns="0" bIns="0" rtlCol="0" anchor="t">
                  <a:spAutoFit/>
                </a:bodyPr>
                <a:lstStyle/>
                <a:p>
                  <a:pPr algn="ctr"/>
                  <a:r>
                    <a:rPr lang="en-US" sz="2570" b="1" dirty="0" err="1">
                      <a:solidFill>
                        <a:srgbClr val="B947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房产富人</a:t>
                  </a:r>
                  <a:endParaRPr lang="en-US" sz="2570" b="1" dirty="0">
                    <a:solidFill>
                      <a:srgbClr val="B947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sp>
            <p:nvSpPr>
              <p:cNvPr id="34" name="Freeform 34"/>
              <p:cNvSpPr/>
              <p:nvPr/>
            </p:nvSpPr>
            <p:spPr>
              <a:xfrm>
                <a:off x="15467157" y="8362347"/>
                <a:ext cx="2066560" cy="1119700"/>
              </a:xfrm>
              <a:custGeom>
                <a:avLst/>
                <a:gdLst/>
                <a:ahLst/>
                <a:cxnLst/>
                <a:rect l="l" t="t" r="r" b="b"/>
                <a:pathLst>
                  <a:path w="2066560" h="1119700">
                    <a:moveTo>
                      <a:pt x="0" y="0"/>
                    </a:moveTo>
                    <a:lnTo>
                      <a:pt x="2066560" y="0"/>
                    </a:lnTo>
                    <a:lnTo>
                      <a:pt x="2066560" y="1119700"/>
                    </a:lnTo>
                    <a:lnTo>
                      <a:pt x="0" y="1119700"/>
                    </a:lnTo>
                    <a:lnTo>
                      <a:pt x="0" y="0"/>
                    </a:lnTo>
                    <a:close/>
                  </a:path>
                </a:pathLst>
              </a:custGeom>
              <a:blipFill>
                <a:blip r:embed="rId50">
                  <a:alphaModFix amt="59000"/>
                  <a:extLst>
                    <a:ext uri="{96DAC541-7B7A-43D3-8B79-37D633B846F1}">
                      <asvg:svgBlip xmlns:asvg="http://schemas.microsoft.com/office/drawing/2016/SVG/main" r:embed="rId51"/>
                    </a:ext>
                  </a:extLst>
                </a:blip>
                <a:stretch>
                  <a:fillRect/>
                </a:stretch>
              </a:blipFill>
            </p:spPr>
          </p:sp>
          <p:grpSp>
            <p:nvGrpSpPr>
              <p:cNvPr id="38" name="Group 38"/>
              <p:cNvGrpSpPr/>
              <p:nvPr/>
            </p:nvGrpSpPr>
            <p:grpSpPr>
              <a:xfrm>
                <a:off x="9976960" y="6194836"/>
                <a:ext cx="5777668" cy="3248467"/>
                <a:chOff x="218136" y="0"/>
                <a:chExt cx="7703558" cy="4331289"/>
              </a:xfrm>
            </p:grpSpPr>
            <p:sp>
              <p:nvSpPr>
                <p:cNvPr id="39" name="Freeform 39"/>
                <p:cNvSpPr/>
                <p:nvPr/>
              </p:nvSpPr>
              <p:spPr>
                <a:xfrm>
                  <a:off x="1442347" y="425493"/>
                  <a:ext cx="6479347" cy="3466451"/>
                </a:xfrm>
                <a:custGeom>
                  <a:avLst/>
                  <a:gdLst/>
                  <a:ahLst/>
                  <a:cxnLst/>
                  <a:rect l="l" t="t" r="r" b="b"/>
                  <a:pathLst>
                    <a:path w="6479347" h="3466451">
                      <a:moveTo>
                        <a:pt x="0" y="0"/>
                      </a:moveTo>
                      <a:lnTo>
                        <a:pt x="6479347" y="0"/>
                      </a:lnTo>
                      <a:lnTo>
                        <a:pt x="6479347" y="3466450"/>
                      </a:lnTo>
                      <a:lnTo>
                        <a:pt x="0" y="3466450"/>
                      </a:lnTo>
                      <a:lnTo>
                        <a:pt x="0" y="0"/>
                      </a:lnTo>
                      <a:close/>
                    </a:path>
                  </a:pathLst>
                </a:custGeom>
                <a:blipFill>
                  <a:blip r:embed="rId52"/>
                  <a:stretch>
                    <a:fillRect/>
                  </a:stretch>
                </a:blipFill>
              </p:spPr>
            </p:sp>
            <p:sp>
              <p:nvSpPr>
                <p:cNvPr id="40" name="Freeform 40"/>
                <p:cNvSpPr/>
                <p:nvPr/>
              </p:nvSpPr>
              <p:spPr>
                <a:xfrm>
                  <a:off x="2562203" y="0"/>
                  <a:ext cx="1670300" cy="1670300"/>
                </a:xfrm>
                <a:custGeom>
                  <a:avLst/>
                  <a:gdLst/>
                  <a:ahLst/>
                  <a:cxnLst/>
                  <a:rect l="l" t="t" r="r" b="b"/>
                  <a:pathLst>
                    <a:path w="1670300" h="1670300">
                      <a:moveTo>
                        <a:pt x="0" y="0"/>
                      </a:moveTo>
                      <a:lnTo>
                        <a:pt x="1670300" y="0"/>
                      </a:lnTo>
                      <a:lnTo>
                        <a:pt x="1670300" y="1670300"/>
                      </a:lnTo>
                      <a:lnTo>
                        <a:pt x="0" y="1670300"/>
                      </a:lnTo>
                      <a:lnTo>
                        <a:pt x="0" y="0"/>
                      </a:lnTo>
                      <a:close/>
                    </a:path>
                  </a:pathLst>
                </a:custGeom>
                <a:blipFill>
                  <a:blip r:embed="rId53"/>
                  <a:stretch>
                    <a:fillRect/>
                  </a:stretch>
                </a:blipFill>
              </p:spPr>
            </p:sp>
            <p:sp>
              <p:nvSpPr>
                <p:cNvPr id="41" name="Freeform 41"/>
                <p:cNvSpPr/>
                <p:nvPr/>
              </p:nvSpPr>
              <p:spPr>
                <a:xfrm>
                  <a:off x="3841230" y="0"/>
                  <a:ext cx="1670300" cy="1670300"/>
                </a:xfrm>
                <a:custGeom>
                  <a:avLst/>
                  <a:gdLst/>
                  <a:ahLst/>
                  <a:cxnLst/>
                  <a:rect l="l" t="t" r="r" b="b"/>
                  <a:pathLst>
                    <a:path w="1670300" h="1670300">
                      <a:moveTo>
                        <a:pt x="0" y="0"/>
                      </a:moveTo>
                      <a:lnTo>
                        <a:pt x="1670300" y="0"/>
                      </a:lnTo>
                      <a:lnTo>
                        <a:pt x="1670300" y="1670300"/>
                      </a:lnTo>
                      <a:lnTo>
                        <a:pt x="0" y="1670300"/>
                      </a:lnTo>
                      <a:lnTo>
                        <a:pt x="0" y="0"/>
                      </a:lnTo>
                      <a:close/>
                    </a:path>
                  </a:pathLst>
                </a:custGeom>
                <a:blipFill>
                  <a:blip r:embed="rId53"/>
                  <a:stretch>
                    <a:fillRect/>
                  </a:stretch>
                </a:blipFill>
              </p:spPr>
            </p:sp>
            <p:sp>
              <p:nvSpPr>
                <p:cNvPr id="42" name="Freeform 42"/>
                <p:cNvSpPr/>
                <p:nvPr/>
              </p:nvSpPr>
              <p:spPr>
                <a:xfrm>
                  <a:off x="2486592" y="983277"/>
                  <a:ext cx="1397561" cy="1525506"/>
                </a:xfrm>
                <a:custGeom>
                  <a:avLst/>
                  <a:gdLst/>
                  <a:ahLst/>
                  <a:cxnLst/>
                  <a:rect l="l" t="t" r="r" b="b"/>
                  <a:pathLst>
                    <a:path w="1397561" h="1525506">
                      <a:moveTo>
                        <a:pt x="0" y="0"/>
                      </a:moveTo>
                      <a:lnTo>
                        <a:pt x="1397560" y="0"/>
                      </a:lnTo>
                      <a:lnTo>
                        <a:pt x="1397560" y="1525507"/>
                      </a:lnTo>
                      <a:lnTo>
                        <a:pt x="0" y="1525507"/>
                      </a:lnTo>
                      <a:lnTo>
                        <a:pt x="0" y="0"/>
                      </a:lnTo>
                      <a:close/>
                    </a:path>
                  </a:pathLst>
                </a:custGeom>
                <a:blipFill>
                  <a:blip r:embed="rId54"/>
                  <a:stretch>
                    <a:fillRect/>
                  </a:stretch>
                </a:blipFill>
              </p:spPr>
            </p:sp>
            <p:sp>
              <p:nvSpPr>
                <p:cNvPr id="43" name="Freeform 43"/>
                <p:cNvSpPr/>
                <p:nvPr/>
              </p:nvSpPr>
              <p:spPr>
                <a:xfrm>
                  <a:off x="2708996" y="1871159"/>
                  <a:ext cx="789642" cy="789642"/>
                </a:xfrm>
                <a:custGeom>
                  <a:avLst/>
                  <a:gdLst/>
                  <a:ahLst/>
                  <a:cxnLst/>
                  <a:rect l="l" t="t" r="r" b="b"/>
                  <a:pathLst>
                    <a:path w="789642" h="789642">
                      <a:moveTo>
                        <a:pt x="0" y="0"/>
                      </a:moveTo>
                      <a:lnTo>
                        <a:pt x="789642" y="0"/>
                      </a:lnTo>
                      <a:lnTo>
                        <a:pt x="789642" y="789642"/>
                      </a:lnTo>
                      <a:lnTo>
                        <a:pt x="0" y="789642"/>
                      </a:lnTo>
                      <a:lnTo>
                        <a:pt x="0" y="0"/>
                      </a:lnTo>
                      <a:close/>
                    </a:path>
                  </a:pathLst>
                </a:custGeom>
                <a:blipFill>
                  <a:blip r:embed="rId55"/>
                  <a:stretch>
                    <a:fillRect/>
                  </a:stretch>
                </a:blipFill>
              </p:spPr>
            </p:sp>
            <p:sp>
              <p:nvSpPr>
                <p:cNvPr id="44" name="Freeform 44"/>
                <p:cNvSpPr/>
                <p:nvPr/>
              </p:nvSpPr>
              <p:spPr>
                <a:xfrm rot="21017337">
                  <a:off x="218136" y="1550453"/>
                  <a:ext cx="2230602" cy="2780836"/>
                </a:xfrm>
                <a:custGeom>
                  <a:avLst/>
                  <a:gdLst/>
                  <a:ahLst/>
                  <a:cxnLst/>
                  <a:rect l="l" t="t" r="r" b="b"/>
                  <a:pathLst>
                    <a:path w="2230601" h="2780836">
                      <a:moveTo>
                        <a:pt x="0" y="0"/>
                      </a:moveTo>
                      <a:lnTo>
                        <a:pt x="2230601" y="0"/>
                      </a:lnTo>
                      <a:lnTo>
                        <a:pt x="2230601" y="2780836"/>
                      </a:lnTo>
                      <a:lnTo>
                        <a:pt x="0" y="2780836"/>
                      </a:lnTo>
                      <a:lnTo>
                        <a:pt x="0" y="0"/>
                      </a:lnTo>
                      <a:close/>
                    </a:path>
                  </a:pathLst>
                </a:custGeom>
                <a:blipFill>
                  <a:blip r:embed="rId56"/>
                  <a:stretch>
                    <a:fillRect l="-1595" r="-5336"/>
                  </a:stretch>
                </a:blipFill>
                <a:ln w="9525" cap="sq">
                  <a:solidFill>
                    <a:srgbClr val="D25100"/>
                  </a:solidFill>
                  <a:prstDash val="solid"/>
                  <a:miter/>
                </a:ln>
              </p:spPr>
            </p:sp>
          </p:grpSp>
          <p:grpSp>
            <p:nvGrpSpPr>
              <p:cNvPr id="54" name="Group 54"/>
              <p:cNvGrpSpPr/>
              <p:nvPr/>
            </p:nvGrpSpPr>
            <p:grpSpPr>
              <a:xfrm>
                <a:off x="10116643" y="5501089"/>
                <a:ext cx="1365842" cy="1795179"/>
                <a:chOff x="0" y="1127048"/>
                <a:chExt cx="1821122" cy="2393572"/>
              </a:xfrm>
            </p:grpSpPr>
            <p:sp>
              <p:nvSpPr>
                <p:cNvPr id="55" name="Freeform 55"/>
                <p:cNvSpPr/>
                <p:nvPr/>
              </p:nvSpPr>
              <p:spPr>
                <a:xfrm flipV="1">
                  <a:off x="0" y="1127048"/>
                  <a:ext cx="1821122" cy="2393572"/>
                </a:xfrm>
                <a:custGeom>
                  <a:avLst/>
                  <a:gdLst/>
                  <a:ahLst/>
                  <a:cxnLst/>
                  <a:rect l="l" t="t" r="r" b="b"/>
                  <a:pathLst>
                    <a:path w="1821122" h="2587740">
                      <a:moveTo>
                        <a:pt x="0" y="2587740"/>
                      </a:moveTo>
                      <a:lnTo>
                        <a:pt x="1821122" y="2587740"/>
                      </a:lnTo>
                      <a:lnTo>
                        <a:pt x="1821122" y="0"/>
                      </a:lnTo>
                      <a:lnTo>
                        <a:pt x="0" y="0"/>
                      </a:lnTo>
                      <a:lnTo>
                        <a:pt x="0" y="2587740"/>
                      </a:lnTo>
                      <a:close/>
                    </a:path>
                  </a:pathLst>
                </a:custGeom>
                <a:blipFill>
                  <a:blip r:embed="rId48">
                    <a:alphaModFix amt="35000"/>
                    <a:extLst>
                      <a:ext uri="{96DAC541-7B7A-43D3-8B79-37D633B846F1}">
                        <asvg:svgBlip xmlns:asvg="http://schemas.microsoft.com/office/drawing/2016/SVG/main" r:embed="rId49"/>
                      </a:ext>
                    </a:extLst>
                  </a:blip>
                  <a:stretch>
                    <a:fillRect/>
                  </a:stretch>
                </a:blipFill>
              </p:spPr>
            </p:sp>
            <p:sp>
              <p:nvSpPr>
                <p:cNvPr id="56" name="TextBox 56"/>
                <p:cNvSpPr txBox="1"/>
                <p:nvPr/>
              </p:nvSpPr>
              <p:spPr>
                <a:xfrm>
                  <a:off x="652348" y="1233395"/>
                  <a:ext cx="483930" cy="1963956"/>
                </a:xfrm>
                <a:prstGeom prst="rect">
                  <a:avLst/>
                </a:prstGeom>
              </p:spPr>
              <p:txBody>
                <a:bodyPr lIns="0" tIns="0" rIns="0" bIns="0" rtlCol="0" anchor="t">
                  <a:spAutoFit/>
                </a:bodyPr>
                <a:lstStyle/>
                <a:p>
                  <a:pPr algn="ctr"/>
                  <a:r>
                    <a:rPr lang="en-US" sz="2395" b="1" dirty="0" err="1">
                      <a:solidFill>
                        <a:srgbClr val="B947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现金穷人</a:t>
                  </a:r>
                  <a:endParaRPr lang="en-US" sz="2395" b="1" dirty="0">
                    <a:solidFill>
                      <a:srgbClr val="B947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sp>
            <p:nvSpPr>
              <p:cNvPr id="73" name="Freeform 73"/>
              <p:cNvSpPr/>
              <p:nvPr/>
            </p:nvSpPr>
            <p:spPr>
              <a:xfrm>
                <a:off x="11725422" y="5111249"/>
                <a:ext cx="1993322" cy="2088242"/>
              </a:xfrm>
              <a:custGeom>
                <a:avLst/>
                <a:gdLst/>
                <a:ahLst/>
                <a:cxnLst/>
                <a:rect l="l" t="t" r="r" b="b"/>
                <a:pathLst>
                  <a:path w="1993322" h="2088242">
                    <a:moveTo>
                      <a:pt x="0" y="0"/>
                    </a:moveTo>
                    <a:lnTo>
                      <a:pt x="1993323" y="0"/>
                    </a:lnTo>
                    <a:lnTo>
                      <a:pt x="1993323" y="2088242"/>
                    </a:lnTo>
                    <a:lnTo>
                      <a:pt x="0" y="2088242"/>
                    </a:lnTo>
                    <a:lnTo>
                      <a:pt x="0" y="0"/>
                    </a:lnTo>
                    <a:close/>
                  </a:path>
                </a:pathLst>
              </a:custGeom>
              <a:blipFill>
                <a:blip r:embed="rId57">
                  <a:alphaModFix amt="9999"/>
                  <a:extLst>
                    <a:ext uri="{96DAC541-7B7A-43D3-8B79-37D633B846F1}">
                      <asvg:svgBlip xmlns:asvg="http://schemas.microsoft.com/office/drawing/2016/SVG/main" r:embed="rId58"/>
                    </a:ext>
                  </a:extLst>
                </a:blip>
                <a:stretch>
                  <a:fillRect/>
                </a:stretch>
              </a:blipFill>
            </p:spPr>
          </p:sp>
        </p:grpSp>
        <p:grpSp>
          <p:nvGrpSpPr>
            <p:cNvPr id="75" name="Group 75"/>
            <p:cNvGrpSpPr/>
            <p:nvPr/>
          </p:nvGrpSpPr>
          <p:grpSpPr>
            <a:xfrm>
              <a:off x="14871" y="2085"/>
              <a:ext cx="16003" cy="878"/>
              <a:chOff x="0" y="28575"/>
              <a:chExt cx="13549192" cy="743064"/>
            </a:xfrm>
          </p:grpSpPr>
          <p:sp>
            <p:nvSpPr>
              <p:cNvPr id="76" name="AutoShape 76"/>
              <p:cNvSpPr/>
              <p:nvPr/>
            </p:nvSpPr>
            <p:spPr>
              <a:xfrm>
                <a:off x="85433" y="771639"/>
                <a:ext cx="8615650" cy="0"/>
              </a:xfrm>
              <a:prstGeom prst="line">
                <a:avLst/>
              </a:prstGeom>
              <a:ln w="25400" cap="flat">
                <a:solidFill>
                  <a:srgbClr val="EE7E35"/>
                </a:solidFill>
                <a:prstDash val="solid"/>
                <a:headEnd type="none" w="sm" len="sm"/>
                <a:tailEnd type="none" w="sm" len="sm"/>
              </a:ln>
            </p:spPr>
          </p:sp>
          <p:sp>
            <p:nvSpPr>
              <p:cNvPr id="77" name="AutoShape 77"/>
              <p:cNvSpPr/>
              <p:nvPr/>
            </p:nvSpPr>
            <p:spPr>
              <a:xfrm>
                <a:off x="0" y="771639"/>
                <a:ext cx="1928912" cy="0"/>
              </a:xfrm>
              <a:prstGeom prst="line">
                <a:avLst/>
              </a:prstGeom>
              <a:ln w="76200" cap="flat">
                <a:solidFill>
                  <a:srgbClr val="EE7E35"/>
                </a:solidFill>
                <a:prstDash val="solid"/>
                <a:headEnd type="none" w="sm" len="sm"/>
                <a:tailEnd type="none" w="sm" len="sm"/>
              </a:ln>
            </p:spPr>
          </p:sp>
          <p:sp>
            <p:nvSpPr>
              <p:cNvPr id="78" name="TextBox 78"/>
              <p:cNvSpPr txBox="1"/>
              <p:nvPr/>
            </p:nvSpPr>
            <p:spPr>
              <a:xfrm>
                <a:off x="0" y="28575"/>
                <a:ext cx="13549192" cy="547159"/>
              </a:xfrm>
              <a:prstGeom prst="rect">
                <a:avLst/>
              </a:prstGeom>
            </p:spPr>
            <p:txBody>
              <a:bodyPr lIns="0" tIns="0" rIns="0" bIns="0" rtlCol="0" anchor="t">
                <a:spAutoFit/>
              </a:bodyPr>
              <a:lstStyle/>
              <a:p>
                <a:pPr algn="l">
                  <a:lnSpc>
                    <a:spcPts val="3240"/>
                  </a:lnSpc>
                </a:pPr>
                <a:r>
                  <a:rPr lang="en-US" sz="3000" b="1" spc="300"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老年住房是一座规模巨大却长期沉睡的财富池</a:t>
                </a:r>
                <a:endParaRPr lang="en-US" sz="3000" b="1" spc="300"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grpSp>
          <p:nvGrpSpPr>
            <p:cNvPr id="51" name="Group 51"/>
            <p:cNvGrpSpPr/>
            <p:nvPr/>
          </p:nvGrpSpPr>
          <p:grpSpPr>
            <a:xfrm>
              <a:off x="2683" y="3787"/>
              <a:ext cx="9992" cy="5522"/>
              <a:chOff x="0" y="0"/>
              <a:chExt cx="10664171" cy="5878624"/>
            </a:xfrm>
          </p:grpSpPr>
          <p:sp>
            <p:nvSpPr>
              <p:cNvPr id="52" name="Freeform 52"/>
              <p:cNvSpPr/>
              <p:nvPr/>
            </p:nvSpPr>
            <p:spPr>
              <a:xfrm>
                <a:off x="0" y="0"/>
                <a:ext cx="10664171" cy="5878624"/>
              </a:xfrm>
              <a:custGeom>
                <a:avLst/>
                <a:gdLst/>
                <a:ahLst/>
                <a:cxnLst/>
                <a:rect l="l" t="t" r="r" b="b"/>
                <a:pathLst>
                  <a:path w="10664171" h="5878624">
                    <a:moveTo>
                      <a:pt x="0" y="0"/>
                    </a:moveTo>
                    <a:lnTo>
                      <a:pt x="10664171" y="0"/>
                    </a:lnTo>
                    <a:lnTo>
                      <a:pt x="10664171" y="5878624"/>
                    </a:lnTo>
                    <a:lnTo>
                      <a:pt x="0" y="5878624"/>
                    </a:lnTo>
                    <a:lnTo>
                      <a:pt x="0" y="0"/>
                    </a:lnTo>
                    <a:close/>
                  </a:path>
                </a:pathLst>
              </a:custGeom>
              <a:blipFill>
                <a:blip r:embed="rId59"/>
                <a:stretch>
                  <a:fillRect/>
                </a:stretch>
              </a:blipFill>
            </p:spPr>
          </p:sp>
          <p:sp>
            <p:nvSpPr>
              <p:cNvPr id="53" name="Freeform 53"/>
              <p:cNvSpPr/>
              <p:nvPr/>
            </p:nvSpPr>
            <p:spPr>
              <a:xfrm>
                <a:off x="1797071" y="292722"/>
                <a:ext cx="7070030" cy="3614553"/>
              </a:xfrm>
              <a:custGeom>
                <a:avLst/>
                <a:gdLst/>
                <a:ahLst/>
                <a:cxnLst/>
                <a:rect l="l" t="t" r="r" b="b"/>
                <a:pathLst>
                  <a:path w="7070030" h="3614553">
                    <a:moveTo>
                      <a:pt x="0" y="0"/>
                    </a:moveTo>
                    <a:lnTo>
                      <a:pt x="7070030" y="0"/>
                    </a:lnTo>
                    <a:lnTo>
                      <a:pt x="7070030" y="3614553"/>
                    </a:lnTo>
                    <a:lnTo>
                      <a:pt x="0" y="3614553"/>
                    </a:lnTo>
                    <a:lnTo>
                      <a:pt x="0" y="0"/>
                    </a:lnTo>
                    <a:close/>
                  </a:path>
                </a:pathLst>
              </a:custGeom>
              <a:blipFill>
                <a:blip r:embed="rId60"/>
                <a:stretch>
                  <a:fillRect/>
                </a:stretch>
              </a:blipFill>
            </p:spPr>
          </p:sp>
        </p:grpSp>
      </p:grpSp>
      <p:pic>
        <p:nvPicPr>
          <p:cNvPr id="13" name="图片 12"/>
          <p:cNvPicPr>
            <a:picLocks noChangeAspect="1"/>
          </p:cNvPicPr>
          <p:nvPr/>
        </p:nvPicPr>
        <p:blipFill>
          <a:blip r:embed="rId61"/>
          <a:stretch>
            <a:fillRect/>
          </a:stretch>
        </p:blipFill>
        <p:spPr>
          <a:xfrm>
            <a:off x="330200" y="6210300"/>
            <a:ext cx="17345025" cy="4029075"/>
          </a:xfrm>
          <a:prstGeom prst="rect">
            <a:avLst/>
          </a:prstGeom>
        </p:spPr>
      </p:pic>
      <p:sp>
        <p:nvSpPr>
          <p:cNvPr id="8" name="TextBox 65"/>
          <p:cNvSpPr txBox="1"/>
          <p:nvPr/>
        </p:nvSpPr>
        <p:spPr>
          <a:xfrm>
            <a:off x="15604132" y="197861"/>
            <a:ext cx="2232413" cy="461665"/>
          </a:xfrm>
          <a:prstGeom prst="rect">
            <a:avLst/>
          </a:prstGeom>
        </p:spPr>
        <p:txBody>
          <a:bodyPr wrap="square" lIns="0" tIns="0" rIns="0" bIns="0" rtlCol="0" anchor="t">
            <a:spAutoFit/>
          </a:body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nodeType="clickEffect">
                                  <p:stCondLst>
                                    <p:cond delay="0"/>
                                  </p:stCondLst>
                                  <p:childTnLst>
                                    <p:animEffect transition="out" filter="wipe(down)">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par>
                                <p:cTn id="8" presetID="3" presetClass="entr" presetSubtype="1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blinds(horizontal)">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extBox 6"/>
          <p:cNvSpPr txBox="1"/>
          <p:nvPr/>
        </p:nvSpPr>
        <p:spPr>
          <a:xfrm rot="10800000">
            <a:off x="4456902" y="5891801"/>
            <a:ext cx="3926131" cy="4016768"/>
          </a:xfrm>
          <a:prstGeom prst="rect">
            <a:avLst/>
          </a:prstGeom>
        </p:spPr>
        <p:txBody>
          <a:bodyPr lIns="50800" tIns="50800" rIns="50800" bIns="50800" rtlCol="0" anchor="ctr"/>
          <a:lstStyle/>
          <a:p>
            <a:pPr algn="ctr">
              <a:lnSpc>
                <a:spcPts val="360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76" name="Group 4"/>
          <p:cNvGrpSpPr/>
          <p:nvPr/>
        </p:nvGrpSpPr>
        <p:grpSpPr>
          <a:xfrm rot="-10800000">
            <a:off x="4716545" y="6208862"/>
            <a:ext cx="3673551" cy="3624458"/>
            <a:chOff x="0" y="0"/>
            <a:chExt cx="1312163" cy="1273989"/>
          </a:xfrm>
        </p:grpSpPr>
        <p:sp>
          <p:nvSpPr>
            <p:cNvPr id="77" name="Freeform 5"/>
            <p:cNvSpPr/>
            <p:nvPr/>
          </p:nvSpPr>
          <p:spPr>
            <a:xfrm>
              <a:off x="0" y="0"/>
              <a:ext cx="1312163" cy="1273989"/>
            </a:xfrm>
            <a:custGeom>
              <a:avLst/>
              <a:gdLst/>
              <a:ahLst/>
              <a:cxnLst/>
              <a:rect l="l" t="t" r="r" b="b"/>
              <a:pathLst>
                <a:path w="1312163" h="1273989">
                  <a:moveTo>
                    <a:pt x="24863" y="0"/>
                  </a:moveTo>
                  <a:lnTo>
                    <a:pt x="1287300" y="0"/>
                  </a:lnTo>
                  <a:cubicBezTo>
                    <a:pt x="1301031" y="0"/>
                    <a:pt x="1312163" y="11132"/>
                    <a:pt x="1312163" y="24863"/>
                  </a:cubicBezTo>
                  <a:lnTo>
                    <a:pt x="1312163" y="1249125"/>
                  </a:lnTo>
                  <a:cubicBezTo>
                    <a:pt x="1312163" y="1262857"/>
                    <a:pt x="1301031" y="1273989"/>
                    <a:pt x="1287300" y="1273989"/>
                  </a:cubicBezTo>
                  <a:lnTo>
                    <a:pt x="24863" y="1273989"/>
                  </a:lnTo>
                  <a:cubicBezTo>
                    <a:pt x="11132" y="1273989"/>
                    <a:pt x="0" y="1262857"/>
                    <a:pt x="0" y="1249125"/>
                  </a:cubicBezTo>
                  <a:lnTo>
                    <a:pt x="0" y="24863"/>
                  </a:lnTo>
                  <a:cubicBezTo>
                    <a:pt x="0" y="11132"/>
                    <a:pt x="11132" y="0"/>
                    <a:pt x="24863" y="0"/>
                  </a:cubicBezTo>
                  <a:close/>
                </a:path>
              </a:pathLst>
            </a:custGeom>
            <a:gradFill rotWithShape="1">
              <a:gsLst>
                <a:gs pos="0">
                  <a:srgbClr val="FFFFFF">
                    <a:alpha val="0"/>
                  </a:srgbClr>
                </a:gs>
                <a:gs pos="100000">
                  <a:srgbClr val="FFFFFF">
                    <a:alpha val="66000"/>
                  </a:srgbClr>
                </a:gs>
              </a:gsLst>
              <a:lin ang="5400000"/>
            </a:gradFill>
            <a:ln cap="sq">
              <a:noFill/>
              <a:prstDash val="solid"/>
              <a:miter/>
            </a:ln>
          </p:spPr>
        </p:sp>
        <p:sp>
          <p:nvSpPr>
            <p:cNvPr id="78" name="TextBox 6"/>
            <p:cNvSpPr txBox="1"/>
            <p:nvPr/>
          </p:nvSpPr>
          <p:spPr>
            <a:xfrm>
              <a:off x="0" y="-123825"/>
              <a:ext cx="1312163" cy="1397814"/>
            </a:xfrm>
            <a:prstGeom prst="rect">
              <a:avLst/>
            </a:prstGeom>
          </p:spPr>
          <p:txBody>
            <a:bodyPr lIns="50800" tIns="50800" rIns="50800" bIns="50800" rtlCol="0" anchor="ctr"/>
            <a:lstStyle/>
            <a:p>
              <a:pPr algn="ctr">
                <a:lnSpc>
                  <a:spcPts val="360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3" name="Freeform 3"/>
          <p:cNvSpPr/>
          <p:nvPr/>
        </p:nvSpPr>
        <p:spPr>
          <a:xfrm>
            <a:off x="7082613" y="835126"/>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2">
              <a:alphaModFix amt="15000"/>
            </a:blip>
            <a:stretch>
              <a:fillRect r="-20235"/>
            </a:stretch>
          </a:blipFill>
          <a:ln w="19050" cap="sq">
            <a:solidFill>
              <a:srgbClr val="FCFBF9">
                <a:alpha val="14902"/>
              </a:srgbClr>
            </a:solidFill>
            <a:prstDash val="solid"/>
            <a:miter/>
          </a:ln>
        </p:spPr>
      </p:sp>
      <p:grpSp>
        <p:nvGrpSpPr>
          <p:cNvPr id="82" name="Group 4"/>
          <p:cNvGrpSpPr/>
          <p:nvPr/>
        </p:nvGrpSpPr>
        <p:grpSpPr>
          <a:xfrm rot="-10800000">
            <a:off x="14160973" y="5617343"/>
            <a:ext cx="3964315" cy="3624458"/>
            <a:chOff x="0" y="0"/>
            <a:chExt cx="1312163" cy="1273989"/>
          </a:xfrm>
        </p:grpSpPr>
        <p:sp>
          <p:nvSpPr>
            <p:cNvPr id="83" name="Freeform 5"/>
            <p:cNvSpPr/>
            <p:nvPr/>
          </p:nvSpPr>
          <p:spPr>
            <a:xfrm>
              <a:off x="0" y="0"/>
              <a:ext cx="1312163" cy="1273989"/>
            </a:xfrm>
            <a:custGeom>
              <a:avLst/>
              <a:gdLst/>
              <a:ahLst/>
              <a:cxnLst/>
              <a:rect l="l" t="t" r="r" b="b"/>
              <a:pathLst>
                <a:path w="1312163" h="1273989">
                  <a:moveTo>
                    <a:pt x="24863" y="0"/>
                  </a:moveTo>
                  <a:lnTo>
                    <a:pt x="1287300" y="0"/>
                  </a:lnTo>
                  <a:cubicBezTo>
                    <a:pt x="1301031" y="0"/>
                    <a:pt x="1312163" y="11132"/>
                    <a:pt x="1312163" y="24863"/>
                  </a:cubicBezTo>
                  <a:lnTo>
                    <a:pt x="1312163" y="1249125"/>
                  </a:lnTo>
                  <a:cubicBezTo>
                    <a:pt x="1312163" y="1262857"/>
                    <a:pt x="1301031" y="1273989"/>
                    <a:pt x="1287300" y="1273989"/>
                  </a:cubicBezTo>
                  <a:lnTo>
                    <a:pt x="24863" y="1273989"/>
                  </a:lnTo>
                  <a:cubicBezTo>
                    <a:pt x="11132" y="1273989"/>
                    <a:pt x="0" y="1262857"/>
                    <a:pt x="0" y="1249125"/>
                  </a:cubicBezTo>
                  <a:lnTo>
                    <a:pt x="0" y="24863"/>
                  </a:lnTo>
                  <a:cubicBezTo>
                    <a:pt x="0" y="11132"/>
                    <a:pt x="11132" y="0"/>
                    <a:pt x="24863" y="0"/>
                  </a:cubicBezTo>
                  <a:close/>
                </a:path>
              </a:pathLst>
            </a:custGeom>
            <a:gradFill rotWithShape="1">
              <a:gsLst>
                <a:gs pos="0">
                  <a:srgbClr val="FFFFFF">
                    <a:alpha val="0"/>
                  </a:srgbClr>
                </a:gs>
                <a:gs pos="100000">
                  <a:srgbClr val="FFFFFF">
                    <a:alpha val="66000"/>
                  </a:srgbClr>
                </a:gs>
              </a:gsLst>
              <a:lin ang="5400000"/>
            </a:gradFill>
            <a:ln cap="sq">
              <a:noFill/>
              <a:prstDash val="solid"/>
              <a:miter/>
            </a:ln>
          </p:spPr>
        </p:sp>
        <p:sp>
          <p:nvSpPr>
            <p:cNvPr id="84" name="TextBox 6"/>
            <p:cNvSpPr txBox="1"/>
            <p:nvPr/>
          </p:nvSpPr>
          <p:spPr>
            <a:xfrm>
              <a:off x="0" y="-123825"/>
              <a:ext cx="1312163" cy="1397814"/>
            </a:xfrm>
            <a:prstGeom prst="rect">
              <a:avLst/>
            </a:prstGeom>
          </p:spPr>
          <p:txBody>
            <a:bodyPr lIns="50800" tIns="50800" rIns="50800" bIns="50800" rtlCol="0" anchor="ctr"/>
            <a:lstStyle/>
            <a:p>
              <a:pPr algn="ctr">
                <a:lnSpc>
                  <a:spcPts val="360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4" name="Group 4"/>
          <p:cNvGrpSpPr/>
          <p:nvPr/>
        </p:nvGrpSpPr>
        <p:grpSpPr>
          <a:xfrm rot="-10800000">
            <a:off x="-527784" y="5542625"/>
            <a:ext cx="5146766" cy="3660944"/>
            <a:chOff x="0" y="0"/>
            <a:chExt cx="1312163" cy="1273989"/>
          </a:xfrm>
        </p:grpSpPr>
        <p:sp>
          <p:nvSpPr>
            <p:cNvPr id="5" name="Freeform 5"/>
            <p:cNvSpPr/>
            <p:nvPr/>
          </p:nvSpPr>
          <p:spPr>
            <a:xfrm>
              <a:off x="0" y="0"/>
              <a:ext cx="1312163" cy="1273989"/>
            </a:xfrm>
            <a:custGeom>
              <a:avLst/>
              <a:gdLst/>
              <a:ahLst/>
              <a:cxnLst/>
              <a:rect l="l" t="t" r="r" b="b"/>
              <a:pathLst>
                <a:path w="1312163" h="1273989">
                  <a:moveTo>
                    <a:pt x="24863" y="0"/>
                  </a:moveTo>
                  <a:lnTo>
                    <a:pt x="1287300" y="0"/>
                  </a:lnTo>
                  <a:cubicBezTo>
                    <a:pt x="1301031" y="0"/>
                    <a:pt x="1312163" y="11132"/>
                    <a:pt x="1312163" y="24863"/>
                  </a:cubicBezTo>
                  <a:lnTo>
                    <a:pt x="1312163" y="1249125"/>
                  </a:lnTo>
                  <a:cubicBezTo>
                    <a:pt x="1312163" y="1262857"/>
                    <a:pt x="1301031" y="1273989"/>
                    <a:pt x="1287300" y="1273989"/>
                  </a:cubicBezTo>
                  <a:lnTo>
                    <a:pt x="24863" y="1273989"/>
                  </a:lnTo>
                  <a:cubicBezTo>
                    <a:pt x="11132" y="1273989"/>
                    <a:pt x="0" y="1262857"/>
                    <a:pt x="0" y="1249125"/>
                  </a:cubicBezTo>
                  <a:lnTo>
                    <a:pt x="0" y="24863"/>
                  </a:lnTo>
                  <a:cubicBezTo>
                    <a:pt x="0" y="11132"/>
                    <a:pt x="11132" y="0"/>
                    <a:pt x="24863" y="0"/>
                  </a:cubicBezTo>
                  <a:close/>
                </a:path>
              </a:pathLst>
            </a:custGeom>
            <a:gradFill rotWithShape="1">
              <a:gsLst>
                <a:gs pos="0">
                  <a:srgbClr val="FFFFFF">
                    <a:alpha val="0"/>
                  </a:srgbClr>
                </a:gs>
                <a:gs pos="100000">
                  <a:srgbClr val="FFFFFF">
                    <a:alpha val="66000"/>
                  </a:srgbClr>
                </a:gs>
              </a:gsLst>
              <a:lin ang="5400000"/>
            </a:gradFill>
            <a:ln cap="sq">
              <a:noFill/>
              <a:prstDash val="solid"/>
              <a:miter/>
            </a:ln>
          </p:spPr>
        </p:sp>
        <p:sp>
          <p:nvSpPr>
            <p:cNvPr id="6" name="TextBox 6"/>
            <p:cNvSpPr txBox="1"/>
            <p:nvPr/>
          </p:nvSpPr>
          <p:spPr>
            <a:xfrm>
              <a:off x="0" y="-123825"/>
              <a:ext cx="1312163" cy="1397814"/>
            </a:xfrm>
            <a:prstGeom prst="rect">
              <a:avLst/>
            </a:prstGeom>
          </p:spPr>
          <p:txBody>
            <a:bodyPr lIns="50800" tIns="50800" rIns="50800" bIns="50800" rtlCol="0" anchor="ctr"/>
            <a:lstStyle/>
            <a:p>
              <a:pPr algn="ctr">
                <a:lnSpc>
                  <a:spcPts val="360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79" name="Group 4"/>
          <p:cNvGrpSpPr/>
          <p:nvPr/>
        </p:nvGrpSpPr>
        <p:grpSpPr>
          <a:xfrm rot="-10800000">
            <a:off x="9396681" y="6208862"/>
            <a:ext cx="3964315" cy="3624458"/>
            <a:chOff x="0" y="0"/>
            <a:chExt cx="1312163" cy="1273989"/>
          </a:xfrm>
        </p:grpSpPr>
        <p:sp>
          <p:nvSpPr>
            <p:cNvPr id="80" name="Freeform 5"/>
            <p:cNvSpPr/>
            <p:nvPr/>
          </p:nvSpPr>
          <p:spPr>
            <a:xfrm>
              <a:off x="0" y="0"/>
              <a:ext cx="1312163" cy="1273989"/>
            </a:xfrm>
            <a:custGeom>
              <a:avLst/>
              <a:gdLst/>
              <a:ahLst/>
              <a:cxnLst/>
              <a:rect l="l" t="t" r="r" b="b"/>
              <a:pathLst>
                <a:path w="1312163" h="1273989">
                  <a:moveTo>
                    <a:pt x="24863" y="0"/>
                  </a:moveTo>
                  <a:lnTo>
                    <a:pt x="1287300" y="0"/>
                  </a:lnTo>
                  <a:cubicBezTo>
                    <a:pt x="1301031" y="0"/>
                    <a:pt x="1312163" y="11132"/>
                    <a:pt x="1312163" y="24863"/>
                  </a:cubicBezTo>
                  <a:lnTo>
                    <a:pt x="1312163" y="1249125"/>
                  </a:lnTo>
                  <a:cubicBezTo>
                    <a:pt x="1312163" y="1262857"/>
                    <a:pt x="1301031" y="1273989"/>
                    <a:pt x="1287300" y="1273989"/>
                  </a:cubicBezTo>
                  <a:lnTo>
                    <a:pt x="24863" y="1273989"/>
                  </a:lnTo>
                  <a:cubicBezTo>
                    <a:pt x="11132" y="1273989"/>
                    <a:pt x="0" y="1262857"/>
                    <a:pt x="0" y="1249125"/>
                  </a:cubicBezTo>
                  <a:lnTo>
                    <a:pt x="0" y="24863"/>
                  </a:lnTo>
                  <a:cubicBezTo>
                    <a:pt x="0" y="11132"/>
                    <a:pt x="11132" y="0"/>
                    <a:pt x="24863" y="0"/>
                  </a:cubicBezTo>
                  <a:close/>
                </a:path>
              </a:pathLst>
            </a:custGeom>
            <a:gradFill rotWithShape="1">
              <a:gsLst>
                <a:gs pos="0">
                  <a:srgbClr val="FFFFFF">
                    <a:alpha val="0"/>
                  </a:srgbClr>
                </a:gs>
                <a:gs pos="100000">
                  <a:srgbClr val="FFFFFF">
                    <a:alpha val="66000"/>
                  </a:srgbClr>
                </a:gs>
              </a:gsLst>
              <a:lin ang="5400000"/>
            </a:gradFill>
            <a:ln cap="sq">
              <a:noFill/>
              <a:prstDash val="solid"/>
              <a:miter/>
            </a:ln>
          </p:spPr>
        </p:sp>
        <p:sp>
          <p:nvSpPr>
            <p:cNvPr id="81" name="TextBox 6"/>
            <p:cNvSpPr txBox="1"/>
            <p:nvPr/>
          </p:nvSpPr>
          <p:spPr>
            <a:xfrm>
              <a:off x="0" y="-123825"/>
              <a:ext cx="1312163" cy="1397814"/>
            </a:xfrm>
            <a:prstGeom prst="rect">
              <a:avLst/>
            </a:prstGeom>
          </p:spPr>
          <p:txBody>
            <a:bodyPr lIns="50800" tIns="50800" rIns="50800" bIns="50800" rtlCol="0" anchor="ctr"/>
            <a:lstStyle/>
            <a:p>
              <a:pPr algn="ctr">
                <a:lnSpc>
                  <a:spcPts val="360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7" name="Freeform 7"/>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3"/>
            <a:stretch>
              <a:fillRect t="-883"/>
            </a:stretch>
          </a:blipFill>
        </p:spPr>
      </p:sp>
      <p:grpSp>
        <p:nvGrpSpPr>
          <p:cNvPr id="8" name="Group 8"/>
          <p:cNvGrpSpPr/>
          <p:nvPr/>
        </p:nvGrpSpPr>
        <p:grpSpPr>
          <a:xfrm>
            <a:off x="160070" y="-2829424"/>
            <a:ext cx="5133103" cy="4618309"/>
            <a:chOff x="0" y="0"/>
            <a:chExt cx="6844137" cy="6157745"/>
          </a:xfrm>
        </p:grpSpPr>
        <p:grpSp>
          <p:nvGrpSpPr>
            <p:cNvPr id="9" name="Group 9"/>
            <p:cNvGrpSpPr/>
            <p:nvPr/>
          </p:nvGrpSpPr>
          <p:grpSpPr>
            <a:xfrm rot="215490">
              <a:off x="271581" y="295285"/>
              <a:ext cx="6401327" cy="5667527"/>
              <a:chOff x="0" y="0"/>
              <a:chExt cx="2560354" cy="2266854"/>
            </a:xfrm>
          </p:grpSpPr>
          <p:sp>
            <p:nvSpPr>
              <p:cNvPr id="10" name="Freeform 10"/>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1" name="TextBox 11"/>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2" name="Group 12"/>
            <p:cNvGrpSpPr/>
            <p:nvPr/>
          </p:nvGrpSpPr>
          <p:grpSpPr>
            <a:xfrm rot="215490">
              <a:off x="171229" y="194933"/>
              <a:ext cx="6401327" cy="5667527"/>
              <a:chOff x="0" y="0"/>
              <a:chExt cx="2560354" cy="2266854"/>
            </a:xfrm>
          </p:grpSpPr>
          <p:sp>
            <p:nvSpPr>
              <p:cNvPr id="13" name="Freeform 13"/>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4" name="TextBox 14"/>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5" name="Group 15"/>
            <p:cNvGrpSpPr/>
            <p:nvPr/>
          </p:nvGrpSpPr>
          <p:grpSpPr>
            <a:xfrm>
              <a:off x="124175" y="194933"/>
              <a:ext cx="6401327" cy="5667527"/>
              <a:chOff x="0" y="0"/>
              <a:chExt cx="2560354" cy="2266854"/>
            </a:xfrm>
          </p:grpSpPr>
          <p:sp>
            <p:nvSpPr>
              <p:cNvPr id="16" name="Freeform 1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7" name="TextBox 1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8" name="AutoShape 18"/>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19" name="Freeform 19"/>
          <p:cNvSpPr/>
          <p:nvPr/>
        </p:nvSpPr>
        <p:spPr>
          <a:xfrm>
            <a:off x="15412234" y="8052082"/>
            <a:ext cx="2066560" cy="1119700"/>
          </a:xfrm>
          <a:custGeom>
            <a:avLst/>
            <a:gdLst/>
            <a:ahLst/>
            <a:cxnLst/>
            <a:rect l="l" t="t" r="r" b="b"/>
            <a:pathLst>
              <a:path w="2066560" h="1119700">
                <a:moveTo>
                  <a:pt x="0" y="0"/>
                </a:moveTo>
                <a:lnTo>
                  <a:pt x="2066560" y="0"/>
                </a:lnTo>
                <a:lnTo>
                  <a:pt x="2066560" y="1119700"/>
                </a:lnTo>
                <a:lnTo>
                  <a:pt x="0" y="1119700"/>
                </a:lnTo>
                <a:lnTo>
                  <a:pt x="0" y="0"/>
                </a:lnTo>
                <a:close/>
              </a:path>
            </a:pathLst>
          </a:custGeom>
          <a:blipFill>
            <a:blip r:embed="rId4">
              <a:alphaModFix amt="59000"/>
              <a:extLst>
                <a:ext uri="{96DAC541-7B7A-43D3-8B79-37D633B846F1}">
                  <asvg:svgBlip xmlns:asvg="http://schemas.microsoft.com/office/drawing/2016/SVG/main" r:embed="rId5"/>
                </a:ext>
              </a:extLst>
            </a:blip>
            <a:stretch>
              <a:fillRect/>
            </a:stretch>
          </a:blipFill>
        </p:spPr>
      </p:sp>
      <p:sp>
        <p:nvSpPr>
          <p:cNvPr id="23" name="Freeform 23"/>
          <p:cNvSpPr/>
          <p:nvPr/>
        </p:nvSpPr>
        <p:spPr>
          <a:xfrm flipH="1">
            <a:off x="160070" y="-71799"/>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6"/>
            <a:stretch>
              <a:fillRect/>
            </a:stretch>
          </a:blipFill>
        </p:spPr>
      </p:sp>
      <p:grpSp>
        <p:nvGrpSpPr>
          <p:cNvPr id="33" name="Group 33"/>
          <p:cNvGrpSpPr/>
          <p:nvPr/>
        </p:nvGrpSpPr>
        <p:grpSpPr>
          <a:xfrm>
            <a:off x="6469486" y="3934567"/>
            <a:ext cx="5445252" cy="960120"/>
            <a:chOff x="0" y="0"/>
            <a:chExt cx="7260336" cy="1280160"/>
          </a:xfrm>
        </p:grpSpPr>
        <p:sp>
          <p:nvSpPr>
            <p:cNvPr id="34" name="Freeform 34"/>
            <p:cNvSpPr/>
            <p:nvPr/>
          </p:nvSpPr>
          <p:spPr>
            <a:xfrm>
              <a:off x="0" y="0"/>
              <a:ext cx="7260336" cy="1280160"/>
            </a:xfrm>
            <a:custGeom>
              <a:avLst/>
              <a:gdLst/>
              <a:ahLst/>
              <a:cxnLst/>
              <a:rect l="l" t="t" r="r" b="b"/>
              <a:pathLst>
                <a:path w="7260336" h="1280160">
                  <a:moveTo>
                    <a:pt x="0" y="640080"/>
                  </a:moveTo>
                  <a:cubicBezTo>
                    <a:pt x="0" y="286512"/>
                    <a:pt x="1625219" y="0"/>
                    <a:pt x="3630168" y="0"/>
                  </a:cubicBezTo>
                  <a:cubicBezTo>
                    <a:pt x="5635117" y="0"/>
                    <a:pt x="7260336" y="286512"/>
                    <a:pt x="7260336" y="640080"/>
                  </a:cubicBezTo>
                  <a:cubicBezTo>
                    <a:pt x="7260336" y="993648"/>
                    <a:pt x="5635117" y="1280160"/>
                    <a:pt x="3630168" y="1280160"/>
                  </a:cubicBezTo>
                  <a:cubicBezTo>
                    <a:pt x="1625219" y="1280160"/>
                    <a:pt x="0" y="993648"/>
                    <a:pt x="0" y="640080"/>
                  </a:cubicBezTo>
                  <a:close/>
                </a:path>
              </a:pathLst>
            </a:custGeom>
            <a:gradFill rotWithShape="1">
              <a:gsLst>
                <a:gs pos="0">
                  <a:srgbClr val="E16C00">
                    <a:alpha val="0"/>
                  </a:srgbClr>
                </a:gs>
                <a:gs pos="100000">
                  <a:srgbClr val="FF5400">
                    <a:alpha val="33000"/>
                  </a:srgbClr>
                </a:gs>
              </a:gsLst>
              <a:lin ang="5400000"/>
            </a:gradFill>
          </p:spPr>
        </p:sp>
      </p:grpSp>
      <p:grpSp>
        <p:nvGrpSpPr>
          <p:cNvPr id="35" name="Group 35"/>
          <p:cNvGrpSpPr/>
          <p:nvPr/>
        </p:nvGrpSpPr>
        <p:grpSpPr>
          <a:xfrm>
            <a:off x="5799033" y="4124320"/>
            <a:ext cx="6707124" cy="960120"/>
            <a:chOff x="0" y="0"/>
            <a:chExt cx="8942832" cy="1280160"/>
          </a:xfrm>
        </p:grpSpPr>
        <p:sp>
          <p:nvSpPr>
            <p:cNvPr id="36" name="Freeform 36"/>
            <p:cNvSpPr/>
            <p:nvPr/>
          </p:nvSpPr>
          <p:spPr>
            <a:xfrm>
              <a:off x="0" y="0"/>
              <a:ext cx="8942832" cy="1280160"/>
            </a:xfrm>
            <a:custGeom>
              <a:avLst/>
              <a:gdLst/>
              <a:ahLst/>
              <a:cxnLst/>
              <a:rect l="l" t="t" r="r" b="b"/>
              <a:pathLst>
                <a:path w="8942832" h="1280160">
                  <a:moveTo>
                    <a:pt x="0" y="640080"/>
                  </a:moveTo>
                  <a:cubicBezTo>
                    <a:pt x="0" y="286512"/>
                    <a:pt x="2001901" y="0"/>
                    <a:pt x="4471416" y="0"/>
                  </a:cubicBezTo>
                  <a:cubicBezTo>
                    <a:pt x="6940931" y="0"/>
                    <a:pt x="8942832" y="286512"/>
                    <a:pt x="8942832" y="640080"/>
                  </a:cubicBezTo>
                  <a:cubicBezTo>
                    <a:pt x="8942832" y="993648"/>
                    <a:pt x="6940931" y="1280160"/>
                    <a:pt x="4471416" y="1280160"/>
                  </a:cubicBezTo>
                  <a:cubicBezTo>
                    <a:pt x="2001901" y="1280160"/>
                    <a:pt x="0" y="993648"/>
                    <a:pt x="0" y="640080"/>
                  </a:cubicBezTo>
                  <a:close/>
                </a:path>
              </a:pathLst>
            </a:custGeom>
            <a:gradFill rotWithShape="1">
              <a:gsLst>
                <a:gs pos="0">
                  <a:srgbClr val="B87900">
                    <a:alpha val="0"/>
                  </a:srgbClr>
                </a:gs>
                <a:gs pos="100000">
                  <a:srgbClr val="FF5400">
                    <a:alpha val="23000"/>
                  </a:srgbClr>
                </a:gs>
              </a:gsLst>
              <a:lin ang="5400000"/>
            </a:gradFill>
          </p:spPr>
        </p:sp>
      </p:grpSp>
      <p:grpSp>
        <p:nvGrpSpPr>
          <p:cNvPr id="37" name="Group 37"/>
          <p:cNvGrpSpPr/>
          <p:nvPr/>
        </p:nvGrpSpPr>
        <p:grpSpPr>
          <a:xfrm>
            <a:off x="-630833" y="5147548"/>
            <a:ext cx="5085167" cy="4419502"/>
            <a:chOff x="0" y="0"/>
            <a:chExt cx="6780223" cy="5892670"/>
          </a:xfrm>
        </p:grpSpPr>
        <p:sp>
          <p:nvSpPr>
            <p:cNvPr id="38" name="Freeform 38"/>
            <p:cNvSpPr/>
            <p:nvPr/>
          </p:nvSpPr>
          <p:spPr>
            <a:xfrm rot="-5400000">
              <a:off x="2947791" y="-2947791"/>
              <a:ext cx="884641" cy="6780223"/>
            </a:xfrm>
            <a:custGeom>
              <a:avLst/>
              <a:gdLst/>
              <a:ahLst/>
              <a:cxnLst/>
              <a:rect l="l" t="t" r="r" b="b"/>
              <a:pathLst>
                <a:path w="884641" h="6780223">
                  <a:moveTo>
                    <a:pt x="0" y="0"/>
                  </a:moveTo>
                  <a:lnTo>
                    <a:pt x="884641" y="0"/>
                  </a:lnTo>
                  <a:lnTo>
                    <a:pt x="884641" y="6780223"/>
                  </a:lnTo>
                  <a:lnTo>
                    <a:pt x="0" y="6780223"/>
                  </a:lnTo>
                  <a:lnTo>
                    <a:pt x="0" y="0"/>
                  </a:lnTo>
                  <a:close/>
                </a:path>
              </a:pathLst>
            </a:custGeom>
            <a:blipFill>
              <a:blip r:embed="rId7"/>
              <a:stretch>
                <a:fillRect l="-46227" t="-5307" r="-38924" b="-16409"/>
              </a:stretch>
            </a:blipFill>
          </p:spPr>
        </p:sp>
        <p:sp>
          <p:nvSpPr>
            <p:cNvPr id="39" name="TextBox 39"/>
            <p:cNvSpPr txBox="1"/>
            <p:nvPr/>
          </p:nvSpPr>
          <p:spPr>
            <a:xfrm>
              <a:off x="2113040" y="181945"/>
              <a:ext cx="4667183" cy="530060"/>
            </a:xfrm>
            <a:prstGeom prst="rect">
              <a:avLst/>
            </a:prstGeom>
          </p:spPr>
          <p:txBody>
            <a:bodyPr lIns="0" tIns="0" rIns="0" bIns="0" rtlCol="0" anchor="t">
              <a:spAutoFit/>
            </a:bodyPr>
            <a:lstStyle/>
            <a:p>
              <a:pPr algn="ctr">
                <a:lnSpc>
                  <a:spcPts val="3120"/>
                </a:lnSpc>
                <a:spcBef>
                  <a:spcPct val="0"/>
                </a:spcBef>
              </a:pPr>
              <a:r>
                <a:rPr lang="en-US" sz="2600" b="1" spc="5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法律保障的风险隔离</a:t>
              </a:r>
              <a:endParaRPr lang="en-US" sz="2600" b="1" spc="5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0" name="TextBox 40"/>
            <p:cNvSpPr txBox="1"/>
            <p:nvPr/>
          </p:nvSpPr>
          <p:spPr>
            <a:xfrm>
              <a:off x="1406684" y="1788876"/>
              <a:ext cx="5010024" cy="4103794"/>
            </a:xfrm>
            <a:prstGeom prst="rect">
              <a:avLst/>
            </a:prstGeom>
          </p:spPr>
          <p:txBody>
            <a:bodyPr wrap="square" lIns="0" tIns="0" rIns="0" bIns="0" rtlCol="0" anchor="t">
              <a:spAutoFit/>
            </a:bodyPr>
            <a:lstStyle/>
            <a:p>
              <a:pPr marL="342900" indent="-342900">
                <a:lnSpc>
                  <a:spcPct val="125000"/>
                </a:lnSpc>
                <a:spcBef>
                  <a:spcPts val="0"/>
                </a:spcBef>
                <a:spcAft>
                  <a:spcPts val="0"/>
                </a:spcAft>
                <a:buFont typeface="Arial" panose="020B0604020202020204" pitchFamily="34" charset="0"/>
                <a:buChar char="•"/>
              </a:pPr>
              <a:r>
                <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信托财产</a:t>
              </a:r>
              <a:r>
                <a:rPr lang="en-US" sz="2000" b="1"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独立</a:t>
              </a:r>
              <a:r>
                <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（《中华人民共和国信托法》第17条</a:t>
              </a:r>
              <a:r>
                <a:rPr 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endParaRPr 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ct val="125000"/>
                </a:lnSpc>
                <a:spcBef>
                  <a:spcPts val="0"/>
                </a:spcBef>
                <a:spcAft>
                  <a:spcPts val="0"/>
                </a:spcAft>
                <a:buFont typeface="Arial" panose="020B0604020202020204" pitchFamily="34" charset="0"/>
                <a:buChar char="•"/>
              </a:pPr>
              <a:endParaRPr 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ct val="125000"/>
                </a:lnSpc>
                <a:spcBef>
                  <a:spcPts val="0"/>
                </a:spcBef>
                <a:spcAft>
                  <a:spcPts val="0"/>
                </a:spcAft>
                <a:buClrTx/>
                <a:buSzTx/>
                <a:buFont typeface="Arial" panose="020B0604020202020204" pitchFamily="34" charset="0"/>
                <a:buChar char="•"/>
              </a:pPr>
              <a:r>
                <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养老资产与委托人（老人）、受托人（信托公司）固有资产</a:t>
              </a:r>
              <a:r>
                <a:rPr lang="en-US" sz="2000" b="1"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隔离</a:t>
              </a:r>
              <a:endParaRPr lang="en-US" sz="2000" b="1"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ct val="125000"/>
                </a:lnSpc>
                <a:spcBef>
                  <a:spcPts val="0"/>
                </a:spcBef>
                <a:spcAft>
                  <a:spcPts val="0"/>
                </a:spcAft>
                <a:buFont typeface="Arial" panose="020B0604020202020204" pitchFamily="34" charset="0"/>
                <a:buChar char="•"/>
              </a:pPr>
              <a:endParaRPr lang="zh-CN" alt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ct val="125000"/>
                </a:lnSpc>
                <a:spcBef>
                  <a:spcPts val="0"/>
                </a:spcBef>
                <a:spcAft>
                  <a:spcPts val="0"/>
                </a:spcAft>
                <a:buFont typeface="Arial" panose="020B0604020202020204" pitchFamily="34" charset="0"/>
                <a:buChar char="•"/>
              </a:pPr>
              <a:r>
                <a:rPr lang="zh-CN" alt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保障养老资金与房产安全</a:t>
              </a:r>
              <a:endParaRPr lang="zh-CN" alt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1" name="TextBox 41"/>
            <p:cNvSpPr txBox="1"/>
            <p:nvPr/>
          </p:nvSpPr>
          <p:spPr>
            <a:xfrm>
              <a:off x="3470728" y="961764"/>
              <a:ext cx="951341" cy="761405"/>
            </a:xfrm>
            <a:prstGeom prst="rect">
              <a:avLst/>
            </a:prstGeom>
          </p:spPr>
          <p:txBody>
            <a:bodyPr lIns="0" tIns="0" rIns="0" bIns="0" rtlCol="0" anchor="t">
              <a:spAutoFit/>
            </a:bodyPr>
            <a:lstStyle/>
            <a:p>
              <a:pPr algn="ctr">
                <a:lnSpc>
                  <a:spcPts val="4680"/>
                </a:lnSpc>
                <a:spcBef>
                  <a:spcPct val="0"/>
                </a:spcBef>
              </a:pPr>
              <a:r>
                <a:rPr lang="en-US" sz="3900" b="1" spc="77" dirty="0">
                  <a:gradFill>
                    <a:gsLst>
                      <a:gs pos="0">
                        <a:srgbClr val="FF6400">
                          <a:alpha val="100000"/>
                        </a:srgbClr>
                      </a:gs>
                      <a:gs pos="100000">
                        <a:srgbClr val="FFB8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01</a:t>
              </a:r>
              <a:endParaRPr lang="en-US" sz="3900" b="1" spc="77" dirty="0">
                <a:gradFill>
                  <a:gsLst>
                    <a:gs pos="0">
                      <a:srgbClr val="FF6400">
                        <a:alpha val="100000"/>
                      </a:srgbClr>
                    </a:gs>
                    <a:gs pos="100000">
                      <a:srgbClr val="FFB8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42" name="Group 42"/>
          <p:cNvGrpSpPr/>
          <p:nvPr/>
        </p:nvGrpSpPr>
        <p:grpSpPr>
          <a:xfrm>
            <a:off x="4463965" y="5743859"/>
            <a:ext cx="3942280" cy="3246455"/>
            <a:chOff x="0" y="0"/>
            <a:chExt cx="5256373" cy="4328607"/>
          </a:xfrm>
        </p:grpSpPr>
        <p:sp>
          <p:nvSpPr>
            <p:cNvPr id="43" name="Freeform 43"/>
            <p:cNvSpPr/>
            <p:nvPr/>
          </p:nvSpPr>
          <p:spPr>
            <a:xfrm rot="-5400000">
              <a:off x="2186527" y="-2186527"/>
              <a:ext cx="883319" cy="5256373"/>
            </a:xfrm>
            <a:custGeom>
              <a:avLst/>
              <a:gdLst/>
              <a:ahLst/>
              <a:cxnLst/>
              <a:rect l="l" t="t" r="r" b="b"/>
              <a:pathLst>
                <a:path w="883319" h="5256373">
                  <a:moveTo>
                    <a:pt x="0" y="0"/>
                  </a:moveTo>
                  <a:lnTo>
                    <a:pt x="883319" y="0"/>
                  </a:lnTo>
                  <a:lnTo>
                    <a:pt x="883319" y="5256373"/>
                  </a:lnTo>
                  <a:lnTo>
                    <a:pt x="0" y="5256373"/>
                  </a:lnTo>
                  <a:lnTo>
                    <a:pt x="0" y="0"/>
                  </a:lnTo>
                  <a:close/>
                </a:path>
              </a:pathLst>
            </a:custGeom>
            <a:blipFill>
              <a:blip r:embed="rId8"/>
              <a:stretch>
                <a:fillRect l="-13427" t="-10801" r="-30193" b="-10801"/>
              </a:stretch>
            </a:blipFill>
          </p:spPr>
        </p:sp>
        <p:sp>
          <p:nvSpPr>
            <p:cNvPr id="44" name="TextBox 44"/>
            <p:cNvSpPr txBox="1"/>
            <p:nvPr/>
          </p:nvSpPr>
          <p:spPr>
            <a:xfrm>
              <a:off x="618423" y="171983"/>
              <a:ext cx="4490580" cy="530060"/>
            </a:xfrm>
            <a:prstGeom prst="rect">
              <a:avLst/>
            </a:prstGeom>
          </p:spPr>
          <p:txBody>
            <a:bodyPr lIns="0" tIns="0" rIns="0" bIns="0" rtlCol="0" anchor="t">
              <a:spAutoFit/>
            </a:bodyPr>
            <a:lstStyle/>
            <a:p>
              <a:pPr algn="ctr">
                <a:lnSpc>
                  <a:spcPts val="3120"/>
                </a:lnSpc>
                <a:spcBef>
                  <a:spcPct val="0"/>
                </a:spcBef>
              </a:pPr>
              <a:r>
                <a:rPr lang="en-US" sz="2600" b="1" spc="51">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资产与服务的资源整合</a:t>
              </a:r>
              <a:endParaRPr lang="en-US" sz="2600" b="1" spc="51">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6" name="TextBox 46"/>
            <p:cNvSpPr txBox="1"/>
            <p:nvPr/>
          </p:nvSpPr>
          <p:spPr>
            <a:xfrm>
              <a:off x="2148219" y="974211"/>
              <a:ext cx="959932" cy="754565"/>
            </a:xfrm>
            <a:prstGeom prst="rect">
              <a:avLst/>
            </a:prstGeom>
          </p:spPr>
          <p:txBody>
            <a:bodyPr wrap="square" lIns="0" tIns="0" rIns="0" bIns="0" rtlCol="0" anchor="t">
              <a:spAutoFit/>
            </a:bodyPr>
            <a:lstStyle/>
            <a:p>
              <a:pPr algn="ctr">
                <a:lnSpc>
                  <a:spcPts val="4680"/>
                </a:lnSpc>
                <a:spcBef>
                  <a:spcPct val="0"/>
                </a:spcBef>
              </a:pPr>
              <a:r>
                <a:rPr lang="en-US" sz="3900" b="1" spc="77" dirty="0">
                  <a:gradFill>
                    <a:gsLst>
                      <a:gs pos="0">
                        <a:srgbClr val="FF6400">
                          <a:alpha val="100000"/>
                        </a:srgbClr>
                      </a:gs>
                      <a:gs pos="100000">
                        <a:srgbClr val="FFB8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02</a:t>
              </a:r>
              <a:endParaRPr lang="en-US" sz="3900" b="1" spc="77" dirty="0">
                <a:gradFill>
                  <a:gsLst>
                    <a:gs pos="0">
                      <a:srgbClr val="FF6400">
                        <a:alpha val="100000"/>
                      </a:srgbClr>
                    </a:gs>
                    <a:gs pos="100000">
                      <a:srgbClr val="FFB8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5" name="TextBox 45"/>
            <p:cNvSpPr txBox="1"/>
            <p:nvPr/>
          </p:nvSpPr>
          <p:spPr>
            <a:xfrm>
              <a:off x="423683" y="1866500"/>
              <a:ext cx="4685320" cy="2462107"/>
            </a:xfrm>
            <a:prstGeom prst="rect">
              <a:avLst/>
            </a:prstGeom>
          </p:spPr>
          <p:txBody>
            <a:bodyPr wrap="square" lIns="0" tIns="0" rIns="0" bIns="0" rtlCol="0" anchor="t">
              <a:spAutoFit/>
            </a:bodyPr>
            <a:lstStyle/>
            <a:p>
              <a:pPr marL="342900" indent="-342900">
                <a:lnSpc>
                  <a:spcPts val="2400"/>
                </a:lnSpc>
                <a:spcBef>
                  <a:spcPct val="0"/>
                </a:spcBef>
                <a:buFont typeface="Arial" panose="020B0604020202020204" pitchFamily="34" charset="0"/>
                <a:buChar char="•"/>
              </a:pPr>
              <a:r>
                <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信托作为“特殊目的载体</a:t>
              </a:r>
              <a:r>
                <a:rPr 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endParaRPr 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ts val="2400"/>
                </a:lnSpc>
                <a:spcBef>
                  <a:spcPct val="0"/>
                </a:spcBef>
                <a:buFont typeface="Arial" panose="020B0604020202020204" pitchFamily="34" charset="0"/>
                <a:buChar char="•"/>
              </a:pPr>
              <a:endParaRPr 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ts val="2400"/>
                </a:lnSpc>
                <a:spcBef>
                  <a:spcPct val="0"/>
                </a:spcBef>
                <a:buFont typeface="Arial" panose="020B0604020202020204" pitchFamily="34" charset="0"/>
                <a:buChar char="•"/>
              </a:pPr>
              <a:r>
                <a:rPr lang="en-US" sz="2000" b="1"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串联</a:t>
              </a:r>
              <a:r>
                <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房产国企与养老机构</a:t>
              </a:r>
              <a:endPar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ts val="2400"/>
                </a:lnSpc>
                <a:spcBef>
                  <a:spcPct val="0"/>
                </a:spcBef>
                <a:buFont typeface="Arial" panose="020B0604020202020204" pitchFamily="34" charset="0"/>
                <a:buChar char="•"/>
              </a:pPr>
              <a:endPar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ts val="2400"/>
                </a:lnSpc>
                <a:spcBef>
                  <a:spcPct val="0"/>
                </a:spcBef>
                <a:buFont typeface="Arial" panose="020B0604020202020204" pitchFamily="34" charset="0"/>
                <a:buChar char="•"/>
              </a:pPr>
              <a:r>
                <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提供“房产改造+资金给付+康养服务”的</a:t>
              </a:r>
              <a:r>
                <a:rPr lang="en-US" sz="2000" b="1"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一站式方案</a:t>
              </a:r>
              <a:endParaRPr lang="en-US" sz="2000" b="1"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47" name="Group 47"/>
          <p:cNvGrpSpPr/>
          <p:nvPr/>
        </p:nvGrpSpPr>
        <p:grpSpPr>
          <a:xfrm>
            <a:off x="9389373" y="5745372"/>
            <a:ext cx="3942280" cy="2908970"/>
            <a:chOff x="0" y="0"/>
            <a:chExt cx="5256373" cy="3878627"/>
          </a:xfrm>
        </p:grpSpPr>
        <p:sp>
          <p:nvSpPr>
            <p:cNvPr id="48" name="TextBox 48"/>
            <p:cNvSpPr txBox="1"/>
            <p:nvPr/>
          </p:nvSpPr>
          <p:spPr>
            <a:xfrm>
              <a:off x="546753" y="1827153"/>
              <a:ext cx="4370476" cy="2051474"/>
            </a:xfrm>
            <a:prstGeom prst="rect">
              <a:avLst/>
            </a:prstGeom>
          </p:spPr>
          <p:txBody>
            <a:bodyPr wrap="square" lIns="0" tIns="0" rIns="0" bIns="0" rtlCol="0" anchor="t">
              <a:spAutoFit/>
            </a:bodyPr>
            <a:lstStyle/>
            <a:p>
              <a:pPr marL="342900" indent="-342900">
                <a:lnSpc>
                  <a:spcPts val="2400"/>
                </a:lnSpc>
                <a:spcBef>
                  <a:spcPct val="0"/>
                </a:spcBef>
                <a:buFont typeface="Arial" panose="020B0604020202020204" pitchFamily="34" charset="0"/>
                <a:buChar char="•"/>
              </a:pPr>
              <a:r>
                <a:rPr lang="en-US" sz="2000" b="1"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灵活设定</a:t>
              </a:r>
              <a:r>
                <a:rPr 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“优先赎回权”与“剩余收益分配”</a:t>
              </a:r>
              <a:endParaRPr 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ts val="2400"/>
                </a:lnSpc>
                <a:spcBef>
                  <a:spcPct val="0"/>
                </a:spcBef>
                <a:buFont typeface="Arial" panose="020B0604020202020204" pitchFamily="34" charset="0"/>
                <a:buChar char="•"/>
              </a:pPr>
              <a:endParaRPr 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ts val="2400"/>
                </a:lnSpc>
                <a:spcBef>
                  <a:spcPct val="0"/>
                </a:spcBef>
                <a:buFont typeface="Arial" panose="020B0604020202020204" pitchFamily="34" charset="0"/>
                <a:buChar char="•"/>
              </a:pPr>
              <a:r>
                <a:rPr lang="zh-CN" altLang="en-US" sz="2000" b="1"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兼顾</a:t>
              </a:r>
              <a:r>
                <a:rPr lang="zh-CN" alt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老人终身居住权、子女继承权</a:t>
              </a:r>
              <a:endParaRPr lang="zh-CN" alt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9" name="TextBox 49"/>
            <p:cNvSpPr txBox="1"/>
            <p:nvPr/>
          </p:nvSpPr>
          <p:spPr>
            <a:xfrm>
              <a:off x="2137700" y="976856"/>
              <a:ext cx="965893" cy="754565"/>
            </a:xfrm>
            <a:prstGeom prst="rect">
              <a:avLst/>
            </a:prstGeom>
          </p:spPr>
          <p:txBody>
            <a:bodyPr wrap="square" lIns="0" tIns="0" rIns="0" bIns="0" rtlCol="0" anchor="t">
              <a:spAutoFit/>
            </a:bodyPr>
            <a:lstStyle/>
            <a:p>
              <a:pPr algn="ctr">
                <a:lnSpc>
                  <a:spcPts val="4680"/>
                </a:lnSpc>
                <a:spcBef>
                  <a:spcPct val="0"/>
                </a:spcBef>
              </a:pPr>
              <a:r>
                <a:rPr lang="en-US" sz="3900" b="1" spc="77" dirty="0">
                  <a:gradFill>
                    <a:gsLst>
                      <a:gs pos="0">
                        <a:srgbClr val="FF6400">
                          <a:alpha val="100000"/>
                        </a:srgbClr>
                      </a:gs>
                      <a:gs pos="100000">
                        <a:srgbClr val="FFB8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03</a:t>
              </a:r>
              <a:endParaRPr lang="en-US" sz="3900" b="1" spc="77" dirty="0">
                <a:gradFill>
                  <a:gsLst>
                    <a:gs pos="0">
                      <a:srgbClr val="FF6400">
                        <a:alpha val="100000"/>
                      </a:srgbClr>
                    </a:gs>
                    <a:gs pos="100000">
                      <a:srgbClr val="FFB8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0" name="Freeform 50"/>
            <p:cNvSpPr/>
            <p:nvPr/>
          </p:nvSpPr>
          <p:spPr>
            <a:xfrm rot="-5400000" flipH="1" flipV="1">
              <a:off x="2186527" y="-2186527"/>
              <a:ext cx="883319" cy="5256373"/>
            </a:xfrm>
            <a:custGeom>
              <a:avLst/>
              <a:gdLst/>
              <a:ahLst/>
              <a:cxnLst/>
              <a:rect l="l" t="t" r="r" b="b"/>
              <a:pathLst>
                <a:path w="883319" h="5256373">
                  <a:moveTo>
                    <a:pt x="883319" y="5256373"/>
                  </a:moveTo>
                  <a:lnTo>
                    <a:pt x="0" y="5256373"/>
                  </a:lnTo>
                  <a:lnTo>
                    <a:pt x="0" y="0"/>
                  </a:lnTo>
                  <a:lnTo>
                    <a:pt x="883319" y="0"/>
                  </a:lnTo>
                  <a:lnTo>
                    <a:pt x="883319" y="5256373"/>
                  </a:lnTo>
                  <a:close/>
                </a:path>
              </a:pathLst>
            </a:custGeom>
            <a:blipFill>
              <a:blip r:embed="rId8"/>
              <a:stretch>
                <a:fillRect l="-13427" t="-10801" r="-30193" b="-10801"/>
              </a:stretch>
            </a:blipFill>
          </p:spPr>
        </p:sp>
        <p:sp>
          <p:nvSpPr>
            <p:cNvPr id="51" name="TextBox 51"/>
            <p:cNvSpPr txBox="1"/>
            <p:nvPr/>
          </p:nvSpPr>
          <p:spPr>
            <a:xfrm>
              <a:off x="300635" y="168585"/>
              <a:ext cx="4490580" cy="530060"/>
            </a:xfrm>
            <a:prstGeom prst="rect">
              <a:avLst/>
            </a:prstGeom>
          </p:spPr>
          <p:txBody>
            <a:bodyPr lIns="0" tIns="0" rIns="0" bIns="0" rtlCol="0" anchor="t">
              <a:spAutoFit/>
            </a:bodyPr>
            <a:lstStyle/>
            <a:p>
              <a:pPr algn="ctr">
                <a:lnSpc>
                  <a:spcPts val="3120"/>
                </a:lnSpc>
                <a:spcBef>
                  <a:spcPct val="0"/>
                </a:spcBef>
              </a:pPr>
              <a:r>
                <a:rPr lang="en-US" sz="2600" b="1" spc="51">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灵活的权益切割与传承</a:t>
              </a:r>
              <a:endParaRPr lang="en-US" sz="2600" b="1" spc="51">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52" name="Group 52"/>
          <p:cNvGrpSpPr/>
          <p:nvPr/>
        </p:nvGrpSpPr>
        <p:grpSpPr>
          <a:xfrm>
            <a:off x="14138213" y="4976933"/>
            <a:ext cx="6189480" cy="2658450"/>
            <a:chOff x="1" y="-1"/>
            <a:chExt cx="8252640" cy="3544600"/>
          </a:xfrm>
        </p:grpSpPr>
        <p:sp>
          <p:nvSpPr>
            <p:cNvPr id="53" name="Freeform 53"/>
            <p:cNvSpPr/>
            <p:nvPr/>
          </p:nvSpPr>
          <p:spPr>
            <a:xfrm rot="-5400000" flipV="1">
              <a:off x="3684000" y="-3684000"/>
              <a:ext cx="884641" cy="8252640"/>
            </a:xfrm>
            <a:custGeom>
              <a:avLst/>
              <a:gdLst/>
              <a:ahLst/>
              <a:cxnLst/>
              <a:rect l="l" t="t" r="r" b="b"/>
              <a:pathLst>
                <a:path w="884641" h="8252640">
                  <a:moveTo>
                    <a:pt x="0" y="8252641"/>
                  </a:moveTo>
                  <a:lnTo>
                    <a:pt x="884641" y="8252641"/>
                  </a:lnTo>
                  <a:lnTo>
                    <a:pt x="884641" y="0"/>
                  </a:lnTo>
                  <a:lnTo>
                    <a:pt x="0" y="0"/>
                  </a:lnTo>
                  <a:lnTo>
                    <a:pt x="0" y="8252641"/>
                  </a:lnTo>
                  <a:close/>
                </a:path>
              </a:pathLst>
            </a:custGeom>
            <a:blipFill>
              <a:blip r:embed="rId7"/>
              <a:stretch>
                <a:fillRect l="-46227" r="-38924"/>
              </a:stretch>
            </a:blipFill>
          </p:spPr>
        </p:sp>
        <p:sp>
          <p:nvSpPr>
            <p:cNvPr id="54" name="TextBox 54"/>
            <p:cNvSpPr txBox="1"/>
            <p:nvPr/>
          </p:nvSpPr>
          <p:spPr>
            <a:xfrm>
              <a:off x="226304" y="157994"/>
              <a:ext cx="4939651" cy="530060"/>
            </a:xfrm>
            <a:prstGeom prst="rect">
              <a:avLst/>
            </a:prstGeom>
          </p:spPr>
          <p:txBody>
            <a:bodyPr lIns="0" tIns="0" rIns="0" bIns="0" rtlCol="0" anchor="t">
              <a:spAutoFit/>
            </a:bodyPr>
            <a:lstStyle/>
            <a:p>
              <a:pPr algn="ctr">
                <a:lnSpc>
                  <a:spcPts val="3120"/>
                </a:lnSpc>
                <a:spcBef>
                  <a:spcPct val="0"/>
                </a:spcBef>
              </a:pPr>
              <a:r>
                <a:rPr lang="en-US" sz="2600" b="1" spc="5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期限与养老需求高度契合</a:t>
              </a:r>
              <a:endParaRPr lang="en-US" sz="2600" b="1" spc="5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5" name="TextBox 55"/>
            <p:cNvSpPr txBox="1"/>
            <p:nvPr/>
          </p:nvSpPr>
          <p:spPr>
            <a:xfrm>
              <a:off x="496992" y="1903759"/>
              <a:ext cx="3924791" cy="1640840"/>
            </a:xfrm>
            <a:prstGeom prst="rect">
              <a:avLst/>
            </a:prstGeom>
          </p:spPr>
          <p:txBody>
            <a:bodyPr wrap="square" lIns="0" tIns="0" rIns="0" bIns="0" rtlCol="0" anchor="t">
              <a:spAutoFit/>
            </a:bodyPr>
            <a:lstStyle/>
            <a:p>
              <a:pPr marL="342900" indent="-342900">
                <a:lnSpc>
                  <a:spcPts val="2400"/>
                </a:lnSpc>
                <a:spcBef>
                  <a:spcPct val="0"/>
                </a:spcBef>
                <a:buFont typeface="Arial" panose="020B0604020202020204" pitchFamily="34" charset="0"/>
                <a:buChar char="•"/>
              </a:pPr>
              <a:r>
                <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信托</a:t>
              </a:r>
              <a:r>
                <a:rPr lang="en-US" sz="2000" b="1"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期限可设定为终身</a:t>
              </a:r>
              <a:endParaRPr lang="en-US" sz="2000" b="1"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ts val="2400"/>
                </a:lnSpc>
                <a:spcBef>
                  <a:spcPct val="0"/>
                </a:spcBef>
                <a:buFont typeface="Arial" panose="020B0604020202020204" pitchFamily="34" charset="0"/>
                <a:buChar char="•"/>
              </a:pPr>
              <a:endPar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ts val="2400"/>
                </a:lnSpc>
                <a:spcBef>
                  <a:spcPct val="0"/>
                </a:spcBef>
                <a:buFont typeface="Arial" panose="020B0604020202020204" pitchFamily="34" charset="0"/>
                <a:buChar char="•"/>
              </a:pPr>
              <a:r>
                <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避免</a:t>
              </a:r>
              <a:r>
                <a:rPr lang="zh-CN" alt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传统贷款固定期限、养老金断供</a:t>
              </a:r>
              <a:endParaRPr lang="zh-CN" alt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6" name="TextBox 56"/>
            <p:cNvSpPr txBox="1"/>
            <p:nvPr/>
          </p:nvSpPr>
          <p:spPr>
            <a:xfrm>
              <a:off x="2058628" y="1019052"/>
              <a:ext cx="861192" cy="754565"/>
            </a:xfrm>
            <a:prstGeom prst="rect">
              <a:avLst/>
            </a:prstGeom>
          </p:spPr>
          <p:txBody>
            <a:bodyPr wrap="square" lIns="0" tIns="0" rIns="0" bIns="0" rtlCol="0" anchor="t">
              <a:spAutoFit/>
            </a:bodyPr>
            <a:lstStyle/>
            <a:p>
              <a:pPr algn="ctr">
                <a:lnSpc>
                  <a:spcPts val="4680"/>
                </a:lnSpc>
                <a:spcBef>
                  <a:spcPct val="0"/>
                </a:spcBef>
              </a:pPr>
              <a:r>
                <a:rPr lang="en-US" sz="3900" b="1" spc="77" dirty="0">
                  <a:gradFill>
                    <a:gsLst>
                      <a:gs pos="0">
                        <a:srgbClr val="FF6400">
                          <a:alpha val="100000"/>
                        </a:srgbClr>
                      </a:gs>
                      <a:gs pos="100000">
                        <a:srgbClr val="FFB8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04</a:t>
              </a:r>
              <a:endParaRPr lang="en-US" sz="3900" b="1" spc="77" dirty="0">
                <a:gradFill>
                  <a:gsLst>
                    <a:gs pos="0">
                      <a:srgbClr val="FF6400">
                        <a:alpha val="100000"/>
                      </a:srgbClr>
                    </a:gs>
                    <a:gs pos="100000">
                      <a:srgbClr val="FFB8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57" name="Group 57"/>
          <p:cNvGrpSpPr/>
          <p:nvPr/>
        </p:nvGrpSpPr>
        <p:grpSpPr>
          <a:xfrm>
            <a:off x="7056215" y="1082558"/>
            <a:ext cx="4298643" cy="3904713"/>
            <a:chOff x="180716" y="0"/>
            <a:chExt cx="4928265" cy="5280660"/>
          </a:xfrm>
        </p:grpSpPr>
        <p:sp>
          <p:nvSpPr>
            <p:cNvPr id="58" name="Freeform 58"/>
            <p:cNvSpPr/>
            <p:nvPr/>
          </p:nvSpPr>
          <p:spPr>
            <a:xfrm>
              <a:off x="180716" y="0"/>
              <a:ext cx="4928265" cy="5280660"/>
            </a:xfrm>
            <a:custGeom>
              <a:avLst/>
              <a:gdLst/>
              <a:ahLst/>
              <a:cxnLst/>
              <a:rect l="l" t="t" r="r" b="b"/>
              <a:pathLst>
                <a:path w="5280660" h="5280660">
                  <a:moveTo>
                    <a:pt x="556321" y="0"/>
                  </a:moveTo>
                  <a:lnTo>
                    <a:pt x="4724339" y="0"/>
                  </a:lnTo>
                  <a:cubicBezTo>
                    <a:pt x="5031586" y="0"/>
                    <a:pt x="5280660" y="249073"/>
                    <a:pt x="5280660" y="556321"/>
                  </a:cubicBezTo>
                  <a:lnTo>
                    <a:pt x="5280660" y="4724339"/>
                  </a:lnTo>
                  <a:cubicBezTo>
                    <a:pt x="5280660" y="5031586"/>
                    <a:pt x="5031586" y="5280660"/>
                    <a:pt x="4724339" y="5280660"/>
                  </a:cubicBezTo>
                  <a:lnTo>
                    <a:pt x="556321" y="5280660"/>
                  </a:lnTo>
                  <a:cubicBezTo>
                    <a:pt x="408775" y="5280660"/>
                    <a:pt x="267273" y="5222048"/>
                    <a:pt x="162943" y="5117717"/>
                  </a:cubicBezTo>
                  <a:cubicBezTo>
                    <a:pt x="58612" y="5013387"/>
                    <a:pt x="0" y="4871884"/>
                    <a:pt x="0" y="4724339"/>
                  </a:cubicBezTo>
                  <a:lnTo>
                    <a:pt x="0" y="556321"/>
                  </a:lnTo>
                  <a:cubicBezTo>
                    <a:pt x="0" y="249073"/>
                    <a:pt x="249073" y="0"/>
                    <a:pt x="556321" y="0"/>
                  </a:cubicBezTo>
                  <a:close/>
                </a:path>
              </a:pathLst>
            </a:custGeom>
            <a:blipFill>
              <a:blip r:embed="rId9"/>
              <a:stretch>
                <a:fillRect/>
              </a:stretch>
            </a:blipFill>
          </p:spPr>
        </p:sp>
      </p:grpSp>
      <p:grpSp>
        <p:nvGrpSpPr>
          <p:cNvPr id="69" name="组合 68"/>
          <p:cNvGrpSpPr/>
          <p:nvPr/>
        </p:nvGrpSpPr>
        <p:grpSpPr>
          <a:xfrm>
            <a:off x="3202419" y="2594198"/>
            <a:ext cx="12315435" cy="3012113"/>
            <a:chOff x="3194678" y="2870492"/>
            <a:chExt cx="12315435" cy="3012113"/>
          </a:xfrm>
        </p:grpSpPr>
        <p:sp>
          <p:nvSpPr>
            <p:cNvPr id="24" name="Freeform 24"/>
            <p:cNvSpPr/>
            <p:nvPr/>
          </p:nvSpPr>
          <p:spPr>
            <a:xfrm>
              <a:off x="3194678" y="2870492"/>
              <a:ext cx="11874398" cy="2849856"/>
            </a:xfrm>
            <a:custGeom>
              <a:avLst/>
              <a:gdLst/>
              <a:ahLst/>
              <a:cxnLst/>
              <a:rect l="l" t="t" r="r" b="b"/>
              <a:pathLst>
                <a:path w="11874398" h="2849856">
                  <a:moveTo>
                    <a:pt x="0" y="0"/>
                  </a:moveTo>
                  <a:lnTo>
                    <a:pt x="11874399" y="0"/>
                  </a:lnTo>
                  <a:lnTo>
                    <a:pt x="11874399" y="2849855"/>
                  </a:lnTo>
                  <a:lnTo>
                    <a:pt x="0" y="2849855"/>
                  </a:lnTo>
                  <a:lnTo>
                    <a:pt x="0" y="0"/>
                  </a:lnTo>
                  <a:close/>
                </a:path>
              </a:pathLst>
            </a:custGeom>
            <a:blipFill>
              <a:blip r:embed="rId10"/>
              <a:stretch>
                <a:fillRect/>
              </a:stretch>
            </a:blipFill>
          </p:spPr>
        </p:sp>
        <p:grpSp>
          <p:nvGrpSpPr>
            <p:cNvPr id="25" name="Group 25"/>
            <p:cNvGrpSpPr/>
            <p:nvPr/>
          </p:nvGrpSpPr>
          <p:grpSpPr>
            <a:xfrm>
              <a:off x="4398198" y="5052976"/>
              <a:ext cx="254040" cy="254040"/>
              <a:chOff x="0" y="0"/>
              <a:chExt cx="338720" cy="338720"/>
            </a:xfrm>
          </p:grpSpPr>
          <p:sp>
            <p:nvSpPr>
              <p:cNvPr id="26" name="Freeform 26"/>
              <p:cNvSpPr/>
              <p:nvPr/>
            </p:nvSpPr>
            <p:spPr>
              <a:xfrm>
                <a:off x="0" y="0"/>
                <a:ext cx="338709" cy="338709"/>
              </a:xfrm>
              <a:custGeom>
                <a:avLst/>
                <a:gdLst/>
                <a:ahLst/>
                <a:cxnLst/>
                <a:rect l="l" t="t" r="r" b="b"/>
                <a:pathLst>
                  <a:path w="338709" h="338709">
                    <a:moveTo>
                      <a:pt x="0" y="169418"/>
                    </a:moveTo>
                    <a:cubicBezTo>
                      <a:pt x="0" y="75819"/>
                      <a:pt x="75819" y="0"/>
                      <a:pt x="169418" y="0"/>
                    </a:cubicBezTo>
                    <a:cubicBezTo>
                      <a:pt x="263017" y="0"/>
                      <a:pt x="338709" y="75819"/>
                      <a:pt x="338709" y="169418"/>
                    </a:cubicBezTo>
                    <a:cubicBezTo>
                      <a:pt x="338709" y="263017"/>
                      <a:pt x="262890" y="338709"/>
                      <a:pt x="169418" y="338709"/>
                    </a:cubicBezTo>
                    <a:cubicBezTo>
                      <a:pt x="75946" y="338709"/>
                      <a:pt x="0" y="262890"/>
                      <a:pt x="0" y="169418"/>
                    </a:cubicBezTo>
                    <a:close/>
                  </a:path>
                </a:pathLst>
              </a:custGeom>
              <a:solidFill>
                <a:srgbClr val="FF6100"/>
              </a:solidFill>
            </p:spPr>
          </p:sp>
        </p:grpSp>
        <p:grpSp>
          <p:nvGrpSpPr>
            <p:cNvPr id="27" name="Group 27"/>
            <p:cNvGrpSpPr/>
            <p:nvPr/>
          </p:nvGrpSpPr>
          <p:grpSpPr>
            <a:xfrm>
              <a:off x="14493300" y="4697651"/>
              <a:ext cx="254040" cy="254040"/>
              <a:chOff x="0" y="0"/>
              <a:chExt cx="338720" cy="338720"/>
            </a:xfrm>
          </p:grpSpPr>
          <p:sp>
            <p:nvSpPr>
              <p:cNvPr id="28" name="Freeform 28"/>
              <p:cNvSpPr/>
              <p:nvPr/>
            </p:nvSpPr>
            <p:spPr>
              <a:xfrm>
                <a:off x="0" y="0"/>
                <a:ext cx="338709" cy="338709"/>
              </a:xfrm>
              <a:custGeom>
                <a:avLst/>
                <a:gdLst/>
                <a:ahLst/>
                <a:cxnLst/>
                <a:rect l="l" t="t" r="r" b="b"/>
                <a:pathLst>
                  <a:path w="338709" h="338709">
                    <a:moveTo>
                      <a:pt x="0" y="169418"/>
                    </a:moveTo>
                    <a:cubicBezTo>
                      <a:pt x="0" y="75819"/>
                      <a:pt x="75819" y="0"/>
                      <a:pt x="169418" y="0"/>
                    </a:cubicBezTo>
                    <a:cubicBezTo>
                      <a:pt x="263017" y="0"/>
                      <a:pt x="338709" y="75819"/>
                      <a:pt x="338709" y="169418"/>
                    </a:cubicBezTo>
                    <a:cubicBezTo>
                      <a:pt x="338709" y="263017"/>
                      <a:pt x="262890" y="338709"/>
                      <a:pt x="169418" y="338709"/>
                    </a:cubicBezTo>
                    <a:cubicBezTo>
                      <a:pt x="75946" y="338709"/>
                      <a:pt x="0" y="262890"/>
                      <a:pt x="0" y="169418"/>
                    </a:cubicBezTo>
                    <a:close/>
                  </a:path>
                </a:pathLst>
              </a:custGeom>
              <a:solidFill>
                <a:srgbClr val="FF6100"/>
              </a:solidFill>
            </p:spPr>
          </p:sp>
        </p:grpSp>
        <p:grpSp>
          <p:nvGrpSpPr>
            <p:cNvPr id="29" name="Group 29"/>
            <p:cNvGrpSpPr/>
            <p:nvPr/>
          </p:nvGrpSpPr>
          <p:grpSpPr>
            <a:xfrm>
              <a:off x="6801461" y="5429648"/>
              <a:ext cx="254040" cy="254040"/>
              <a:chOff x="0" y="0"/>
              <a:chExt cx="338720" cy="338720"/>
            </a:xfrm>
          </p:grpSpPr>
          <p:sp>
            <p:nvSpPr>
              <p:cNvPr id="30" name="Freeform 30"/>
              <p:cNvSpPr/>
              <p:nvPr/>
            </p:nvSpPr>
            <p:spPr>
              <a:xfrm>
                <a:off x="0" y="0"/>
                <a:ext cx="338709" cy="338709"/>
              </a:xfrm>
              <a:custGeom>
                <a:avLst/>
                <a:gdLst/>
                <a:ahLst/>
                <a:cxnLst/>
                <a:rect l="l" t="t" r="r" b="b"/>
                <a:pathLst>
                  <a:path w="338709" h="338709">
                    <a:moveTo>
                      <a:pt x="0" y="169418"/>
                    </a:moveTo>
                    <a:cubicBezTo>
                      <a:pt x="0" y="75819"/>
                      <a:pt x="75819" y="0"/>
                      <a:pt x="169418" y="0"/>
                    </a:cubicBezTo>
                    <a:cubicBezTo>
                      <a:pt x="263017" y="0"/>
                      <a:pt x="338709" y="75819"/>
                      <a:pt x="338709" y="169418"/>
                    </a:cubicBezTo>
                    <a:cubicBezTo>
                      <a:pt x="338709" y="263017"/>
                      <a:pt x="262890" y="338709"/>
                      <a:pt x="169418" y="338709"/>
                    </a:cubicBezTo>
                    <a:cubicBezTo>
                      <a:pt x="75946" y="338709"/>
                      <a:pt x="0" y="262890"/>
                      <a:pt x="0" y="169418"/>
                    </a:cubicBezTo>
                    <a:close/>
                  </a:path>
                </a:pathLst>
              </a:custGeom>
              <a:gradFill rotWithShape="1">
                <a:gsLst>
                  <a:gs pos="0">
                    <a:srgbClr val="FF6400">
                      <a:alpha val="100000"/>
                    </a:srgbClr>
                  </a:gs>
                  <a:gs pos="100000">
                    <a:srgbClr val="FFB800">
                      <a:alpha val="100000"/>
                    </a:srgbClr>
                  </a:gs>
                </a:gsLst>
                <a:lin ang="5400000"/>
              </a:gradFill>
            </p:spPr>
          </p:sp>
        </p:grpSp>
        <p:grpSp>
          <p:nvGrpSpPr>
            <p:cNvPr id="31" name="Group 31"/>
            <p:cNvGrpSpPr/>
            <p:nvPr/>
          </p:nvGrpSpPr>
          <p:grpSpPr>
            <a:xfrm>
              <a:off x="11415436" y="5429648"/>
              <a:ext cx="254040" cy="254040"/>
              <a:chOff x="0" y="0"/>
              <a:chExt cx="338720" cy="338720"/>
            </a:xfrm>
          </p:grpSpPr>
          <p:sp>
            <p:nvSpPr>
              <p:cNvPr id="32" name="Freeform 32"/>
              <p:cNvSpPr/>
              <p:nvPr/>
            </p:nvSpPr>
            <p:spPr>
              <a:xfrm>
                <a:off x="0" y="0"/>
                <a:ext cx="338709" cy="338709"/>
              </a:xfrm>
              <a:custGeom>
                <a:avLst/>
                <a:gdLst/>
                <a:ahLst/>
                <a:cxnLst/>
                <a:rect l="l" t="t" r="r" b="b"/>
                <a:pathLst>
                  <a:path w="338709" h="338709">
                    <a:moveTo>
                      <a:pt x="0" y="169418"/>
                    </a:moveTo>
                    <a:cubicBezTo>
                      <a:pt x="0" y="75819"/>
                      <a:pt x="75819" y="0"/>
                      <a:pt x="169418" y="0"/>
                    </a:cubicBezTo>
                    <a:cubicBezTo>
                      <a:pt x="263017" y="0"/>
                      <a:pt x="338709" y="75819"/>
                      <a:pt x="338709" y="169418"/>
                    </a:cubicBezTo>
                    <a:cubicBezTo>
                      <a:pt x="338709" y="263017"/>
                      <a:pt x="262890" y="338709"/>
                      <a:pt x="169418" y="338709"/>
                    </a:cubicBezTo>
                    <a:cubicBezTo>
                      <a:pt x="75946" y="338709"/>
                      <a:pt x="0" y="262890"/>
                      <a:pt x="0" y="169418"/>
                    </a:cubicBezTo>
                    <a:close/>
                  </a:path>
                </a:pathLst>
              </a:custGeom>
              <a:gradFill rotWithShape="1">
                <a:gsLst>
                  <a:gs pos="0">
                    <a:srgbClr val="FF6400">
                      <a:alpha val="100000"/>
                    </a:srgbClr>
                  </a:gs>
                  <a:gs pos="100000">
                    <a:srgbClr val="FFB800">
                      <a:alpha val="100000"/>
                    </a:srgbClr>
                  </a:gs>
                </a:gsLst>
                <a:lin ang="5400000"/>
              </a:gradFill>
            </p:spPr>
          </p:sp>
        </p:grpSp>
        <p:sp>
          <p:nvSpPr>
            <p:cNvPr id="59" name="Freeform 59"/>
            <p:cNvSpPr/>
            <p:nvPr/>
          </p:nvSpPr>
          <p:spPr>
            <a:xfrm>
              <a:off x="3515092" y="4472757"/>
              <a:ext cx="795765" cy="795765"/>
            </a:xfrm>
            <a:custGeom>
              <a:avLst/>
              <a:gdLst/>
              <a:ahLst/>
              <a:cxnLst/>
              <a:rect l="l" t="t" r="r" b="b"/>
              <a:pathLst>
                <a:path w="795765" h="795765">
                  <a:moveTo>
                    <a:pt x="0" y="0"/>
                  </a:moveTo>
                  <a:lnTo>
                    <a:pt x="795766" y="0"/>
                  </a:lnTo>
                  <a:lnTo>
                    <a:pt x="795766" y="795766"/>
                  </a:lnTo>
                  <a:lnTo>
                    <a:pt x="0" y="795766"/>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60" name="Freeform 60"/>
            <p:cNvSpPr/>
            <p:nvPr/>
          </p:nvSpPr>
          <p:spPr>
            <a:xfrm>
              <a:off x="5929090" y="5143500"/>
              <a:ext cx="749395" cy="705835"/>
            </a:xfrm>
            <a:custGeom>
              <a:avLst/>
              <a:gdLst/>
              <a:ahLst/>
              <a:cxnLst/>
              <a:rect l="l" t="t" r="r" b="b"/>
              <a:pathLst>
                <a:path w="785350" h="767679">
                  <a:moveTo>
                    <a:pt x="0" y="0"/>
                  </a:moveTo>
                  <a:lnTo>
                    <a:pt x="785349" y="0"/>
                  </a:lnTo>
                  <a:lnTo>
                    <a:pt x="785349" y="767679"/>
                  </a:lnTo>
                  <a:lnTo>
                    <a:pt x="0" y="767679"/>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61" name="Freeform 61"/>
            <p:cNvSpPr/>
            <p:nvPr/>
          </p:nvSpPr>
          <p:spPr>
            <a:xfrm>
              <a:off x="10773960" y="5107174"/>
              <a:ext cx="530201" cy="775431"/>
            </a:xfrm>
            <a:custGeom>
              <a:avLst/>
              <a:gdLst/>
              <a:ahLst/>
              <a:cxnLst/>
              <a:rect l="l" t="t" r="r" b="b"/>
              <a:pathLst>
                <a:path w="530201" h="775431">
                  <a:moveTo>
                    <a:pt x="0" y="0"/>
                  </a:moveTo>
                  <a:lnTo>
                    <a:pt x="530201" y="0"/>
                  </a:lnTo>
                  <a:lnTo>
                    <a:pt x="530201" y="775430"/>
                  </a:lnTo>
                  <a:lnTo>
                    <a:pt x="0" y="77543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62" name="Freeform 62"/>
            <p:cNvSpPr/>
            <p:nvPr/>
          </p:nvSpPr>
          <p:spPr>
            <a:xfrm>
              <a:off x="14928172" y="4515315"/>
              <a:ext cx="581941" cy="581941"/>
            </a:xfrm>
            <a:custGeom>
              <a:avLst/>
              <a:gdLst/>
              <a:ahLst/>
              <a:cxnLst/>
              <a:rect l="l" t="t" r="r" b="b"/>
              <a:pathLst>
                <a:path w="581941" h="581941">
                  <a:moveTo>
                    <a:pt x="0" y="0"/>
                  </a:moveTo>
                  <a:lnTo>
                    <a:pt x="581941" y="0"/>
                  </a:lnTo>
                  <a:lnTo>
                    <a:pt x="581941" y="581941"/>
                  </a:lnTo>
                  <a:lnTo>
                    <a:pt x="0" y="581941"/>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grpSp>
      <p:sp>
        <p:nvSpPr>
          <p:cNvPr id="63" name="TextBox 63"/>
          <p:cNvSpPr txBox="1"/>
          <p:nvPr/>
        </p:nvSpPr>
        <p:spPr>
          <a:xfrm>
            <a:off x="134494" y="175296"/>
            <a:ext cx="5036962" cy="1073749"/>
          </a:xfrm>
          <a:prstGeom prst="rect">
            <a:avLst/>
          </a:prstGeom>
        </p:spPr>
        <p:txBody>
          <a:bodyPr lIns="0" tIns="0" rIns="0" bIns="0" rtlCol="0" anchor="t">
            <a:spAutoFit/>
          </a:bodyPr>
          <a:lstStyle/>
          <a:p>
            <a:pPr algn="ctr">
              <a:lnSpc>
                <a:spcPts val="4340"/>
              </a:lnSpc>
            </a:pPr>
            <a:r>
              <a:rPr lang="en-US" sz="3100" b="1" spc="-86"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破局关键：信托嵌入</a:t>
            </a:r>
            <a:endParaRPr lang="en-US" sz="3100" b="1" spc="-86"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algn="ctr">
              <a:lnSpc>
                <a:spcPts val="4340"/>
              </a:lnSpc>
              <a:spcBef>
                <a:spcPct val="0"/>
              </a:spcBef>
            </a:pPr>
            <a:r>
              <a:rPr lang="en-US" sz="3100" b="1" spc="-86"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以房养老的底层逻辑</a:t>
            </a:r>
            <a:endParaRPr lang="en-US" sz="3100" b="1" spc="-86"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nvGrpSpPr>
          <p:cNvPr id="72" name="Group 7"/>
          <p:cNvGrpSpPr/>
          <p:nvPr/>
        </p:nvGrpSpPr>
        <p:grpSpPr>
          <a:xfrm>
            <a:off x="-76200" y="8203799"/>
            <a:ext cx="18592800" cy="3307211"/>
            <a:chOff x="129468" y="548748"/>
            <a:chExt cx="25709416" cy="6271664"/>
          </a:xfrm>
        </p:grpSpPr>
        <p:sp>
          <p:nvSpPr>
            <p:cNvPr id="73" name="Freeform 8"/>
            <p:cNvSpPr/>
            <p:nvPr/>
          </p:nvSpPr>
          <p:spPr>
            <a:xfrm rot="149234">
              <a:off x="129468" y="548748"/>
              <a:ext cx="25440000" cy="5922828"/>
            </a:xfrm>
            <a:custGeom>
              <a:avLst/>
              <a:gdLst/>
              <a:ahLst/>
              <a:cxnLst/>
              <a:rect l="l" t="t" r="r" b="b"/>
              <a:pathLst>
                <a:path w="25566632" h="5922828">
                  <a:moveTo>
                    <a:pt x="0" y="0"/>
                  </a:moveTo>
                  <a:lnTo>
                    <a:pt x="25566632" y="0"/>
                  </a:lnTo>
                  <a:lnTo>
                    <a:pt x="25566632" y="5922827"/>
                  </a:lnTo>
                  <a:lnTo>
                    <a:pt x="0" y="5922827"/>
                  </a:lnTo>
                  <a:lnTo>
                    <a:pt x="0" y="0"/>
                  </a:lnTo>
                  <a:close/>
                </a:path>
              </a:pathLst>
            </a:custGeom>
            <a:blipFill>
              <a:blip r:embed="rId19"/>
              <a:stretch>
                <a:fillRect t="-8274" r="-498" b="-8274"/>
              </a:stretch>
            </a:blipFill>
          </p:spPr>
        </p:sp>
        <p:sp>
          <p:nvSpPr>
            <p:cNvPr id="74" name="Freeform 9"/>
            <p:cNvSpPr/>
            <p:nvPr/>
          </p:nvSpPr>
          <p:spPr>
            <a:xfrm rot="250554">
              <a:off x="398884" y="897583"/>
              <a:ext cx="25440000" cy="5922829"/>
            </a:xfrm>
            <a:custGeom>
              <a:avLst/>
              <a:gdLst/>
              <a:ahLst/>
              <a:cxnLst/>
              <a:rect l="l" t="t" r="r" b="b"/>
              <a:pathLst>
                <a:path w="25566632" h="5922828">
                  <a:moveTo>
                    <a:pt x="0" y="0"/>
                  </a:moveTo>
                  <a:lnTo>
                    <a:pt x="25566632" y="0"/>
                  </a:lnTo>
                  <a:lnTo>
                    <a:pt x="25566632" y="5922827"/>
                  </a:lnTo>
                  <a:lnTo>
                    <a:pt x="0" y="5922827"/>
                  </a:lnTo>
                  <a:lnTo>
                    <a:pt x="0" y="0"/>
                  </a:lnTo>
                  <a:close/>
                </a:path>
              </a:pathLst>
            </a:custGeom>
            <a:blipFill>
              <a:blip r:embed="rId20"/>
              <a:stretch>
                <a:fillRect l="-1083" t="-4934" r="585" b="-11614"/>
              </a:stretch>
            </a:blipFill>
          </p:spPr>
        </p:sp>
      </p:grpSp>
      <p:sp>
        <p:nvSpPr>
          <p:cNvPr id="65" name="TextBox 27"/>
          <p:cNvSpPr txBox="1"/>
          <p:nvPr/>
        </p:nvSpPr>
        <p:spPr>
          <a:xfrm>
            <a:off x="10838965" y="1150937"/>
            <a:ext cx="10978224" cy="511810"/>
          </a:xfrm>
          <a:prstGeom prst="rect">
            <a:avLst/>
          </a:prstGeom>
        </p:spPr>
        <p:txBody>
          <a:bodyPr lIns="0" tIns="0" rIns="0" bIns="0" rtlCol="0" anchor="t">
            <a:spAutoFit/>
          </a:bodyPr>
          <a:lstStyle/>
          <a:p>
            <a:pPr algn="l">
              <a:lnSpc>
                <a:spcPts val="3995"/>
              </a:lnSpc>
            </a:pPr>
            <a:r>
              <a:rPr lang="en-US" sz="3700" b="1" spc="369" dirty="0" err="1">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如何解决中国家庭</a:t>
            </a:r>
            <a:endParaRPr lang="en-US" sz="3700" b="1" spc="369" dirty="0">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66" name="AutoShape 25"/>
          <p:cNvSpPr/>
          <p:nvPr/>
        </p:nvSpPr>
        <p:spPr>
          <a:xfrm flipV="1">
            <a:off x="14495640" y="1722153"/>
            <a:ext cx="4114800" cy="0"/>
          </a:xfrm>
          <a:prstGeom prst="line">
            <a:avLst/>
          </a:prstGeom>
          <a:ln w="25400" cap="flat">
            <a:solidFill>
              <a:srgbClr val="EE7E35"/>
            </a:solidFill>
            <a:prstDash val="solid"/>
            <a:headEnd type="none" w="sm" len="sm"/>
            <a:tailEnd type="none" w="sm" len="sm"/>
          </a:ln>
        </p:spPr>
      </p:sp>
      <p:sp>
        <p:nvSpPr>
          <p:cNvPr id="85" name="AutoShape 26"/>
          <p:cNvSpPr/>
          <p:nvPr/>
        </p:nvSpPr>
        <p:spPr>
          <a:xfrm>
            <a:off x="12930314" y="1722153"/>
            <a:ext cx="2026149" cy="0"/>
          </a:xfrm>
          <a:prstGeom prst="line">
            <a:avLst/>
          </a:prstGeom>
          <a:ln w="76200" cap="flat">
            <a:solidFill>
              <a:srgbClr val="EE7E35"/>
            </a:solidFill>
            <a:prstDash val="solid"/>
            <a:headEnd type="none" w="sm" len="sm"/>
            <a:tailEnd type="none" w="sm" len="sm"/>
          </a:ln>
        </p:spPr>
      </p:sp>
      <p:sp>
        <p:nvSpPr>
          <p:cNvPr id="86" name="TextBox 27"/>
          <p:cNvSpPr txBox="1"/>
          <p:nvPr/>
        </p:nvSpPr>
        <p:spPr>
          <a:xfrm>
            <a:off x="11811010" y="1941791"/>
            <a:ext cx="10978224" cy="511810"/>
          </a:xfrm>
          <a:prstGeom prst="rect">
            <a:avLst/>
          </a:prstGeom>
        </p:spPr>
        <p:txBody>
          <a:bodyPr lIns="0" tIns="0" rIns="0" bIns="0" rtlCol="0" anchor="t">
            <a:spAutoFit/>
          </a:bodyPr>
          <a:lstStyle/>
          <a:p>
            <a:pPr algn="l">
              <a:lnSpc>
                <a:spcPts val="3995"/>
              </a:lnSpc>
            </a:pPr>
            <a:r>
              <a:rPr lang="en-US" sz="3700" b="1" spc="369" dirty="0" err="1">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对房产价值托付的信任问题</a:t>
            </a:r>
            <a:r>
              <a:rPr lang="en-US" sz="3700" b="1" spc="369" dirty="0">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a:t>
            </a:r>
            <a:endParaRPr lang="en-US" sz="3700" b="1" spc="369" dirty="0">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87" name="AutoShape 25"/>
          <p:cNvSpPr/>
          <p:nvPr/>
        </p:nvSpPr>
        <p:spPr>
          <a:xfrm flipV="1">
            <a:off x="13504854" y="2592332"/>
            <a:ext cx="6611987" cy="0"/>
          </a:xfrm>
          <a:prstGeom prst="line">
            <a:avLst/>
          </a:prstGeom>
          <a:ln w="25400" cap="flat">
            <a:solidFill>
              <a:srgbClr val="EE7E35"/>
            </a:solidFill>
            <a:prstDash val="solid"/>
            <a:headEnd type="none" w="sm" len="sm"/>
            <a:tailEnd type="none" w="sm" len="sm"/>
          </a:ln>
        </p:spPr>
      </p:sp>
      <p:sp>
        <p:nvSpPr>
          <p:cNvPr id="88" name="AutoShape 26"/>
          <p:cNvSpPr/>
          <p:nvPr/>
        </p:nvSpPr>
        <p:spPr>
          <a:xfrm>
            <a:off x="11806728" y="2592332"/>
            <a:ext cx="2026149" cy="0"/>
          </a:xfrm>
          <a:prstGeom prst="line">
            <a:avLst/>
          </a:prstGeom>
          <a:ln w="76200" cap="flat">
            <a:solidFill>
              <a:srgbClr val="EE7E35"/>
            </a:solidFill>
            <a:prstDash val="solid"/>
            <a:headEnd type="none" w="sm" len="sm"/>
            <a:tailEnd type="none" w="sm" len="sm"/>
          </a:ln>
        </p:spPr>
      </p:sp>
      <p:grpSp>
        <p:nvGrpSpPr>
          <p:cNvPr id="90" name="Group 35"/>
          <p:cNvGrpSpPr/>
          <p:nvPr/>
        </p:nvGrpSpPr>
        <p:grpSpPr>
          <a:xfrm>
            <a:off x="5408956" y="-387419"/>
            <a:ext cx="2112548" cy="1134695"/>
            <a:chOff x="0" y="-123825"/>
            <a:chExt cx="609349" cy="298849"/>
          </a:xfrm>
        </p:grpSpPr>
        <p:sp>
          <p:nvSpPr>
            <p:cNvPr id="97" name="Freeform 3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a:p>
          </p:txBody>
        </p:sp>
        <p:sp>
          <p:nvSpPr>
            <p:cNvPr id="98"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91" name="TextBox 63"/>
          <p:cNvSpPr txBox="1"/>
          <p:nvPr/>
        </p:nvSpPr>
        <p:spPr>
          <a:xfrm>
            <a:off x="7772400" y="173571"/>
            <a:ext cx="2029460"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92" name="TextBox 64"/>
          <p:cNvSpPr txBox="1"/>
          <p:nvPr/>
        </p:nvSpPr>
        <p:spPr>
          <a:xfrm>
            <a:off x="11607729" y="192268"/>
            <a:ext cx="2314575" cy="4616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93" name="TextBox 65"/>
          <p:cNvSpPr txBox="1"/>
          <p:nvPr/>
        </p:nvSpPr>
        <p:spPr>
          <a:xfrm>
            <a:off x="13617504" y="192268"/>
            <a:ext cx="2232413" cy="46164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94" name="TextBox 66"/>
          <p:cNvSpPr txBox="1"/>
          <p:nvPr/>
        </p:nvSpPr>
        <p:spPr>
          <a:xfrm>
            <a:off x="5311704" y="184170"/>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95" name="TextBox 67"/>
          <p:cNvSpPr txBox="1"/>
          <p:nvPr/>
        </p:nvSpPr>
        <p:spPr>
          <a:xfrm>
            <a:off x="9578904" y="185778"/>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96" name="TextBox 65"/>
          <p:cNvSpPr txBox="1"/>
          <p:nvPr/>
        </p:nvSpPr>
        <p:spPr>
          <a:xfrm>
            <a:off x="15581836" y="199629"/>
            <a:ext cx="2232413"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13807" y="0"/>
            <a:ext cx="18315614" cy="10287000"/>
          </a:xfrm>
          <a:prstGeom prst="rect">
            <a:avLst/>
          </a:prstGeom>
        </p:spPr>
      </p:pic>
      <p:grpSp>
        <p:nvGrpSpPr>
          <p:cNvPr id="4" name="Group 8"/>
          <p:cNvGrpSpPr/>
          <p:nvPr/>
        </p:nvGrpSpPr>
        <p:grpSpPr>
          <a:xfrm>
            <a:off x="160070" y="-2829424"/>
            <a:ext cx="5133103" cy="4618309"/>
            <a:chOff x="0" y="0"/>
            <a:chExt cx="6844137" cy="6157745"/>
          </a:xfrm>
        </p:grpSpPr>
        <p:grpSp>
          <p:nvGrpSpPr>
            <p:cNvPr id="5" name="Group 9"/>
            <p:cNvGrpSpPr/>
            <p:nvPr/>
          </p:nvGrpSpPr>
          <p:grpSpPr>
            <a:xfrm rot="215490">
              <a:off x="271581" y="295285"/>
              <a:ext cx="6401327" cy="5667527"/>
              <a:chOff x="0" y="0"/>
              <a:chExt cx="2560354" cy="2266854"/>
            </a:xfrm>
          </p:grpSpPr>
          <p:sp>
            <p:nvSpPr>
              <p:cNvPr id="13" name="Freeform 10"/>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4" name="TextBox 11"/>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6" name="Group 12"/>
            <p:cNvGrpSpPr/>
            <p:nvPr/>
          </p:nvGrpSpPr>
          <p:grpSpPr>
            <a:xfrm rot="215490">
              <a:off x="171229" y="194933"/>
              <a:ext cx="6401327" cy="5667527"/>
              <a:chOff x="0" y="0"/>
              <a:chExt cx="2560354" cy="2266854"/>
            </a:xfrm>
          </p:grpSpPr>
          <p:sp>
            <p:nvSpPr>
              <p:cNvPr id="11" name="Freeform 13"/>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2" name="TextBox 14"/>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7" name="Group 15"/>
            <p:cNvGrpSpPr/>
            <p:nvPr/>
          </p:nvGrpSpPr>
          <p:grpSpPr>
            <a:xfrm>
              <a:off x="124175" y="194933"/>
              <a:ext cx="6401327" cy="5667527"/>
              <a:chOff x="0" y="0"/>
              <a:chExt cx="2560354" cy="2266854"/>
            </a:xfrm>
          </p:grpSpPr>
          <p:sp>
            <p:nvSpPr>
              <p:cNvPr id="9" name="Freeform 1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0" name="TextBox 1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8" name="AutoShape 18"/>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15" name="TextBox 63"/>
          <p:cNvSpPr txBox="1"/>
          <p:nvPr/>
        </p:nvSpPr>
        <p:spPr>
          <a:xfrm>
            <a:off x="170508" y="571500"/>
            <a:ext cx="5036962" cy="508216"/>
          </a:xfrm>
          <a:prstGeom prst="rect">
            <a:avLst/>
          </a:prstGeom>
        </p:spPr>
        <p:txBody>
          <a:bodyPr lIns="0" tIns="0" rIns="0" bIns="0" rtlCol="0" anchor="t">
            <a:spAutoFit/>
          </a:bodyPr>
          <a:lstStyle/>
          <a:p>
            <a:pPr algn="ctr">
              <a:lnSpc>
                <a:spcPts val="4340"/>
              </a:lnSpc>
            </a:pPr>
            <a:r>
              <a:rPr lang="zh-CN" altLang="en-US" sz="3100" b="1" spc="-86"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指导教师</a:t>
            </a:r>
            <a:endParaRPr lang="en-US" sz="3100" b="1" spc="-86"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16" name="Freeform 23"/>
          <p:cNvSpPr/>
          <p:nvPr/>
        </p:nvSpPr>
        <p:spPr>
          <a:xfrm flipH="1">
            <a:off x="160070" y="-71799"/>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2"/>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39662" y="0"/>
            <a:ext cx="18367325" cy="10287000"/>
          </a:xfrm>
          <a:prstGeom prst="rect">
            <a:avLst/>
          </a:prstGeom>
        </p:spPr>
      </p:pic>
      <p:grpSp>
        <p:nvGrpSpPr>
          <p:cNvPr id="4" name="Group 8"/>
          <p:cNvGrpSpPr/>
          <p:nvPr/>
        </p:nvGrpSpPr>
        <p:grpSpPr>
          <a:xfrm>
            <a:off x="160070" y="-2829424"/>
            <a:ext cx="5133103" cy="4618309"/>
            <a:chOff x="0" y="0"/>
            <a:chExt cx="6844137" cy="6157745"/>
          </a:xfrm>
        </p:grpSpPr>
        <p:grpSp>
          <p:nvGrpSpPr>
            <p:cNvPr id="5" name="Group 9"/>
            <p:cNvGrpSpPr/>
            <p:nvPr/>
          </p:nvGrpSpPr>
          <p:grpSpPr>
            <a:xfrm rot="215490">
              <a:off x="271581" y="295285"/>
              <a:ext cx="6401327" cy="5667527"/>
              <a:chOff x="0" y="0"/>
              <a:chExt cx="2560354" cy="2266854"/>
            </a:xfrm>
          </p:grpSpPr>
          <p:sp>
            <p:nvSpPr>
              <p:cNvPr id="13" name="Freeform 10"/>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4" name="TextBox 11"/>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6" name="Group 12"/>
            <p:cNvGrpSpPr/>
            <p:nvPr/>
          </p:nvGrpSpPr>
          <p:grpSpPr>
            <a:xfrm rot="215490">
              <a:off x="171229" y="194933"/>
              <a:ext cx="6401327" cy="5667527"/>
              <a:chOff x="0" y="0"/>
              <a:chExt cx="2560354" cy="2266854"/>
            </a:xfrm>
          </p:grpSpPr>
          <p:sp>
            <p:nvSpPr>
              <p:cNvPr id="11" name="Freeform 13"/>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2" name="TextBox 14"/>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7" name="Group 15"/>
            <p:cNvGrpSpPr/>
            <p:nvPr/>
          </p:nvGrpSpPr>
          <p:grpSpPr>
            <a:xfrm>
              <a:off x="124175" y="194933"/>
              <a:ext cx="6401327" cy="5667527"/>
              <a:chOff x="0" y="0"/>
              <a:chExt cx="2560354" cy="2266854"/>
            </a:xfrm>
          </p:grpSpPr>
          <p:sp>
            <p:nvSpPr>
              <p:cNvPr id="9" name="Freeform 1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0" name="TextBox 1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8" name="AutoShape 18"/>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15" name="TextBox 63"/>
          <p:cNvSpPr txBox="1"/>
          <p:nvPr/>
        </p:nvSpPr>
        <p:spPr>
          <a:xfrm>
            <a:off x="170508" y="571500"/>
            <a:ext cx="5036962" cy="508216"/>
          </a:xfrm>
          <a:prstGeom prst="rect">
            <a:avLst/>
          </a:prstGeom>
        </p:spPr>
        <p:txBody>
          <a:bodyPr lIns="0" tIns="0" rIns="0" bIns="0" rtlCol="0" anchor="t">
            <a:spAutoFit/>
          </a:bodyPr>
          <a:lstStyle/>
          <a:p>
            <a:pPr algn="ctr">
              <a:lnSpc>
                <a:spcPts val="4340"/>
              </a:lnSpc>
            </a:pPr>
            <a:r>
              <a:rPr lang="zh-CN" altLang="en-US" sz="3100" b="1" spc="-86"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合作方</a:t>
            </a:r>
            <a:endParaRPr lang="en-US" sz="3100" b="1" spc="-86"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16" name="Freeform 23"/>
          <p:cNvSpPr/>
          <p:nvPr/>
        </p:nvSpPr>
        <p:spPr>
          <a:xfrm flipH="1">
            <a:off x="160070" y="-71799"/>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2"/>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95400" y="1409700"/>
            <a:ext cx="8993505" cy="3692525"/>
          </a:xfrm>
          <a:prstGeom prst="rect">
            <a:avLst/>
          </a:prstGeom>
          <a:noFill/>
        </p:spPr>
        <p:txBody>
          <a:bodyPr wrap="square" rtlCol="0">
            <a:spAutoFit/>
          </a:bodyPr>
          <a:lstStyle/>
          <a:p>
            <a:r>
              <a:rPr lang="zh-CN" altLang="en-US" dirty="0"/>
              <a:t>前两页是这么和美工提要求的：把和上海信托合作的内容加到至少一页</a:t>
            </a:r>
            <a:r>
              <a:rPr lang="en-US" altLang="zh-CN" dirty="0"/>
              <a:t> PPT </a:t>
            </a:r>
            <a:r>
              <a:rPr lang="zh-CN" altLang="en-US" dirty="0"/>
              <a:t>里，包括合作书封面，</a:t>
            </a:r>
            <a:r>
              <a:rPr lang="en-US" altLang="zh-CN" dirty="0"/>
              <a:t>7</a:t>
            </a:r>
            <a:r>
              <a:rPr lang="zh-CN" altLang="en-US" dirty="0"/>
              <a:t>月份开会黎逸帆、佳禾发的开会图片，文案你可以根据这个</a:t>
            </a:r>
            <a:r>
              <a:rPr lang="en-US" altLang="zh-CN" dirty="0"/>
              <a:t>0727</a:t>
            </a:r>
            <a:r>
              <a:rPr lang="zh-CN" altLang="en-US" dirty="0"/>
              <a:t>会议纪要自己拟一下，图文都是为了证明我们有官方企业背景支撑</a:t>
            </a:r>
            <a:endParaRPr lang="zh-CN" altLang="en-US" dirty="0"/>
          </a:p>
          <a:p>
            <a:endParaRPr lang="zh-CN" altLang="en-US" dirty="0"/>
          </a:p>
          <a:p>
            <a:r>
              <a:rPr lang="zh-CN" altLang="en-US" dirty="0"/>
              <a:t>三个主体展示（没思路的话可以参考后面几页</a:t>
            </a:r>
            <a:r>
              <a:rPr lang="en-US" altLang="zh-CN" dirty="0"/>
              <a:t>PPT</a:t>
            </a:r>
            <a:r>
              <a:rPr lang="zh-CN" altLang="en-US" dirty="0"/>
              <a:t>）</a:t>
            </a:r>
            <a:endParaRPr lang="zh-CN" altLang="en-US" dirty="0"/>
          </a:p>
          <a:p>
            <a:r>
              <a:rPr lang="zh-CN" altLang="en-US" dirty="0"/>
              <a:t>（</a:t>
            </a:r>
            <a:r>
              <a:rPr lang="en-US" altLang="zh-CN" dirty="0"/>
              <a:t>1</a:t>
            </a:r>
            <a:r>
              <a:rPr lang="zh-CN" altLang="en-US" dirty="0"/>
              <a:t>）我们自己，来自</a:t>
            </a:r>
            <a:r>
              <a:rPr lang="zh-CN" altLang="en-US" dirty="0">
                <a:sym typeface="+mn-ea"/>
              </a:rPr>
              <a:t>普惠养老金融中心，去网上</a:t>
            </a:r>
            <a:r>
              <a:rPr lang="en-US" altLang="zh-CN" dirty="0">
                <a:sym typeface="+mn-ea"/>
              </a:rPr>
              <a:t>/</a:t>
            </a:r>
            <a:r>
              <a:rPr lang="zh-CN" altLang="en-US" dirty="0">
                <a:sym typeface="+mn-ea"/>
              </a:rPr>
              <a:t>官方公众号找一些介绍</a:t>
            </a:r>
            <a:r>
              <a:rPr lang="en-US" altLang="zh-CN" dirty="0">
                <a:sym typeface="+mn-ea"/>
              </a:rPr>
              <a:t>/</a:t>
            </a:r>
            <a:r>
              <a:rPr lang="zh-CN" altLang="en-US" dirty="0">
                <a:sym typeface="+mn-ea"/>
              </a:rPr>
              <a:t>照片，突出路锦非、钱林义、陈力闻，钱老师的照片下一页有了，需要在官网找一下路院长和陈老师的图片</a:t>
            </a:r>
            <a:endParaRPr lang="zh-CN" altLang="en-US" dirty="0"/>
          </a:p>
          <a:p>
            <a:r>
              <a:rPr lang="zh-CN" altLang="en-US" dirty="0"/>
              <a:t>（</a:t>
            </a:r>
            <a:r>
              <a:rPr lang="en-US" altLang="zh-CN" dirty="0"/>
              <a:t>2</a:t>
            </a:r>
            <a:r>
              <a:rPr lang="zh-CN" altLang="en-US" dirty="0"/>
              <a:t>）我们的合作方：上海信托，统计局，要搜一下全称、</a:t>
            </a:r>
            <a:r>
              <a:rPr lang="en-US" altLang="zh-CN" dirty="0"/>
              <a:t>LOGO</a:t>
            </a:r>
            <a:r>
              <a:rPr lang="zh-CN" altLang="en-US" dirty="0"/>
              <a:t>或者标准建筑物，然后解释一下他们的诉求，画饼我们的东西可以很快落地</a:t>
            </a:r>
            <a:endParaRPr lang="zh-CN" altLang="en-US" dirty="0"/>
          </a:p>
          <a:p>
            <a:r>
              <a:rPr lang="zh-CN" altLang="en-US" dirty="0"/>
              <a:t>上海信托</a:t>
            </a:r>
            <a:r>
              <a:rPr lang="en-US" altLang="zh-CN" dirty="0"/>
              <a:t>——</a:t>
            </a:r>
            <a:r>
              <a:rPr lang="zh-CN" altLang="en-US" dirty="0"/>
              <a:t>商业模式探索：超越单纯的立法建议，将调研成果转化为未来商业模式的落地依据，服务于上海信托的战略发展。</a:t>
            </a:r>
            <a:endParaRPr lang="zh-CN" altLang="en-US" dirty="0"/>
          </a:p>
          <a:p>
            <a:r>
              <a:rPr lang="zh-CN" altLang="en-US" dirty="0"/>
              <a:t>统计局</a:t>
            </a:r>
            <a:r>
              <a:rPr lang="en-US" altLang="zh-CN" dirty="0"/>
              <a:t>——1</a:t>
            </a:r>
            <a:r>
              <a:rPr lang="zh-CN" altLang="en-US" dirty="0"/>
              <a:t>月份要就是想把它放到统计局的政府工作报告里面</a:t>
            </a:r>
            <a:endParaRPr lang="zh-CN" altLang="en-US" dirty="0"/>
          </a:p>
        </p:txBody>
      </p:sp>
      <p:pic>
        <p:nvPicPr>
          <p:cNvPr id="3" name="图片 2"/>
          <p:cNvPicPr>
            <a:picLocks noChangeAspect="1"/>
          </p:cNvPicPr>
          <p:nvPr/>
        </p:nvPicPr>
        <p:blipFill>
          <a:blip r:embed="rId1"/>
          <a:stretch>
            <a:fillRect/>
          </a:stretch>
        </p:blipFill>
        <p:spPr>
          <a:xfrm>
            <a:off x="11277600" y="495300"/>
            <a:ext cx="6019799" cy="8289742"/>
          </a:xfrm>
          <a:prstGeom prst="rect">
            <a:avLst/>
          </a:prstGeom>
        </p:spPr>
      </p:pic>
      <p:sp>
        <p:nvSpPr>
          <p:cNvPr id="4" name="文本框 3"/>
          <p:cNvSpPr txBox="1"/>
          <p:nvPr/>
        </p:nvSpPr>
        <p:spPr>
          <a:xfrm>
            <a:off x="3601085" y="8109585"/>
            <a:ext cx="6096000" cy="368300"/>
          </a:xfrm>
          <a:prstGeom prst="rect">
            <a:avLst/>
          </a:prstGeom>
          <a:noFill/>
        </p:spPr>
        <p:txBody>
          <a:bodyPr wrap="square" rtlCol="0">
            <a:spAutoFit/>
          </a:bodyPr>
          <a:p>
            <a:r>
              <a:rPr lang="zh-CN" altLang="en-US"/>
              <a:t>抽样和合作文档展示。最好有发问卷的</a:t>
            </a:r>
            <a:r>
              <a:rPr lang="zh-CN" altLang="en-US"/>
              <a:t>照片</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a:off x="7010590" y="645675"/>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2">
              <a:alphaModFix amt="15000"/>
            </a:blip>
            <a:stretch>
              <a:fillRect r="-20235"/>
            </a:stretch>
          </a:blipFill>
          <a:ln w="19050" cap="sq">
            <a:solidFill>
              <a:srgbClr val="FCFBF9">
                <a:alpha val="14902"/>
              </a:srgbClr>
            </a:solidFill>
            <a:prstDash val="solid"/>
            <a:miter/>
          </a:ln>
        </p:spPr>
        <p:txBody>
          <a:bodyPr/>
          <a:lstStyle/>
          <a:p>
            <a:endParaRPr lang="zh-CN" altLang="en-US" dirty="0"/>
          </a:p>
        </p:txBody>
      </p:sp>
      <p:sp>
        <p:nvSpPr>
          <p:cNvPr id="4" name="Freeform 4"/>
          <p:cNvSpPr/>
          <p:nvPr/>
        </p:nvSpPr>
        <p:spPr>
          <a:xfrm>
            <a:off x="-577587" y="5143500"/>
            <a:ext cx="19443174" cy="5606115"/>
          </a:xfrm>
          <a:custGeom>
            <a:avLst/>
            <a:gdLst/>
            <a:ahLst/>
            <a:cxnLst/>
            <a:rect l="l" t="t" r="r" b="b"/>
            <a:pathLst>
              <a:path w="19443174" h="5606115">
                <a:moveTo>
                  <a:pt x="0" y="0"/>
                </a:moveTo>
                <a:lnTo>
                  <a:pt x="19443174" y="0"/>
                </a:lnTo>
                <a:lnTo>
                  <a:pt x="19443174" y="5606115"/>
                </a:lnTo>
                <a:lnTo>
                  <a:pt x="0" y="5606115"/>
                </a:lnTo>
                <a:lnTo>
                  <a:pt x="0" y="0"/>
                </a:lnTo>
                <a:close/>
              </a:path>
            </a:pathLst>
          </a:custGeom>
          <a:blipFill>
            <a:blip r:embed="rId3"/>
            <a:stretch>
              <a:fillRect/>
            </a:stretch>
          </a:blipFill>
        </p:spPr>
      </p:sp>
      <p:sp>
        <p:nvSpPr>
          <p:cNvPr id="11" name="Freeform 11"/>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4"/>
            <a:stretch>
              <a:fillRect t="-883"/>
            </a:stretch>
          </a:blipFill>
        </p:spPr>
      </p:sp>
      <p:grpSp>
        <p:nvGrpSpPr>
          <p:cNvPr id="12" name="Group 12"/>
          <p:cNvGrpSpPr/>
          <p:nvPr/>
        </p:nvGrpSpPr>
        <p:grpSpPr>
          <a:xfrm>
            <a:off x="160070" y="-2324100"/>
            <a:ext cx="5133103" cy="4112985"/>
            <a:chOff x="0" y="0"/>
            <a:chExt cx="6844137" cy="6157745"/>
          </a:xfrm>
        </p:grpSpPr>
        <p:grpSp>
          <p:nvGrpSpPr>
            <p:cNvPr id="13" name="Group 13"/>
            <p:cNvGrpSpPr/>
            <p:nvPr/>
          </p:nvGrpSpPr>
          <p:grpSpPr>
            <a:xfrm rot="215490">
              <a:off x="271581" y="295285"/>
              <a:ext cx="6401327" cy="5667527"/>
              <a:chOff x="0" y="0"/>
              <a:chExt cx="2560354" cy="2266854"/>
            </a:xfrm>
          </p:grpSpPr>
          <p:sp>
            <p:nvSpPr>
              <p:cNvPr id="14" name="Freeform 14"/>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5" name="TextBox 15"/>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6" name="Group 16"/>
            <p:cNvGrpSpPr/>
            <p:nvPr/>
          </p:nvGrpSpPr>
          <p:grpSpPr>
            <a:xfrm rot="215490">
              <a:off x="171229" y="194933"/>
              <a:ext cx="6401327" cy="5667527"/>
              <a:chOff x="0" y="0"/>
              <a:chExt cx="2560354" cy="2266854"/>
            </a:xfrm>
          </p:grpSpPr>
          <p:sp>
            <p:nvSpPr>
              <p:cNvPr id="17" name="Freeform 17"/>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8" name="TextBox 18"/>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9" name="Group 19"/>
            <p:cNvGrpSpPr/>
            <p:nvPr/>
          </p:nvGrpSpPr>
          <p:grpSpPr>
            <a:xfrm>
              <a:off x="124175" y="194933"/>
              <a:ext cx="6401327" cy="5667527"/>
              <a:chOff x="0" y="0"/>
              <a:chExt cx="2560354" cy="2266854"/>
            </a:xfrm>
          </p:grpSpPr>
          <p:sp>
            <p:nvSpPr>
              <p:cNvPr id="20" name="Freeform 20"/>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21" name="TextBox 21"/>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22" name="AutoShape 22"/>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23" name="Freeform 23"/>
          <p:cNvSpPr/>
          <p:nvPr/>
        </p:nvSpPr>
        <p:spPr>
          <a:xfrm>
            <a:off x="15467157" y="8362347"/>
            <a:ext cx="2066560" cy="1119700"/>
          </a:xfrm>
          <a:custGeom>
            <a:avLst/>
            <a:gdLst/>
            <a:ahLst/>
            <a:cxnLst/>
            <a:rect l="l" t="t" r="r" b="b"/>
            <a:pathLst>
              <a:path w="2066560" h="1119700">
                <a:moveTo>
                  <a:pt x="0" y="0"/>
                </a:moveTo>
                <a:lnTo>
                  <a:pt x="2066560" y="0"/>
                </a:lnTo>
                <a:lnTo>
                  <a:pt x="2066560" y="1119700"/>
                </a:lnTo>
                <a:lnTo>
                  <a:pt x="0" y="1119700"/>
                </a:lnTo>
                <a:lnTo>
                  <a:pt x="0" y="0"/>
                </a:lnTo>
                <a:close/>
              </a:path>
            </a:pathLst>
          </a:custGeom>
          <a:blipFill>
            <a:blip r:embed="rId5">
              <a:alphaModFix amt="59000"/>
              <a:extLst>
                <a:ext uri="{96DAC541-7B7A-43D3-8B79-37D633B846F1}">
                  <asvg:svgBlip xmlns:asvg="http://schemas.microsoft.com/office/drawing/2016/SVG/main" r:embed="rId6"/>
                </a:ext>
              </a:extLst>
            </a:blip>
            <a:stretch>
              <a:fillRect/>
            </a:stretch>
          </a:blipFill>
        </p:spPr>
      </p:sp>
      <p:sp>
        <p:nvSpPr>
          <p:cNvPr id="27" name="Freeform 27"/>
          <p:cNvSpPr/>
          <p:nvPr/>
        </p:nvSpPr>
        <p:spPr>
          <a:xfrm flipH="1">
            <a:off x="160070" y="-71799"/>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7"/>
            <a:stretch>
              <a:fillRect/>
            </a:stretch>
          </a:blipFill>
        </p:spPr>
      </p:sp>
      <p:sp>
        <p:nvSpPr>
          <p:cNvPr id="28" name="TextBox 28"/>
          <p:cNvSpPr txBox="1"/>
          <p:nvPr/>
        </p:nvSpPr>
        <p:spPr>
          <a:xfrm>
            <a:off x="294888" y="360232"/>
            <a:ext cx="4728527" cy="679414"/>
          </a:xfrm>
          <a:prstGeom prst="rect">
            <a:avLst/>
          </a:prstGeom>
        </p:spPr>
        <p:txBody>
          <a:bodyPr lIns="0" tIns="0" rIns="0" bIns="0" rtlCol="0" anchor="t">
            <a:spAutoFit/>
          </a:bodyPr>
          <a:lstStyle/>
          <a:p>
            <a:pPr algn="ctr">
              <a:lnSpc>
                <a:spcPts val="5600"/>
              </a:lnSpc>
              <a:spcBef>
                <a:spcPct val="0"/>
              </a:spcBef>
            </a:pPr>
            <a:r>
              <a:rPr lang="en-US" sz="4000" b="1" spc="-111"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三大核心问题</a:t>
            </a:r>
            <a:endParaRPr 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nvGrpSpPr>
          <p:cNvPr id="61" name="组合 60"/>
          <p:cNvGrpSpPr/>
          <p:nvPr/>
        </p:nvGrpSpPr>
        <p:grpSpPr>
          <a:xfrm>
            <a:off x="12609644" y="4555101"/>
            <a:ext cx="5777728" cy="5638459"/>
            <a:chOff x="12746477" y="6226990"/>
            <a:chExt cx="3664451" cy="3576121"/>
          </a:xfrm>
        </p:grpSpPr>
        <p:grpSp>
          <p:nvGrpSpPr>
            <p:cNvPr id="47" name="Group 47"/>
            <p:cNvGrpSpPr/>
            <p:nvPr/>
          </p:nvGrpSpPr>
          <p:grpSpPr>
            <a:xfrm>
              <a:off x="13076334" y="6629693"/>
              <a:ext cx="2965511" cy="2965511"/>
              <a:chOff x="0" y="0"/>
              <a:chExt cx="812800" cy="812800"/>
            </a:xfrm>
          </p:grpSpPr>
          <p:sp>
            <p:nvSpPr>
              <p:cNvPr id="48" name="Freeform 4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EE7E35">
                      <a:alpha val="100000"/>
                    </a:srgbClr>
                  </a:gs>
                  <a:gs pos="100000">
                    <a:srgbClr val="E9A988">
                      <a:alpha val="66000"/>
                    </a:srgbClr>
                  </a:gs>
                </a:gsLst>
                <a:lin ang="0"/>
              </a:gradFill>
            </p:spPr>
          </p:sp>
        </p:grpSp>
        <p:grpSp>
          <p:nvGrpSpPr>
            <p:cNvPr id="49" name="Group 49"/>
            <p:cNvGrpSpPr>
              <a:grpSpLocks noChangeAspect="1"/>
            </p:cNvGrpSpPr>
            <p:nvPr/>
          </p:nvGrpSpPr>
          <p:grpSpPr>
            <a:xfrm rot="1687773">
              <a:off x="14654963" y="6604708"/>
              <a:ext cx="1128359" cy="2271864"/>
              <a:chOff x="0" y="0"/>
              <a:chExt cx="9461500" cy="19050000"/>
            </a:xfrm>
          </p:grpSpPr>
          <p:sp>
            <p:nvSpPr>
              <p:cNvPr id="50" name="Freeform 50"/>
              <p:cNvSpPr/>
              <p:nvPr/>
            </p:nvSpPr>
            <p:spPr>
              <a:xfrm>
                <a:off x="400304" y="312801"/>
                <a:ext cx="8650859" cy="18424398"/>
              </a:xfrm>
              <a:custGeom>
                <a:avLst/>
                <a:gdLst/>
                <a:ahLst/>
                <a:cxnLst/>
                <a:rect l="l" t="t" r="r" b="b"/>
                <a:pathLst>
                  <a:path w="8650859" h="18424398">
                    <a:moveTo>
                      <a:pt x="7532370" y="18424398"/>
                    </a:moveTo>
                    <a:lnTo>
                      <a:pt x="1118489" y="18424398"/>
                    </a:lnTo>
                    <a:cubicBezTo>
                      <a:pt x="500761" y="18424398"/>
                      <a:pt x="0" y="17923636"/>
                      <a:pt x="0" y="17305910"/>
                    </a:cubicBezTo>
                    <a:lnTo>
                      <a:pt x="0" y="1118489"/>
                    </a:lnTo>
                    <a:cubicBezTo>
                      <a:pt x="0" y="500761"/>
                      <a:pt x="500761" y="0"/>
                      <a:pt x="1118489" y="0"/>
                    </a:cubicBezTo>
                    <a:lnTo>
                      <a:pt x="7532370" y="0"/>
                    </a:lnTo>
                    <a:cubicBezTo>
                      <a:pt x="8150098" y="0"/>
                      <a:pt x="8650859" y="500761"/>
                      <a:pt x="8650859" y="1118489"/>
                    </a:cubicBezTo>
                    <a:lnTo>
                      <a:pt x="8650859" y="17305910"/>
                    </a:lnTo>
                    <a:cubicBezTo>
                      <a:pt x="8650732" y="17923636"/>
                      <a:pt x="8150098" y="18424398"/>
                      <a:pt x="7532370" y="18424398"/>
                    </a:cubicBezTo>
                    <a:close/>
                  </a:path>
                </a:pathLst>
              </a:custGeom>
              <a:blipFill>
                <a:blip r:embed="rId8"/>
                <a:stretch>
                  <a:fillRect l="-84486" t="-28505" r="-233987" b="-2403"/>
                </a:stretch>
              </a:blipFill>
            </p:spPr>
          </p:sp>
          <p:sp>
            <p:nvSpPr>
              <p:cNvPr id="51" name="Freeform 51"/>
              <p:cNvSpPr/>
              <p:nvPr/>
            </p:nvSpPr>
            <p:spPr>
              <a:xfrm>
                <a:off x="0" y="0"/>
                <a:ext cx="9461500" cy="19050000"/>
              </a:xfrm>
              <a:custGeom>
                <a:avLst/>
                <a:gdLst/>
                <a:ahLst/>
                <a:cxnLst/>
                <a:rect l="l" t="t" r="r" b="b"/>
                <a:pathLst>
                  <a:path w="9461500" h="19050000">
                    <a:moveTo>
                      <a:pt x="9461500" y="19050000"/>
                    </a:moveTo>
                    <a:lnTo>
                      <a:pt x="0" y="19050000"/>
                    </a:lnTo>
                    <a:lnTo>
                      <a:pt x="0" y="0"/>
                    </a:lnTo>
                    <a:lnTo>
                      <a:pt x="9461500" y="0"/>
                    </a:lnTo>
                    <a:lnTo>
                      <a:pt x="9461500" y="19050000"/>
                    </a:lnTo>
                    <a:close/>
                  </a:path>
                </a:pathLst>
              </a:custGeom>
              <a:blipFill>
                <a:blip r:embed="rId9"/>
                <a:stretch>
                  <a:fillRect l="-83" r="-83"/>
                </a:stretch>
              </a:blipFill>
            </p:spPr>
          </p:sp>
        </p:grpSp>
        <p:grpSp>
          <p:nvGrpSpPr>
            <p:cNvPr id="52" name="Group 52"/>
            <p:cNvGrpSpPr>
              <a:grpSpLocks noChangeAspect="1"/>
            </p:cNvGrpSpPr>
            <p:nvPr/>
          </p:nvGrpSpPr>
          <p:grpSpPr>
            <a:xfrm rot="-510612">
              <a:off x="13363639" y="7275129"/>
              <a:ext cx="1255565" cy="2527982"/>
              <a:chOff x="0" y="0"/>
              <a:chExt cx="9461500" cy="19050000"/>
            </a:xfrm>
          </p:grpSpPr>
          <p:sp>
            <p:nvSpPr>
              <p:cNvPr id="53" name="Freeform 53"/>
              <p:cNvSpPr/>
              <p:nvPr/>
            </p:nvSpPr>
            <p:spPr>
              <a:xfrm>
                <a:off x="400304" y="312801"/>
                <a:ext cx="8650859" cy="18424398"/>
              </a:xfrm>
              <a:custGeom>
                <a:avLst/>
                <a:gdLst/>
                <a:ahLst/>
                <a:cxnLst/>
                <a:rect l="l" t="t" r="r" b="b"/>
                <a:pathLst>
                  <a:path w="8650859" h="18424398">
                    <a:moveTo>
                      <a:pt x="7532370" y="18424398"/>
                    </a:moveTo>
                    <a:lnTo>
                      <a:pt x="1118489" y="18424398"/>
                    </a:lnTo>
                    <a:cubicBezTo>
                      <a:pt x="500761" y="18424398"/>
                      <a:pt x="0" y="17923636"/>
                      <a:pt x="0" y="17305910"/>
                    </a:cubicBezTo>
                    <a:lnTo>
                      <a:pt x="0" y="1118489"/>
                    </a:lnTo>
                    <a:cubicBezTo>
                      <a:pt x="0" y="500761"/>
                      <a:pt x="500761" y="0"/>
                      <a:pt x="1118489" y="0"/>
                    </a:cubicBezTo>
                    <a:lnTo>
                      <a:pt x="7532370" y="0"/>
                    </a:lnTo>
                    <a:cubicBezTo>
                      <a:pt x="8150098" y="0"/>
                      <a:pt x="8650859" y="500761"/>
                      <a:pt x="8650859" y="1118489"/>
                    </a:cubicBezTo>
                    <a:lnTo>
                      <a:pt x="8650859" y="17305910"/>
                    </a:lnTo>
                    <a:cubicBezTo>
                      <a:pt x="8650732" y="17923636"/>
                      <a:pt x="8150098" y="18424398"/>
                      <a:pt x="7532370" y="18424398"/>
                    </a:cubicBezTo>
                    <a:close/>
                  </a:path>
                </a:pathLst>
              </a:custGeom>
              <a:blipFill>
                <a:blip r:embed="rId10"/>
                <a:stretch>
                  <a:fillRect l="-36323" r="-5661"/>
                </a:stretch>
              </a:blipFill>
            </p:spPr>
          </p:sp>
          <p:sp>
            <p:nvSpPr>
              <p:cNvPr id="54" name="Freeform 54"/>
              <p:cNvSpPr/>
              <p:nvPr/>
            </p:nvSpPr>
            <p:spPr>
              <a:xfrm>
                <a:off x="0" y="0"/>
                <a:ext cx="9461500" cy="19050000"/>
              </a:xfrm>
              <a:custGeom>
                <a:avLst/>
                <a:gdLst/>
                <a:ahLst/>
                <a:cxnLst/>
                <a:rect l="l" t="t" r="r" b="b"/>
                <a:pathLst>
                  <a:path w="9461500" h="19050000">
                    <a:moveTo>
                      <a:pt x="9461500" y="19050000"/>
                    </a:moveTo>
                    <a:lnTo>
                      <a:pt x="0" y="19050000"/>
                    </a:lnTo>
                    <a:lnTo>
                      <a:pt x="0" y="0"/>
                    </a:lnTo>
                    <a:lnTo>
                      <a:pt x="9461500" y="0"/>
                    </a:lnTo>
                    <a:lnTo>
                      <a:pt x="9461500" y="19050000"/>
                    </a:lnTo>
                    <a:close/>
                  </a:path>
                </a:pathLst>
              </a:custGeom>
              <a:blipFill>
                <a:blip r:embed="rId9"/>
                <a:stretch>
                  <a:fillRect l="-83" r="-83"/>
                </a:stretch>
              </a:blipFill>
            </p:spPr>
          </p:sp>
        </p:grpSp>
        <p:grpSp>
          <p:nvGrpSpPr>
            <p:cNvPr id="55" name="Group 55"/>
            <p:cNvGrpSpPr/>
            <p:nvPr/>
          </p:nvGrpSpPr>
          <p:grpSpPr>
            <a:xfrm>
              <a:off x="13005657" y="6226990"/>
              <a:ext cx="141353" cy="141353"/>
              <a:chOff x="0" y="0"/>
              <a:chExt cx="812800" cy="812800"/>
            </a:xfrm>
          </p:grpSpPr>
          <p:sp>
            <p:nvSpPr>
              <p:cNvPr id="56" name="Freeform 5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EE7E35">
                      <a:alpha val="100000"/>
                    </a:srgbClr>
                  </a:gs>
                  <a:gs pos="100000">
                    <a:srgbClr val="E9A988">
                      <a:alpha val="46000"/>
                    </a:srgbClr>
                  </a:gs>
                </a:gsLst>
                <a:lin ang="2700000"/>
              </a:gradFill>
            </p:spPr>
          </p:sp>
        </p:grpSp>
        <p:grpSp>
          <p:nvGrpSpPr>
            <p:cNvPr id="57" name="Group 57"/>
            <p:cNvGrpSpPr/>
            <p:nvPr/>
          </p:nvGrpSpPr>
          <p:grpSpPr>
            <a:xfrm>
              <a:off x="12746477" y="8700253"/>
              <a:ext cx="212030" cy="212030"/>
              <a:chOff x="-722613" y="-1170585"/>
              <a:chExt cx="812800" cy="812800"/>
            </a:xfrm>
          </p:grpSpPr>
          <p:sp>
            <p:nvSpPr>
              <p:cNvPr id="58" name="Freeform 58"/>
              <p:cNvSpPr/>
              <p:nvPr/>
            </p:nvSpPr>
            <p:spPr>
              <a:xfrm>
                <a:off x="-722613" y="-1170585"/>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EE7E35">
                      <a:alpha val="44000"/>
                    </a:srgbClr>
                  </a:gs>
                  <a:gs pos="100000">
                    <a:srgbClr val="E9A988">
                      <a:alpha val="20240"/>
                    </a:srgbClr>
                  </a:gs>
                </a:gsLst>
                <a:lin ang="2700000"/>
              </a:gradFill>
            </p:spPr>
          </p:sp>
        </p:grpSp>
        <p:grpSp>
          <p:nvGrpSpPr>
            <p:cNvPr id="59" name="Group 59"/>
            <p:cNvGrpSpPr/>
            <p:nvPr/>
          </p:nvGrpSpPr>
          <p:grpSpPr>
            <a:xfrm>
              <a:off x="16013898" y="6452188"/>
              <a:ext cx="397030" cy="397030"/>
              <a:chOff x="-1463183" y="-1824919"/>
              <a:chExt cx="812800" cy="812800"/>
            </a:xfrm>
          </p:grpSpPr>
          <p:sp>
            <p:nvSpPr>
              <p:cNvPr id="60" name="Freeform 60"/>
              <p:cNvSpPr/>
              <p:nvPr/>
            </p:nvSpPr>
            <p:spPr>
              <a:xfrm>
                <a:off x="-1463183" y="-1824919"/>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EE7E35">
                      <a:alpha val="49000"/>
                    </a:srgbClr>
                  </a:gs>
                  <a:gs pos="100000">
                    <a:srgbClr val="E9A988">
                      <a:alpha val="22540"/>
                    </a:srgbClr>
                  </a:gs>
                </a:gsLst>
                <a:lin ang="2700000"/>
              </a:gradFill>
            </p:spPr>
          </p:sp>
        </p:grpSp>
      </p:grpSp>
      <p:sp>
        <p:nvSpPr>
          <p:cNvPr id="5" name="圆角矩形标注 34"/>
          <p:cNvSpPr/>
          <p:nvPr/>
        </p:nvSpPr>
        <p:spPr>
          <a:xfrm>
            <a:off x="11050905" y="3246120"/>
            <a:ext cx="5835650" cy="2107565"/>
          </a:xfrm>
          <a:prstGeom prst="wedgeRoundRectCallout">
            <a:avLst/>
          </a:prstGeom>
          <a:gradFill>
            <a:gsLst>
              <a:gs pos="0">
                <a:srgbClr val="FBAF03"/>
              </a:gs>
              <a:gs pos="81000">
                <a:srgbClr val="FE6719"/>
              </a:gs>
              <a:gs pos="35000">
                <a:srgbClr val="FF8C0B"/>
              </a:gs>
            </a:gsLst>
            <a:lin ang="18900000" scaled="0"/>
          </a:gra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3600" b="1" i="1" dirty="0">
                <a:solidFill>
                  <a:schemeClr val="bg1"/>
                </a:solidFill>
                <a:latin typeface="微软雅黑" panose="020B0503020204020204" pitchFamily="34" charset="-122"/>
                <a:ea typeface="微软雅黑" panose="020B0503020204020204" pitchFamily="34" charset="-122"/>
                <a:sym typeface="+mn-ea"/>
              </a:rPr>
              <a:t>如何利用数字化手段降低信托资产的长期运维与管理成本</a:t>
            </a:r>
            <a:endParaRPr lang="zh-CN" altLang="en-US" sz="3600" b="1" i="1" dirty="0">
              <a:solidFill>
                <a:schemeClr val="bg1"/>
              </a:solidFill>
              <a:latin typeface="微软雅黑" panose="020B0503020204020204" pitchFamily="34" charset="-122"/>
              <a:ea typeface="微软雅黑" panose="020B0503020204020204" pitchFamily="34" charset="-122"/>
              <a:sym typeface="+mn-ea"/>
            </a:endParaRPr>
          </a:p>
        </p:txBody>
      </p:sp>
      <p:sp>
        <p:nvSpPr>
          <p:cNvPr id="7" name="圆角矩形标注 39"/>
          <p:cNvSpPr/>
          <p:nvPr/>
        </p:nvSpPr>
        <p:spPr>
          <a:xfrm>
            <a:off x="381000" y="4991100"/>
            <a:ext cx="7309485" cy="2379345"/>
          </a:xfrm>
          <a:prstGeom prst="wedgeRoundRectCallout">
            <a:avLst/>
          </a:prstGeom>
          <a:gradFill>
            <a:gsLst>
              <a:gs pos="0">
                <a:srgbClr val="FBAF03"/>
              </a:gs>
              <a:gs pos="81000">
                <a:srgbClr val="FE6719"/>
              </a:gs>
              <a:gs pos="35000">
                <a:srgbClr val="FF8C0B"/>
              </a:gs>
            </a:gsLst>
            <a:lin ang="18900000" scaled="0"/>
          </a:gra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buClrTx/>
              <a:buSzTx/>
              <a:buFontTx/>
            </a:pPr>
            <a:r>
              <a:rPr lang="zh-CN" altLang="en-US" sz="4000" b="1" i="1" dirty="0">
                <a:solidFill>
                  <a:schemeClr val="bg1"/>
                </a:solidFill>
                <a:latin typeface="微软雅黑" panose="020B0503020204020204" pitchFamily="34" charset="-122"/>
                <a:ea typeface="微软雅黑" panose="020B0503020204020204" pitchFamily="34" charset="-122"/>
                <a:sym typeface="+mn-ea"/>
              </a:rPr>
              <a:t>如何通过科学的算法设定赎回价格，化解房屋处置过程中的代际继承阻力</a:t>
            </a:r>
            <a:endParaRPr lang="zh-CN" altLang="en-US" sz="4000" b="1" i="1" dirty="0">
              <a:solidFill>
                <a:schemeClr val="bg1"/>
              </a:solidFill>
              <a:latin typeface="微软雅黑" panose="020B0503020204020204" pitchFamily="34" charset="-122"/>
              <a:ea typeface="微软雅黑" panose="020B0503020204020204" pitchFamily="34" charset="-122"/>
              <a:sym typeface="+mn-ea"/>
            </a:endParaRPr>
          </a:p>
        </p:txBody>
      </p:sp>
      <p:sp>
        <p:nvSpPr>
          <p:cNvPr id="8" name="圆角矩形标注 40"/>
          <p:cNvSpPr/>
          <p:nvPr/>
        </p:nvSpPr>
        <p:spPr>
          <a:xfrm>
            <a:off x="533400" y="1943735"/>
            <a:ext cx="7975600" cy="1412240"/>
          </a:xfrm>
          <a:prstGeom prst="wedgeRoundRectCallout">
            <a:avLst/>
          </a:prstGeom>
          <a:solidFill>
            <a:schemeClr val="bg1"/>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r>
              <a:rPr lang="zh-CN" altLang="en-US" sz="4400" b="1" i="1" dirty="0">
                <a:gradFill flip="none" rotWithShape="1">
                  <a:gsLst>
                    <a:gs pos="0">
                      <a:srgbClr val="FE6719"/>
                    </a:gs>
                    <a:gs pos="50000">
                      <a:srgbClr val="FF7F10"/>
                    </a:gs>
                    <a:gs pos="100000">
                      <a:srgbClr val="FCA505"/>
                    </a:gs>
                  </a:gsLst>
                  <a:lin ang="10800000" scaled="1"/>
                  <a:tileRect/>
                </a:gradFill>
                <a:latin typeface="微软雅黑" panose="020B0503020204020204" pitchFamily="34" charset="-122"/>
                <a:ea typeface="微软雅黑" panose="020B0503020204020204" pitchFamily="34" charset="-122"/>
                <a:sym typeface="+mn-ea"/>
              </a:rPr>
              <a:t>如何确保养老保障的稳定性与金融机构的财务可持续性</a:t>
            </a:r>
            <a:endParaRPr lang="zh-CN" altLang="en-US" sz="4400" b="1" i="1" dirty="0">
              <a:gradFill flip="none" rotWithShape="1">
                <a:gsLst>
                  <a:gs pos="0">
                    <a:srgbClr val="FE6719"/>
                  </a:gs>
                  <a:gs pos="50000">
                    <a:srgbClr val="FF7F10"/>
                  </a:gs>
                  <a:gs pos="100000">
                    <a:srgbClr val="FCA505"/>
                  </a:gs>
                </a:gsLst>
                <a:lin ang="10800000" scaled="1"/>
                <a:tileRect/>
              </a:gradFill>
              <a:latin typeface="微软雅黑" panose="020B0503020204020204" pitchFamily="34" charset="-122"/>
              <a:ea typeface="微软雅黑" panose="020B0503020204020204" pitchFamily="34" charset="-122"/>
              <a:sym typeface="+mn-ea"/>
            </a:endParaRPr>
          </a:p>
        </p:txBody>
      </p:sp>
      <p:pic>
        <p:nvPicPr>
          <p:cNvPr id="9" name="图片 8"/>
          <p:cNvPicPr/>
          <p:nvPr/>
        </p:nvPicPr>
        <p:blipFill>
          <a:blip r:embed="rId11"/>
          <a:stretch>
            <a:fillRect/>
          </a:stretch>
        </p:blipFill>
        <p:spPr>
          <a:xfrm>
            <a:off x="7144385" y="2830830"/>
            <a:ext cx="4067175" cy="6590030"/>
          </a:xfrm>
          <a:prstGeom prst="rect">
            <a:avLst/>
          </a:prstGeom>
        </p:spPr>
      </p:pic>
      <p:grpSp>
        <p:nvGrpSpPr>
          <p:cNvPr id="24" name="Group 35"/>
          <p:cNvGrpSpPr/>
          <p:nvPr/>
        </p:nvGrpSpPr>
        <p:grpSpPr>
          <a:xfrm>
            <a:off x="7496608" y="-399971"/>
            <a:ext cx="2127827" cy="1166061"/>
            <a:chOff x="-4407" y="-123825"/>
            <a:chExt cx="613756" cy="307110"/>
          </a:xfrm>
        </p:grpSpPr>
        <p:sp>
          <p:nvSpPr>
            <p:cNvPr id="25" name="Freeform 36"/>
            <p:cNvSpPr/>
            <p:nvPr/>
          </p:nvSpPr>
          <p:spPr>
            <a:xfrm>
              <a:off x="-4407" y="8261"/>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dirty="0"/>
            </a:p>
          </p:txBody>
        </p:sp>
        <p:sp>
          <p:nvSpPr>
            <p:cNvPr id="26"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30" name="TextBox 64"/>
          <p:cNvSpPr txBox="1"/>
          <p:nvPr/>
        </p:nvSpPr>
        <p:spPr>
          <a:xfrm>
            <a:off x="11607729" y="192268"/>
            <a:ext cx="2314575" cy="4616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1" name="TextBox 65"/>
          <p:cNvSpPr txBox="1"/>
          <p:nvPr/>
        </p:nvSpPr>
        <p:spPr>
          <a:xfrm>
            <a:off x="13617504" y="192268"/>
            <a:ext cx="2232413" cy="46164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2" name="TextBox 66"/>
          <p:cNvSpPr txBox="1"/>
          <p:nvPr/>
        </p:nvSpPr>
        <p:spPr>
          <a:xfrm>
            <a:off x="5189672" y="199629"/>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3" name="TextBox 65"/>
          <p:cNvSpPr txBox="1"/>
          <p:nvPr/>
        </p:nvSpPr>
        <p:spPr>
          <a:xfrm>
            <a:off x="15581836" y="199629"/>
            <a:ext cx="2232413"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5" name="TextBox 66"/>
          <p:cNvSpPr txBox="1"/>
          <p:nvPr/>
        </p:nvSpPr>
        <p:spPr>
          <a:xfrm>
            <a:off x="9593620" y="186035"/>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9" name="TextBox 66"/>
          <p:cNvSpPr txBox="1"/>
          <p:nvPr/>
        </p:nvSpPr>
        <p:spPr>
          <a:xfrm>
            <a:off x="7379603" y="191117"/>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txBody>
          <a:bodyPr/>
          <a:lstStyle/>
          <a:p>
            <a:endParaRPr lang="zh-CN" altLang="en-US"/>
          </a:p>
        </p:txBody>
      </p:sp>
      <p:sp>
        <p:nvSpPr>
          <p:cNvPr id="3" name="Freeform 3"/>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2"/>
            <a:stretch>
              <a:fillRect t="-883"/>
            </a:stretch>
          </a:blipFill>
        </p:spPr>
      </p:sp>
      <p:grpSp>
        <p:nvGrpSpPr>
          <p:cNvPr id="4" name="Group 4"/>
          <p:cNvGrpSpPr/>
          <p:nvPr/>
        </p:nvGrpSpPr>
        <p:grpSpPr>
          <a:xfrm>
            <a:off x="160070" y="-2829424"/>
            <a:ext cx="5133103" cy="4618309"/>
            <a:chOff x="0" y="0"/>
            <a:chExt cx="6844137" cy="6157745"/>
          </a:xfrm>
        </p:grpSpPr>
        <p:grpSp>
          <p:nvGrpSpPr>
            <p:cNvPr id="5" name="Group 5"/>
            <p:cNvGrpSpPr/>
            <p:nvPr/>
          </p:nvGrpSpPr>
          <p:grpSpPr>
            <a:xfrm rot="215490">
              <a:off x="271581" y="295285"/>
              <a:ext cx="6401327" cy="5667527"/>
              <a:chOff x="0" y="0"/>
              <a:chExt cx="2560354" cy="2266854"/>
            </a:xfrm>
          </p:grpSpPr>
          <p:sp>
            <p:nvSpPr>
              <p:cNvPr id="6" name="Freeform 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7" name="TextBox 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8" name="Group 8"/>
            <p:cNvGrpSpPr/>
            <p:nvPr/>
          </p:nvGrpSpPr>
          <p:grpSpPr>
            <a:xfrm rot="215490">
              <a:off x="171229" y="194933"/>
              <a:ext cx="6401327" cy="5667527"/>
              <a:chOff x="0" y="0"/>
              <a:chExt cx="2560354" cy="2266854"/>
            </a:xfrm>
          </p:grpSpPr>
          <p:sp>
            <p:nvSpPr>
              <p:cNvPr id="9" name="Freeform 9"/>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0" name="TextBox 10"/>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1" name="Group 11"/>
            <p:cNvGrpSpPr/>
            <p:nvPr/>
          </p:nvGrpSpPr>
          <p:grpSpPr>
            <a:xfrm>
              <a:off x="124175" y="194933"/>
              <a:ext cx="6401327" cy="5667527"/>
              <a:chOff x="0" y="0"/>
              <a:chExt cx="2560354" cy="2266854"/>
            </a:xfrm>
          </p:grpSpPr>
          <p:sp>
            <p:nvSpPr>
              <p:cNvPr id="12" name="Freeform 12"/>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3" name="TextBox 13"/>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4" name="AutoShape 14"/>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18" name="Freeform 18"/>
          <p:cNvSpPr/>
          <p:nvPr/>
        </p:nvSpPr>
        <p:spPr>
          <a:xfrm>
            <a:off x="6543473" y="82072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3">
              <a:alphaModFix amt="9999"/>
            </a:blip>
            <a:stretch>
              <a:fillRect r="-20235"/>
            </a:stretch>
          </a:blipFill>
          <a:ln w="19050" cap="sq">
            <a:solidFill>
              <a:srgbClr val="FCFBF9">
                <a:alpha val="9804"/>
              </a:srgbClr>
            </a:solidFill>
            <a:prstDash val="solid"/>
            <a:miter/>
          </a:ln>
        </p:spPr>
        <p:txBody>
          <a:bodyPr/>
          <a:lstStyle/>
          <a:p>
            <a:endParaRPr lang="zh-CN" altLang="en-US" dirty="0"/>
          </a:p>
        </p:txBody>
      </p:sp>
      <p:sp>
        <p:nvSpPr>
          <p:cNvPr id="19" name="Freeform 19"/>
          <p:cNvSpPr/>
          <p:nvPr/>
        </p:nvSpPr>
        <p:spPr>
          <a:xfrm flipH="1">
            <a:off x="160070" y="-71799"/>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4"/>
            <a:stretch>
              <a:fillRect/>
            </a:stretch>
          </a:blipFill>
        </p:spPr>
      </p:sp>
      <p:grpSp>
        <p:nvGrpSpPr>
          <p:cNvPr id="20" name="Group 20"/>
          <p:cNvGrpSpPr/>
          <p:nvPr/>
        </p:nvGrpSpPr>
        <p:grpSpPr>
          <a:xfrm>
            <a:off x="7059977" y="1123616"/>
            <a:ext cx="10664523" cy="8547942"/>
            <a:chOff x="7182493" y="423670"/>
            <a:chExt cx="13352083" cy="10702102"/>
          </a:xfrm>
        </p:grpSpPr>
        <p:grpSp>
          <p:nvGrpSpPr>
            <p:cNvPr id="22" name="Group 22"/>
            <p:cNvGrpSpPr/>
            <p:nvPr/>
          </p:nvGrpSpPr>
          <p:grpSpPr>
            <a:xfrm>
              <a:off x="7182493" y="1612929"/>
              <a:ext cx="4208106" cy="8604855"/>
              <a:chOff x="0" y="0"/>
              <a:chExt cx="4208106" cy="8604855"/>
            </a:xfrm>
          </p:grpSpPr>
          <p:sp>
            <p:nvSpPr>
              <p:cNvPr id="23" name="Freeform 23"/>
              <p:cNvSpPr/>
              <p:nvPr/>
            </p:nvSpPr>
            <p:spPr>
              <a:xfrm>
                <a:off x="0" y="0"/>
                <a:ext cx="4208106" cy="8604855"/>
              </a:xfrm>
              <a:custGeom>
                <a:avLst/>
                <a:gdLst/>
                <a:ahLst/>
                <a:cxnLst/>
                <a:rect l="l" t="t" r="r" b="b"/>
                <a:pathLst>
                  <a:path w="4208106" h="8604854">
                    <a:moveTo>
                      <a:pt x="0" y="0"/>
                    </a:moveTo>
                    <a:lnTo>
                      <a:pt x="4208106" y="0"/>
                    </a:lnTo>
                    <a:lnTo>
                      <a:pt x="4208106" y="8604854"/>
                    </a:lnTo>
                    <a:lnTo>
                      <a:pt x="0" y="8604854"/>
                    </a:lnTo>
                    <a:lnTo>
                      <a:pt x="0" y="0"/>
                    </a:lnTo>
                    <a:close/>
                  </a:path>
                </a:pathLst>
              </a:custGeom>
              <a:blipFill>
                <a:blip r:embed="rId5"/>
                <a:stretch>
                  <a:fillRect l="-42257" r="-42259"/>
                </a:stretch>
              </a:blipFill>
            </p:spPr>
            <p:txBody>
              <a:bodyPr/>
              <a:lstStyle/>
              <a:p>
                <a:endParaRPr lang="zh-CN" altLang="en-US"/>
              </a:p>
            </p:txBody>
          </p:sp>
        </p:grpSp>
        <p:sp>
          <p:nvSpPr>
            <p:cNvPr id="30" name="Freeform 30"/>
            <p:cNvSpPr/>
            <p:nvPr/>
          </p:nvSpPr>
          <p:spPr>
            <a:xfrm>
              <a:off x="12979932" y="9981149"/>
              <a:ext cx="4047834" cy="1144623"/>
            </a:xfrm>
            <a:custGeom>
              <a:avLst/>
              <a:gdLst/>
              <a:ahLst/>
              <a:cxnLst/>
              <a:rect l="l" t="t" r="r" b="b"/>
              <a:pathLst>
                <a:path w="4017078" h="1135926">
                  <a:moveTo>
                    <a:pt x="0" y="0"/>
                  </a:moveTo>
                  <a:lnTo>
                    <a:pt x="4017078" y="0"/>
                  </a:lnTo>
                  <a:lnTo>
                    <a:pt x="4017078" y="1135926"/>
                  </a:lnTo>
                  <a:lnTo>
                    <a:pt x="0" y="1135926"/>
                  </a:lnTo>
                  <a:close/>
                </a:path>
              </a:pathLst>
            </a:custGeom>
            <a:blipFill>
              <a:blip r:embed="rId6">
                <a:alphaModFix amt="0"/>
              </a:blip>
              <a:stretch>
                <a:fillRect t="-43076" r="-24088" b="-27934"/>
              </a:stretch>
            </a:blipFill>
          </p:spPr>
        </p:sp>
        <p:grpSp>
          <p:nvGrpSpPr>
            <p:cNvPr id="33" name="Group 33"/>
            <p:cNvGrpSpPr/>
            <p:nvPr/>
          </p:nvGrpSpPr>
          <p:grpSpPr>
            <a:xfrm>
              <a:off x="9066911" y="9300363"/>
              <a:ext cx="1173327" cy="1173327"/>
              <a:chOff x="0" y="0"/>
              <a:chExt cx="1489152" cy="1489152"/>
            </a:xfrm>
          </p:grpSpPr>
          <p:sp>
            <p:nvSpPr>
              <p:cNvPr id="34" name="Freeform 34"/>
              <p:cNvSpPr/>
              <p:nvPr/>
            </p:nvSpPr>
            <p:spPr>
              <a:xfrm>
                <a:off x="63500" y="63500"/>
                <a:ext cx="1362202" cy="1362202"/>
              </a:xfrm>
              <a:custGeom>
                <a:avLst/>
                <a:gdLst/>
                <a:ahLst/>
                <a:cxnLst/>
                <a:rect l="l" t="t" r="r" b="b"/>
                <a:pathLst>
                  <a:path w="1362202" h="1362202">
                    <a:moveTo>
                      <a:pt x="0" y="681101"/>
                    </a:moveTo>
                    <a:cubicBezTo>
                      <a:pt x="0" y="304927"/>
                      <a:pt x="304927" y="0"/>
                      <a:pt x="681101" y="0"/>
                    </a:cubicBezTo>
                    <a:cubicBezTo>
                      <a:pt x="1057275" y="0"/>
                      <a:pt x="1362202" y="304927"/>
                      <a:pt x="1362202" y="681101"/>
                    </a:cubicBezTo>
                    <a:cubicBezTo>
                      <a:pt x="1362202" y="1057275"/>
                      <a:pt x="1057275" y="1362202"/>
                      <a:pt x="681101" y="1362202"/>
                    </a:cubicBezTo>
                    <a:cubicBezTo>
                      <a:pt x="304927" y="1362202"/>
                      <a:pt x="0" y="1057275"/>
                      <a:pt x="0" y="681101"/>
                    </a:cubicBezTo>
                    <a:close/>
                  </a:path>
                </a:pathLst>
              </a:custGeom>
              <a:solidFill>
                <a:srgbClr val="FFFFFF"/>
              </a:solidFill>
            </p:spPr>
          </p:sp>
          <p:sp>
            <p:nvSpPr>
              <p:cNvPr id="35" name="Freeform 35"/>
              <p:cNvSpPr/>
              <p:nvPr/>
            </p:nvSpPr>
            <p:spPr>
              <a:xfrm>
                <a:off x="0" y="0"/>
                <a:ext cx="1489202" cy="1489202"/>
              </a:xfrm>
              <a:custGeom>
                <a:avLst/>
                <a:gdLst/>
                <a:ahLst/>
                <a:cxnLst/>
                <a:rect l="l" t="t" r="r" b="b"/>
                <a:pathLst>
                  <a:path w="1489202" h="1489202">
                    <a:moveTo>
                      <a:pt x="0" y="744601"/>
                    </a:moveTo>
                    <a:cubicBezTo>
                      <a:pt x="0" y="333375"/>
                      <a:pt x="333375" y="0"/>
                      <a:pt x="744601" y="0"/>
                    </a:cubicBezTo>
                    <a:lnTo>
                      <a:pt x="744601" y="63500"/>
                    </a:lnTo>
                    <a:lnTo>
                      <a:pt x="744601" y="0"/>
                    </a:lnTo>
                    <a:cubicBezTo>
                      <a:pt x="1155827" y="0"/>
                      <a:pt x="1489202" y="333375"/>
                      <a:pt x="1489202" y="744601"/>
                    </a:cubicBezTo>
                    <a:lnTo>
                      <a:pt x="1425702" y="744601"/>
                    </a:lnTo>
                    <a:lnTo>
                      <a:pt x="1489202" y="744601"/>
                    </a:lnTo>
                    <a:cubicBezTo>
                      <a:pt x="1489202" y="1155827"/>
                      <a:pt x="1155827" y="1489202"/>
                      <a:pt x="744601" y="1489202"/>
                    </a:cubicBezTo>
                    <a:lnTo>
                      <a:pt x="744601" y="1425702"/>
                    </a:lnTo>
                    <a:lnTo>
                      <a:pt x="744601" y="1489202"/>
                    </a:lnTo>
                    <a:cubicBezTo>
                      <a:pt x="333375" y="1489202"/>
                      <a:pt x="0" y="1155827"/>
                      <a:pt x="0" y="744601"/>
                    </a:cubicBezTo>
                    <a:lnTo>
                      <a:pt x="63500" y="744601"/>
                    </a:lnTo>
                    <a:lnTo>
                      <a:pt x="127000" y="744601"/>
                    </a:lnTo>
                    <a:lnTo>
                      <a:pt x="63500" y="744601"/>
                    </a:lnTo>
                    <a:lnTo>
                      <a:pt x="0" y="744601"/>
                    </a:lnTo>
                    <a:moveTo>
                      <a:pt x="127000" y="744601"/>
                    </a:moveTo>
                    <a:cubicBezTo>
                      <a:pt x="127000" y="779653"/>
                      <a:pt x="98552" y="808101"/>
                      <a:pt x="63500" y="808101"/>
                    </a:cubicBezTo>
                    <a:cubicBezTo>
                      <a:pt x="28448" y="808101"/>
                      <a:pt x="0" y="779653"/>
                      <a:pt x="0" y="744601"/>
                    </a:cubicBezTo>
                    <a:cubicBezTo>
                      <a:pt x="0" y="709549"/>
                      <a:pt x="28448" y="681101"/>
                      <a:pt x="63500" y="681101"/>
                    </a:cubicBezTo>
                    <a:cubicBezTo>
                      <a:pt x="98552" y="681101"/>
                      <a:pt x="127000" y="709549"/>
                      <a:pt x="127000" y="744601"/>
                    </a:cubicBezTo>
                    <a:cubicBezTo>
                      <a:pt x="127000" y="1085723"/>
                      <a:pt x="403479" y="1362202"/>
                      <a:pt x="744601" y="1362202"/>
                    </a:cubicBezTo>
                    <a:cubicBezTo>
                      <a:pt x="1085723" y="1362202"/>
                      <a:pt x="1362202" y="1085723"/>
                      <a:pt x="1362202" y="744601"/>
                    </a:cubicBezTo>
                    <a:cubicBezTo>
                      <a:pt x="1362202" y="403479"/>
                      <a:pt x="1085596" y="127000"/>
                      <a:pt x="744601" y="127000"/>
                    </a:cubicBezTo>
                    <a:lnTo>
                      <a:pt x="744601" y="63500"/>
                    </a:lnTo>
                    <a:lnTo>
                      <a:pt x="744601" y="127000"/>
                    </a:lnTo>
                    <a:cubicBezTo>
                      <a:pt x="403479" y="127000"/>
                      <a:pt x="127000" y="403479"/>
                      <a:pt x="127000" y="744601"/>
                    </a:cubicBezTo>
                    <a:close/>
                  </a:path>
                </a:pathLst>
              </a:custGeom>
              <a:solidFill>
                <a:srgbClr val="FF944E"/>
              </a:solidFill>
            </p:spPr>
          </p:sp>
        </p:grpSp>
        <p:grpSp>
          <p:nvGrpSpPr>
            <p:cNvPr id="37" name="Group 37"/>
            <p:cNvGrpSpPr/>
            <p:nvPr/>
          </p:nvGrpSpPr>
          <p:grpSpPr>
            <a:xfrm>
              <a:off x="10655627" y="3616181"/>
              <a:ext cx="1173327" cy="1173327"/>
              <a:chOff x="0" y="0"/>
              <a:chExt cx="1489152" cy="1489152"/>
            </a:xfrm>
          </p:grpSpPr>
          <p:sp>
            <p:nvSpPr>
              <p:cNvPr id="38" name="Freeform 38"/>
              <p:cNvSpPr/>
              <p:nvPr/>
            </p:nvSpPr>
            <p:spPr>
              <a:xfrm>
                <a:off x="63500" y="63500"/>
                <a:ext cx="1362202" cy="1362202"/>
              </a:xfrm>
              <a:custGeom>
                <a:avLst/>
                <a:gdLst/>
                <a:ahLst/>
                <a:cxnLst/>
                <a:rect l="l" t="t" r="r" b="b"/>
                <a:pathLst>
                  <a:path w="1362202" h="1362202">
                    <a:moveTo>
                      <a:pt x="0" y="681101"/>
                    </a:moveTo>
                    <a:cubicBezTo>
                      <a:pt x="0" y="304927"/>
                      <a:pt x="304927" y="0"/>
                      <a:pt x="681101" y="0"/>
                    </a:cubicBezTo>
                    <a:cubicBezTo>
                      <a:pt x="1057275" y="0"/>
                      <a:pt x="1362202" y="304927"/>
                      <a:pt x="1362202" y="681101"/>
                    </a:cubicBezTo>
                    <a:cubicBezTo>
                      <a:pt x="1362202" y="1057275"/>
                      <a:pt x="1057275" y="1362202"/>
                      <a:pt x="681101" y="1362202"/>
                    </a:cubicBezTo>
                    <a:cubicBezTo>
                      <a:pt x="304927" y="1362202"/>
                      <a:pt x="0" y="1057275"/>
                      <a:pt x="0" y="681101"/>
                    </a:cubicBezTo>
                    <a:close/>
                  </a:path>
                </a:pathLst>
              </a:custGeom>
              <a:solidFill>
                <a:srgbClr val="FFFFFF"/>
              </a:solidFill>
            </p:spPr>
          </p:sp>
          <p:sp>
            <p:nvSpPr>
              <p:cNvPr id="39" name="Freeform 39"/>
              <p:cNvSpPr/>
              <p:nvPr/>
            </p:nvSpPr>
            <p:spPr>
              <a:xfrm>
                <a:off x="0" y="0"/>
                <a:ext cx="1489202" cy="1489202"/>
              </a:xfrm>
              <a:custGeom>
                <a:avLst/>
                <a:gdLst/>
                <a:ahLst/>
                <a:cxnLst/>
                <a:rect l="l" t="t" r="r" b="b"/>
                <a:pathLst>
                  <a:path w="1489202" h="1489202">
                    <a:moveTo>
                      <a:pt x="0" y="744601"/>
                    </a:moveTo>
                    <a:cubicBezTo>
                      <a:pt x="0" y="333375"/>
                      <a:pt x="333375" y="0"/>
                      <a:pt x="744601" y="0"/>
                    </a:cubicBezTo>
                    <a:lnTo>
                      <a:pt x="744601" y="63500"/>
                    </a:lnTo>
                    <a:lnTo>
                      <a:pt x="744601" y="0"/>
                    </a:lnTo>
                    <a:cubicBezTo>
                      <a:pt x="1155827" y="0"/>
                      <a:pt x="1489202" y="333375"/>
                      <a:pt x="1489202" y="744601"/>
                    </a:cubicBezTo>
                    <a:lnTo>
                      <a:pt x="1425702" y="744601"/>
                    </a:lnTo>
                    <a:lnTo>
                      <a:pt x="1489202" y="744601"/>
                    </a:lnTo>
                    <a:cubicBezTo>
                      <a:pt x="1489202" y="1155827"/>
                      <a:pt x="1155827" y="1489202"/>
                      <a:pt x="744601" y="1489202"/>
                    </a:cubicBezTo>
                    <a:lnTo>
                      <a:pt x="744601" y="1425702"/>
                    </a:lnTo>
                    <a:lnTo>
                      <a:pt x="744601" y="1489202"/>
                    </a:lnTo>
                    <a:cubicBezTo>
                      <a:pt x="333375" y="1489202"/>
                      <a:pt x="0" y="1155827"/>
                      <a:pt x="0" y="744601"/>
                    </a:cubicBezTo>
                    <a:lnTo>
                      <a:pt x="63500" y="744601"/>
                    </a:lnTo>
                    <a:lnTo>
                      <a:pt x="127000" y="744601"/>
                    </a:lnTo>
                    <a:lnTo>
                      <a:pt x="63500" y="744601"/>
                    </a:lnTo>
                    <a:lnTo>
                      <a:pt x="0" y="744601"/>
                    </a:lnTo>
                    <a:moveTo>
                      <a:pt x="127000" y="744601"/>
                    </a:moveTo>
                    <a:cubicBezTo>
                      <a:pt x="127000" y="779653"/>
                      <a:pt x="98552" y="808101"/>
                      <a:pt x="63500" y="808101"/>
                    </a:cubicBezTo>
                    <a:cubicBezTo>
                      <a:pt x="28448" y="808101"/>
                      <a:pt x="0" y="779653"/>
                      <a:pt x="0" y="744601"/>
                    </a:cubicBezTo>
                    <a:cubicBezTo>
                      <a:pt x="0" y="709549"/>
                      <a:pt x="28448" y="681101"/>
                      <a:pt x="63500" y="681101"/>
                    </a:cubicBezTo>
                    <a:cubicBezTo>
                      <a:pt x="98552" y="681101"/>
                      <a:pt x="127000" y="709549"/>
                      <a:pt x="127000" y="744601"/>
                    </a:cubicBezTo>
                    <a:cubicBezTo>
                      <a:pt x="127000" y="1085723"/>
                      <a:pt x="403479" y="1362202"/>
                      <a:pt x="744601" y="1362202"/>
                    </a:cubicBezTo>
                    <a:cubicBezTo>
                      <a:pt x="1085723" y="1362202"/>
                      <a:pt x="1362202" y="1085723"/>
                      <a:pt x="1362202" y="744601"/>
                    </a:cubicBezTo>
                    <a:cubicBezTo>
                      <a:pt x="1362202" y="403479"/>
                      <a:pt x="1085596" y="127000"/>
                      <a:pt x="744601" y="127000"/>
                    </a:cubicBezTo>
                    <a:lnTo>
                      <a:pt x="744601" y="63500"/>
                    </a:lnTo>
                    <a:lnTo>
                      <a:pt x="744601" y="127000"/>
                    </a:lnTo>
                    <a:cubicBezTo>
                      <a:pt x="403479" y="127000"/>
                      <a:pt x="127000" y="403479"/>
                      <a:pt x="127000" y="744601"/>
                    </a:cubicBezTo>
                    <a:close/>
                  </a:path>
                </a:pathLst>
              </a:custGeom>
              <a:solidFill>
                <a:srgbClr val="FF944E"/>
              </a:solidFill>
            </p:spPr>
          </p:sp>
        </p:grpSp>
        <p:sp>
          <p:nvSpPr>
            <p:cNvPr id="40" name="Freeform 40"/>
            <p:cNvSpPr/>
            <p:nvPr/>
          </p:nvSpPr>
          <p:spPr>
            <a:xfrm>
              <a:off x="11004093" y="3855320"/>
              <a:ext cx="573035" cy="655238"/>
            </a:xfrm>
            <a:custGeom>
              <a:avLst/>
              <a:gdLst/>
              <a:ahLst/>
              <a:cxnLst/>
              <a:rect l="l" t="t" r="r" b="b"/>
              <a:pathLst>
                <a:path w="573035" h="655238">
                  <a:moveTo>
                    <a:pt x="0" y="0"/>
                  </a:moveTo>
                  <a:lnTo>
                    <a:pt x="573035" y="0"/>
                  </a:lnTo>
                  <a:lnTo>
                    <a:pt x="573035" y="655238"/>
                  </a:lnTo>
                  <a:lnTo>
                    <a:pt x="0" y="65523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41" name="Group 41"/>
            <p:cNvGrpSpPr/>
            <p:nvPr/>
          </p:nvGrpSpPr>
          <p:grpSpPr>
            <a:xfrm>
              <a:off x="10249831" y="6770708"/>
              <a:ext cx="1173365" cy="1173367"/>
              <a:chOff x="2" y="0"/>
              <a:chExt cx="1489201" cy="1489203"/>
            </a:xfrm>
          </p:grpSpPr>
          <p:sp>
            <p:nvSpPr>
              <p:cNvPr id="42" name="Freeform 42"/>
              <p:cNvSpPr/>
              <p:nvPr/>
            </p:nvSpPr>
            <p:spPr>
              <a:xfrm>
                <a:off x="63501" y="63501"/>
                <a:ext cx="1362204" cy="1362204"/>
              </a:xfrm>
              <a:custGeom>
                <a:avLst/>
                <a:gdLst/>
                <a:ahLst/>
                <a:cxnLst/>
                <a:rect l="l" t="t" r="r" b="b"/>
                <a:pathLst>
                  <a:path w="1362202" h="1362202">
                    <a:moveTo>
                      <a:pt x="0" y="681101"/>
                    </a:moveTo>
                    <a:cubicBezTo>
                      <a:pt x="0" y="304927"/>
                      <a:pt x="304927" y="0"/>
                      <a:pt x="681101" y="0"/>
                    </a:cubicBezTo>
                    <a:cubicBezTo>
                      <a:pt x="1057275" y="0"/>
                      <a:pt x="1362202" y="304927"/>
                      <a:pt x="1362202" y="681101"/>
                    </a:cubicBezTo>
                    <a:cubicBezTo>
                      <a:pt x="1362202" y="1057275"/>
                      <a:pt x="1057275" y="1362202"/>
                      <a:pt x="681101" y="1362202"/>
                    </a:cubicBezTo>
                    <a:cubicBezTo>
                      <a:pt x="304927" y="1362202"/>
                      <a:pt x="0" y="1057275"/>
                      <a:pt x="0" y="681101"/>
                    </a:cubicBezTo>
                    <a:close/>
                  </a:path>
                </a:pathLst>
              </a:custGeom>
              <a:solidFill>
                <a:srgbClr val="FFFFFF"/>
              </a:solidFill>
            </p:spPr>
          </p:sp>
          <p:sp>
            <p:nvSpPr>
              <p:cNvPr id="43" name="Freeform 43"/>
              <p:cNvSpPr/>
              <p:nvPr/>
            </p:nvSpPr>
            <p:spPr>
              <a:xfrm>
                <a:off x="2" y="0"/>
                <a:ext cx="1489201" cy="1489203"/>
              </a:xfrm>
              <a:custGeom>
                <a:avLst/>
                <a:gdLst/>
                <a:ahLst/>
                <a:cxnLst/>
                <a:rect l="l" t="t" r="r" b="b"/>
                <a:pathLst>
                  <a:path w="1489202" h="1489202">
                    <a:moveTo>
                      <a:pt x="0" y="744601"/>
                    </a:moveTo>
                    <a:cubicBezTo>
                      <a:pt x="0" y="333375"/>
                      <a:pt x="333375" y="0"/>
                      <a:pt x="744601" y="0"/>
                    </a:cubicBezTo>
                    <a:lnTo>
                      <a:pt x="744601" y="63500"/>
                    </a:lnTo>
                    <a:lnTo>
                      <a:pt x="744601" y="0"/>
                    </a:lnTo>
                    <a:cubicBezTo>
                      <a:pt x="1155827" y="0"/>
                      <a:pt x="1489202" y="333375"/>
                      <a:pt x="1489202" y="744601"/>
                    </a:cubicBezTo>
                    <a:lnTo>
                      <a:pt x="1425702" y="744601"/>
                    </a:lnTo>
                    <a:lnTo>
                      <a:pt x="1489202" y="744601"/>
                    </a:lnTo>
                    <a:cubicBezTo>
                      <a:pt x="1489202" y="1155827"/>
                      <a:pt x="1155827" y="1489202"/>
                      <a:pt x="744601" y="1489202"/>
                    </a:cubicBezTo>
                    <a:lnTo>
                      <a:pt x="744601" y="1425702"/>
                    </a:lnTo>
                    <a:lnTo>
                      <a:pt x="744601" y="1489202"/>
                    </a:lnTo>
                    <a:cubicBezTo>
                      <a:pt x="333375" y="1489202"/>
                      <a:pt x="0" y="1155827"/>
                      <a:pt x="0" y="744601"/>
                    </a:cubicBezTo>
                    <a:lnTo>
                      <a:pt x="63500" y="744601"/>
                    </a:lnTo>
                    <a:lnTo>
                      <a:pt x="127000" y="744601"/>
                    </a:lnTo>
                    <a:lnTo>
                      <a:pt x="63500" y="744601"/>
                    </a:lnTo>
                    <a:lnTo>
                      <a:pt x="0" y="744601"/>
                    </a:lnTo>
                    <a:moveTo>
                      <a:pt x="127000" y="744601"/>
                    </a:moveTo>
                    <a:cubicBezTo>
                      <a:pt x="127000" y="779653"/>
                      <a:pt x="98552" y="808101"/>
                      <a:pt x="63500" y="808101"/>
                    </a:cubicBezTo>
                    <a:cubicBezTo>
                      <a:pt x="28448" y="808101"/>
                      <a:pt x="0" y="779653"/>
                      <a:pt x="0" y="744601"/>
                    </a:cubicBezTo>
                    <a:cubicBezTo>
                      <a:pt x="0" y="709549"/>
                      <a:pt x="28448" y="681101"/>
                      <a:pt x="63500" y="681101"/>
                    </a:cubicBezTo>
                    <a:cubicBezTo>
                      <a:pt x="98552" y="681101"/>
                      <a:pt x="127000" y="709549"/>
                      <a:pt x="127000" y="744601"/>
                    </a:cubicBezTo>
                    <a:cubicBezTo>
                      <a:pt x="127000" y="1085723"/>
                      <a:pt x="403479" y="1362202"/>
                      <a:pt x="744601" y="1362202"/>
                    </a:cubicBezTo>
                    <a:cubicBezTo>
                      <a:pt x="1085723" y="1362202"/>
                      <a:pt x="1362202" y="1085723"/>
                      <a:pt x="1362202" y="744601"/>
                    </a:cubicBezTo>
                    <a:cubicBezTo>
                      <a:pt x="1362202" y="403479"/>
                      <a:pt x="1085596" y="127000"/>
                      <a:pt x="744601" y="127000"/>
                    </a:cubicBezTo>
                    <a:lnTo>
                      <a:pt x="744601" y="63500"/>
                    </a:lnTo>
                    <a:lnTo>
                      <a:pt x="744601" y="127000"/>
                    </a:lnTo>
                    <a:cubicBezTo>
                      <a:pt x="403479" y="127000"/>
                      <a:pt x="127000" y="403479"/>
                      <a:pt x="127000" y="744601"/>
                    </a:cubicBezTo>
                    <a:close/>
                  </a:path>
                </a:pathLst>
              </a:custGeom>
              <a:solidFill>
                <a:srgbClr val="FF944E"/>
              </a:solidFill>
            </p:spPr>
          </p:sp>
        </p:grpSp>
        <p:sp>
          <p:nvSpPr>
            <p:cNvPr id="44" name="Freeform 44"/>
            <p:cNvSpPr/>
            <p:nvPr/>
          </p:nvSpPr>
          <p:spPr>
            <a:xfrm>
              <a:off x="10521077" y="7041956"/>
              <a:ext cx="630832" cy="630832"/>
            </a:xfrm>
            <a:custGeom>
              <a:avLst/>
              <a:gdLst/>
              <a:ahLst/>
              <a:cxnLst/>
              <a:rect l="l" t="t" r="r" b="b"/>
              <a:pathLst>
                <a:path w="630832" h="630832">
                  <a:moveTo>
                    <a:pt x="0" y="0"/>
                  </a:moveTo>
                  <a:lnTo>
                    <a:pt x="630833" y="0"/>
                  </a:lnTo>
                  <a:lnTo>
                    <a:pt x="630833" y="630832"/>
                  </a:lnTo>
                  <a:lnTo>
                    <a:pt x="0" y="63083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zh-CN" altLang="en-US"/>
            </a:p>
          </p:txBody>
        </p:sp>
        <p:sp>
          <p:nvSpPr>
            <p:cNvPr id="45" name="TextBox 45"/>
            <p:cNvSpPr txBox="1"/>
            <p:nvPr/>
          </p:nvSpPr>
          <p:spPr>
            <a:xfrm>
              <a:off x="11828993" y="1065504"/>
              <a:ext cx="7868912" cy="1541116"/>
            </a:xfrm>
            <a:prstGeom prst="rect">
              <a:avLst/>
            </a:prstGeom>
          </p:spPr>
          <p:txBody>
            <a:bodyPr wrap="square" lIns="0" tIns="0" rIns="0" bIns="0" rtlCol="0" anchor="t">
              <a:spAutoFit/>
            </a:bodyPr>
            <a:lstStyle/>
            <a:p>
              <a:pPr marL="342900" indent="-342900">
                <a:lnSpc>
                  <a:spcPct val="125000"/>
                </a:lnSpc>
                <a:spcBef>
                  <a:spcPts val="0"/>
                </a:spcBef>
                <a:spcAft>
                  <a:spcPts val="0"/>
                </a:spcAft>
                <a:buFont typeface="Arial" panose="020B0604020202020204" pitchFamily="34" charset="0"/>
                <a:buChar char="•"/>
              </a:pPr>
              <a:r>
                <a:rPr lang="zh-CN" altLang="en-US" sz="22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深度走访上海信托等行业标杆机构，验证前期理论提出的保险年金模式与养老服务信托模式的合规性，找准实务中的操作痛点</a:t>
              </a:r>
              <a:endParaRPr lang="zh-CN" altLang="en-US" sz="22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6" name="TextBox 46"/>
            <p:cNvSpPr txBox="1"/>
            <p:nvPr/>
          </p:nvSpPr>
          <p:spPr>
            <a:xfrm>
              <a:off x="11390599" y="423670"/>
              <a:ext cx="9091402" cy="1220241"/>
            </a:xfrm>
            <a:prstGeom prst="rect">
              <a:avLst/>
            </a:prstGeom>
          </p:spPr>
          <p:txBody>
            <a:bodyPr wrap="square" lIns="0" tIns="0" rIns="0" bIns="0" rtlCol="0" anchor="t">
              <a:spAutoFit/>
            </a:bodyPr>
            <a:lstStyle/>
            <a:p>
              <a:pPr>
                <a:lnSpc>
                  <a:spcPts val="3840"/>
                </a:lnSpc>
              </a:pPr>
              <a:r>
                <a:rPr lang="en-US" sz="3200" b="1" spc="228" dirty="0">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1、</a:t>
              </a:r>
              <a:r>
                <a:rPr lang="zh-CN" altLang="en-US" sz="3200" b="1" spc="51" dirty="0">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业界实地访谈与逻辑验证</a:t>
              </a:r>
              <a:endParaRPr lang="zh-CN" altLang="en-US" sz="3200" b="1" spc="51" dirty="0">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840"/>
                </a:lnSpc>
              </a:pPr>
              <a:endParaRPr lang="en-US" sz="3200" b="1" spc="228" dirty="0">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7" name="TextBox 47"/>
            <p:cNvSpPr txBox="1"/>
            <p:nvPr/>
          </p:nvSpPr>
          <p:spPr>
            <a:xfrm>
              <a:off x="12358056" y="3957959"/>
              <a:ext cx="7339849" cy="2543288"/>
            </a:xfrm>
            <a:prstGeom prst="rect">
              <a:avLst/>
            </a:prstGeom>
          </p:spPr>
          <p:txBody>
            <a:bodyPr wrap="square" lIns="0" tIns="0" rIns="0" bIns="0" rtlCol="0" anchor="t">
              <a:spAutoFit/>
            </a:bodyPr>
            <a:lstStyle/>
            <a:p>
              <a:pPr marL="342900" indent="-342900">
                <a:spcBef>
                  <a:spcPct val="0"/>
                </a:spcBef>
                <a:buFont typeface="Arial" panose="020B0604020202020204" pitchFamily="34" charset="0"/>
                <a:buChar char="•"/>
              </a:pPr>
              <a:r>
                <a:rPr lang="zh-CN" altLang="en-US" sz="2200" spc="39" dirty="0">
                  <a:solidFill>
                    <a:srgbClr val="000000"/>
                  </a:solidFill>
                  <a:latin typeface="微软雅黑" panose="020B0503020204020204" pitchFamily="34" charset="-122"/>
                  <a:ea typeface="微软雅黑" panose="020B0503020204020204" pitchFamily="34" charset="-122"/>
                  <a:cs typeface="仿宋" panose="02010609060101010101" charset="-122"/>
                  <a:sym typeface="微软雅黑" panose="020B0503020204020204" pitchFamily="34" charset="-122"/>
                </a:rPr>
                <a:t>引入房产价值波动率、死亡率溢价等关键变量，构建月度养老金给付额度的精算模型</a:t>
              </a:r>
              <a:endParaRPr lang="zh-CN" altLang="en-US" sz="2200" spc="39" dirty="0">
                <a:solidFill>
                  <a:srgbClr val="000000"/>
                </a:solidFill>
                <a:latin typeface="微软雅黑" panose="020B0503020204020204" pitchFamily="34" charset="-122"/>
                <a:ea typeface="微软雅黑" panose="020B0503020204020204" pitchFamily="34" charset="-122"/>
                <a:cs typeface="仿宋" panose="02010609060101010101" charset="-122"/>
                <a:sym typeface="微软雅黑" panose="020B0503020204020204" pitchFamily="34" charset="-122"/>
              </a:endParaRPr>
            </a:p>
            <a:p>
              <a:pPr marL="342900" indent="-342900">
                <a:spcBef>
                  <a:spcPct val="0"/>
                </a:spcBef>
                <a:buFont typeface="Arial" panose="020B0604020202020204" pitchFamily="34" charset="0"/>
                <a:buChar char="•"/>
              </a:pPr>
              <a:r>
                <a:rPr lang="zh-CN" altLang="en-US" sz="2200" spc="39" dirty="0">
                  <a:solidFill>
                    <a:srgbClr val="000000"/>
                  </a:solidFill>
                  <a:latin typeface="微软雅黑" panose="020B0503020204020204" pitchFamily="34" charset="-122"/>
                  <a:ea typeface="微软雅黑" panose="020B0503020204020204" pitchFamily="34" charset="-122"/>
                  <a:cs typeface="仿宋" panose="02010609060101010101" charset="-122"/>
                  <a:sym typeface="微软雅黑" panose="020B0503020204020204" pitchFamily="34" charset="-122"/>
                </a:rPr>
                <a:t>模拟房价下跌 20% 至 30% 的极端场景，评估信托计划的偿付能力，并据此科学厘定风险补偿金比例</a:t>
              </a:r>
              <a:endParaRPr lang="zh-CN" altLang="en-US" sz="2200" b="1" spc="39" dirty="0">
                <a:solidFill>
                  <a:srgbClr val="000000"/>
                </a:solidFill>
                <a:latin typeface="微软雅黑" panose="020B0503020204020204" pitchFamily="34" charset="-122"/>
                <a:ea typeface="微软雅黑" panose="020B0503020204020204" pitchFamily="34" charset="-122"/>
                <a:cs typeface="仿宋" panose="02010609060101010101" charset="-122"/>
                <a:sym typeface="微软雅黑" panose="020B0503020204020204" pitchFamily="34" charset="-122"/>
              </a:endParaRPr>
            </a:p>
            <a:p>
              <a:pPr algn="l"/>
              <a:endParaRPr lang="en-US" sz="2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8" name="TextBox 48"/>
            <p:cNvSpPr txBox="1"/>
            <p:nvPr/>
          </p:nvSpPr>
          <p:spPr>
            <a:xfrm>
              <a:off x="11841137" y="3183814"/>
              <a:ext cx="7636030" cy="1220241"/>
            </a:xfrm>
            <a:prstGeom prst="rect">
              <a:avLst/>
            </a:prstGeom>
          </p:spPr>
          <p:txBody>
            <a:bodyPr wrap="square" lIns="0" tIns="0" rIns="0" bIns="0" rtlCol="0" anchor="t">
              <a:spAutoFit/>
            </a:bodyPr>
            <a:lstStyle/>
            <a:p>
              <a:pPr algn="l">
                <a:lnSpc>
                  <a:spcPts val="3840"/>
                </a:lnSpc>
              </a:pPr>
              <a:r>
                <a:rPr lang="en-US" sz="3200" b="1" spc="228" dirty="0">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a:t>
              </a:r>
              <a:r>
                <a:rPr lang="zh-CN" altLang="en-US" sz="3200" b="1" spc="228" dirty="0">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动态精算定价与压力测试</a:t>
              </a:r>
              <a:endParaRPr lang="zh-CN" altLang="en-US" sz="3200" b="1" spc="228" dirty="0">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840"/>
                </a:lnSpc>
              </a:pPr>
              <a:endParaRPr lang="en-US" sz="3200" b="1" spc="228" dirty="0">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0" name="TextBox 50"/>
            <p:cNvSpPr txBox="1"/>
            <p:nvPr/>
          </p:nvSpPr>
          <p:spPr>
            <a:xfrm>
              <a:off x="11614182" y="6621256"/>
              <a:ext cx="8920394" cy="1220241"/>
            </a:xfrm>
            <a:prstGeom prst="rect">
              <a:avLst/>
            </a:prstGeom>
          </p:spPr>
          <p:txBody>
            <a:bodyPr wrap="square" lIns="0" tIns="0" rIns="0" bIns="0" rtlCol="0" anchor="t">
              <a:spAutoFit/>
            </a:bodyPr>
            <a:lstStyle/>
            <a:p>
              <a:pPr algn="l">
                <a:lnSpc>
                  <a:spcPts val="3840"/>
                </a:lnSpc>
              </a:pPr>
              <a:r>
                <a:rPr lang="en-US" sz="3200" b="1" spc="228" dirty="0">
                  <a:solidFill>
                    <a:srgbClr val="E162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3、</a:t>
              </a:r>
              <a:r>
                <a:rPr lang="zh-CN" altLang="en-US" sz="3200" b="1" spc="228" dirty="0">
                  <a:solidFill>
                    <a:srgbClr val="E162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契约条款细化与公式化设计</a:t>
              </a:r>
              <a:endParaRPr lang="zh-CN" altLang="en-US" sz="3200" b="1" spc="228" dirty="0">
                <a:solidFill>
                  <a:srgbClr val="E162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840"/>
                </a:lnSpc>
              </a:pPr>
              <a:endParaRPr lang="en-US" sz="3200" b="1" spc="228" dirty="0">
                <a:solidFill>
                  <a:srgbClr val="E162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nvGrpSpPr>
            <p:cNvPr id="51" name="Group 51"/>
            <p:cNvGrpSpPr/>
            <p:nvPr/>
          </p:nvGrpSpPr>
          <p:grpSpPr>
            <a:xfrm>
              <a:off x="9946062" y="1081570"/>
              <a:ext cx="1173327" cy="1173327"/>
              <a:chOff x="0" y="0"/>
              <a:chExt cx="1489152" cy="1489152"/>
            </a:xfrm>
          </p:grpSpPr>
          <p:sp>
            <p:nvSpPr>
              <p:cNvPr id="52" name="Freeform 52"/>
              <p:cNvSpPr/>
              <p:nvPr/>
            </p:nvSpPr>
            <p:spPr>
              <a:xfrm>
                <a:off x="63500" y="63500"/>
                <a:ext cx="1362202" cy="1362202"/>
              </a:xfrm>
              <a:custGeom>
                <a:avLst/>
                <a:gdLst/>
                <a:ahLst/>
                <a:cxnLst/>
                <a:rect l="l" t="t" r="r" b="b"/>
                <a:pathLst>
                  <a:path w="1362202" h="1362202">
                    <a:moveTo>
                      <a:pt x="0" y="681101"/>
                    </a:moveTo>
                    <a:cubicBezTo>
                      <a:pt x="0" y="304927"/>
                      <a:pt x="304927" y="0"/>
                      <a:pt x="681101" y="0"/>
                    </a:cubicBezTo>
                    <a:cubicBezTo>
                      <a:pt x="1057275" y="0"/>
                      <a:pt x="1362202" y="304927"/>
                      <a:pt x="1362202" y="681101"/>
                    </a:cubicBezTo>
                    <a:cubicBezTo>
                      <a:pt x="1362202" y="1057275"/>
                      <a:pt x="1057275" y="1362202"/>
                      <a:pt x="681101" y="1362202"/>
                    </a:cubicBezTo>
                    <a:cubicBezTo>
                      <a:pt x="304927" y="1362202"/>
                      <a:pt x="0" y="1057275"/>
                      <a:pt x="0" y="681101"/>
                    </a:cubicBezTo>
                    <a:close/>
                  </a:path>
                </a:pathLst>
              </a:custGeom>
              <a:solidFill>
                <a:srgbClr val="FFFFFF"/>
              </a:solidFill>
            </p:spPr>
          </p:sp>
          <p:sp>
            <p:nvSpPr>
              <p:cNvPr id="53" name="Freeform 53"/>
              <p:cNvSpPr/>
              <p:nvPr/>
            </p:nvSpPr>
            <p:spPr>
              <a:xfrm>
                <a:off x="0" y="0"/>
                <a:ext cx="1489202" cy="1489202"/>
              </a:xfrm>
              <a:custGeom>
                <a:avLst/>
                <a:gdLst/>
                <a:ahLst/>
                <a:cxnLst/>
                <a:rect l="l" t="t" r="r" b="b"/>
                <a:pathLst>
                  <a:path w="1489202" h="1489202">
                    <a:moveTo>
                      <a:pt x="0" y="744601"/>
                    </a:moveTo>
                    <a:cubicBezTo>
                      <a:pt x="0" y="333375"/>
                      <a:pt x="333375" y="0"/>
                      <a:pt x="744601" y="0"/>
                    </a:cubicBezTo>
                    <a:lnTo>
                      <a:pt x="744601" y="63500"/>
                    </a:lnTo>
                    <a:lnTo>
                      <a:pt x="744601" y="0"/>
                    </a:lnTo>
                    <a:cubicBezTo>
                      <a:pt x="1155827" y="0"/>
                      <a:pt x="1489202" y="333375"/>
                      <a:pt x="1489202" y="744601"/>
                    </a:cubicBezTo>
                    <a:lnTo>
                      <a:pt x="1425702" y="744601"/>
                    </a:lnTo>
                    <a:lnTo>
                      <a:pt x="1489202" y="744601"/>
                    </a:lnTo>
                    <a:cubicBezTo>
                      <a:pt x="1489202" y="1155827"/>
                      <a:pt x="1155827" y="1489202"/>
                      <a:pt x="744601" y="1489202"/>
                    </a:cubicBezTo>
                    <a:lnTo>
                      <a:pt x="744601" y="1425702"/>
                    </a:lnTo>
                    <a:lnTo>
                      <a:pt x="744601" y="1489202"/>
                    </a:lnTo>
                    <a:cubicBezTo>
                      <a:pt x="333375" y="1489202"/>
                      <a:pt x="0" y="1155827"/>
                      <a:pt x="0" y="744601"/>
                    </a:cubicBezTo>
                    <a:lnTo>
                      <a:pt x="63500" y="744601"/>
                    </a:lnTo>
                    <a:lnTo>
                      <a:pt x="127000" y="744601"/>
                    </a:lnTo>
                    <a:lnTo>
                      <a:pt x="63500" y="744601"/>
                    </a:lnTo>
                    <a:lnTo>
                      <a:pt x="0" y="744601"/>
                    </a:lnTo>
                    <a:moveTo>
                      <a:pt x="127000" y="744601"/>
                    </a:moveTo>
                    <a:cubicBezTo>
                      <a:pt x="127000" y="779653"/>
                      <a:pt x="98552" y="808101"/>
                      <a:pt x="63500" y="808101"/>
                    </a:cubicBezTo>
                    <a:cubicBezTo>
                      <a:pt x="28448" y="808101"/>
                      <a:pt x="0" y="779653"/>
                      <a:pt x="0" y="744601"/>
                    </a:cubicBezTo>
                    <a:cubicBezTo>
                      <a:pt x="0" y="709549"/>
                      <a:pt x="28448" y="681101"/>
                      <a:pt x="63500" y="681101"/>
                    </a:cubicBezTo>
                    <a:cubicBezTo>
                      <a:pt x="98552" y="681101"/>
                      <a:pt x="127000" y="709549"/>
                      <a:pt x="127000" y="744601"/>
                    </a:cubicBezTo>
                    <a:cubicBezTo>
                      <a:pt x="127000" y="1085723"/>
                      <a:pt x="403479" y="1362202"/>
                      <a:pt x="744601" y="1362202"/>
                    </a:cubicBezTo>
                    <a:cubicBezTo>
                      <a:pt x="1085723" y="1362202"/>
                      <a:pt x="1362202" y="1085723"/>
                      <a:pt x="1362202" y="744601"/>
                    </a:cubicBezTo>
                    <a:cubicBezTo>
                      <a:pt x="1362202" y="403479"/>
                      <a:pt x="1085596" y="127000"/>
                      <a:pt x="744601" y="127000"/>
                    </a:cubicBezTo>
                    <a:lnTo>
                      <a:pt x="744601" y="63500"/>
                    </a:lnTo>
                    <a:lnTo>
                      <a:pt x="744601" y="127000"/>
                    </a:lnTo>
                    <a:cubicBezTo>
                      <a:pt x="403479" y="127000"/>
                      <a:pt x="127000" y="403479"/>
                      <a:pt x="127000" y="744601"/>
                    </a:cubicBezTo>
                    <a:close/>
                  </a:path>
                </a:pathLst>
              </a:custGeom>
              <a:solidFill>
                <a:srgbClr val="FF944E"/>
              </a:solidFill>
            </p:spPr>
          </p:sp>
        </p:grpSp>
        <p:sp>
          <p:nvSpPr>
            <p:cNvPr id="54" name="Freeform 54"/>
            <p:cNvSpPr/>
            <p:nvPr/>
          </p:nvSpPr>
          <p:spPr>
            <a:xfrm>
              <a:off x="10211537" y="1355503"/>
              <a:ext cx="629360" cy="629416"/>
            </a:xfrm>
            <a:custGeom>
              <a:avLst/>
              <a:gdLst/>
              <a:ahLst/>
              <a:cxnLst/>
              <a:rect l="l" t="t" r="r" b="b"/>
              <a:pathLst>
                <a:path w="629360" h="629416">
                  <a:moveTo>
                    <a:pt x="0" y="0"/>
                  </a:moveTo>
                  <a:lnTo>
                    <a:pt x="629360" y="0"/>
                  </a:lnTo>
                  <a:lnTo>
                    <a:pt x="629360" y="629416"/>
                  </a:lnTo>
                  <a:lnTo>
                    <a:pt x="0" y="629416"/>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55" name="Freeform 55"/>
            <p:cNvSpPr/>
            <p:nvPr/>
          </p:nvSpPr>
          <p:spPr>
            <a:xfrm>
              <a:off x="9337333" y="9574342"/>
              <a:ext cx="632484" cy="625368"/>
            </a:xfrm>
            <a:custGeom>
              <a:avLst/>
              <a:gdLst/>
              <a:ahLst/>
              <a:cxnLst/>
              <a:rect l="l" t="t" r="r" b="b"/>
              <a:pathLst>
                <a:path w="632484" h="625368">
                  <a:moveTo>
                    <a:pt x="0" y="0"/>
                  </a:moveTo>
                  <a:lnTo>
                    <a:pt x="632483" y="0"/>
                  </a:lnTo>
                  <a:lnTo>
                    <a:pt x="632483" y="625369"/>
                  </a:lnTo>
                  <a:lnTo>
                    <a:pt x="0" y="625369"/>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cap="sq">
              <a:noFill/>
              <a:prstDash val="solid"/>
              <a:miter/>
            </a:ln>
          </p:spPr>
        </p:sp>
      </p:grpSp>
      <p:sp>
        <p:nvSpPr>
          <p:cNvPr id="75" name="TextBox 50"/>
          <p:cNvSpPr txBox="1"/>
          <p:nvPr/>
        </p:nvSpPr>
        <p:spPr>
          <a:xfrm>
            <a:off x="9834025" y="8432680"/>
            <a:ext cx="7616862" cy="492125"/>
          </a:xfrm>
          <a:prstGeom prst="rect">
            <a:avLst/>
          </a:prstGeom>
        </p:spPr>
        <p:txBody>
          <a:bodyPr wrap="square" lIns="0" tIns="0" rIns="0" bIns="0" rtlCol="0" anchor="t">
            <a:spAutoFit/>
          </a:bodyPr>
          <a:lstStyle/>
          <a:p>
            <a:pPr algn="l">
              <a:lnSpc>
                <a:spcPts val="3840"/>
              </a:lnSpc>
            </a:pPr>
            <a:r>
              <a:rPr lang="en-US" sz="3200" b="1" spc="228" dirty="0">
                <a:solidFill>
                  <a:srgbClr val="E162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4</a:t>
            </a:r>
            <a:r>
              <a:rPr lang="zh-CN" altLang="en-US" sz="3200" b="1" spc="228" dirty="0">
                <a:solidFill>
                  <a:srgbClr val="E162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、数字化管理平台原型设计</a:t>
            </a:r>
            <a:endParaRPr lang="zh-CN" altLang="en-US" sz="3200" b="1" spc="228" dirty="0">
              <a:solidFill>
                <a:srgbClr val="E162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1" name="TextBox 47"/>
          <p:cNvSpPr txBox="1"/>
          <p:nvPr/>
        </p:nvSpPr>
        <p:spPr>
          <a:xfrm>
            <a:off x="10974258" y="6667542"/>
            <a:ext cx="6476629" cy="1692275"/>
          </a:xfrm>
          <a:prstGeom prst="rect">
            <a:avLst/>
          </a:prstGeom>
        </p:spPr>
        <p:txBody>
          <a:bodyPr wrap="square" lIns="0" tIns="0" rIns="0" bIns="0" rtlCol="0" anchor="t">
            <a:spAutoFit/>
          </a:bodyPr>
          <a:lstStyle/>
          <a:p>
            <a:pPr marL="342900" indent="-342900">
              <a:spcBef>
                <a:spcPct val="0"/>
              </a:spcBef>
              <a:buFont typeface="Arial" panose="020B0604020202020204" pitchFamily="34" charset="0"/>
              <a:buChar char="•"/>
            </a:pPr>
            <a:r>
              <a:rPr lang="zh-CN" altLang="en-US" sz="2200" spc="39" dirty="0">
                <a:solidFill>
                  <a:srgbClr val="000000"/>
                </a:solidFill>
                <a:latin typeface="微软雅黑" panose="020B0503020204020204" pitchFamily="34" charset="-122"/>
                <a:ea typeface="微软雅黑" panose="020B0503020204020204" pitchFamily="34" charset="-122"/>
                <a:cs typeface="仿宋" panose="02010609060101010101" charset="-122"/>
                <a:sym typeface="微软雅黑" panose="020B0503020204020204" pitchFamily="34" charset="-122"/>
              </a:rPr>
              <a:t>明确非追索权的触发边界针对子女优先赎回权拟定标准化的价格计算模型，综合考量本金、资金成本、管理费用及预期折旧，平衡机构收益与家庭传承需求</a:t>
            </a:r>
            <a:endParaRPr lang="zh-CN" altLang="en-US" sz="2200" spc="39" dirty="0">
              <a:solidFill>
                <a:srgbClr val="000000"/>
              </a:solidFill>
              <a:latin typeface="微软雅黑" panose="020B0503020204020204" pitchFamily="34" charset="-122"/>
              <a:ea typeface="微软雅黑" panose="020B0503020204020204" pitchFamily="34" charset="-122"/>
              <a:cs typeface="仿宋" panose="02010609060101010101" charset="-122"/>
              <a:sym typeface="微软雅黑" panose="020B0503020204020204" pitchFamily="34" charset="-122"/>
            </a:endParaRPr>
          </a:p>
          <a:p>
            <a:pPr algn="l"/>
            <a:endParaRPr lang="en-US" sz="2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4" name="TextBox 47"/>
          <p:cNvSpPr txBox="1"/>
          <p:nvPr/>
        </p:nvSpPr>
        <p:spPr>
          <a:xfrm>
            <a:off x="10204470" y="9086799"/>
            <a:ext cx="7358148" cy="1015663"/>
          </a:xfrm>
          <a:prstGeom prst="rect">
            <a:avLst/>
          </a:prstGeom>
        </p:spPr>
        <p:txBody>
          <a:bodyPr wrap="square" lIns="0" tIns="0" rIns="0" bIns="0" rtlCol="0" anchor="t">
            <a:spAutoFit/>
          </a:bodyPr>
          <a:lstStyle/>
          <a:p>
            <a:pPr marL="342900" indent="-342900">
              <a:spcBef>
                <a:spcPct val="0"/>
              </a:spcBef>
              <a:buFont typeface="Arial" panose="020B0604020202020204" pitchFamily="34" charset="0"/>
              <a:buChar char="•"/>
            </a:pPr>
            <a:r>
              <a:rPr lang="zh-CN" altLang="en-US" sz="2200" spc="39" dirty="0">
                <a:solidFill>
                  <a:srgbClr val="000000"/>
                </a:solidFill>
                <a:latin typeface="微软雅黑" panose="020B0503020204020204" pitchFamily="34" charset="-122"/>
                <a:ea typeface="微软雅黑" panose="020B0503020204020204" pitchFamily="34" charset="-122"/>
                <a:cs typeface="仿宋" panose="02010609060101010101" charset="-122"/>
                <a:sym typeface="微软雅黑" panose="020B0503020204020204" pitchFamily="34" charset="-122"/>
              </a:rPr>
              <a:t>开发以房养老信托后台管理系统模型，实现房产状态监测、长寿风险动态预警及养老资金自动化拨付</a:t>
            </a:r>
            <a:endParaRPr lang="zh-CN" altLang="en-US" sz="2200" spc="39" dirty="0">
              <a:solidFill>
                <a:srgbClr val="000000"/>
              </a:solidFill>
              <a:latin typeface="微软雅黑" panose="020B0503020204020204" pitchFamily="34" charset="-122"/>
              <a:ea typeface="微软雅黑" panose="020B0503020204020204" pitchFamily="34" charset="-122"/>
              <a:cs typeface="仿宋" panose="02010609060101010101" charset="-122"/>
              <a:sym typeface="微软雅黑" panose="020B0503020204020204" pitchFamily="34" charset="-122"/>
            </a:endParaRPr>
          </a:p>
          <a:p>
            <a:pPr algn="l"/>
            <a:endParaRPr lang="en-US" sz="2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9" name="TextBox 29"/>
          <p:cNvSpPr txBox="1"/>
          <p:nvPr/>
        </p:nvSpPr>
        <p:spPr>
          <a:xfrm>
            <a:off x="294888" y="360232"/>
            <a:ext cx="4728527" cy="717550"/>
          </a:xfrm>
          <a:prstGeom prst="rect">
            <a:avLst/>
          </a:prstGeom>
        </p:spPr>
        <p:txBody>
          <a:bodyPr lIns="0" tIns="0" rIns="0" bIns="0" rtlCol="0" anchor="t">
            <a:spAutoFit/>
          </a:bodyPr>
          <a:lstStyle/>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研究内容</a:t>
            </a:r>
            <a:endPar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nvGrpSpPr>
          <p:cNvPr id="32" name="组合 31"/>
          <p:cNvGrpSpPr/>
          <p:nvPr/>
        </p:nvGrpSpPr>
        <p:grpSpPr>
          <a:xfrm>
            <a:off x="76200" y="2259965"/>
            <a:ext cx="8330565" cy="5642610"/>
            <a:chOff x="120" y="3199"/>
            <a:chExt cx="13119" cy="8886"/>
          </a:xfrm>
        </p:grpSpPr>
        <p:sp>
          <p:nvSpPr>
            <p:cNvPr id="72" name="矩形 71"/>
            <p:cNvSpPr/>
            <p:nvPr/>
          </p:nvSpPr>
          <p:spPr>
            <a:xfrm>
              <a:off x="120" y="3199"/>
              <a:ext cx="6681" cy="8887"/>
            </a:xfrm>
            <a:prstGeom prst="rect">
              <a:avLst/>
            </a:prstGeom>
            <a:solidFill>
              <a:schemeClr val="bg1"/>
            </a:solidFill>
            <a:ln>
              <a:solidFill>
                <a:schemeClr val="bg1"/>
              </a:solidFill>
            </a:ln>
            <a:effectLst>
              <a:outerShdw blurRad="215900" dist="38100" dir="2700000" algn="tl" rotWithShape="0">
                <a:schemeClr val="accent6">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7" name="图片 26"/>
            <p:cNvPicPr>
              <a:picLocks noChangeAspect="1"/>
            </p:cNvPicPr>
            <p:nvPr/>
          </p:nvPicPr>
          <p:blipFill>
            <a:blip r:embed="rId15"/>
            <a:stretch>
              <a:fillRect/>
            </a:stretch>
          </p:blipFill>
          <p:spPr>
            <a:xfrm>
              <a:off x="240" y="3420"/>
              <a:ext cx="6461" cy="8541"/>
            </a:xfrm>
            <a:prstGeom prst="rect">
              <a:avLst/>
            </a:prstGeom>
          </p:spPr>
        </p:pic>
        <p:sp>
          <p:nvSpPr>
            <p:cNvPr id="31" name="矩形 30"/>
            <p:cNvSpPr/>
            <p:nvPr/>
          </p:nvSpPr>
          <p:spPr>
            <a:xfrm>
              <a:off x="6925" y="3199"/>
              <a:ext cx="6315" cy="8887"/>
            </a:xfrm>
            <a:prstGeom prst="rect">
              <a:avLst/>
            </a:prstGeom>
            <a:solidFill>
              <a:schemeClr val="bg1"/>
            </a:solidFill>
            <a:ln>
              <a:solidFill>
                <a:schemeClr val="bg1"/>
              </a:solidFill>
            </a:ln>
            <a:effectLst>
              <a:outerShdw blurRad="215900" dist="38100" dir="2700000" algn="tl" rotWithShape="0">
                <a:schemeClr val="accent6">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8" name="图片 27"/>
            <p:cNvPicPr>
              <a:picLocks noChangeAspect="1"/>
            </p:cNvPicPr>
            <p:nvPr/>
          </p:nvPicPr>
          <p:blipFill>
            <a:blip r:embed="rId16"/>
            <a:stretch>
              <a:fillRect/>
            </a:stretch>
          </p:blipFill>
          <p:spPr>
            <a:xfrm>
              <a:off x="7045" y="3418"/>
              <a:ext cx="6039" cy="8545"/>
            </a:xfrm>
            <a:prstGeom prst="rect">
              <a:avLst/>
            </a:prstGeom>
          </p:spPr>
        </p:pic>
      </p:grpSp>
      <p:grpSp>
        <p:nvGrpSpPr>
          <p:cNvPr id="25" name="Group 35"/>
          <p:cNvGrpSpPr/>
          <p:nvPr/>
        </p:nvGrpSpPr>
        <p:grpSpPr>
          <a:xfrm>
            <a:off x="7496608" y="-399971"/>
            <a:ext cx="2127827" cy="1166061"/>
            <a:chOff x="-4407" y="-123825"/>
            <a:chExt cx="613756" cy="307110"/>
          </a:xfrm>
        </p:grpSpPr>
        <p:sp>
          <p:nvSpPr>
            <p:cNvPr id="26" name="Freeform 36"/>
            <p:cNvSpPr/>
            <p:nvPr/>
          </p:nvSpPr>
          <p:spPr>
            <a:xfrm>
              <a:off x="-4407" y="8261"/>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dirty="0"/>
            </a:p>
          </p:txBody>
        </p:sp>
        <p:sp>
          <p:nvSpPr>
            <p:cNvPr id="36"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49" name="TextBox 64"/>
          <p:cNvSpPr txBox="1"/>
          <p:nvPr/>
        </p:nvSpPr>
        <p:spPr>
          <a:xfrm>
            <a:off x="11607729" y="192268"/>
            <a:ext cx="2314575" cy="4616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6" name="TextBox 65"/>
          <p:cNvSpPr txBox="1"/>
          <p:nvPr/>
        </p:nvSpPr>
        <p:spPr>
          <a:xfrm>
            <a:off x="13617504" y="192268"/>
            <a:ext cx="2232413" cy="46164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7" name="TextBox 66"/>
          <p:cNvSpPr txBox="1"/>
          <p:nvPr/>
        </p:nvSpPr>
        <p:spPr>
          <a:xfrm>
            <a:off x="5189672" y="199629"/>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8" name="TextBox 65"/>
          <p:cNvSpPr txBox="1"/>
          <p:nvPr/>
        </p:nvSpPr>
        <p:spPr>
          <a:xfrm>
            <a:off x="15581836" y="199629"/>
            <a:ext cx="2232413"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9" name="TextBox 66"/>
          <p:cNvSpPr txBox="1"/>
          <p:nvPr/>
        </p:nvSpPr>
        <p:spPr>
          <a:xfrm>
            <a:off x="9593620" y="186035"/>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0" name="TextBox 66"/>
          <p:cNvSpPr txBox="1"/>
          <p:nvPr/>
        </p:nvSpPr>
        <p:spPr>
          <a:xfrm>
            <a:off x="7379603" y="191117"/>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65339"/>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a:off x="10300668"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2">
              <a:alphaModFix amt="9999"/>
            </a:blip>
            <a:stretch>
              <a:fillRect r="-20235"/>
            </a:stretch>
          </a:blipFill>
          <a:ln w="19050" cap="sq">
            <a:solidFill>
              <a:srgbClr val="FCFBF9">
                <a:alpha val="9804"/>
              </a:srgbClr>
            </a:solidFill>
            <a:prstDash val="solid"/>
            <a:miter/>
          </a:ln>
        </p:spPr>
      </p:sp>
      <p:sp>
        <p:nvSpPr>
          <p:cNvPr id="8" name="Freeform 8"/>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3"/>
            <a:stretch>
              <a:fillRect t="-883"/>
            </a:stretch>
          </a:blipFill>
        </p:spPr>
      </p:sp>
      <p:grpSp>
        <p:nvGrpSpPr>
          <p:cNvPr id="9" name="Group 9"/>
          <p:cNvGrpSpPr/>
          <p:nvPr/>
        </p:nvGrpSpPr>
        <p:grpSpPr>
          <a:xfrm>
            <a:off x="237508" y="-2700949"/>
            <a:ext cx="5108019" cy="4595741"/>
            <a:chOff x="0" y="0"/>
            <a:chExt cx="6810692" cy="6127654"/>
          </a:xfrm>
        </p:grpSpPr>
        <p:grpSp>
          <p:nvGrpSpPr>
            <p:cNvPr id="10" name="Group 10"/>
            <p:cNvGrpSpPr/>
            <p:nvPr/>
          </p:nvGrpSpPr>
          <p:grpSpPr>
            <a:xfrm rot="215490">
              <a:off x="270254" y="293842"/>
              <a:ext cx="6370047" cy="5639832"/>
              <a:chOff x="0" y="0"/>
              <a:chExt cx="2560354" cy="2266854"/>
            </a:xfrm>
          </p:grpSpPr>
          <p:sp>
            <p:nvSpPr>
              <p:cNvPr id="11" name="Freeform 11"/>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2" name="TextBox 12"/>
              <p:cNvSpPr txBox="1"/>
              <p:nvPr/>
            </p:nvSpPr>
            <p:spPr>
              <a:xfrm>
                <a:off x="0" y="-38100"/>
                <a:ext cx="2560354" cy="2304954"/>
              </a:xfrm>
              <a:prstGeom prst="rect">
                <a:avLst/>
              </a:prstGeom>
            </p:spPr>
            <p:txBody>
              <a:bodyPr lIns="50800" tIns="50800" rIns="50800" bIns="50800" rtlCol="0" anchor="ctr"/>
              <a:lstStyle/>
              <a:p>
                <a:pPr algn="ctr">
                  <a:lnSpc>
                    <a:spcPts val="2800"/>
                  </a:lnSpc>
                </a:pPr>
              </a:p>
            </p:txBody>
          </p:sp>
        </p:grpSp>
        <p:grpSp>
          <p:nvGrpSpPr>
            <p:cNvPr id="13" name="Group 13"/>
            <p:cNvGrpSpPr/>
            <p:nvPr/>
          </p:nvGrpSpPr>
          <p:grpSpPr>
            <a:xfrm rot="215490">
              <a:off x="170392" y="193980"/>
              <a:ext cx="6370047" cy="5639832"/>
              <a:chOff x="0" y="0"/>
              <a:chExt cx="2560354" cy="2266854"/>
            </a:xfrm>
          </p:grpSpPr>
          <p:sp>
            <p:nvSpPr>
              <p:cNvPr id="14" name="Freeform 14"/>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5" name="TextBox 15"/>
              <p:cNvSpPr txBox="1"/>
              <p:nvPr/>
            </p:nvSpPr>
            <p:spPr>
              <a:xfrm>
                <a:off x="0" y="-38100"/>
                <a:ext cx="2560354" cy="2304954"/>
              </a:xfrm>
              <a:prstGeom prst="rect">
                <a:avLst/>
              </a:prstGeom>
            </p:spPr>
            <p:txBody>
              <a:bodyPr lIns="50800" tIns="50800" rIns="50800" bIns="50800" rtlCol="0" anchor="ctr"/>
              <a:lstStyle/>
              <a:p>
                <a:pPr algn="ctr">
                  <a:lnSpc>
                    <a:spcPts val="2800"/>
                  </a:lnSpc>
                </a:pPr>
              </a:p>
            </p:txBody>
          </p:sp>
        </p:grpSp>
        <p:grpSp>
          <p:nvGrpSpPr>
            <p:cNvPr id="16" name="Group 16"/>
            <p:cNvGrpSpPr/>
            <p:nvPr/>
          </p:nvGrpSpPr>
          <p:grpSpPr>
            <a:xfrm>
              <a:off x="123568" y="193980"/>
              <a:ext cx="6370047" cy="5639832"/>
              <a:chOff x="0" y="0"/>
              <a:chExt cx="2560354" cy="2266854"/>
            </a:xfrm>
          </p:grpSpPr>
          <p:sp>
            <p:nvSpPr>
              <p:cNvPr id="17" name="Freeform 17"/>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8" name="TextBox 18"/>
              <p:cNvSpPr txBox="1"/>
              <p:nvPr/>
            </p:nvSpPr>
            <p:spPr>
              <a:xfrm>
                <a:off x="0" y="-38100"/>
                <a:ext cx="2560354" cy="2304954"/>
              </a:xfrm>
              <a:prstGeom prst="rect">
                <a:avLst/>
              </a:prstGeom>
            </p:spPr>
            <p:txBody>
              <a:bodyPr lIns="50800" tIns="50800" rIns="50800" bIns="50800" rtlCol="0" anchor="ctr"/>
              <a:lstStyle/>
              <a:p>
                <a:pPr algn="ctr">
                  <a:lnSpc>
                    <a:spcPts val="2800"/>
                  </a:lnSpc>
                </a:pPr>
              </a:p>
            </p:txBody>
          </p:sp>
        </p:grpSp>
        <p:sp>
          <p:nvSpPr>
            <p:cNvPr id="19" name="AutoShape 19"/>
            <p:cNvSpPr/>
            <p:nvPr/>
          </p:nvSpPr>
          <p:spPr>
            <a:xfrm>
              <a:off x="639131" y="215825"/>
              <a:ext cx="5632293" cy="0"/>
            </a:xfrm>
            <a:prstGeom prst="line">
              <a:avLst/>
            </a:prstGeom>
            <a:ln w="43690" cap="rnd">
              <a:solidFill>
                <a:srgbClr val="EE7E35"/>
              </a:solidFill>
              <a:prstDash val="solid"/>
              <a:headEnd type="none" w="sm" len="sm"/>
              <a:tailEnd type="none" w="sm" len="sm"/>
            </a:ln>
          </p:spPr>
        </p:sp>
      </p:grpSp>
      <p:sp>
        <p:nvSpPr>
          <p:cNvPr id="28" name="Freeform 28"/>
          <p:cNvSpPr/>
          <p:nvPr/>
        </p:nvSpPr>
        <p:spPr>
          <a:xfrm flipH="1">
            <a:off x="451455" y="-32888"/>
            <a:ext cx="532726" cy="549717"/>
          </a:xfrm>
          <a:custGeom>
            <a:avLst/>
            <a:gdLst/>
            <a:ahLst/>
            <a:cxnLst/>
            <a:rect l="l" t="t" r="r" b="b"/>
            <a:pathLst>
              <a:path w="532726" h="549717">
                <a:moveTo>
                  <a:pt x="532727" y="0"/>
                </a:moveTo>
                <a:lnTo>
                  <a:pt x="0" y="0"/>
                </a:lnTo>
                <a:lnTo>
                  <a:pt x="0" y="549718"/>
                </a:lnTo>
                <a:lnTo>
                  <a:pt x="532727" y="549718"/>
                </a:lnTo>
                <a:lnTo>
                  <a:pt x="532727" y="0"/>
                </a:lnTo>
                <a:close/>
              </a:path>
            </a:pathLst>
          </a:custGeom>
          <a:blipFill>
            <a:blip r:embed="rId4"/>
            <a:stretch>
              <a:fillRect/>
            </a:stretch>
          </a:blipFill>
        </p:spPr>
      </p:sp>
      <p:sp>
        <p:nvSpPr>
          <p:cNvPr id="29" name="TextBox 29"/>
          <p:cNvSpPr txBox="1"/>
          <p:nvPr/>
        </p:nvSpPr>
        <p:spPr>
          <a:xfrm>
            <a:off x="294888" y="360232"/>
            <a:ext cx="4728527" cy="717550"/>
          </a:xfrm>
          <a:prstGeom prst="rect">
            <a:avLst/>
          </a:prstGeom>
        </p:spPr>
        <p:txBody>
          <a:bodyPr lIns="0" tIns="0" rIns="0" bIns="0" rtlCol="0" anchor="t">
            <a:spAutoFit/>
          </a:bodyPr>
          <a:lstStyle/>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研究方法</a:t>
            </a:r>
            <a:endPar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31" name="AutoShape 31"/>
          <p:cNvSpPr/>
          <p:nvPr/>
        </p:nvSpPr>
        <p:spPr>
          <a:xfrm>
            <a:off x="6425946" y="2228167"/>
            <a:ext cx="0" cy="6456007"/>
          </a:xfrm>
          <a:prstGeom prst="line">
            <a:avLst/>
          </a:prstGeom>
          <a:ln w="43313" cap="rnd">
            <a:solidFill>
              <a:srgbClr val="FAB882">
                <a:alpha val="30000"/>
              </a:srgbClr>
            </a:solidFill>
            <a:prstDash val="solid"/>
            <a:headEnd type="none" w="sm" len="sm"/>
            <a:tailEnd type="none" w="sm" len="sm"/>
          </a:ln>
        </p:spPr>
      </p:sp>
      <p:grpSp>
        <p:nvGrpSpPr>
          <p:cNvPr id="32" name="Group 32"/>
          <p:cNvGrpSpPr/>
          <p:nvPr/>
        </p:nvGrpSpPr>
        <p:grpSpPr>
          <a:xfrm>
            <a:off x="6697403" y="2476437"/>
            <a:ext cx="1518140" cy="1518140"/>
            <a:chOff x="0" y="0"/>
            <a:chExt cx="2024186" cy="2024186"/>
          </a:xfrm>
        </p:grpSpPr>
        <p:sp>
          <p:nvSpPr>
            <p:cNvPr id="33" name="Freeform 33"/>
            <p:cNvSpPr/>
            <p:nvPr/>
          </p:nvSpPr>
          <p:spPr>
            <a:xfrm>
              <a:off x="0" y="0"/>
              <a:ext cx="2024126" cy="2022856"/>
            </a:xfrm>
            <a:custGeom>
              <a:avLst/>
              <a:gdLst/>
              <a:ahLst/>
              <a:cxnLst/>
              <a:rect l="l" t="t" r="r" b="b"/>
              <a:pathLst>
                <a:path w="2024126" h="2022856">
                  <a:moveTo>
                    <a:pt x="4064" y="921258"/>
                  </a:moveTo>
                  <a:cubicBezTo>
                    <a:pt x="5461" y="906145"/>
                    <a:pt x="7112" y="891032"/>
                    <a:pt x="9144" y="876046"/>
                  </a:cubicBezTo>
                  <a:cubicBezTo>
                    <a:pt x="10795" y="863854"/>
                    <a:pt x="21971" y="855345"/>
                    <a:pt x="34163" y="856996"/>
                  </a:cubicBezTo>
                  <a:cubicBezTo>
                    <a:pt x="46355" y="858647"/>
                    <a:pt x="54864" y="869823"/>
                    <a:pt x="53213" y="882015"/>
                  </a:cubicBezTo>
                  <a:cubicBezTo>
                    <a:pt x="51308" y="896366"/>
                    <a:pt x="49657" y="910717"/>
                    <a:pt x="48387" y="925322"/>
                  </a:cubicBezTo>
                  <a:cubicBezTo>
                    <a:pt x="47244" y="937514"/>
                    <a:pt x="36449" y="946531"/>
                    <a:pt x="24257" y="945515"/>
                  </a:cubicBezTo>
                  <a:cubicBezTo>
                    <a:pt x="12065" y="944499"/>
                    <a:pt x="2921" y="933450"/>
                    <a:pt x="4064" y="921258"/>
                  </a:cubicBezTo>
                  <a:close/>
                  <a:moveTo>
                    <a:pt x="16129" y="831215"/>
                  </a:moveTo>
                  <a:cubicBezTo>
                    <a:pt x="18796" y="816229"/>
                    <a:pt x="21844" y="801370"/>
                    <a:pt x="25146" y="786765"/>
                  </a:cubicBezTo>
                  <a:cubicBezTo>
                    <a:pt x="27813" y="774827"/>
                    <a:pt x="39751" y="767334"/>
                    <a:pt x="51689" y="770001"/>
                  </a:cubicBezTo>
                  <a:cubicBezTo>
                    <a:pt x="63627" y="772668"/>
                    <a:pt x="71120" y="784606"/>
                    <a:pt x="68453" y="796544"/>
                  </a:cubicBezTo>
                  <a:cubicBezTo>
                    <a:pt x="65278" y="810641"/>
                    <a:pt x="62357" y="824738"/>
                    <a:pt x="59817" y="839089"/>
                  </a:cubicBezTo>
                  <a:cubicBezTo>
                    <a:pt x="57658" y="851154"/>
                    <a:pt x="46101" y="859155"/>
                    <a:pt x="34036" y="856996"/>
                  </a:cubicBezTo>
                  <a:cubicBezTo>
                    <a:pt x="21971" y="854837"/>
                    <a:pt x="13970" y="843280"/>
                    <a:pt x="16129" y="831088"/>
                  </a:cubicBezTo>
                  <a:close/>
                  <a:moveTo>
                    <a:pt x="36322" y="742442"/>
                  </a:moveTo>
                  <a:cubicBezTo>
                    <a:pt x="40386" y="727837"/>
                    <a:pt x="44704" y="713359"/>
                    <a:pt x="49403" y="699008"/>
                  </a:cubicBezTo>
                  <a:cubicBezTo>
                    <a:pt x="53213" y="687324"/>
                    <a:pt x="65786" y="680974"/>
                    <a:pt x="77470" y="684784"/>
                  </a:cubicBezTo>
                  <a:cubicBezTo>
                    <a:pt x="89154" y="688594"/>
                    <a:pt x="95504" y="701167"/>
                    <a:pt x="91694" y="712851"/>
                  </a:cubicBezTo>
                  <a:cubicBezTo>
                    <a:pt x="87249" y="726567"/>
                    <a:pt x="83058" y="740410"/>
                    <a:pt x="79248" y="754380"/>
                  </a:cubicBezTo>
                  <a:cubicBezTo>
                    <a:pt x="75946" y="766191"/>
                    <a:pt x="63754" y="773176"/>
                    <a:pt x="51943" y="769874"/>
                  </a:cubicBezTo>
                  <a:cubicBezTo>
                    <a:pt x="40132" y="766572"/>
                    <a:pt x="33020" y="754380"/>
                    <a:pt x="36322" y="742569"/>
                  </a:cubicBezTo>
                  <a:close/>
                  <a:moveTo>
                    <a:pt x="64389" y="656209"/>
                  </a:moveTo>
                  <a:cubicBezTo>
                    <a:pt x="69723" y="641985"/>
                    <a:pt x="75311" y="628015"/>
                    <a:pt x="81280" y="614172"/>
                  </a:cubicBezTo>
                  <a:cubicBezTo>
                    <a:pt x="86106" y="602869"/>
                    <a:pt x="99187" y="597662"/>
                    <a:pt x="110490" y="602488"/>
                  </a:cubicBezTo>
                  <a:cubicBezTo>
                    <a:pt x="121793" y="607314"/>
                    <a:pt x="127000" y="620395"/>
                    <a:pt x="122174" y="631698"/>
                  </a:cubicBezTo>
                  <a:cubicBezTo>
                    <a:pt x="116459" y="644906"/>
                    <a:pt x="111125" y="658368"/>
                    <a:pt x="106045" y="671957"/>
                  </a:cubicBezTo>
                  <a:cubicBezTo>
                    <a:pt x="101727" y="683387"/>
                    <a:pt x="88900" y="689229"/>
                    <a:pt x="77470" y="684911"/>
                  </a:cubicBezTo>
                  <a:cubicBezTo>
                    <a:pt x="66040" y="680593"/>
                    <a:pt x="60198" y="667766"/>
                    <a:pt x="64516" y="656336"/>
                  </a:cubicBezTo>
                  <a:close/>
                  <a:moveTo>
                    <a:pt x="100330" y="572770"/>
                  </a:moveTo>
                  <a:cubicBezTo>
                    <a:pt x="106934" y="559181"/>
                    <a:pt x="113792" y="545719"/>
                    <a:pt x="121031" y="532384"/>
                  </a:cubicBezTo>
                  <a:cubicBezTo>
                    <a:pt x="126873" y="521589"/>
                    <a:pt x="140335" y="517525"/>
                    <a:pt x="151130" y="523367"/>
                  </a:cubicBezTo>
                  <a:cubicBezTo>
                    <a:pt x="161925" y="529209"/>
                    <a:pt x="165989" y="542671"/>
                    <a:pt x="160147" y="553466"/>
                  </a:cubicBezTo>
                  <a:cubicBezTo>
                    <a:pt x="153289" y="566166"/>
                    <a:pt x="146685" y="578993"/>
                    <a:pt x="140462" y="592074"/>
                  </a:cubicBezTo>
                  <a:cubicBezTo>
                    <a:pt x="135128" y="603123"/>
                    <a:pt x="121793" y="607822"/>
                    <a:pt x="110744" y="602488"/>
                  </a:cubicBezTo>
                  <a:cubicBezTo>
                    <a:pt x="99695" y="597154"/>
                    <a:pt x="94996" y="583819"/>
                    <a:pt x="100330" y="572770"/>
                  </a:cubicBezTo>
                  <a:close/>
                  <a:moveTo>
                    <a:pt x="143510" y="492887"/>
                  </a:moveTo>
                  <a:cubicBezTo>
                    <a:pt x="151257" y="479933"/>
                    <a:pt x="159385" y="467106"/>
                    <a:pt x="167767" y="454406"/>
                  </a:cubicBezTo>
                  <a:cubicBezTo>
                    <a:pt x="174498" y="444119"/>
                    <a:pt x="188341" y="441325"/>
                    <a:pt x="198628" y="448183"/>
                  </a:cubicBezTo>
                  <a:cubicBezTo>
                    <a:pt x="208915" y="455041"/>
                    <a:pt x="211709" y="468757"/>
                    <a:pt x="204851" y="479044"/>
                  </a:cubicBezTo>
                  <a:cubicBezTo>
                    <a:pt x="196850" y="491109"/>
                    <a:pt x="189103" y="503301"/>
                    <a:pt x="181737" y="515747"/>
                  </a:cubicBezTo>
                  <a:cubicBezTo>
                    <a:pt x="175387" y="526288"/>
                    <a:pt x="161798" y="529717"/>
                    <a:pt x="151257" y="523367"/>
                  </a:cubicBezTo>
                  <a:cubicBezTo>
                    <a:pt x="140716" y="517017"/>
                    <a:pt x="137287" y="503428"/>
                    <a:pt x="143637" y="492887"/>
                  </a:cubicBezTo>
                  <a:close/>
                  <a:moveTo>
                    <a:pt x="193802" y="417195"/>
                  </a:moveTo>
                  <a:cubicBezTo>
                    <a:pt x="202692" y="405003"/>
                    <a:pt x="211963" y="392938"/>
                    <a:pt x="221361" y="381127"/>
                  </a:cubicBezTo>
                  <a:cubicBezTo>
                    <a:pt x="228981" y="371475"/>
                    <a:pt x="242951" y="369951"/>
                    <a:pt x="252603" y="377698"/>
                  </a:cubicBezTo>
                  <a:cubicBezTo>
                    <a:pt x="262255" y="385445"/>
                    <a:pt x="263779" y="399288"/>
                    <a:pt x="256032" y="408940"/>
                  </a:cubicBezTo>
                  <a:cubicBezTo>
                    <a:pt x="247015" y="420243"/>
                    <a:pt x="238252" y="431800"/>
                    <a:pt x="229743" y="443484"/>
                  </a:cubicBezTo>
                  <a:cubicBezTo>
                    <a:pt x="222504" y="453390"/>
                    <a:pt x="208661" y="455549"/>
                    <a:pt x="198755" y="448310"/>
                  </a:cubicBezTo>
                  <a:cubicBezTo>
                    <a:pt x="188849" y="441071"/>
                    <a:pt x="186690" y="427228"/>
                    <a:pt x="193929" y="417322"/>
                  </a:cubicBezTo>
                  <a:close/>
                  <a:moveTo>
                    <a:pt x="250571" y="346329"/>
                  </a:moveTo>
                  <a:cubicBezTo>
                    <a:pt x="260604" y="334899"/>
                    <a:pt x="270764" y="323723"/>
                    <a:pt x="281305" y="312801"/>
                  </a:cubicBezTo>
                  <a:cubicBezTo>
                    <a:pt x="289814" y="303911"/>
                    <a:pt x="303911" y="303657"/>
                    <a:pt x="312674" y="312166"/>
                  </a:cubicBezTo>
                  <a:cubicBezTo>
                    <a:pt x="321437" y="320675"/>
                    <a:pt x="321818" y="334772"/>
                    <a:pt x="313309" y="343535"/>
                  </a:cubicBezTo>
                  <a:cubicBezTo>
                    <a:pt x="303276" y="353949"/>
                    <a:pt x="293497" y="364744"/>
                    <a:pt x="283972" y="375539"/>
                  </a:cubicBezTo>
                  <a:cubicBezTo>
                    <a:pt x="275844" y="384810"/>
                    <a:pt x="261874" y="385699"/>
                    <a:pt x="252603" y="377571"/>
                  </a:cubicBezTo>
                  <a:cubicBezTo>
                    <a:pt x="243332" y="369443"/>
                    <a:pt x="242443" y="355473"/>
                    <a:pt x="250571" y="346202"/>
                  </a:cubicBezTo>
                  <a:close/>
                  <a:moveTo>
                    <a:pt x="313436" y="280543"/>
                  </a:moveTo>
                  <a:cubicBezTo>
                    <a:pt x="324358" y="270129"/>
                    <a:pt x="335534" y="259842"/>
                    <a:pt x="346964" y="249936"/>
                  </a:cubicBezTo>
                  <a:cubicBezTo>
                    <a:pt x="356235" y="241808"/>
                    <a:pt x="370205" y="242824"/>
                    <a:pt x="378333" y="252095"/>
                  </a:cubicBezTo>
                  <a:cubicBezTo>
                    <a:pt x="386461" y="261366"/>
                    <a:pt x="385445" y="275336"/>
                    <a:pt x="376174" y="283464"/>
                  </a:cubicBezTo>
                  <a:cubicBezTo>
                    <a:pt x="365252" y="292989"/>
                    <a:pt x="354584" y="302768"/>
                    <a:pt x="344043" y="312801"/>
                  </a:cubicBezTo>
                  <a:cubicBezTo>
                    <a:pt x="335153" y="321310"/>
                    <a:pt x="321056" y="320929"/>
                    <a:pt x="312674" y="312039"/>
                  </a:cubicBezTo>
                  <a:cubicBezTo>
                    <a:pt x="304292" y="303149"/>
                    <a:pt x="304546" y="289052"/>
                    <a:pt x="313436" y="280670"/>
                  </a:cubicBezTo>
                  <a:close/>
                  <a:moveTo>
                    <a:pt x="381889" y="220853"/>
                  </a:moveTo>
                  <a:cubicBezTo>
                    <a:pt x="393700" y="211455"/>
                    <a:pt x="405765" y="202184"/>
                    <a:pt x="418084" y="193294"/>
                  </a:cubicBezTo>
                  <a:cubicBezTo>
                    <a:pt x="427990" y="186055"/>
                    <a:pt x="441960" y="188214"/>
                    <a:pt x="449072" y="198247"/>
                  </a:cubicBezTo>
                  <a:cubicBezTo>
                    <a:pt x="456184" y="208280"/>
                    <a:pt x="454152" y="222123"/>
                    <a:pt x="444119" y="229235"/>
                  </a:cubicBezTo>
                  <a:cubicBezTo>
                    <a:pt x="432435" y="237744"/>
                    <a:pt x="420878" y="246507"/>
                    <a:pt x="409575" y="255524"/>
                  </a:cubicBezTo>
                  <a:cubicBezTo>
                    <a:pt x="399923" y="263144"/>
                    <a:pt x="385953" y="261620"/>
                    <a:pt x="378333" y="251968"/>
                  </a:cubicBezTo>
                  <a:cubicBezTo>
                    <a:pt x="370713" y="242316"/>
                    <a:pt x="372237" y="228346"/>
                    <a:pt x="381889" y="220726"/>
                  </a:cubicBezTo>
                  <a:close/>
                  <a:moveTo>
                    <a:pt x="455422" y="167259"/>
                  </a:moveTo>
                  <a:cubicBezTo>
                    <a:pt x="467995" y="158877"/>
                    <a:pt x="480822" y="150876"/>
                    <a:pt x="493903" y="143129"/>
                  </a:cubicBezTo>
                  <a:cubicBezTo>
                    <a:pt x="504444" y="136779"/>
                    <a:pt x="518033" y="140208"/>
                    <a:pt x="524383" y="150749"/>
                  </a:cubicBezTo>
                  <a:cubicBezTo>
                    <a:pt x="530733" y="161290"/>
                    <a:pt x="527304" y="174879"/>
                    <a:pt x="516763" y="181229"/>
                  </a:cubicBezTo>
                  <a:cubicBezTo>
                    <a:pt x="504317" y="188722"/>
                    <a:pt x="492125" y="196342"/>
                    <a:pt x="480060" y="204343"/>
                  </a:cubicBezTo>
                  <a:cubicBezTo>
                    <a:pt x="469773" y="211074"/>
                    <a:pt x="456057" y="208280"/>
                    <a:pt x="449326" y="197993"/>
                  </a:cubicBezTo>
                  <a:cubicBezTo>
                    <a:pt x="442595" y="187706"/>
                    <a:pt x="445389" y="173990"/>
                    <a:pt x="455676" y="167259"/>
                  </a:cubicBezTo>
                  <a:close/>
                  <a:moveTo>
                    <a:pt x="533654" y="120650"/>
                  </a:moveTo>
                  <a:cubicBezTo>
                    <a:pt x="546989" y="113538"/>
                    <a:pt x="560451" y="106553"/>
                    <a:pt x="574040" y="100076"/>
                  </a:cubicBezTo>
                  <a:cubicBezTo>
                    <a:pt x="585089" y="94742"/>
                    <a:pt x="598424" y="99441"/>
                    <a:pt x="603758" y="110490"/>
                  </a:cubicBezTo>
                  <a:cubicBezTo>
                    <a:pt x="609092" y="121539"/>
                    <a:pt x="604393" y="134874"/>
                    <a:pt x="593344" y="140208"/>
                  </a:cubicBezTo>
                  <a:cubicBezTo>
                    <a:pt x="580263" y="146558"/>
                    <a:pt x="567436" y="153035"/>
                    <a:pt x="554736" y="159893"/>
                  </a:cubicBezTo>
                  <a:cubicBezTo>
                    <a:pt x="543941" y="165735"/>
                    <a:pt x="530479" y="161671"/>
                    <a:pt x="524637" y="150876"/>
                  </a:cubicBezTo>
                  <a:cubicBezTo>
                    <a:pt x="518795" y="140081"/>
                    <a:pt x="522859" y="126619"/>
                    <a:pt x="533654" y="120777"/>
                  </a:cubicBezTo>
                  <a:close/>
                  <a:moveTo>
                    <a:pt x="614680" y="81026"/>
                  </a:moveTo>
                  <a:cubicBezTo>
                    <a:pt x="628523" y="75057"/>
                    <a:pt x="642620" y="69469"/>
                    <a:pt x="656717" y="64135"/>
                  </a:cubicBezTo>
                  <a:cubicBezTo>
                    <a:pt x="668147" y="59817"/>
                    <a:pt x="680974" y="65659"/>
                    <a:pt x="685292" y="77089"/>
                  </a:cubicBezTo>
                  <a:cubicBezTo>
                    <a:pt x="689610" y="88519"/>
                    <a:pt x="683768" y="101346"/>
                    <a:pt x="672338" y="105664"/>
                  </a:cubicBezTo>
                  <a:cubicBezTo>
                    <a:pt x="658749" y="110744"/>
                    <a:pt x="645414" y="116078"/>
                    <a:pt x="632079" y="121793"/>
                  </a:cubicBezTo>
                  <a:cubicBezTo>
                    <a:pt x="620776" y="126619"/>
                    <a:pt x="607695" y="121412"/>
                    <a:pt x="602869" y="110109"/>
                  </a:cubicBezTo>
                  <a:cubicBezTo>
                    <a:pt x="598043" y="98806"/>
                    <a:pt x="603250" y="85725"/>
                    <a:pt x="614553" y="80899"/>
                  </a:cubicBezTo>
                  <a:close/>
                  <a:moveTo>
                    <a:pt x="699643" y="49022"/>
                  </a:moveTo>
                  <a:cubicBezTo>
                    <a:pt x="713994" y="44323"/>
                    <a:pt x="728472" y="40005"/>
                    <a:pt x="743077" y="36068"/>
                  </a:cubicBezTo>
                  <a:cubicBezTo>
                    <a:pt x="754888" y="32766"/>
                    <a:pt x="767207" y="39751"/>
                    <a:pt x="770382" y="51562"/>
                  </a:cubicBezTo>
                  <a:cubicBezTo>
                    <a:pt x="773557" y="63373"/>
                    <a:pt x="766699" y="75692"/>
                    <a:pt x="754888" y="78867"/>
                  </a:cubicBezTo>
                  <a:cubicBezTo>
                    <a:pt x="740918" y="82677"/>
                    <a:pt x="727075" y="86868"/>
                    <a:pt x="713359" y="91313"/>
                  </a:cubicBezTo>
                  <a:cubicBezTo>
                    <a:pt x="701675" y="95123"/>
                    <a:pt x="689102" y="88646"/>
                    <a:pt x="685419" y="76962"/>
                  </a:cubicBezTo>
                  <a:cubicBezTo>
                    <a:pt x="681736" y="65278"/>
                    <a:pt x="688086" y="52705"/>
                    <a:pt x="699770" y="49022"/>
                  </a:cubicBezTo>
                  <a:close/>
                  <a:moveTo>
                    <a:pt x="787400" y="24892"/>
                  </a:moveTo>
                  <a:cubicBezTo>
                    <a:pt x="802132" y="21590"/>
                    <a:pt x="816991" y="18542"/>
                    <a:pt x="831850" y="15875"/>
                  </a:cubicBezTo>
                  <a:cubicBezTo>
                    <a:pt x="843915" y="13716"/>
                    <a:pt x="855472" y="21717"/>
                    <a:pt x="857631" y="33782"/>
                  </a:cubicBezTo>
                  <a:cubicBezTo>
                    <a:pt x="859790" y="45847"/>
                    <a:pt x="851789" y="57404"/>
                    <a:pt x="839724" y="59563"/>
                  </a:cubicBezTo>
                  <a:cubicBezTo>
                    <a:pt x="825373" y="62103"/>
                    <a:pt x="811276" y="65024"/>
                    <a:pt x="797179" y="68199"/>
                  </a:cubicBezTo>
                  <a:cubicBezTo>
                    <a:pt x="785241" y="70866"/>
                    <a:pt x="773303" y="63373"/>
                    <a:pt x="770636" y="51435"/>
                  </a:cubicBezTo>
                  <a:cubicBezTo>
                    <a:pt x="767969" y="39497"/>
                    <a:pt x="775462" y="27559"/>
                    <a:pt x="787400" y="24892"/>
                  </a:cubicBezTo>
                  <a:close/>
                  <a:moveTo>
                    <a:pt x="876681" y="9017"/>
                  </a:moveTo>
                  <a:cubicBezTo>
                    <a:pt x="891667" y="6985"/>
                    <a:pt x="906780" y="5334"/>
                    <a:pt x="921893" y="3937"/>
                  </a:cubicBezTo>
                  <a:cubicBezTo>
                    <a:pt x="934085" y="2794"/>
                    <a:pt x="944880" y="11938"/>
                    <a:pt x="946023" y="24130"/>
                  </a:cubicBezTo>
                  <a:cubicBezTo>
                    <a:pt x="947166" y="36322"/>
                    <a:pt x="938022" y="47117"/>
                    <a:pt x="925830" y="48260"/>
                  </a:cubicBezTo>
                  <a:cubicBezTo>
                    <a:pt x="911352" y="49530"/>
                    <a:pt x="896874" y="51181"/>
                    <a:pt x="882523" y="53086"/>
                  </a:cubicBezTo>
                  <a:cubicBezTo>
                    <a:pt x="870331" y="54737"/>
                    <a:pt x="859155" y="46228"/>
                    <a:pt x="857504" y="34036"/>
                  </a:cubicBezTo>
                  <a:cubicBezTo>
                    <a:pt x="855853" y="21844"/>
                    <a:pt x="864489" y="10668"/>
                    <a:pt x="876681" y="9017"/>
                  </a:cubicBezTo>
                  <a:close/>
                  <a:moveTo>
                    <a:pt x="967105" y="1016"/>
                  </a:moveTo>
                  <a:cubicBezTo>
                    <a:pt x="981964" y="381"/>
                    <a:pt x="996950" y="0"/>
                    <a:pt x="1012063" y="0"/>
                  </a:cubicBezTo>
                  <a:lnTo>
                    <a:pt x="1012063" y="22225"/>
                  </a:lnTo>
                  <a:lnTo>
                    <a:pt x="1012063" y="0"/>
                  </a:lnTo>
                  <a:cubicBezTo>
                    <a:pt x="1012317" y="0"/>
                    <a:pt x="1012571" y="0"/>
                    <a:pt x="1012698" y="0"/>
                  </a:cubicBezTo>
                  <a:cubicBezTo>
                    <a:pt x="1025017" y="0"/>
                    <a:pt x="1034923" y="9906"/>
                    <a:pt x="1034923" y="22225"/>
                  </a:cubicBezTo>
                  <a:cubicBezTo>
                    <a:pt x="1034923" y="34544"/>
                    <a:pt x="1025017" y="44450"/>
                    <a:pt x="1012698" y="44450"/>
                  </a:cubicBezTo>
                  <a:cubicBezTo>
                    <a:pt x="1012444" y="44450"/>
                    <a:pt x="1012317" y="44450"/>
                    <a:pt x="1012063" y="44450"/>
                  </a:cubicBezTo>
                  <a:lnTo>
                    <a:pt x="1012063" y="22225"/>
                  </a:lnTo>
                  <a:lnTo>
                    <a:pt x="1012063" y="44450"/>
                  </a:lnTo>
                  <a:cubicBezTo>
                    <a:pt x="997585" y="44450"/>
                    <a:pt x="983234" y="44704"/>
                    <a:pt x="969010" y="45339"/>
                  </a:cubicBezTo>
                  <a:cubicBezTo>
                    <a:pt x="956691" y="45847"/>
                    <a:pt x="946404" y="36322"/>
                    <a:pt x="945896" y="24130"/>
                  </a:cubicBezTo>
                  <a:cubicBezTo>
                    <a:pt x="945388" y="11938"/>
                    <a:pt x="954786" y="1524"/>
                    <a:pt x="967105" y="1016"/>
                  </a:cubicBezTo>
                  <a:close/>
                  <a:moveTo>
                    <a:pt x="1058545" y="1016"/>
                  </a:moveTo>
                  <a:cubicBezTo>
                    <a:pt x="1073658" y="1651"/>
                    <a:pt x="1088771" y="2667"/>
                    <a:pt x="1103757" y="4064"/>
                  </a:cubicBezTo>
                  <a:cubicBezTo>
                    <a:pt x="1115949" y="5207"/>
                    <a:pt x="1124966" y="16002"/>
                    <a:pt x="1123950" y="28194"/>
                  </a:cubicBezTo>
                  <a:cubicBezTo>
                    <a:pt x="1122934" y="40386"/>
                    <a:pt x="1112012" y="49403"/>
                    <a:pt x="1099820" y="48387"/>
                  </a:cubicBezTo>
                  <a:cubicBezTo>
                    <a:pt x="1085469" y="47117"/>
                    <a:pt x="1071118" y="46101"/>
                    <a:pt x="1056640" y="45466"/>
                  </a:cubicBezTo>
                  <a:cubicBezTo>
                    <a:pt x="1044321" y="44958"/>
                    <a:pt x="1034923" y="34544"/>
                    <a:pt x="1035431" y="22225"/>
                  </a:cubicBezTo>
                  <a:cubicBezTo>
                    <a:pt x="1035939" y="9906"/>
                    <a:pt x="1046226" y="508"/>
                    <a:pt x="1058418" y="1016"/>
                  </a:cubicBezTo>
                  <a:close/>
                  <a:moveTo>
                    <a:pt x="1148842" y="9144"/>
                  </a:moveTo>
                  <a:cubicBezTo>
                    <a:pt x="1163955" y="11176"/>
                    <a:pt x="1178814" y="13589"/>
                    <a:pt x="1193673" y="16256"/>
                  </a:cubicBezTo>
                  <a:cubicBezTo>
                    <a:pt x="1205738" y="18415"/>
                    <a:pt x="1213739" y="29972"/>
                    <a:pt x="1211580" y="42037"/>
                  </a:cubicBezTo>
                  <a:cubicBezTo>
                    <a:pt x="1209421" y="54102"/>
                    <a:pt x="1197864" y="62230"/>
                    <a:pt x="1185799" y="59944"/>
                  </a:cubicBezTo>
                  <a:cubicBezTo>
                    <a:pt x="1171575" y="57404"/>
                    <a:pt x="1157351" y="55118"/>
                    <a:pt x="1142873" y="53213"/>
                  </a:cubicBezTo>
                  <a:cubicBezTo>
                    <a:pt x="1130681" y="51562"/>
                    <a:pt x="1122172" y="40386"/>
                    <a:pt x="1123823" y="28194"/>
                  </a:cubicBezTo>
                  <a:cubicBezTo>
                    <a:pt x="1125474" y="16002"/>
                    <a:pt x="1136650" y="7493"/>
                    <a:pt x="1148842" y="9144"/>
                  </a:cubicBezTo>
                  <a:close/>
                  <a:moveTo>
                    <a:pt x="1238250" y="25400"/>
                  </a:moveTo>
                  <a:cubicBezTo>
                    <a:pt x="1253109" y="28829"/>
                    <a:pt x="1267714" y="32512"/>
                    <a:pt x="1282319" y="36576"/>
                  </a:cubicBezTo>
                  <a:cubicBezTo>
                    <a:pt x="1294130" y="39878"/>
                    <a:pt x="1301115" y="52070"/>
                    <a:pt x="1297813" y="63881"/>
                  </a:cubicBezTo>
                  <a:cubicBezTo>
                    <a:pt x="1294511" y="75692"/>
                    <a:pt x="1282319" y="82677"/>
                    <a:pt x="1270508" y="79375"/>
                  </a:cubicBezTo>
                  <a:cubicBezTo>
                    <a:pt x="1256538" y="75565"/>
                    <a:pt x="1242568" y="72009"/>
                    <a:pt x="1228344" y="68707"/>
                  </a:cubicBezTo>
                  <a:cubicBezTo>
                    <a:pt x="1216406" y="65913"/>
                    <a:pt x="1208913" y="54102"/>
                    <a:pt x="1211580" y="42037"/>
                  </a:cubicBezTo>
                  <a:cubicBezTo>
                    <a:pt x="1214247" y="29972"/>
                    <a:pt x="1226185" y="22606"/>
                    <a:pt x="1238250" y="25400"/>
                  </a:cubicBezTo>
                  <a:close/>
                  <a:moveTo>
                    <a:pt x="1325753" y="49530"/>
                  </a:moveTo>
                  <a:cubicBezTo>
                    <a:pt x="1340231" y="54229"/>
                    <a:pt x="1354582" y="59309"/>
                    <a:pt x="1368679" y="64643"/>
                  </a:cubicBezTo>
                  <a:cubicBezTo>
                    <a:pt x="1380109" y="68961"/>
                    <a:pt x="1385951" y="81788"/>
                    <a:pt x="1381633" y="93218"/>
                  </a:cubicBezTo>
                  <a:cubicBezTo>
                    <a:pt x="1377315" y="104648"/>
                    <a:pt x="1364488" y="110490"/>
                    <a:pt x="1353058" y="106172"/>
                  </a:cubicBezTo>
                  <a:cubicBezTo>
                    <a:pt x="1339469" y="101092"/>
                    <a:pt x="1325880" y="96266"/>
                    <a:pt x="1312037" y="91821"/>
                  </a:cubicBezTo>
                  <a:cubicBezTo>
                    <a:pt x="1300353" y="88011"/>
                    <a:pt x="1294003" y="75438"/>
                    <a:pt x="1297813" y="63754"/>
                  </a:cubicBezTo>
                  <a:cubicBezTo>
                    <a:pt x="1301623" y="52070"/>
                    <a:pt x="1314196" y="45720"/>
                    <a:pt x="1325880" y="49530"/>
                  </a:cubicBezTo>
                  <a:close/>
                  <a:moveTo>
                    <a:pt x="1410843" y="81534"/>
                  </a:moveTo>
                  <a:cubicBezTo>
                    <a:pt x="1424813" y="87503"/>
                    <a:pt x="1438656" y="93853"/>
                    <a:pt x="1452245" y="100457"/>
                  </a:cubicBezTo>
                  <a:cubicBezTo>
                    <a:pt x="1463294" y="105791"/>
                    <a:pt x="1467866" y="119126"/>
                    <a:pt x="1462532" y="130175"/>
                  </a:cubicBezTo>
                  <a:cubicBezTo>
                    <a:pt x="1457198" y="141224"/>
                    <a:pt x="1443863" y="145796"/>
                    <a:pt x="1432814" y="140462"/>
                  </a:cubicBezTo>
                  <a:cubicBezTo>
                    <a:pt x="1419733" y="134112"/>
                    <a:pt x="1406525" y="128143"/>
                    <a:pt x="1393190" y="122428"/>
                  </a:cubicBezTo>
                  <a:cubicBezTo>
                    <a:pt x="1381887" y="117602"/>
                    <a:pt x="1376680" y="104521"/>
                    <a:pt x="1381506" y="93218"/>
                  </a:cubicBezTo>
                  <a:cubicBezTo>
                    <a:pt x="1386332" y="81915"/>
                    <a:pt x="1399413" y="76708"/>
                    <a:pt x="1410716" y="81534"/>
                  </a:cubicBezTo>
                  <a:close/>
                  <a:moveTo>
                    <a:pt x="1492504" y="121031"/>
                  </a:moveTo>
                  <a:cubicBezTo>
                    <a:pt x="1505839" y="128270"/>
                    <a:pt x="1519047" y="135763"/>
                    <a:pt x="1532001" y="143510"/>
                  </a:cubicBezTo>
                  <a:cubicBezTo>
                    <a:pt x="1542542" y="149860"/>
                    <a:pt x="1545971" y="163449"/>
                    <a:pt x="1539621" y="173990"/>
                  </a:cubicBezTo>
                  <a:cubicBezTo>
                    <a:pt x="1533271" y="184531"/>
                    <a:pt x="1519682" y="187960"/>
                    <a:pt x="1509141" y="181610"/>
                  </a:cubicBezTo>
                  <a:cubicBezTo>
                    <a:pt x="1496695" y="174117"/>
                    <a:pt x="1484122" y="167005"/>
                    <a:pt x="1471295" y="160020"/>
                  </a:cubicBezTo>
                  <a:cubicBezTo>
                    <a:pt x="1460500" y="154178"/>
                    <a:pt x="1456436" y="140716"/>
                    <a:pt x="1462278" y="129921"/>
                  </a:cubicBezTo>
                  <a:cubicBezTo>
                    <a:pt x="1468120" y="119126"/>
                    <a:pt x="1481582" y="115062"/>
                    <a:pt x="1492377" y="120904"/>
                  </a:cubicBezTo>
                  <a:close/>
                  <a:moveTo>
                    <a:pt x="1570355" y="167640"/>
                  </a:moveTo>
                  <a:cubicBezTo>
                    <a:pt x="1583055" y="176022"/>
                    <a:pt x="1595501" y="184658"/>
                    <a:pt x="1607693" y="193548"/>
                  </a:cubicBezTo>
                  <a:cubicBezTo>
                    <a:pt x="1617599" y="200787"/>
                    <a:pt x="1619758" y="214630"/>
                    <a:pt x="1612519" y="224663"/>
                  </a:cubicBezTo>
                  <a:cubicBezTo>
                    <a:pt x="1605280" y="234696"/>
                    <a:pt x="1591437" y="236728"/>
                    <a:pt x="1581404" y="229489"/>
                  </a:cubicBezTo>
                  <a:cubicBezTo>
                    <a:pt x="1569720" y="220980"/>
                    <a:pt x="1557782" y="212725"/>
                    <a:pt x="1545717" y="204724"/>
                  </a:cubicBezTo>
                  <a:cubicBezTo>
                    <a:pt x="1535430" y="197993"/>
                    <a:pt x="1532636" y="184150"/>
                    <a:pt x="1539494" y="173863"/>
                  </a:cubicBezTo>
                  <a:cubicBezTo>
                    <a:pt x="1546352" y="163576"/>
                    <a:pt x="1560068" y="160782"/>
                    <a:pt x="1570355" y="167640"/>
                  </a:cubicBezTo>
                  <a:close/>
                  <a:moveTo>
                    <a:pt x="1643761" y="221234"/>
                  </a:moveTo>
                  <a:cubicBezTo>
                    <a:pt x="1655572" y="230759"/>
                    <a:pt x="1667256" y="240411"/>
                    <a:pt x="1678559" y="250444"/>
                  </a:cubicBezTo>
                  <a:cubicBezTo>
                    <a:pt x="1687830" y="258572"/>
                    <a:pt x="1688719" y="272542"/>
                    <a:pt x="1680591" y="281813"/>
                  </a:cubicBezTo>
                  <a:cubicBezTo>
                    <a:pt x="1672463" y="291084"/>
                    <a:pt x="1658493" y="291973"/>
                    <a:pt x="1649222" y="283845"/>
                  </a:cubicBezTo>
                  <a:cubicBezTo>
                    <a:pt x="1638300" y="274320"/>
                    <a:pt x="1627251" y="265049"/>
                    <a:pt x="1615948" y="255905"/>
                  </a:cubicBezTo>
                  <a:cubicBezTo>
                    <a:pt x="1606423" y="248285"/>
                    <a:pt x="1604772" y="234188"/>
                    <a:pt x="1612519" y="224663"/>
                  </a:cubicBezTo>
                  <a:cubicBezTo>
                    <a:pt x="1620266" y="215138"/>
                    <a:pt x="1634236" y="213487"/>
                    <a:pt x="1643761" y="221234"/>
                  </a:cubicBezTo>
                  <a:close/>
                  <a:moveTo>
                    <a:pt x="1712087" y="281051"/>
                  </a:moveTo>
                  <a:cubicBezTo>
                    <a:pt x="1723009" y="291465"/>
                    <a:pt x="1733677" y="302260"/>
                    <a:pt x="1744218" y="313182"/>
                  </a:cubicBezTo>
                  <a:cubicBezTo>
                    <a:pt x="1752727" y="322072"/>
                    <a:pt x="1752346" y="336169"/>
                    <a:pt x="1743456" y="344551"/>
                  </a:cubicBezTo>
                  <a:cubicBezTo>
                    <a:pt x="1734566" y="352933"/>
                    <a:pt x="1720469" y="352679"/>
                    <a:pt x="1712087" y="343789"/>
                  </a:cubicBezTo>
                  <a:cubicBezTo>
                    <a:pt x="1702054" y="333375"/>
                    <a:pt x="1691894" y="323088"/>
                    <a:pt x="1681353" y="313055"/>
                  </a:cubicBezTo>
                  <a:cubicBezTo>
                    <a:pt x="1672463" y="304546"/>
                    <a:pt x="1672209" y="290449"/>
                    <a:pt x="1680718" y="281686"/>
                  </a:cubicBezTo>
                  <a:cubicBezTo>
                    <a:pt x="1689227" y="272923"/>
                    <a:pt x="1703324" y="272542"/>
                    <a:pt x="1712087" y="281051"/>
                  </a:cubicBezTo>
                  <a:close/>
                  <a:moveTo>
                    <a:pt x="1774825" y="346710"/>
                  </a:moveTo>
                  <a:cubicBezTo>
                    <a:pt x="1784731" y="358140"/>
                    <a:pt x="1794510" y="369697"/>
                    <a:pt x="1803908" y="381635"/>
                  </a:cubicBezTo>
                  <a:cubicBezTo>
                    <a:pt x="1811528" y="391287"/>
                    <a:pt x="1810004" y="405257"/>
                    <a:pt x="1800352" y="412877"/>
                  </a:cubicBezTo>
                  <a:cubicBezTo>
                    <a:pt x="1790700" y="420497"/>
                    <a:pt x="1776730" y="418973"/>
                    <a:pt x="1769110" y="409321"/>
                  </a:cubicBezTo>
                  <a:cubicBezTo>
                    <a:pt x="1760093" y="398018"/>
                    <a:pt x="1750822" y="386842"/>
                    <a:pt x="1741297" y="375920"/>
                  </a:cubicBezTo>
                  <a:cubicBezTo>
                    <a:pt x="1733169" y="366649"/>
                    <a:pt x="1734185" y="352679"/>
                    <a:pt x="1743456" y="344551"/>
                  </a:cubicBezTo>
                  <a:cubicBezTo>
                    <a:pt x="1752727" y="336423"/>
                    <a:pt x="1766697" y="337439"/>
                    <a:pt x="1774825" y="346710"/>
                  </a:cubicBezTo>
                  <a:close/>
                  <a:moveTo>
                    <a:pt x="1831467" y="417703"/>
                  </a:moveTo>
                  <a:cubicBezTo>
                    <a:pt x="1840357" y="429895"/>
                    <a:pt x="1848993" y="442468"/>
                    <a:pt x="1857375" y="455041"/>
                  </a:cubicBezTo>
                  <a:cubicBezTo>
                    <a:pt x="1864106" y="465328"/>
                    <a:pt x="1861312" y="479044"/>
                    <a:pt x="1851025" y="485775"/>
                  </a:cubicBezTo>
                  <a:cubicBezTo>
                    <a:pt x="1840738" y="492506"/>
                    <a:pt x="1827022" y="489712"/>
                    <a:pt x="1820291" y="479425"/>
                  </a:cubicBezTo>
                  <a:cubicBezTo>
                    <a:pt x="1812290" y="467360"/>
                    <a:pt x="1804035" y="455422"/>
                    <a:pt x="1795526" y="443738"/>
                  </a:cubicBezTo>
                  <a:cubicBezTo>
                    <a:pt x="1788287" y="433832"/>
                    <a:pt x="1790573" y="419862"/>
                    <a:pt x="1800479" y="412750"/>
                  </a:cubicBezTo>
                  <a:cubicBezTo>
                    <a:pt x="1810385" y="405638"/>
                    <a:pt x="1824355" y="407797"/>
                    <a:pt x="1831467" y="417703"/>
                  </a:cubicBezTo>
                  <a:close/>
                  <a:moveTo>
                    <a:pt x="1881505" y="493522"/>
                  </a:moveTo>
                  <a:cubicBezTo>
                    <a:pt x="1889252" y="506476"/>
                    <a:pt x="1896745" y="519684"/>
                    <a:pt x="1903984" y="533146"/>
                  </a:cubicBezTo>
                  <a:cubicBezTo>
                    <a:pt x="1909826" y="543941"/>
                    <a:pt x="1905762" y="557403"/>
                    <a:pt x="1894967" y="563245"/>
                  </a:cubicBezTo>
                  <a:cubicBezTo>
                    <a:pt x="1884172" y="569087"/>
                    <a:pt x="1870710" y="565023"/>
                    <a:pt x="1864868" y="554228"/>
                  </a:cubicBezTo>
                  <a:cubicBezTo>
                    <a:pt x="1858010" y="541401"/>
                    <a:pt x="1850898" y="528828"/>
                    <a:pt x="1843405" y="516382"/>
                  </a:cubicBezTo>
                  <a:cubicBezTo>
                    <a:pt x="1837055" y="505841"/>
                    <a:pt x="1840611" y="492252"/>
                    <a:pt x="1851025" y="485902"/>
                  </a:cubicBezTo>
                  <a:cubicBezTo>
                    <a:pt x="1861439" y="479552"/>
                    <a:pt x="1875155" y="483108"/>
                    <a:pt x="1881505" y="493522"/>
                  </a:cubicBezTo>
                  <a:close/>
                  <a:moveTo>
                    <a:pt x="1924558" y="573532"/>
                  </a:moveTo>
                  <a:cubicBezTo>
                    <a:pt x="1931162" y="587121"/>
                    <a:pt x="1937385" y="600964"/>
                    <a:pt x="1943354" y="614934"/>
                  </a:cubicBezTo>
                  <a:cubicBezTo>
                    <a:pt x="1948180" y="626237"/>
                    <a:pt x="1942973" y="639318"/>
                    <a:pt x="1931670" y="644144"/>
                  </a:cubicBezTo>
                  <a:cubicBezTo>
                    <a:pt x="1920367" y="648970"/>
                    <a:pt x="1907286" y="643763"/>
                    <a:pt x="1902460" y="632460"/>
                  </a:cubicBezTo>
                  <a:cubicBezTo>
                    <a:pt x="1896745" y="619125"/>
                    <a:pt x="1890776" y="605917"/>
                    <a:pt x="1884426" y="592836"/>
                  </a:cubicBezTo>
                  <a:cubicBezTo>
                    <a:pt x="1879092" y="581787"/>
                    <a:pt x="1883791" y="568452"/>
                    <a:pt x="1894840" y="563118"/>
                  </a:cubicBezTo>
                  <a:cubicBezTo>
                    <a:pt x="1905889" y="557784"/>
                    <a:pt x="1919224" y="562483"/>
                    <a:pt x="1924558" y="573532"/>
                  </a:cubicBezTo>
                  <a:close/>
                  <a:moveTo>
                    <a:pt x="1960245" y="657098"/>
                  </a:moveTo>
                  <a:cubicBezTo>
                    <a:pt x="1965579" y="671322"/>
                    <a:pt x="1970532" y="685546"/>
                    <a:pt x="1975231" y="700024"/>
                  </a:cubicBezTo>
                  <a:cubicBezTo>
                    <a:pt x="1979041" y="711708"/>
                    <a:pt x="1972564" y="724281"/>
                    <a:pt x="1960880" y="727964"/>
                  </a:cubicBezTo>
                  <a:cubicBezTo>
                    <a:pt x="1949196" y="731647"/>
                    <a:pt x="1936623" y="725297"/>
                    <a:pt x="1932940" y="713613"/>
                  </a:cubicBezTo>
                  <a:cubicBezTo>
                    <a:pt x="1928495" y="699770"/>
                    <a:pt x="1923669" y="686054"/>
                    <a:pt x="1918589" y="672592"/>
                  </a:cubicBezTo>
                  <a:cubicBezTo>
                    <a:pt x="1914271" y="661035"/>
                    <a:pt x="1920113" y="648335"/>
                    <a:pt x="1931670" y="644017"/>
                  </a:cubicBezTo>
                  <a:cubicBezTo>
                    <a:pt x="1943227" y="639699"/>
                    <a:pt x="1955927" y="645541"/>
                    <a:pt x="1960245" y="657098"/>
                  </a:cubicBezTo>
                  <a:close/>
                  <a:moveTo>
                    <a:pt x="1988185" y="743585"/>
                  </a:moveTo>
                  <a:cubicBezTo>
                    <a:pt x="1992122" y="758190"/>
                    <a:pt x="1995805" y="772922"/>
                    <a:pt x="1999234" y="787654"/>
                  </a:cubicBezTo>
                  <a:cubicBezTo>
                    <a:pt x="2001901" y="799592"/>
                    <a:pt x="1994408" y="811530"/>
                    <a:pt x="1982470" y="814197"/>
                  </a:cubicBezTo>
                  <a:cubicBezTo>
                    <a:pt x="1970532" y="816864"/>
                    <a:pt x="1958594" y="809371"/>
                    <a:pt x="1955927" y="797433"/>
                  </a:cubicBezTo>
                  <a:cubicBezTo>
                    <a:pt x="1952752" y="783209"/>
                    <a:pt x="1949196" y="769239"/>
                    <a:pt x="1945386" y="755269"/>
                  </a:cubicBezTo>
                  <a:cubicBezTo>
                    <a:pt x="1942084" y="743458"/>
                    <a:pt x="1949069" y="731266"/>
                    <a:pt x="1960880" y="727964"/>
                  </a:cubicBezTo>
                  <a:cubicBezTo>
                    <a:pt x="1972691" y="724662"/>
                    <a:pt x="1984883" y="731647"/>
                    <a:pt x="1988185" y="743458"/>
                  </a:cubicBezTo>
                  <a:close/>
                  <a:moveTo>
                    <a:pt x="2008251" y="832104"/>
                  </a:moveTo>
                  <a:cubicBezTo>
                    <a:pt x="2010918" y="846963"/>
                    <a:pt x="2013204" y="861949"/>
                    <a:pt x="2015236" y="876935"/>
                  </a:cubicBezTo>
                  <a:cubicBezTo>
                    <a:pt x="2016887" y="889127"/>
                    <a:pt x="2008251" y="900303"/>
                    <a:pt x="1996186" y="901954"/>
                  </a:cubicBezTo>
                  <a:cubicBezTo>
                    <a:pt x="1984121" y="903605"/>
                    <a:pt x="1972818" y="894969"/>
                    <a:pt x="1971167" y="882904"/>
                  </a:cubicBezTo>
                  <a:cubicBezTo>
                    <a:pt x="1969262" y="868553"/>
                    <a:pt x="1966976" y="854202"/>
                    <a:pt x="1964436" y="839978"/>
                  </a:cubicBezTo>
                  <a:cubicBezTo>
                    <a:pt x="1962277" y="827913"/>
                    <a:pt x="1970278" y="816356"/>
                    <a:pt x="1982343" y="814197"/>
                  </a:cubicBezTo>
                  <a:cubicBezTo>
                    <a:pt x="1994408" y="812038"/>
                    <a:pt x="2005965" y="820039"/>
                    <a:pt x="2008124" y="832104"/>
                  </a:cubicBezTo>
                  <a:close/>
                  <a:moveTo>
                    <a:pt x="2020062" y="922147"/>
                  </a:moveTo>
                  <a:cubicBezTo>
                    <a:pt x="2021332" y="937133"/>
                    <a:pt x="2022348" y="952246"/>
                    <a:pt x="2022983" y="967359"/>
                  </a:cubicBezTo>
                  <a:cubicBezTo>
                    <a:pt x="2023491" y="979678"/>
                    <a:pt x="2013966" y="989965"/>
                    <a:pt x="2001774" y="990473"/>
                  </a:cubicBezTo>
                  <a:cubicBezTo>
                    <a:pt x="1989582" y="990981"/>
                    <a:pt x="1979168" y="981456"/>
                    <a:pt x="1978660" y="969264"/>
                  </a:cubicBezTo>
                  <a:cubicBezTo>
                    <a:pt x="1978025" y="954786"/>
                    <a:pt x="1977136" y="940308"/>
                    <a:pt x="1975866" y="926084"/>
                  </a:cubicBezTo>
                  <a:cubicBezTo>
                    <a:pt x="1974850" y="913892"/>
                    <a:pt x="1983867" y="903097"/>
                    <a:pt x="1996059" y="901954"/>
                  </a:cubicBezTo>
                  <a:cubicBezTo>
                    <a:pt x="2008251" y="900811"/>
                    <a:pt x="2019046" y="909955"/>
                    <a:pt x="2020189" y="922147"/>
                  </a:cubicBezTo>
                  <a:close/>
                  <a:moveTo>
                    <a:pt x="2024126" y="1013079"/>
                  </a:moveTo>
                  <a:cubicBezTo>
                    <a:pt x="2024126" y="1028446"/>
                    <a:pt x="2023745" y="1043559"/>
                    <a:pt x="2023110" y="1058799"/>
                  </a:cubicBezTo>
                  <a:cubicBezTo>
                    <a:pt x="2022602" y="1071118"/>
                    <a:pt x="2012188" y="1080516"/>
                    <a:pt x="1999869" y="1080008"/>
                  </a:cubicBezTo>
                  <a:cubicBezTo>
                    <a:pt x="1987550" y="1079500"/>
                    <a:pt x="1978152" y="1069086"/>
                    <a:pt x="1978660" y="1056767"/>
                  </a:cubicBezTo>
                  <a:cubicBezTo>
                    <a:pt x="1979295" y="1042289"/>
                    <a:pt x="1979676" y="1027684"/>
                    <a:pt x="1979676" y="1013079"/>
                  </a:cubicBezTo>
                  <a:cubicBezTo>
                    <a:pt x="1979676" y="1000760"/>
                    <a:pt x="1989709" y="990854"/>
                    <a:pt x="2001901" y="990854"/>
                  </a:cubicBezTo>
                  <a:cubicBezTo>
                    <a:pt x="2014093" y="990854"/>
                    <a:pt x="2024126" y="1000887"/>
                    <a:pt x="2024126" y="1013079"/>
                  </a:cubicBezTo>
                  <a:close/>
                  <a:moveTo>
                    <a:pt x="2019935" y="1103884"/>
                  </a:moveTo>
                  <a:cubicBezTo>
                    <a:pt x="2018538" y="1119124"/>
                    <a:pt x="2016887" y="1134110"/>
                    <a:pt x="2014855" y="1149096"/>
                  </a:cubicBezTo>
                  <a:cubicBezTo>
                    <a:pt x="2013204" y="1161288"/>
                    <a:pt x="2002028" y="1169797"/>
                    <a:pt x="1989836" y="1168146"/>
                  </a:cubicBezTo>
                  <a:cubicBezTo>
                    <a:pt x="1977644" y="1166495"/>
                    <a:pt x="1969135" y="1155319"/>
                    <a:pt x="1970786" y="1143127"/>
                  </a:cubicBezTo>
                  <a:cubicBezTo>
                    <a:pt x="1972691" y="1128776"/>
                    <a:pt x="1974342" y="1114425"/>
                    <a:pt x="1975612" y="1099820"/>
                  </a:cubicBezTo>
                  <a:cubicBezTo>
                    <a:pt x="1976755" y="1087628"/>
                    <a:pt x="1987550" y="1078611"/>
                    <a:pt x="1999742" y="1079627"/>
                  </a:cubicBezTo>
                  <a:cubicBezTo>
                    <a:pt x="2011934" y="1080643"/>
                    <a:pt x="2020951" y="1091565"/>
                    <a:pt x="2019935" y="1103757"/>
                  </a:cubicBezTo>
                  <a:close/>
                  <a:moveTo>
                    <a:pt x="2007743" y="1193800"/>
                  </a:moveTo>
                  <a:cubicBezTo>
                    <a:pt x="2005076" y="1208786"/>
                    <a:pt x="2002028" y="1223645"/>
                    <a:pt x="1998599" y="1238250"/>
                  </a:cubicBezTo>
                  <a:cubicBezTo>
                    <a:pt x="1995805" y="1250188"/>
                    <a:pt x="1983994" y="1257681"/>
                    <a:pt x="1971929" y="1255014"/>
                  </a:cubicBezTo>
                  <a:cubicBezTo>
                    <a:pt x="1959864" y="1252347"/>
                    <a:pt x="1952498" y="1240409"/>
                    <a:pt x="1955165" y="1228344"/>
                  </a:cubicBezTo>
                  <a:cubicBezTo>
                    <a:pt x="1958340" y="1214247"/>
                    <a:pt x="1961261" y="1200150"/>
                    <a:pt x="1963928" y="1185799"/>
                  </a:cubicBezTo>
                  <a:cubicBezTo>
                    <a:pt x="1966087" y="1173734"/>
                    <a:pt x="1977644" y="1165733"/>
                    <a:pt x="1989709" y="1167892"/>
                  </a:cubicBezTo>
                  <a:cubicBezTo>
                    <a:pt x="2001774" y="1170051"/>
                    <a:pt x="2009775" y="1181608"/>
                    <a:pt x="2007616" y="1193673"/>
                  </a:cubicBezTo>
                  <a:close/>
                  <a:moveTo>
                    <a:pt x="1987296" y="1282192"/>
                  </a:moveTo>
                  <a:cubicBezTo>
                    <a:pt x="1983232" y="1296797"/>
                    <a:pt x="1978914" y="1311275"/>
                    <a:pt x="1974215" y="1325626"/>
                  </a:cubicBezTo>
                  <a:cubicBezTo>
                    <a:pt x="1970405" y="1337310"/>
                    <a:pt x="1957832" y="1343660"/>
                    <a:pt x="1946148" y="1339850"/>
                  </a:cubicBezTo>
                  <a:cubicBezTo>
                    <a:pt x="1934464" y="1336040"/>
                    <a:pt x="1928114" y="1323467"/>
                    <a:pt x="1931924" y="1311783"/>
                  </a:cubicBezTo>
                  <a:cubicBezTo>
                    <a:pt x="1936369" y="1298067"/>
                    <a:pt x="1940560" y="1284224"/>
                    <a:pt x="1944497" y="1270254"/>
                  </a:cubicBezTo>
                  <a:cubicBezTo>
                    <a:pt x="1947799" y="1258443"/>
                    <a:pt x="1959991" y="1251458"/>
                    <a:pt x="1971802" y="1254760"/>
                  </a:cubicBezTo>
                  <a:cubicBezTo>
                    <a:pt x="1983613" y="1258062"/>
                    <a:pt x="1990598" y="1270254"/>
                    <a:pt x="1987296" y="1282065"/>
                  </a:cubicBezTo>
                  <a:close/>
                  <a:moveTo>
                    <a:pt x="1959102" y="1368425"/>
                  </a:moveTo>
                  <a:cubicBezTo>
                    <a:pt x="1953768" y="1382649"/>
                    <a:pt x="1948053" y="1396619"/>
                    <a:pt x="1942084" y="1410462"/>
                  </a:cubicBezTo>
                  <a:cubicBezTo>
                    <a:pt x="1937258" y="1421765"/>
                    <a:pt x="1924177" y="1426972"/>
                    <a:pt x="1912874" y="1422146"/>
                  </a:cubicBezTo>
                  <a:cubicBezTo>
                    <a:pt x="1901571" y="1417320"/>
                    <a:pt x="1896364" y="1404239"/>
                    <a:pt x="1901190" y="1392936"/>
                  </a:cubicBezTo>
                  <a:cubicBezTo>
                    <a:pt x="1906905" y="1379728"/>
                    <a:pt x="1912239" y="1366266"/>
                    <a:pt x="1917446" y="1352677"/>
                  </a:cubicBezTo>
                  <a:cubicBezTo>
                    <a:pt x="1921764" y="1341247"/>
                    <a:pt x="1934591" y="1335405"/>
                    <a:pt x="1946148" y="1339723"/>
                  </a:cubicBezTo>
                  <a:cubicBezTo>
                    <a:pt x="1957705" y="1344041"/>
                    <a:pt x="1963420" y="1356868"/>
                    <a:pt x="1959102" y="1368425"/>
                  </a:cubicBezTo>
                  <a:close/>
                  <a:moveTo>
                    <a:pt x="1923288" y="1451864"/>
                  </a:moveTo>
                  <a:cubicBezTo>
                    <a:pt x="1916684" y="1465453"/>
                    <a:pt x="1909826" y="1478915"/>
                    <a:pt x="1902587" y="1492250"/>
                  </a:cubicBezTo>
                  <a:cubicBezTo>
                    <a:pt x="1896745" y="1503045"/>
                    <a:pt x="1883283" y="1507109"/>
                    <a:pt x="1872488" y="1501267"/>
                  </a:cubicBezTo>
                  <a:cubicBezTo>
                    <a:pt x="1861693" y="1495425"/>
                    <a:pt x="1857629" y="1481963"/>
                    <a:pt x="1863471" y="1471168"/>
                  </a:cubicBezTo>
                  <a:cubicBezTo>
                    <a:pt x="1870329" y="1458468"/>
                    <a:pt x="1876933" y="1445641"/>
                    <a:pt x="1883283" y="1432560"/>
                  </a:cubicBezTo>
                  <a:cubicBezTo>
                    <a:pt x="1888617" y="1421511"/>
                    <a:pt x="1901952" y="1416939"/>
                    <a:pt x="1913001" y="1422273"/>
                  </a:cubicBezTo>
                  <a:cubicBezTo>
                    <a:pt x="1924050" y="1427607"/>
                    <a:pt x="1928622" y="1440942"/>
                    <a:pt x="1923288" y="1451991"/>
                  </a:cubicBezTo>
                  <a:close/>
                  <a:moveTo>
                    <a:pt x="1880108" y="1531874"/>
                  </a:moveTo>
                  <a:cubicBezTo>
                    <a:pt x="1872361" y="1544828"/>
                    <a:pt x="1864233" y="1557655"/>
                    <a:pt x="1855851" y="1570228"/>
                  </a:cubicBezTo>
                  <a:cubicBezTo>
                    <a:pt x="1849120" y="1580515"/>
                    <a:pt x="1835277" y="1583182"/>
                    <a:pt x="1824990" y="1576451"/>
                  </a:cubicBezTo>
                  <a:cubicBezTo>
                    <a:pt x="1814703" y="1569720"/>
                    <a:pt x="1812036" y="1555877"/>
                    <a:pt x="1818767" y="1545590"/>
                  </a:cubicBezTo>
                  <a:cubicBezTo>
                    <a:pt x="1826768" y="1533525"/>
                    <a:pt x="1834515" y="1521333"/>
                    <a:pt x="1842008" y="1508887"/>
                  </a:cubicBezTo>
                  <a:cubicBezTo>
                    <a:pt x="1848358" y="1498346"/>
                    <a:pt x="1861947" y="1494917"/>
                    <a:pt x="1872488" y="1501267"/>
                  </a:cubicBezTo>
                  <a:cubicBezTo>
                    <a:pt x="1883029" y="1507617"/>
                    <a:pt x="1886458" y="1521206"/>
                    <a:pt x="1880108" y="1531747"/>
                  </a:cubicBezTo>
                  <a:close/>
                  <a:moveTo>
                    <a:pt x="1829816" y="1607439"/>
                  </a:moveTo>
                  <a:cubicBezTo>
                    <a:pt x="1820926" y="1619631"/>
                    <a:pt x="1811655" y="1631696"/>
                    <a:pt x="1802257" y="1643507"/>
                  </a:cubicBezTo>
                  <a:cubicBezTo>
                    <a:pt x="1794637" y="1653032"/>
                    <a:pt x="1780540" y="1654683"/>
                    <a:pt x="1771015" y="1646936"/>
                  </a:cubicBezTo>
                  <a:cubicBezTo>
                    <a:pt x="1761490" y="1639189"/>
                    <a:pt x="1759839" y="1625219"/>
                    <a:pt x="1767586" y="1615694"/>
                  </a:cubicBezTo>
                  <a:cubicBezTo>
                    <a:pt x="1776603" y="1604391"/>
                    <a:pt x="1785493" y="1592834"/>
                    <a:pt x="1794002" y="1581150"/>
                  </a:cubicBezTo>
                  <a:cubicBezTo>
                    <a:pt x="1801241" y="1571244"/>
                    <a:pt x="1815084" y="1569085"/>
                    <a:pt x="1825117" y="1576324"/>
                  </a:cubicBezTo>
                  <a:cubicBezTo>
                    <a:pt x="1835150" y="1583563"/>
                    <a:pt x="1837182" y="1597406"/>
                    <a:pt x="1829943" y="1607439"/>
                  </a:cubicBezTo>
                  <a:close/>
                  <a:moveTo>
                    <a:pt x="1773174" y="1678305"/>
                  </a:moveTo>
                  <a:cubicBezTo>
                    <a:pt x="1763141" y="1689735"/>
                    <a:pt x="1752981" y="1700911"/>
                    <a:pt x="1742440" y="1711833"/>
                  </a:cubicBezTo>
                  <a:cubicBezTo>
                    <a:pt x="1733931" y="1720723"/>
                    <a:pt x="1719834" y="1720977"/>
                    <a:pt x="1711071" y="1712468"/>
                  </a:cubicBezTo>
                  <a:cubicBezTo>
                    <a:pt x="1702308" y="1703959"/>
                    <a:pt x="1701927" y="1689862"/>
                    <a:pt x="1710436" y="1681099"/>
                  </a:cubicBezTo>
                  <a:cubicBezTo>
                    <a:pt x="1720469" y="1670685"/>
                    <a:pt x="1730248" y="1660017"/>
                    <a:pt x="1739773" y="1649095"/>
                  </a:cubicBezTo>
                  <a:cubicBezTo>
                    <a:pt x="1747901" y="1639824"/>
                    <a:pt x="1761871" y="1638935"/>
                    <a:pt x="1771142" y="1647063"/>
                  </a:cubicBezTo>
                  <a:cubicBezTo>
                    <a:pt x="1780413" y="1655191"/>
                    <a:pt x="1781302" y="1669161"/>
                    <a:pt x="1773174" y="1678432"/>
                  </a:cubicBezTo>
                  <a:close/>
                  <a:moveTo>
                    <a:pt x="1710309" y="1743964"/>
                  </a:moveTo>
                  <a:cubicBezTo>
                    <a:pt x="1699387" y="1754378"/>
                    <a:pt x="1688211" y="1764665"/>
                    <a:pt x="1676781" y="1774571"/>
                  </a:cubicBezTo>
                  <a:cubicBezTo>
                    <a:pt x="1667510" y="1782572"/>
                    <a:pt x="1653540" y="1781683"/>
                    <a:pt x="1645412" y="1772412"/>
                  </a:cubicBezTo>
                  <a:cubicBezTo>
                    <a:pt x="1637284" y="1763141"/>
                    <a:pt x="1638300" y="1749171"/>
                    <a:pt x="1647571" y="1741043"/>
                  </a:cubicBezTo>
                  <a:cubicBezTo>
                    <a:pt x="1658493" y="1731518"/>
                    <a:pt x="1669161" y="1721739"/>
                    <a:pt x="1679702" y="1711833"/>
                  </a:cubicBezTo>
                  <a:cubicBezTo>
                    <a:pt x="1688592" y="1703324"/>
                    <a:pt x="1702689" y="1703705"/>
                    <a:pt x="1711071" y="1712595"/>
                  </a:cubicBezTo>
                  <a:cubicBezTo>
                    <a:pt x="1719453" y="1721485"/>
                    <a:pt x="1719199" y="1735582"/>
                    <a:pt x="1710309" y="1743964"/>
                  </a:cubicBezTo>
                  <a:close/>
                  <a:moveTo>
                    <a:pt x="1641856" y="1803654"/>
                  </a:moveTo>
                  <a:cubicBezTo>
                    <a:pt x="1630045" y="1813052"/>
                    <a:pt x="1617980" y="1822196"/>
                    <a:pt x="1605661" y="1831086"/>
                  </a:cubicBezTo>
                  <a:cubicBezTo>
                    <a:pt x="1595755" y="1838325"/>
                    <a:pt x="1581785" y="1836039"/>
                    <a:pt x="1574673" y="1826133"/>
                  </a:cubicBezTo>
                  <a:cubicBezTo>
                    <a:pt x="1567561" y="1816227"/>
                    <a:pt x="1569720" y="1802257"/>
                    <a:pt x="1579626" y="1795145"/>
                  </a:cubicBezTo>
                  <a:cubicBezTo>
                    <a:pt x="1591310" y="1786636"/>
                    <a:pt x="1602867" y="1777873"/>
                    <a:pt x="1614170" y="1768856"/>
                  </a:cubicBezTo>
                  <a:cubicBezTo>
                    <a:pt x="1623822" y="1761236"/>
                    <a:pt x="1637792" y="1762760"/>
                    <a:pt x="1645412" y="1772412"/>
                  </a:cubicBezTo>
                  <a:cubicBezTo>
                    <a:pt x="1653032" y="1782064"/>
                    <a:pt x="1651508" y="1796034"/>
                    <a:pt x="1641856" y="1803654"/>
                  </a:cubicBezTo>
                  <a:close/>
                  <a:moveTo>
                    <a:pt x="1568323" y="1856994"/>
                  </a:moveTo>
                  <a:cubicBezTo>
                    <a:pt x="1555750" y="1865376"/>
                    <a:pt x="1542923" y="1873377"/>
                    <a:pt x="1529842" y="1881124"/>
                  </a:cubicBezTo>
                  <a:cubicBezTo>
                    <a:pt x="1519301" y="1887474"/>
                    <a:pt x="1505712" y="1883918"/>
                    <a:pt x="1499362" y="1873377"/>
                  </a:cubicBezTo>
                  <a:cubicBezTo>
                    <a:pt x="1493012" y="1862836"/>
                    <a:pt x="1496568" y="1849247"/>
                    <a:pt x="1507109" y="1842897"/>
                  </a:cubicBezTo>
                  <a:cubicBezTo>
                    <a:pt x="1519555" y="1835531"/>
                    <a:pt x="1531874" y="1827784"/>
                    <a:pt x="1543939" y="1819783"/>
                  </a:cubicBezTo>
                  <a:cubicBezTo>
                    <a:pt x="1554226" y="1813052"/>
                    <a:pt x="1567942" y="1815846"/>
                    <a:pt x="1574673" y="1826133"/>
                  </a:cubicBezTo>
                  <a:cubicBezTo>
                    <a:pt x="1581404" y="1836420"/>
                    <a:pt x="1578610" y="1850136"/>
                    <a:pt x="1568323" y="1856867"/>
                  </a:cubicBezTo>
                  <a:close/>
                  <a:moveTo>
                    <a:pt x="1490218" y="1903349"/>
                  </a:moveTo>
                  <a:cubicBezTo>
                    <a:pt x="1476883" y="1910461"/>
                    <a:pt x="1463421" y="1917319"/>
                    <a:pt x="1449705" y="1923923"/>
                  </a:cubicBezTo>
                  <a:cubicBezTo>
                    <a:pt x="1438656" y="1929257"/>
                    <a:pt x="1425321" y="1924558"/>
                    <a:pt x="1419987" y="1913509"/>
                  </a:cubicBezTo>
                  <a:cubicBezTo>
                    <a:pt x="1414653" y="1902460"/>
                    <a:pt x="1419352" y="1889125"/>
                    <a:pt x="1430401" y="1883791"/>
                  </a:cubicBezTo>
                  <a:cubicBezTo>
                    <a:pt x="1443482" y="1877568"/>
                    <a:pt x="1456309" y="1870964"/>
                    <a:pt x="1469009" y="1864106"/>
                  </a:cubicBezTo>
                  <a:cubicBezTo>
                    <a:pt x="1479804" y="1858264"/>
                    <a:pt x="1493266" y="1862328"/>
                    <a:pt x="1499108" y="1873123"/>
                  </a:cubicBezTo>
                  <a:cubicBezTo>
                    <a:pt x="1504950" y="1883918"/>
                    <a:pt x="1500886" y="1897380"/>
                    <a:pt x="1490091" y="1903222"/>
                  </a:cubicBezTo>
                  <a:close/>
                  <a:moveTo>
                    <a:pt x="1408176" y="1942592"/>
                  </a:moveTo>
                  <a:cubicBezTo>
                    <a:pt x="1394333" y="1948561"/>
                    <a:pt x="1380236" y="1954149"/>
                    <a:pt x="1366012" y="1959356"/>
                  </a:cubicBezTo>
                  <a:cubicBezTo>
                    <a:pt x="1354455" y="1963674"/>
                    <a:pt x="1341755" y="1957832"/>
                    <a:pt x="1337437" y="1946275"/>
                  </a:cubicBezTo>
                  <a:cubicBezTo>
                    <a:pt x="1333119" y="1934718"/>
                    <a:pt x="1338961" y="1922018"/>
                    <a:pt x="1350518" y="1917700"/>
                  </a:cubicBezTo>
                  <a:cubicBezTo>
                    <a:pt x="1364107" y="1912620"/>
                    <a:pt x="1377442" y="1907286"/>
                    <a:pt x="1390777" y="1901571"/>
                  </a:cubicBezTo>
                  <a:cubicBezTo>
                    <a:pt x="1402080" y="1896745"/>
                    <a:pt x="1415161" y="1902079"/>
                    <a:pt x="1419987" y="1913255"/>
                  </a:cubicBezTo>
                  <a:cubicBezTo>
                    <a:pt x="1424813" y="1924431"/>
                    <a:pt x="1419479" y="1937639"/>
                    <a:pt x="1408303" y="1942465"/>
                  </a:cubicBezTo>
                  <a:close/>
                  <a:moveTo>
                    <a:pt x="1323213" y="1974215"/>
                  </a:moveTo>
                  <a:cubicBezTo>
                    <a:pt x="1308862" y="1978787"/>
                    <a:pt x="1294384" y="1983105"/>
                    <a:pt x="1279779" y="1987169"/>
                  </a:cubicBezTo>
                  <a:cubicBezTo>
                    <a:pt x="1267968" y="1990344"/>
                    <a:pt x="1255776" y="1983486"/>
                    <a:pt x="1252474" y="1971548"/>
                  </a:cubicBezTo>
                  <a:cubicBezTo>
                    <a:pt x="1249172" y="1959610"/>
                    <a:pt x="1256157" y="1947545"/>
                    <a:pt x="1268095" y="1944243"/>
                  </a:cubicBezTo>
                  <a:cubicBezTo>
                    <a:pt x="1282065" y="1940433"/>
                    <a:pt x="1295908" y="1936242"/>
                    <a:pt x="1309624" y="1931924"/>
                  </a:cubicBezTo>
                  <a:cubicBezTo>
                    <a:pt x="1321308" y="1928114"/>
                    <a:pt x="1333881" y="1934591"/>
                    <a:pt x="1337564" y="1946275"/>
                  </a:cubicBezTo>
                  <a:cubicBezTo>
                    <a:pt x="1341247" y="1957959"/>
                    <a:pt x="1334897" y="1970532"/>
                    <a:pt x="1323213" y="1974215"/>
                  </a:cubicBezTo>
                  <a:close/>
                  <a:moveTo>
                    <a:pt x="1235583" y="1998218"/>
                  </a:moveTo>
                  <a:cubicBezTo>
                    <a:pt x="1220851" y="2001520"/>
                    <a:pt x="1205992" y="2004568"/>
                    <a:pt x="1191133" y="2007235"/>
                  </a:cubicBezTo>
                  <a:cubicBezTo>
                    <a:pt x="1179068" y="2009394"/>
                    <a:pt x="1167511" y="2001393"/>
                    <a:pt x="1165352" y="1989201"/>
                  </a:cubicBezTo>
                  <a:cubicBezTo>
                    <a:pt x="1163193" y="1977009"/>
                    <a:pt x="1171194" y="1965579"/>
                    <a:pt x="1183386" y="1963420"/>
                  </a:cubicBezTo>
                  <a:cubicBezTo>
                    <a:pt x="1197737" y="1960880"/>
                    <a:pt x="1211834" y="1957959"/>
                    <a:pt x="1225931" y="1954784"/>
                  </a:cubicBezTo>
                  <a:cubicBezTo>
                    <a:pt x="1237869" y="1952117"/>
                    <a:pt x="1249807" y="1959610"/>
                    <a:pt x="1252474" y="1971548"/>
                  </a:cubicBezTo>
                  <a:cubicBezTo>
                    <a:pt x="1255141" y="1983486"/>
                    <a:pt x="1247648" y="1995424"/>
                    <a:pt x="1235710" y="1998091"/>
                  </a:cubicBezTo>
                  <a:close/>
                  <a:moveTo>
                    <a:pt x="1146302" y="2014093"/>
                  </a:moveTo>
                  <a:cubicBezTo>
                    <a:pt x="1131316" y="2016125"/>
                    <a:pt x="1116203" y="2017776"/>
                    <a:pt x="1101090" y="2019046"/>
                  </a:cubicBezTo>
                  <a:cubicBezTo>
                    <a:pt x="1088898" y="2020062"/>
                    <a:pt x="1078103" y="2011045"/>
                    <a:pt x="1076960" y="1998853"/>
                  </a:cubicBezTo>
                  <a:cubicBezTo>
                    <a:pt x="1075817" y="1986661"/>
                    <a:pt x="1084961" y="1975866"/>
                    <a:pt x="1097153" y="1974723"/>
                  </a:cubicBezTo>
                  <a:cubicBezTo>
                    <a:pt x="1111631" y="1973453"/>
                    <a:pt x="1126109" y="1971929"/>
                    <a:pt x="1140333" y="1970024"/>
                  </a:cubicBezTo>
                  <a:cubicBezTo>
                    <a:pt x="1152525" y="1968373"/>
                    <a:pt x="1163701" y="1977009"/>
                    <a:pt x="1165225" y="1989201"/>
                  </a:cubicBezTo>
                  <a:cubicBezTo>
                    <a:pt x="1166749" y="2001393"/>
                    <a:pt x="1158240" y="2012569"/>
                    <a:pt x="1146048" y="2014093"/>
                  </a:cubicBezTo>
                  <a:close/>
                  <a:moveTo>
                    <a:pt x="1055624" y="2021967"/>
                  </a:moveTo>
                  <a:cubicBezTo>
                    <a:pt x="1041146" y="2022602"/>
                    <a:pt x="1026541" y="2022856"/>
                    <a:pt x="1011936" y="2022856"/>
                  </a:cubicBezTo>
                  <a:lnTo>
                    <a:pt x="1011936" y="2000631"/>
                  </a:lnTo>
                  <a:lnTo>
                    <a:pt x="1011936" y="2022856"/>
                  </a:lnTo>
                  <a:cubicBezTo>
                    <a:pt x="1011301" y="2022856"/>
                    <a:pt x="1010539" y="2022856"/>
                    <a:pt x="1009904" y="2022856"/>
                  </a:cubicBezTo>
                  <a:cubicBezTo>
                    <a:pt x="997585" y="2022856"/>
                    <a:pt x="987679" y="2012823"/>
                    <a:pt x="987679" y="2000631"/>
                  </a:cubicBezTo>
                  <a:cubicBezTo>
                    <a:pt x="987679" y="1988439"/>
                    <a:pt x="997712" y="1978406"/>
                    <a:pt x="1009904" y="1978406"/>
                  </a:cubicBezTo>
                  <a:cubicBezTo>
                    <a:pt x="1010539" y="1978406"/>
                    <a:pt x="1011174" y="1978406"/>
                    <a:pt x="1011809" y="1978406"/>
                  </a:cubicBezTo>
                  <a:cubicBezTo>
                    <a:pt x="1025779" y="1978406"/>
                    <a:pt x="1039749" y="1978152"/>
                    <a:pt x="1053592" y="1977517"/>
                  </a:cubicBezTo>
                  <a:cubicBezTo>
                    <a:pt x="1065911" y="1977009"/>
                    <a:pt x="1076198" y="1986534"/>
                    <a:pt x="1076706" y="1998726"/>
                  </a:cubicBezTo>
                  <a:cubicBezTo>
                    <a:pt x="1077214" y="2010918"/>
                    <a:pt x="1067689" y="2021332"/>
                    <a:pt x="1055497" y="2021840"/>
                  </a:cubicBezTo>
                  <a:close/>
                  <a:moveTo>
                    <a:pt x="964057" y="2021713"/>
                  </a:moveTo>
                  <a:cubicBezTo>
                    <a:pt x="948944" y="2020951"/>
                    <a:pt x="933831" y="2019935"/>
                    <a:pt x="918845" y="2018665"/>
                  </a:cubicBezTo>
                  <a:cubicBezTo>
                    <a:pt x="906653" y="2017522"/>
                    <a:pt x="897636" y="2006727"/>
                    <a:pt x="898779" y="1994535"/>
                  </a:cubicBezTo>
                  <a:cubicBezTo>
                    <a:pt x="899922" y="1982343"/>
                    <a:pt x="910717" y="1973326"/>
                    <a:pt x="922909" y="1974469"/>
                  </a:cubicBezTo>
                  <a:cubicBezTo>
                    <a:pt x="937260" y="1975739"/>
                    <a:pt x="951611" y="1976755"/>
                    <a:pt x="966089" y="1977390"/>
                  </a:cubicBezTo>
                  <a:cubicBezTo>
                    <a:pt x="978408" y="1977898"/>
                    <a:pt x="987806" y="1988312"/>
                    <a:pt x="987298" y="2000631"/>
                  </a:cubicBezTo>
                  <a:cubicBezTo>
                    <a:pt x="986790" y="2012950"/>
                    <a:pt x="976376" y="2022348"/>
                    <a:pt x="964057" y="2021840"/>
                  </a:cubicBezTo>
                  <a:close/>
                  <a:moveTo>
                    <a:pt x="873633" y="2013585"/>
                  </a:moveTo>
                  <a:cubicBezTo>
                    <a:pt x="858647" y="2011553"/>
                    <a:pt x="843661" y="2009140"/>
                    <a:pt x="828802" y="2006473"/>
                  </a:cubicBezTo>
                  <a:cubicBezTo>
                    <a:pt x="816737" y="2004314"/>
                    <a:pt x="808736" y="1992630"/>
                    <a:pt x="810895" y="1980565"/>
                  </a:cubicBezTo>
                  <a:cubicBezTo>
                    <a:pt x="813054" y="1968500"/>
                    <a:pt x="824738" y="1960499"/>
                    <a:pt x="836803" y="1962658"/>
                  </a:cubicBezTo>
                  <a:cubicBezTo>
                    <a:pt x="851027" y="1965198"/>
                    <a:pt x="865251" y="1967484"/>
                    <a:pt x="879602" y="1969516"/>
                  </a:cubicBezTo>
                  <a:cubicBezTo>
                    <a:pt x="891794" y="1971167"/>
                    <a:pt x="900303" y="1982343"/>
                    <a:pt x="898652" y="1994535"/>
                  </a:cubicBezTo>
                  <a:cubicBezTo>
                    <a:pt x="897001" y="2006727"/>
                    <a:pt x="885825" y="2015236"/>
                    <a:pt x="873633" y="2013585"/>
                  </a:cubicBezTo>
                  <a:close/>
                  <a:moveTo>
                    <a:pt x="784352" y="1997329"/>
                  </a:moveTo>
                  <a:cubicBezTo>
                    <a:pt x="769493" y="1993900"/>
                    <a:pt x="754888" y="1990217"/>
                    <a:pt x="740283" y="1986153"/>
                  </a:cubicBezTo>
                  <a:cubicBezTo>
                    <a:pt x="728472" y="1982851"/>
                    <a:pt x="721487" y="1970659"/>
                    <a:pt x="724789" y="1958848"/>
                  </a:cubicBezTo>
                  <a:cubicBezTo>
                    <a:pt x="728091" y="1947037"/>
                    <a:pt x="740283" y="1940052"/>
                    <a:pt x="752094" y="1943354"/>
                  </a:cubicBezTo>
                  <a:cubicBezTo>
                    <a:pt x="766064" y="1947164"/>
                    <a:pt x="780034" y="1950720"/>
                    <a:pt x="794258" y="1954022"/>
                  </a:cubicBezTo>
                  <a:cubicBezTo>
                    <a:pt x="806196" y="1956816"/>
                    <a:pt x="813689" y="1968754"/>
                    <a:pt x="810895" y="1980692"/>
                  </a:cubicBezTo>
                  <a:cubicBezTo>
                    <a:pt x="808101" y="1992630"/>
                    <a:pt x="796163" y="2000123"/>
                    <a:pt x="784225" y="1997329"/>
                  </a:cubicBezTo>
                  <a:close/>
                  <a:moveTo>
                    <a:pt x="696722" y="1973072"/>
                  </a:moveTo>
                  <a:cubicBezTo>
                    <a:pt x="682244" y="1968373"/>
                    <a:pt x="668020" y="1963293"/>
                    <a:pt x="653796" y="1957959"/>
                  </a:cubicBezTo>
                  <a:cubicBezTo>
                    <a:pt x="642366" y="1953641"/>
                    <a:pt x="636524" y="1940814"/>
                    <a:pt x="640842" y="1929257"/>
                  </a:cubicBezTo>
                  <a:cubicBezTo>
                    <a:pt x="645160" y="1917700"/>
                    <a:pt x="657987" y="1911985"/>
                    <a:pt x="669544" y="1916303"/>
                  </a:cubicBezTo>
                  <a:cubicBezTo>
                    <a:pt x="683133" y="1921383"/>
                    <a:pt x="696722" y="1926209"/>
                    <a:pt x="710565" y="1930781"/>
                  </a:cubicBezTo>
                  <a:cubicBezTo>
                    <a:pt x="722249" y="1934591"/>
                    <a:pt x="728599" y="1947164"/>
                    <a:pt x="724789" y="1958848"/>
                  </a:cubicBezTo>
                  <a:cubicBezTo>
                    <a:pt x="720979" y="1970532"/>
                    <a:pt x="708406" y="1976882"/>
                    <a:pt x="696722" y="1973072"/>
                  </a:cubicBezTo>
                  <a:close/>
                  <a:moveTo>
                    <a:pt x="611759" y="1940941"/>
                  </a:moveTo>
                  <a:cubicBezTo>
                    <a:pt x="597789" y="1934972"/>
                    <a:pt x="583946" y="1928622"/>
                    <a:pt x="570357" y="1922018"/>
                  </a:cubicBezTo>
                  <a:cubicBezTo>
                    <a:pt x="559308" y="1916684"/>
                    <a:pt x="554736" y="1903349"/>
                    <a:pt x="560070" y="1892300"/>
                  </a:cubicBezTo>
                  <a:cubicBezTo>
                    <a:pt x="565404" y="1881251"/>
                    <a:pt x="578739" y="1876679"/>
                    <a:pt x="589788" y="1882013"/>
                  </a:cubicBezTo>
                  <a:cubicBezTo>
                    <a:pt x="602869" y="1888363"/>
                    <a:pt x="615950" y="1894332"/>
                    <a:pt x="629285" y="1900174"/>
                  </a:cubicBezTo>
                  <a:cubicBezTo>
                    <a:pt x="640588" y="1905000"/>
                    <a:pt x="645795" y="1918081"/>
                    <a:pt x="640969" y="1929384"/>
                  </a:cubicBezTo>
                  <a:cubicBezTo>
                    <a:pt x="636143" y="1940687"/>
                    <a:pt x="623062" y="1945894"/>
                    <a:pt x="611759" y="1941068"/>
                  </a:cubicBezTo>
                  <a:close/>
                  <a:moveTo>
                    <a:pt x="529971" y="1901444"/>
                  </a:moveTo>
                  <a:cubicBezTo>
                    <a:pt x="516636" y="1894205"/>
                    <a:pt x="503428" y="1886712"/>
                    <a:pt x="490474" y="1878838"/>
                  </a:cubicBezTo>
                  <a:cubicBezTo>
                    <a:pt x="479933" y="1872488"/>
                    <a:pt x="476504" y="1858899"/>
                    <a:pt x="482854" y="1848358"/>
                  </a:cubicBezTo>
                  <a:cubicBezTo>
                    <a:pt x="489204" y="1837817"/>
                    <a:pt x="502793" y="1834388"/>
                    <a:pt x="513334" y="1840738"/>
                  </a:cubicBezTo>
                  <a:cubicBezTo>
                    <a:pt x="525780" y="1848231"/>
                    <a:pt x="538353" y="1855343"/>
                    <a:pt x="551053" y="1862328"/>
                  </a:cubicBezTo>
                  <a:cubicBezTo>
                    <a:pt x="561848" y="1868170"/>
                    <a:pt x="565912" y="1881632"/>
                    <a:pt x="559943" y="1892427"/>
                  </a:cubicBezTo>
                  <a:cubicBezTo>
                    <a:pt x="553974" y="1903222"/>
                    <a:pt x="540639" y="1907286"/>
                    <a:pt x="529844" y="1901317"/>
                  </a:cubicBezTo>
                  <a:close/>
                  <a:moveTo>
                    <a:pt x="451993" y="1854454"/>
                  </a:moveTo>
                  <a:cubicBezTo>
                    <a:pt x="439420" y="1846072"/>
                    <a:pt x="426974" y="1837436"/>
                    <a:pt x="414655" y="1828419"/>
                  </a:cubicBezTo>
                  <a:cubicBezTo>
                    <a:pt x="404749" y="1821180"/>
                    <a:pt x="402590" y="1807210"/>
                    <a:pt x="409829" y="1797304"/>
                  </a:cubicBezTo>
                  <a:cubicBezTo>
                    <a:pt x="417068" y="1787398"/>
                    <a:pt x="431038" y="1785239"/>
                    <a:pt x="440944" y="1792478"/>
                  </a:cubicBezTo>
                  <a:cubicBezTo>
                    <a:pt x="452628" y="1800987"/>
                    <a:pt x="464566" y="1809369"/>
                    <a:pt x="476631" y="1817370"/>
                  </a:cubicBezTo>
                  <a:cubicBezTo>
                    <a:pt x="486791" y="1824101"/>
                    <a:pt x="489585" y="1837944"/>
                    <a:pt x="482854" y="1848231"/>
                  </a:cubicBezTo>
                  <a:cubicBezTo>
                    <a:pt x="476123" y="1858518"/>
                    <a:pt x="462280" y="1861185"/>
                    <a:pt x="451993" y="1854454"/>
                  </a:cubicBezTo>
                  <a:close/>
                  <a:moveTo>
                    <a:pt x="378587" y="1800860"/>
                  </a:moveTo>
                  <a:cubicBezTo>
                    <a:pt x="366776" y="1791335"/>
                    <a:pt x="355219" y="1781683"/>
                    <a:pt x="343789" y="1771650"/>
                  </a:cubicBezTo>
                  <a:cubicBezTo>
                    <a:pt x="334518" y="1763522"/>
                    <a:pt x="333629" y="1749552"/>
                    <a:pt x="341757" y="1740281"/>
                  </a:cubicBezTo>
                  <a:cubicBezTo>
                    <a:pt x="349885" y="1731010"/>
                    <a:pt x="363855" y="1730121"/>
                    <a:pt x="373126" y="1738249"/>
                  </a:cubicBezTo>
                  <a:cubicBezTo>
                    <a:pt x="384048" y="1747774"/>
                    <a:pt x="395097" y="1757172"/>
                    <a:pt x="406400" y="1766189"/>
                  </a:cubicBezTo>
                  <a:cubicBezTo>
                    <a:pt x="415925" y="1773809"/>
                    <a:pt x="417449" y="1787906"/>
                    <a:pt x="409829" y="1797431"/>
                  </a:cubicBezTo>
                  <a:cubicBezTo>
                    <a:pt x="402209" y="1806956"/>
                    <a:pt x="388112" y="1808480"/>
                    <a:pt x="378587" y="1800860"/>
                  </a:cubicBezTo>
                  <a:close/>
                  <a:moveTo>
                    <a:pt x="310388" y="1740916"/>
                  </a:moveTo>
                  <a:cubicBezTo>
                    <a:pt x="299466" y="1730375"/>
                    <a:pt x="288798" y="1719707"/>
                    <a:pt x="278384" y="1708785"/>
                  </a:cubicBezTo>
                  <a:cubicBezTo>
                    <a:pt x="269875" y="1699895"/>
                    <a:pt x="270256" y="1685798"/>
                    <a:pt x="279146" y="1677416"/>
                  </a:cubicBezTo>
                  <a:cubicBezTo>
                    <a:pt x="288036" y="1669034"/>
                    <a:pt x="302133" y="1669288"/>
                    <a:pt x="310515" y="1678178"/>
                  </a:cubicBezTo>
                  <a:cubicBezTo>
                    <a:pt x="320548" y="1688719"/>
                    <a:pt x="330708" y="1698879"/>
                    <a:pt x="341122" y="1708912"/>
                  </a:cubicBezTo>
                  <a:cubicBezTo>
                    <a:pt x="350012" y="1717421"/>
                    <a:pt x="350266" y="1731518"/>
                    <a:pt x="341757" y="1740281"/>
                  </a:cubicBezTo>
                  <a:cubicBezTo>
                    <a:pt x="333248" y="1749044"/>
                    <a:pt x="319151" y="1749425"/>
                    <a:pt x="310388" y="1740916"/>
                  </a:cubicBezTo>
                  <a:close/>
                  <a:moveTo>
                    <a:pt x="247777" y="1675130"/>
                  </a:moveTo>
                  <a:cubicBezTo>
                    <a:pt x="237871" y="1663700"/>
                    <a:pt x="228092" y="1652016"/>
                    <a:pt x="218694" y="1640205"/>
                  </a:cubicBezTo>
                  <a:cubicBezTo>
                    <a:pt x="211074" y="1630553"/>
                    <a:pt x="212598" y="1616583"/>
                    <a:pt x="222250" y="1608963"/>
                  </a:cubicBezTo>
                  <a:cubicBezTo>
                    <a:pt x="231902" y="1601343"/>
                    <a:pt x="245872" y="1602867"/>
                    <a:pt x="253492" y="1612519"/>
                  </a:cubicBezTo>
                  <a:cubicBezTo>
                    <a:pt x="262509" y="1623822"/>
                    <a:pt x="271780" y="1634998"/>
                    <a:pt x="281305" y="1645920"/>
                  </a:cubicBezTo>
                  <a:cubicBezTo>
                    <a:pt x="289306" y="1655191"/>
                    <a:pt x="288417" y="1669161"/>
                    <a:pt x="279146" y="1677289"/>
                  </a:cubicBezTo>
                  <a:cubicBezTo>
                    <a:pt x="269875" y="1685417"/>
                    <a:pt x="255905" y="1684401"/>
                    <a:pt x="247777" y="1675130"/>
                  </a:cubicBezTo>
                  <a:close/>
                  <a:moveTo>
                    <a:pt x="191262" y="1604010"/>
                  </a:moveTo>
                  <a:cubicBezTo>
                    <a:pt x="182372" y="1591691"/>
                    <a:pt x="173736" y="1579245"/>
                    <a:pt x="165481" y="1566672"/>
                  </a:cubicBezTo>
                  <a:cubicBezTo>
                    <a:pt x="158750" y="1556385"/>
                    <a:pt x="161544" y="1542669"/>
                    <a:pt x="171831" y="1535938"/>
                  </a:cubicBezTo>
                  <a:cubicBezTo>
                    <a:pt x="182118" y="1529207"/>
                    <a:pt x="195834" y="1532001"/>
                    <a:pt x="202565" y="1542288"/>
                  </a:cubicBezTo>
                  <a:cubicBezTo>
                    <a:pt x="210566" y="1554353"/>
                    <a:pt x="218821" y="1566291"/>
                    <a:pt x="227203" y="1578102"/>
                  </a:cubicBezTo>
                  <a:cubicBezTo>
                    <a:pt x="234442" y="1588008"/>
                    <a:pt x="232156" y="1601978"/>
                    <a:pt x="222250" y="1609090"/>
                  </a:cubicBezTo>
                  <a:cubicBezTo>
                    <a:pt x="212344" y="1616202"/>
                    <a:pt x="198374" y="1614043"/>
                    <a:pt x="191262" y="1604137"/>
                  </a:cubicBezTo>
                  <a:close/>
                  <a:moveTo>
                    <a:pt x="141351" y="1528191"/>
                  </a:moveTo>
                  <a:cubicBezTo>
                    <a:pt x="133604" y="1515237"/>
                    <a:pt x="126111" y="1502029"/>
                    <a:pt x="118999" y="1488567"/>
                  </a:cubicBezTo>
                  <a:cubicBezTo>
                    <a:pt x="113157" y="1477772"/>
                    <a:pt x="117221" y="1464310"/>
                    <a:pt x="128143" y="1458468"/>
                  </a:cubicBezTo>
                  <a:cubicBezTo>
                    <a:pt x="139065" y="1452626"/>
                    <a:pt x="152400" y="1456690"/>
                    <a:pt x="158242" y="1467612"/>
                  </a:cubicBezTo>
                  <a:cubicBezTo>
                    <a:pt x="165100" y="1480439"/>
                    <a:pt x="172212" y="1493012"/>
                    <a:pt x="179705" y="1505458"/>
                  </a:cubicBezTo>
                  <a:cubicBezTo>
                    <a:pt x="185928" y="1515999"/>
                    <a:pt x="182499" y="1529588"/>
                    <a:pt x="171958" y="1535938"/>
                  </a:cubicBezTo>
                  <a:cubicBezTo>
                    <a:pt x="161417" y="1542288"/>
                    <a:pt x="147828" y="1538732"/>
                    <a:pt x="141478" y="1528191"/>
                  </a:cubicBezTo>
                  <a:close/>
                  <a:moveTo>
                    <a:pt x="98552" y="1448181"/>
                  </a:moveTo>
                  <a:cubicBezTo>
                    <a:pt x="91948" y="1434465"/>
                    <a:pt x="85725" y="1420749"/>
                    <a:pt x="79756" y="1406652"/>
                  </a:cubicBezTo>
                  <a:cubicBezTo>
                    <a:pt x="74930" y="1395349"/>
                    <a:pt x="80264" y="1382268"/>
                    <a:pt x="91567" y="1377442"/>
                  </a:cubicBezTo>
                  <a:cubicBezTo>
                    <a:pt x="102870" y="1372616"/>
                    <a:pt x="115951" y="1377950"/>
                    <a:pt x="120777" y="1389253"/>
                  </a:cubicBezTo>
                  <a:cubicBezTo>
                    <a:pt x="126492" y="1402588"/>
                    <a:pt x="132461" y="1415796"/>
                    <a:pt x="138684" y="1428877"/>
                  </a:cubicBezTo>
                  <a:cubicBezTo>
                    <a:pt x="144018" y="1439926"/>
                    <a:pt x="139319" y="1453261"/>
                    <a:pt x="128270" y="1458468"/>
                  </a:cubicBezTo>
                  <a:cubicBezTo>
                    <a:pt x="117221" y="1463675"/>
                    <a:pt x="103886" y="1459103"/>
                    <a:pt x="98679" y="1448054"/>
                  </a:cubicBezTo>
                  <a:close/>
                  <a:moveTo>
                    <a:pt x="63500" y="1365631"/>
                  </a:moveTo>
                  <a:cubicBezTo>
                    <a:pt x="58166" y="1351407"/>
                    <a:pt x="53213" y="1337056"/>
                    <a:pt x="48514" y="1322578"/>
                  </a:cubicBezTo>
                  <a:cubicBezTo>
                    <a:pt x="44704" y="1310894"/>
                    <a:pt x="51181" y="1298321"/>
                    <a:pt x="62865" y="1294638"/>
                  </a:cubicBezTo>
                  <a:cubicBezTo>
                    <a:pt x="74549" y="1290955"/>
                    <a:pt x="87122" y="1297305"/>
                    <a:pt x="90805" y="1308989"/>
                  </a:cubicBezTo>
                  <a:cubicBezTo>
                    <a:pt x="95250" y="1322832"/>
                    <a:pt x="100076" y="1336548"/>
                    <a:pt x="105029" y="1350137"/>
                  </a:cubicBezTo>
                  <a:cubicBezTo>
                    <a:pt x="109347" y="1361694"/>
                    <a:pt x="103505" y="1374394"/>
                    <a:pt x="91948" y="1378712"/>
                  </a:cubicBezTo>
                  <a:cubicBezTo>
                    <a:pt x="80391" y="1383030"/>
                    <a:pt x="67691" y="1377188"/>
                    <a:pt x="63373" y="1365631"/>
                  </a:cubicBezTo>
                  <a:close/>
                  <a:moveTo>
                    <a:pt x="35560" y="1279144"/>
                  </a:moveTo>
                  <a:cubicBezTo>
                    <a:pt x="31623" y="1264539"/>
                    <a:pt x="27940" y="1249807"/>
                    <a:pt x="24638" y="1234948"/>
                  </a:cubicBezTo>
                  <a:cubicBezTo>
                    <a:pt x="21971" y="1223010"/>
                    <a:pt x="29464" y="1211072"/>
                    <a:pt x="41402" y="1208405"/>
                  </a:cubicBezTo>
                  <a:cubicBezTo>
                    <a:pt x="53340" y="1205738"/>
                    <a:pt x="65278" y="1213231"/>
                    <a:pt x="67945" y="1225169"/>
                  </a:cubicBezTo>
                  <a:cubicBezTo>
                    <a:pt x="71120" y="1239393"/>
                    <a:pt x="74676" y="1253363"/>
                    <a:pt x="78486" y="1267333"/>
                  </a:cubicBezTo>
                  <a:cubicBezTo>
                    <a:pt x="81661" y="1279144"/>
                    <a:pt x="74676" y="1291336"/>
                    <a:pt x="62865" y="1294638"/>
                  </a:cubicBezTo>
                  <a:cubicBezTo>
                    <a:pt x="51054" y="1297940"/>
                    <a:pt x="38862" y="1290828"/>
                    <a:pt x="35560" y="1279017"/>
                  </a:cubicBezTo>
                  <a:close/>
                  <a:moveTo>
                    <a:pt x="15621" y="1190498"/>
                  </a:moveTo>
                  <a:cubicBezTo>
                    <a:pt x="13081" y="1175639"/>
                    <a:pt x="10668" y="1160653"/>
                    <a:pt x="8763" y="1145540"/>
                  </a:cubicBezTo>
                  <a:cubicBezTo>
                    <a:pt x="7112" y="1133348"/>
                    <a:pt x="15748" y="1122172"/>
                    <a:pt x="27940" y="1120648"/>
                  </a:cubicBezTo>
                  <a:cubicBezTo>
                    <a:pt x="40132" y="1119124"/>
                    <a:pt x="51308" y="1127633"/>
                    <a:pt x="52832" y="1139825"/>
                  </a:cubicBezTo>
                  <a:cubicBezTo>
                    <a:pt x="54737" y="1154176"/>
                    <a:pt x="56896" y="1168527"/>
                    <a:pt x="59436" y="1182751"/>
                  </a:cubicBezTo>
                  <a:cubicBezTo>
                    <a:pt x="61595" y="1194816"/>
                    <a:pt x="53467" y="1206373"/>
                    <a:pt x="41402" y="1208532"/>
                  </a:cubicBezTo>
                  <a:cubicBezTo>
                    <a:pt x="29337" y="1210691"/>
                    <a:pt x="17780" y="1202563"/>
                    <a:pt x="15621" y="1190498"/>
                  </a:cubicBezTo>
                  <a:close/>
                  <a:moveTo>
                    <a:pt x="3810" y="1100328"/>
                  </a:moveTo>
                  <a:cubicBezTo>
                    <a:pt x="2540" y="1085342"/>
                    <a:pt x="1524" y="1070229"/>
                    <a:pt x="889" y="1055116"/>
                  </a:cubicBezTo>
                  <a:cubicBezTo>
                    <a:pt x="381" y="1042797"/>
                    <a:pt x="9906" y="1032510"/>
                    <a:pt x="22225" y="1032002"/>
                  </a:cubicBezTo>
                  <a:cubicBezTo>
                    <a:pt x="34544" y="1031494"/>
                    <a:pt x="44831" y="1041019"/>
                    <a:pt x="45339" y="1053338"/>
                  </a:cubicBezTo>
                  <a:cubicBezTo>
                    <a:pt x="45974" y="1067816"/>
                    <a:pt x="46863" y="1082294"/>
                    <a:pt x="48133" y="1096518"/>
                  </a:cubicBezTo>
                  <a:cubicBezTo>
                    <a:pt x="49149" y="1108710"/>
                    <a:pt x="40132" y="1119505"/>
                    <a:pt x="27940" y="1120521"/>
                  </a:cubicBezTo>
                  <a:cubicBezTo>
                    <a:pt x="15748" y="1121537"/>
                    <a:pt x="4826" y="1112520"/>
                    <a:pt x="3810" y="1100328"/>
                  </a:cubicBezTo>
                  <a:close/>
                  <a:moveTo>
                    <a:pt x="0" y="1012063"/>
                  </a:moveTo>
                  <a:cubicBezTo>
                    <a:pt x="0" y="996696"/>
                    <a:pt x="381" y="981583"/>
                    <a:pt x="1016" y="966343"/>
                  </a:cubicBezTo>
                  <a:cubicBezTo>
                    <a:pt x="1524" y="954024"/>
                    <a:pt x="11938" y="944626"/>
                    <a:pt x="24257" y="945134"/>
                  </a:cubicBezTo>
                  <a:cubicBezTo>
                    <a:pt x="36576" y="945642"/>
                    <a:pt x="45974" y="956056"/>
                    <a:pt x="45466" y="968375"/>
                  </a:cubicBezTo>
                  <a:cubicBezTo>
                    <a:pt x="44831" y="982853"/>
                    <a:pt x="44450" y="997458"/>
                    <a:pt x="44450" y="1012063"/>
                  </a:cubicBezTo>
                  <a:cubicBezTo>
                    <a:pt x="44450" y="1024382"/>
                    <a:pt x="34544" y="1034288"/>
                    <a:pt x="22225" y="1034288"/>
                  </a:cubicBezTo>
                  <a:cubicBezTo>
                    <a:pt x="9906" y="1034288"/>
                    <a:pt x="0" y="1024382"/>
                    <a:pt x="0" y="1012063"/>
                  </a:cubicBezTo>
                  <a:close/>
                </a:path>
              </a:pathLst>
            </a:custGeom>
            <a:solidFill>
              <a:srgbClr val="FF5B00"/>
            </a:solidFill>
          </p:spPr>
        </p:sp>
      </p:grpSp>
      <p:grpSp>
        <p:nvGrpSpPr>
          <p:cNvPr id="34" name="Group 34"/>
          <p:cNvGrpSpPr/>
          <p:nvPr/>
        </p:nvGrpSpPr>
        <p:grpSpPr>
          <a:xfrm>
            <a:off x="6856163" y="2635201"/>
            <a:ext cx="1200615" cy="1200612"/>
            <a:chOff x="0" y="0"/>
            <a:chExt cx="1600820" cy="1600816"/>
          </a:xfrm>
        </p:grpSpPr>
        <p:sp>
          <p:nvSpPr>
            <p:cNvPr id="35" name="Freeform 35"/>
            <p:cNvSpPr/>
            <p:nvPr/>
          </p:nvSpPr>
          <p:spPr>
            <a:xfrm>
              <a:off x="0" y="0"/>
              <a:ext cx="1600708" cy="1600708"/>
            </a:xfrm>
            <a:custGeom>
              <a:avLst/>
              <a:gdLst/>
              <a:ahLst/>
              <a:cxnLst/>
              <a:rect l="l" t="t" r="r" b="b"/>
              <a:pathLst>
                <a:path w="1600708" h="1600708">
                  <a:moveTo>
                    <a:pt x="0" y="800354"/>
                  </a:moveTo>
                  <a:cubicBezTo>
                    <a:pt x="0" y="358394"/>
                    <a:pt x="358394" y="0"/>
                    <a:pt x="800354" y="0"/>
                  </a:cubicBezTo>
                  <a:cubicBezTo>
                    <a:pt x="1242314" y="0"/>
                    <a:pt x="1600708" y="358394"/>
                    <a:pt x="1600708" y="800354"/>
                  </a:cubicBezTo>
                  <a:cubicBezTo>
                    <a:pt x="1600708" y="1242314"/>
                    <a:pt x="1242314" y="1600708"/>
                    <a:pt x="800354" y="1600708"/>
                  </a:cubicBezTo>
                  <a:cubicBezTo>
                    <a:pt x="358394" y="1600708"/>
                    <a:pt x="0" y="1242441"/>
                    <a:pt x="0" y="800354"/>
                  </a:cubicBezTo>
                  <a:close/>
                </a:path>
              </a:pathLst>
            </a:custGeom>
            <a:solidFill>
              <a:srgbClr val="F89F56"/>
            </a:solidFill>
          </p:spPr>
        </p:sp>
      </p:grpSp>
      <p:grpSp>
        <p:nvGrpSpPr>
          <p:cNvPr id="36" name="Group 36"/>
          <p:cNvGrpSpPr/>
          <p:nvPr/>
        </p:nvGrpSpPr>
        <p:grpSpPr>
          <a:xfrm>
            <a:off x="6697403" y="4804257"/>
            <a:ext cx="1518140" cy="1518140"/>
            <a:chOff x="0" y="0"/>
            <a:chExt cx="2024186" cy="2024186"/>
          </a:xfrm>
        </p:grpSpPr>
        <p:sp>
          <p:nvSpPr>
            <p:cNvPr id="37" name="Freeform 37"/>
            <p:cNvSpPr/>
            <p:nvPr/>
          </p:nvSpPr>
          <p:spPr>
            <a:xfrm>
              <a:off x="0" y="0"/>
              <a:ext cx="2024126" cy="2022856"/>
            </a:xfrm>
            <a:custGeom>
              <a:avLst/>
              <a:gdLst/>
              <a:ahLst/>
              <a:cxnLst/>
              <a:rect l="l" t="t" r="r" b="b"/>
              <a:pathLst>
                <a:path w="2024126" h="2022856">
                  <a:moveTo>
                    <a:pt x="4064" y="921258"/>
                  </a:moveTo>
                  <a:cubicBezTo>
                    <a:pt x="5461" y="906145"/>
                    <a:pt x="7112" y="891032"/>
                    <a:pt x="9144" y="876046"/>
                  </a:cubicBezTo>
                  <a:cubicBezTo>
                    <a:pt x="10795" y="863854"/>
                    <a:pt x="21971" y="855345"/>
                    <a:pt x="34163" y="856996"/>
                  </a:cubicBezTo>
                  <a:cubicBezTo>
                    <a:pt x="46355" y="858647"/>
                    <a:pt x="54864" y="869823"/>
                    <a:pt x="53213" y="882015"/>
                  </a:cubicBezTo>
                  <a:cubicBezTo>
                    <a:pt x="51308" y="896366"/>
                    <a:pt x="49657" y="910717"/>
                    <a:pt x="48387" y="925322"/>
                  </a:cubicBezTo>
                  <a:cubicBezTo>
                    <a:pt x="47244" y="937514"/>
                    <a:pt x="36449" y="946531"/>
                    <a:pt x="24257" y="945515"/>
                  </a:cubicBezTo>
                  <a:cubicBezTo>
                    <a:pt x="12065" y="944499"/>
                    <a:pt x="2921" y="933450"/>
                    <a:pt x="4064" y="921258"/>
                  </a:cubicBezTo>
                  <a:close/>
                  <a:moveTo>
                    <a:pt x="16129" y="831215"/>
                  </a:moveTo>
                  <a:cubicBezTo>
                    <a:pt x="18796" y="816229"/>
                    <a:pt x="21844" y="801370"/>
                    <a:pt x="25146" y="786765"/>
                  </a:cubicBezTo>
                  <a:cubicBezTo>
                    <a:pt x="27813" y="774827"/>
                    <a:pt x="39751" y="767334"/>
                    <a:pt x="51689" y="770001"/>
                  </a:cubicBezTo>
                  <a:cubicBezTo>
                    <a:pt x="63627" y="772668"/>
                    <a:pt x="71120" y="784606"/>
                    <a:pt x="68453" y="796544"/>
                  </a:cubicBezTo>
                  <a:cubicBezTo>
                    <a:pt x="65278" y="810641"/>
                    <a:pt x="62357" y="824738"/>
                    <a:pt x="59817" y="839089"/>
                  </a:cubicBezTo>
                  <a:cubicBezTo>
                    <a:pt x="57658" y="851154"/>
                    <a:pt x="46101" y="859155"/>
                    <a:pt x="34036" y="856996"/>
                  </a:cubicBezTo>
                  <a:cubicBezTo>
                    <a:pt x="21971" y="854837"/>
                    <a:pt x="13970" y="843280"/>
                    <a:pt x="16129" y="831088"/>
                  </a:cubicBezTo>
                  <a:close/>
                  <a:moveTo>
                    <a:pt x="36322" y="742442"/>
                  </a:moveTo>
                  <a:cubicBezTo>
                    <a:pt x="40386" y="727837"/>
                    <a:pt x="44704" y="713359"/>
                    <a:pt x="49403" y="699008"/>
                  </a:cubicBezTo>
                  <a:cubicBezTo>
                    <a:pt x="53213" y="687324"/>
                    <a:pt x="65786" y="680974"/>
                    <a:pt x="77470" y="684784"/>
                  </a:cubicBezTo>
                  <a:cubicBezTo>
                    <a:pt x="89154" y="688594"/>
                    <a:pt x="95504" y="701167"/>
                    <a:pt x="91694" y="712851"/>
                  </a:cubicBezTo>
                  <a:cubicBezTo>
                    <a:pt x="87249" y="726567"/>
                    <a:pt x="83058" y="740410"/>
                    <a:pt x="79248" y="754380"/>
                  </a:cubicBezTo>
                  <a:cubicBezTo>
                    <a:pt x="75946" y="766191"/>
                    <a:pt x="63754" y="773176"/>
                    <a:pt x="51943" y="769874"/>
                  </a:cubicBezTo>
                  <a:cubicBezTo>
                    <a:pt x="40132" y="766572"/>
                    <a:pt x="33020" y="754380"/>
                    <a:pt x="36322" y="742569"/>
                  </a:cubicBezTo>
                  <a:close/>
                  <a:moveTo>
                    <a:pt x="64389" y="656209"/>
                  </a:moveTo>
                  <a:cubicBezTo>
                    <a:pt x="69723" y="641985"/>
                    <a:pt x="75311" y="628015"/>
                    <a:pt x="81280" y="614172"/>
                  </a:cubicBezTo>
                  <a:cubicBezTo>
                    <a:pt x="86106" y="602869"/>
                    <a:pt x="99187" y="597662"/>
                    <a:pt x="110490" y="602488"/>
                  </a:cubicBezTo>
                  <a:cubicBezTo>
                    <a:pt x="121793" y="607314"/>
                    <a:pt x="127000" y="620395"/>
                    <a:pt x="122174" y="631698"/>
                  </a:cubicBezTo>
                  <a:cubicBezTo>
                    <a:pt x="116459" y="644906"/>
                    <a:pt x="111125" y="658368"/>
                    <a:pt x="106045" y="671957"/>
                  </a:cubicBezTo>
                  <a:cubicBezTo>
                    <a:pt x="101727" y="683387"/>
                    <a:pt x="88900" y="689229"/>
                    <a:pt x="77470" y="684911"/>
                  </a:cubicBezTo>
                  <a:cubicBezTo>
                    <a:pt x="66040" y="680593"/>
                    <a:pt x="60198" y="667766"/>
                    <a:pt x="64516" y="656336"/>
                  </a:cubicBezTo>
                  <a:close/>
                  <a:moveTo>
                    <a:pt x="100330" y="572770"/>
                  </a:moveTo>
                  <a:cubicBezTo>
                    <a:pt x="106934" y="559181"/>
                    <a:pt x="113792" y="545719"/>
                    <a:pt x="121031" y="532384"/>
                  </a:cubicBezTo>
                  <a:cubicBezTo>
                    <a:pt x="126873" y="521589"/>
                    <a:pt x="140335" y="517525"/>
                    <a:pt x="151130" y="523367"/>
                  </a:cubicBezTo>
                  <a:cubicBezTo>
                    <a:pt x="161925" y="529209"/>
                    <a:pt x="165989" y="542671"/>
                    <a:pt x="160147" y="553466"/>
                  </a:cubicBezTo>
                  <a:cubicBezTo>
                    <a:pt x="153289" y="566166"/>
                    <a:pt x="146685" y="578993"/>
                    <a:pt x="140462" y="592074"/>
                  </a:cubicBezTo>
                  <a:cubicBezTo>
                    <a:pt x="135128" y="603123"/>
                    <a:pt x="121793" y="607822"/>
                    <a:pt x="110744" y="602488"/>
                  </a:cubicBezTo>
                  <a:cubicBezTo>
                    <a:pt x="99695" y="597154"/>
                    <a:pt x="94996" y="583819"/>
                    <a:pt x="100330" y="572770"/>
                  </a:cubicBezTo>
                  <a:close/>
                  <a:moveTo>
                    <a:pt x="143510" y="492887"/>
                  </a:moveTo>
                  <a:cubicBezTo>
                    <a:pt x="151257" y="479933"/>
                    <a:pt x="159385" y="467106"/>
                    <a:pt x="167767" y="454406"/>
                  </a:cubicBezTo>
                  <a:cubicBezTo>
                    <a:pt x="174498" y="444119"/>
                    <a:pt x="188341" y="441325"/>
                    <a:pt x="198628" y="448183"/>
                  </a:cubicBezTo>
                  <a:cubicBezTo>
                    <a:pt x="208915" y="455041"/>
                    <a:pt x="211709" y="468757"/>
                    <a:pt x="204851" y="479044"/>
                  </a:cubicBezTo>
                  <a:cubicBezTo>
                    <a:pt x="196850" y="491109"/>
                    <a:pt x="189103" y="503301"/>
                    <a:pt x="181737" y="515747"/>
                  </a:cubicBezTo>
                  <a:cubicBezTo>
                    <a:pt x="175387" y="526288"/>
                    <a:pt x="161798" y="529717"/>
                    <a:pt x="151257" y="523367"/>
                  </a:cubicBezTo>
                  <a:cubicBezTo>
                    <a:pt x="140716" y="517017"/>
                    <a:pt x="137287" y="503428"/>
                    <a:pt x="143637" y="492887"/>
                  </a:cubicBezTo>
                  <a:close/>
                  <a:moveTo>
                    <a:pt x="193802" y="417195"/>
                  </a:moveTo>
                  <a:cubicBezTo>
                    <a:pt x="202692" y="405003"/>
                    <a:pt x="211963" y="392938"/>
                    <a:pt x="221361" y="381127"/>
                  </a:cubicBezTo>
                  <a:cubicBezTo>
                    <a:pt x="228981" y="371475"/>
                    <a:pt x="242951" y="369951"/>
                    <a:pt x="252603" y="377698"/>
                  </a:cubicBezTo>
                  <a:cubicBezTo>
                    <a:pt x="262255" y="385445"/>
                    <a:pt x="263779" y="399288"/>
                    <a:pt x="256032" y="408940"/>
                  </a:cubicBezTo>
                  <a:cubicBezTo>
                    <a:pt x="247015" y="420243"/>
                    <a:pt x="238252" y="431800"/>
                    <a:pt x="229743" y="443484"/>
                  </a:cubicBezTo>
                  <a:cubicBezTo>
                    <a:pt x="222504" y="453390"/>
                    <a:pt x="208661" y="455549"/>
                    <a:pt x="198755" y="448310"/>
                  </a:cubicBezTo>
                  <a:cubicBezTo>
                    <a:pt x="188849" y="441071"/>
                    <a:pt x="186690" y="427228"/>
                    <a:pt x="193929" y="417322"/>
                  </a:cubicBezTo>
                  <a:close/>
                  <a:moveTo>
                    <a:pt x="250571" y="346329"/>
                  </a:moveTo>
                  <a:cubicBezTo>
                    <a:pt x="260604" y="334899"/>
                    <a:pt x="270764" y="323723"/>
                    <a:pt x="281305" y="312801"/>
                  </a:cubicBezTo>
                  <a:cubicBezTo>
                    <a:pt x="289814" y="303911"/>
                    <a:pt x="303911" y="303657"/>
                    <a:pt x="312674" y="312166"/>
                  </a:cubicBezTo>
                  <a:cubicBezTo>
                    <a:pt x="321437" y="320675"/>
                    <a:pt x="321818" y="334772"/>
                    <a:pt x="313309" y="343535"/>
                  </a:cubicBezTo>
                  <a:cubicBezTo>
                    <a:pt x="303276" y="353949"/>
                    <a:pt x="293497" y="364744"/>
                    <a:pt x="283972" y="375539"/>
                  </a:cubicBezTo>
                  <a:cubicBezTo>
                    <a:pt x="275844" y="384810"/>
                    <a:pt x="261874" y="385699"/>
                    <a:pt x="252603" y="377571"/>
                  </a:cubicBezTo>
                  <a:cubicBezTo>
                    <a:pt x="243332" y="369443"/>
                    <a:pt x="242443" y="355473"/>
                    <a:pt x="250571" y="346202"/>
                  </a:cubicBezTo>
                  <a:close/>
                  <a:moveTo>
                    <a:pt x="313436" y="280543"/>
                  </a:moveTo>
                  <a:cubicBezTo>
                    <a:pt x="324358" y="270129"/>
                    <a:pt x="335534" y="259842"/>
                    <a:pt x="346964" y="249936"/>
                  </a:cubicBezTo>
                  <a:cubicBezTo>
                    <a:pt x="356235" y="241808"/>
                    <a:pt x="370205" y="242824"/>
                    <a:pt x="378333" y="252095"/>
                  </a:cubicBezTo>
                  <a:cubicBezTo>
                    <a:pt x="386461" y="261366"/>
                    <a:pt x="385445" y="275336"/>
                    <a:pt x="376174" y="283464"/>
                  </a:cubicBezTo>
                  <a:cubicBezTo>
                    <a:pt x="365252" y="292989"/>
                    <a:pt x="354584" y="302768"/>
                    <a:pt x="344043" y="312801"/>
                  </a:cubicBezTo>
                  <a:cubicBezTo>
                    <a:pt x="335153" y="321310"/>
                    <a:pt x="321056" y="320929"/>
                    <a:pt x="312674" y="312039"/>
                  </a:cubicBezTo>
                  <a:cubicBezTo>
                    <a:pt x="304292" y="303149"/>
                    <a:pt x="304546" y="289052"/>
                    <a:pt x="313436" y="280670"/>
                  </a:cubicBezTo>
                  <a:close/>
                  <a:moveTo>
                    <a:pt x="381889" y="220853"/>
                  </a:moveTo>
                  <a:cubicBezTo>
                    <a:pt x="393700" y="211455"/>
                    <a:pt x="405765" y="202184"/>
                    <a:pt x="418084" y="193294"/>
                  </a:cubicBezTo>
                  <a:cubicBezTo>
                    <a:pt x="427990" y="186055"/>
                    <a:pt x="441960" y="188214"/>
                    <a:pt x="449072" y="198247"/>
                  </a:cubicBezTo>
                  <a:cubicBezTo>
                    <a:pt x="456184" y="208280"/>
                    <a:pt x="454152" y="222123"/>
                    <a:pt x="444119" y="229235"/>
                  </a:cubicBezTo>
                  <a:cubicBezTo>
                    <a:pt x="432435" y="237744"/>
                    <a:pt x="420878" y="246507"/>
                    <a:pt x="409575" y="255524"/>
                  </a:cubicBezTo>
                  <a:cubicBezTo>
                    <a:pt x="399923" y="263144"/>
                    <a:pt x="385953" y="261620"/>
                    <a:pt x="378333" y="251968"/>
                  </a:cubicBezTo>
                  <a:cubicBezTo>
                    <a:pt x="370713" y="242316"/>
                    <a:pt x="372237" y="228346"/>
                    <a:pt x="381889" y="220726"/>
                  </a:cubicBezTo>
                  <a:close/>
                  <a:moveTo>
                    <a:pt x="455422" y="167259"/>
                  </a:moveTo>
                  <a:cubicBezTo>
                    <a:pt x="467995" y="158877"/>
                    <a:pt x="480822" y="150876"/>
                    <a:pt x="493903" y="143129"/>
                  </a:cubicBezTo>
                  <a:cubicBezTo>
                    <a:pt x="504444" y="136779"/>
                    <a:pt x="518033" y="140208"/>
                    <a:pt x="524383" y="150749"/>
                  </a:cubicBezTo>
                  <a:cubicBezTo>
                    <a:pt x="530733" y="161290"/>
                    <a:pt x="527304" y="174879"/>
                    <a:pt x="516763" y="181229"/>
                  </a:cubicBezTo>
                  <a:cubicBezTo>
                    <a:pt x="504317" y="188722"/>
                    <a:pt x="492125" y="196342"/>
                    <a:pt x="480060" y="204343"/>
                  </a:cubicBezTo>
                  <a:cubicBezTo>
                    <a:pt x="469773" y="211074"/>
                    <a:pt x="456057" y="208280"/>
                    <a:pt x="449326" y="197993"/>
                  </a:cubicBezTo>
                  <a:cubicBezTo>
                    <a:pt x="442595" y="187706"/>
                    <a:pt x="445389" y="173990"/>
                    <a:pt x="455676" y="167259"/>
                  </a:cubicBezTo>
                  <a:close/>
                  <a:moveTo>
                    <a:pt x="533654" y="120650"/>
                  </a:moveTo>
                  <a:cubicBezTo>
                    <a:pt x="546989" y="113538"/>
                    <a:pt x="560451" y="106553"/>
                    <a:pt x="574040" y="100076"/>
                  </a:cubicBezTo>
                  <a:cubicBezTo>
                    <a:pt x="585089" y="94742"/>
                    <a:pt x="598424" y="99441"/>
                    <a:pt x="603758" y="110490"/>
                  </a:cubicBezTo>
                  <a:cubicBezTo>
                    <a:pt x="609092" y="121539"/>
                    <a:pt x="604393" y="134874"/>
                    <a:pt x="593344" y="140208"/>
                  </a:cubicBezTo>
                  <a:cubicBezTo>
                    <a:pt x="580263" y="146558"/>
                    <a:pt x="567436" y="153035"/>
                    <a:pt x="554736" y="159893"/>
                  </a:cubicBezTo>
                  <a:cubicBezTo>
                    <a:pt x="543941" y="165735"/>
                    <a:pt x="530479" y="161671"/>
                    <a:pt x="524637" y="150876"/>
                  </a:cubicBezTo>
                  <a:cubicBezTo>
                    <a:pt x="518795" y="140081"/>
                    <a:pt x="522859" y="126619"/>
                    <a:pt x="533654" y="120777"/>
                  </a:cubicBezTo>
                  <a:close/>
                  <a:moveTo>
                    <a:pt x="614680" y="81026"/>
                  </a:moveTo>
                  <a:cubicBezTo>
                    <a:pt x="628523" y="75057"/>
                    <a:pt x="642620" y="69469"/>
                    <a:pt x="656717" y="64135"/>
                  </a:cubicBezTo>
                  <a:cubicBezTo>
                    <a:pt x="668147" y="59817"/>
                    <a:pt x="680974" y="65659"/>
                    <a:pt x="685292" y="77089"/>
                  </a:cubicBezTo>
                  <a:cubicBezTo>
                    <a:pt x="689610" y="88519"/>
                    <a:pt x="683768" y="101346"/>
                    <a:pt x="672338" y="105664"/>
                  </a:cubicBezTo>
                  <a:cubicBezTo>
                    <a:pt x="658749" y="110744"/>
                    <a:pt x="645414" y="116078"/>
                    <a:pt x="632079" y="121793"/>
                  </a:cubicBezTo>
                  <a:cubicBezTo>
                    <a:pt x="620776" y="126619"/>
                    <a:pt x="607695" y="121412"/>
                    <a:pt x="602869" y="110109"/>
                  </a:cubicBezTo>
                  <a:cubicBezTo>
                    <a:pt x="598043" y="98806"/>
                    <a:pt x="603250" y="85725"/>
                    <a:pt x="614553" y="80899"/>
                  </a:cubicBezTo>
                  <a:close/>
                  <a:moveTo>
                    <a:pt x="699643" y="49022"/>
                  </a:moveTo>
                  <a:cubicBezTo>
                    <a:pt x="713994" y="44323"/>
                    <a:pt x="728472" y="40005"/>
                    <a:pt x="743077" y="36068"/>
                  </a:cubicBezTo>
                  <a:cubicBezTo>
                    <a:pt x="754888" y="32766"/>
                    <a:pt x="767207" y="39751"/>
                    <a:pt x="770382" y="51562"/>
                  </a:cubicBezTo>
                  <a:cubicBezTo>
                    <a:pt x="773557" y="63373"/>
                    <a:pt x="766699" y="75692"/>
                    <a:pt x="754888" y="78867"/>
                  </a:cubicBezTo>
                  <a:cubicBezTo>
                    <a:pt x="740918" y="82677"/>
                    <a:pt x="727075" y="86868"/>
                    <a:pt x="713359" y="91313"/>
                  </a:cubicBezTo>
                  <a:cubicBezTo>
                    <a:pt x="701675" y="95123"/>
                    <a:pt x="689102" y="88646"/>
                    <a:pt x="685419" y="76962"/>
                  </a:cubicBezTo>
                  <a:cubicBezTo>
                    <a:pt x="681736" y="65278"/>
                    <a:pt x="688086" y="52705"/>
                    <a:pt x="699770" y="49022"/>
                  </a:cubicBezTo>
                  <a:close/>
                  <a:moveTo>
                    <a:pt x="787400" y="24892"/>
                  </a:moveTo>
                  <a:cubicBezTo>
                    <a:pt x="802132" y="21590"/>
                    <a:pt x="816991" y="18542"/>
                    <a:pt x="831850" y="15875"/>
                  </a:cubicBezTo>
                  <a:cubicBezTo>
                    <a:pt x="843915" y="13716"/>
                    <a:pt x="855472" y="21717"/>
                    <a:pt x="857631" y="33782"/>
                  </a:cubicBezTo>
                  <a:cubicBezTo>
                    <a:pt x="859790" y="45847"/>
                    <a:pt x="851789" y="57404"/>
                    <a:pt x="839724" y="59563"/>
                  </a:cubicBezTo>
                  <a:cubicBezTo>
                    <a:pt x="825373" y="62103"/>
                    <a:pt x="811276" y="65024"/>
                    <a:pt x="797179" y="68199"/>
                  </a:cubicBezTo>
                  <a:cubicBezTo>
                    <a:pt x="785241" y="70866"/>
                    <a:pt x="773303" y="63373"/>
                    <a:pt x="770636" y="51435"/>
                  </a:cubicBezTo>
                  <a:cubicBezTo>
                    <a:pt x="767969" y="39497"/>
                    <a:pt x="775462" y="27559"/>
                    <a:pt x="787400" y="24892"/>
                  </a:cubicBezTo>
                  <a:close/>
                  <a:moveTo>
                    <a:pt x="876681" y="9017"/>
                  </a:moveTo>
                  <a:cubicBezTo>
                    <a:pt x="891667" y="6985"/>
                    <a:pt x="906780" y="5334"/>
                    <a:pt x="921893" y="3937"/>
                  </a:cubicBezTo>
                  <a:cubicBezTo>
                    <a:pt x="934085" y="2794"/>
                    <a:pt x="944880" y="11938"/>
                    <a:pt x="946023" y="24130"/>
                  </a:cubicBezTo>
                  <a:cubicBezTo>
                    <a:pt x="947166" y="36322"/>
                    <a:pt x="938022" y="47117"/>
                    <a:pt x="925830" y="48260"/>
                  </a:cubicBezTo>
                  <a:cubicBezTo>
                    <a:pt x="911352" y="49530"/>
                    <a:pt x="896874" y="51181"/>
                    <a:pt x="882523" y="53086"/>
                  </a:cubicBezTo>
                  <a:cubicBezTo>
                    <a:pt x="870331" y="54737"/>
                    <a:pt x="859155" y="46228"/>
                    <a:pt x="857504" y="34036"/>
                  </a:cubicBezTo>
                  <a:cubicBezTo>
                    <a:pt x="855853" y="21844"/>
                    <a:pt x="864489" y="10668"/>
                    <a:pt x="876681" y="9017"/>
                  </a:cubicBezTo>
                  <a:close/>
                  <a:moveTo>
                    <a:pt x="967105" y="1016"/>
                  </a:moveTo>
                  <a:cubicBezTo>
                    <a:pt x="981964" y="381"/>
                    <a:pt x="996950" y="0"/>
                    <a:pt x="1012063" y="0"/>
                  </a:cubicBezTo>
                  <a:lnTo>
                    <a:pt x="1012063" y="22225"/>
                  </a:lnTo>
                  <a:lnTo>
                    <a:pt x="1012063" y="0"/>
                  </a:lnTo>
                  <a:cubicBezTo>
                    <a:pt x="1012317" y="0"/>
                    <a:pt x="1012571" y="0"/>
                    <a:pt x="1012698" y="0"/>
                  </a:cubicBezTo>
                  <a:cubicBezTo>
                    <a:pt x="1025017" y="0"/>
                    <a:pt x="1034923" y="9906"/>
                    <a:pt x="1034923" y="22225"/>
                  </a:cubicBezTo>
                  <a:cubicBezTo>
                    <a:pt x="1034923" y="34544"/>
                    <a:pt x="1025017" y="44450"/>
                    <a:pt x="1012698" y="44450"/>
                  </a:cubicBezTo>
                  <a:cubicBezTo>
                    <a:pt x="1012444" y="44450"/>
                    <a:pt x="1012317" y="44450"/>
                    <a:pt x="1012063" y="44450"/>
                  </a:cubicBezTo>
                  <a:lnTo>
                    <a:pt x="1012063" y="22225"/>
                  </a:lnTo>
                  <a:lnTo>
                    <a:pt x="1012063" y="44450"/>
                  </a:lnTo>
                  <a:cubicBezTo>
                    <a:pt x="997585" y="44450"/>
                    <a:pt x="983234" y="44704"/>
                    <a:pt x="969010" y="45339"/>
                  </a:cubicBezTo>
                  <a:cubicBezTo>
                    <a:pt x="956691" y="45847"/>
                    <a:pt x="946404" y="36322"/>
                    <a:pt x="945896" y="24130"/>
                  </a:cubicBezTo>
                  <a:cubicBezTo>
                    <a:pt x="945388" y="11938"/>
                    <a:pt x="954786" y="1524"/>
                    <a:pt x="967105" y="1016"/>
                  </a:cubicBezTo>
                  <a:close/>
                  <a:moveTo>
                    <a:pt x="1058545" y="1016"/>
                  </a:moveTo>
                  <a:cubicBezTo>
                    <a:pt x="1073658" y="1651"/>
                    <a:pt x="1088771" y="2667"/>
                    <a:pt x="1103757" y="4064"/>
                  </a:cubicBezTo>
                  <a:cubicBezTo>
                    <a:pt x="1115949" y="5207"/>
                    <a:pt x="1124966" y="16002"/>
                    <a:pt x="1123950" y="28194"/>
                  </a:cubicBezTo>
                  <a:cubicBezTo>
                    <a:pt x="1122934" y="40386"/>
                    <a:pt x="1112012" y="49403"/>
                    <a:pt x="1099820" y="48387"/>
                  </a:cubicBezTo>
                  <a:cubicBezTo>
                    <a:pt x="1085469" y="47117"/>
                    <a:pt x="1071118" y="46101"/>
                    <a:pt x="1056640" y="45466"/>
                  </a:cubicBezTo>
                  <a:cubicBezTo>
                    <a:pt x="1044321" y="44958"/>
                    <a:pt x="1034923" y="34544"/>
                    <a:pt x="1035431" y="22225"/>
                  </a:cubicBezTo>
                  <a:cubicBezTo>
                    <a:pt x="1035939" y="9906"/>
                    <a:pt x="1046226" y="508"/>
                    <a:pt x="1058418" y="1016"/>
                  </a:cubicBezTo>
                  <a:close/>
                  <a:moveTo>
                    <a:pt x="1148842" y="9144"/>
                  </a:moveTo>
                  <a:cubicBezTo>
                    <a:pt x="1163955" y="11176"/>
                    <a:pt x="1178814" y="13589"/>
                    <a:pt x="1193673" y="16256"/>
                  </a:cubicBezTo>
                  <a:cubicBezTo>
                    <a:pt x="1205738" y="18415"/>
                    <a:pt x="1213739" y="29972"/>
                    <a:pt x="1211580" y="42037"/>
                  </a:cubicBezTo>
                  <a:cubicBezTo>
                    <a:pt x="1209421" y="54102"/>
                    <a:pt x="1197864" y="62230"/>
                    <a:pt x="1185799" y="59944"/>
                  </a:cubicBezTo>
                  <a:cubicBezTo>
                    <a:pt x="1171575" y="57404"/>
                    <a:pt x="1157351" y="55118"/>
                    <a:pt x="1142873" y="53213"/>
                  </a:cubicBezTo>
                  <a:cubicBezTo>
                    <a:pt x="1130681" y="51562"/>
                    <a:pt x="1122172" y="40386"/>
                    <a:pt x="1123823" y="28194"/>
                  </a:cubicBezTo>
                  <a:cubicBezTo>
                    <a:pt x="1125474" y="16002"/>
                    <a:pt x="1136650" y="7493"/>
                    <a:pt x="1148842" y="9144"/>
                  </a:cubicBezTo>
                  <a:close/>
                  <a:moveTo>
                    <a:pt x="1238250" y="25400"/>
                  </a:moveTo>
                  <a:cubicBezTo>
                    <a:pt x="1253109" y="28829"/>
                    <a:pt x="1267714" y="32512"/>
                    <a:pt x="1282319" y="36576"/>
                  </a:cubicBezTo>
                  <a:cubicBezTo>
                    <a:pt x="1294130" y="39878"/>
                    <a:pt x="1301115" y="52070"/>
                    <a:pt x="1297813" y="63881"/>
                  </a:cubicBezTo>
                  <a:cubicBezTo>
                    <a:pt x="1294511" y="75692"/>
                    <a:pt x="1282319" y="82677"/>
                    <a:pt x="1270508" y="79375"/>
                  </a:cubicBezTo>
                  <a:cubicBezTo>
                    <a:pt x="1256538" y="75565"/>
                    <a:pt x="1242568" y="72009"/>
                    <a:pt x="1228344" y="68707"/>
                  </a:cubicBezTo>
                  <a:cubicBezTo>
                    <a:pt x="1216406" y="65913"/>
                    <a:pt x="1208913" y="54102"/>
                    <a:pt x="1211580" y="42037"/>
                  </a:cubicBezTo>
                  <a:cubicBezTo>
                    <a:pt x="1214247" y="29972"/>
                    <a:pt x="1226185" y="22606"/>
                    <a:pt x="1238250" y="25400"/>
                  </a:cubicBezTo>
                  <a:close/>
                  <a:moveTo>
                    <a:pt x="1325753" y="49530"/>
                  </a:moveTo>
                  <a:cubicBezTo>
                    <a:pt x="1340231" y="54229"/>
                    <a:pt x="1354582" y="59309"/>
                    <a:pt x="1368679" y="64643"/>
                  </a:cubicBezTo>
                  <a:cubicBezTo>
                    <a:pt x="1380109" y="68961"/>
                    <a:pt x="1385951" y="81788"/>
                    <a:pt x="1381633" y="93218"/>
                  </a:cubicBezTo>
                  <a:cubicBezTo>
                    <a:pt x="1377315" y="104648"/>
                    <a:pt x="1364488" y="110490"/>
                    <a:pt x="1353058" y="106172"/>
                  </a:cubicBezTo>
                  <a:cubicBezTo>
                    <a:pt x="1339469" y="101092"/>
                    <a:pt x="1325880" y="96266"/>
                    <a:pt x="1312037" y="91821"/>
                  </a:cubicBezTo>
                  <a:cubicBezTo>
                    <a:pt x="1300353" y="88011"/>
                    <a:pt x="1294003" y="75438"/>
                    <a:pt x="1297813" y="63754"/>
                  </a:cubicBezTo>
                  <a:cubicBezTo>
                    <a:pt x="1301623" y="52070"/>
                    <a:pt x="1314196" y="45720"/>
                    <a:pt x="1325880" y="49530"/>
                  </a:cubicBezTo>
                  <a:close/>
                  <a:moveTo>
                    <a:pt x="1410843" y="81534"/>
                  </a:moveTo>
                  <a:cubicBezTo>
                    <a:pt x="1424813" y="87503"/>
                    <a:pt x="1438656" y="93853"/>
                    <a:pt x="1452245" y="100457"/>
                  </a:cubicBezTo>
                  <a:cubicBezTo>
                    <a:pt x="1463294" y="105791"/>
                    <a:pt x="1467866" y="119126"/>
                    <a:pt x="1462532" y="130175"/>
                  </a:cubicBezTo>
                  <a:cubicBezTo>
                    <a:pt x="1457198" y="141224"/>
                    <a:pt x="1443863" y="145796"/>
                    <a:pt x="1432814" y="140462"/>
                  </a:cubicBezTo>
                  <a:cubicBezTo>
                    <a:pt x="1419733" y="134112"/>
                    <a:pt x="1406525" y="128143"/>
                    <a:pt x="1393190" y="122428"/>
                  </a:cubicBezTo>
                  <a:cubicBezTo>
                    <a:pt x="1381887" y="117602"/>
                    <a:pt x="1376680" y="104521"/>
                    <a:pt x="1381506" y="93218"/>
                  </a:cubicBezTo>
                  <a:cubicBezTo>
                    <a:pt x="1386332" y="81915"/>
                    <a:pt x="1399413" y="76708"/>
                    <a:pt x="1410716" y="81534"/>
                  </a:cubicBezTo>
                  <a:close/>
                  <a:moveTo>
                    <a:pt x="1492504" y="121031"/>
                  </a:moveTo>
                  <a:cubicBezTo>
                    <a:pt x="1505839" y="128270"/>
                    <a:pt x="1519047" y="135763"/>
                    <a:pt x="1532001" y="143510"/>
                  </a:cubicBezTo>
                  <a:cubicBezTo>
                    <a:pt x="1542542" y="149860"/>
                    <a:pt x="1545971" y="163449"/>
                    <a:pt x="1539621" y="173990"/>
                  </a:cubicBezTo>
                  <a:cubicBezTo>
                    <a:pt x="1533271" y="184531"/>
                    <a:pt x="1519682" y="187960"/>
                    <a:pt x="1509141" y="181610"/>
                  </a:cubicBezTo>
                  <a:cubicBezTo>
                    <a:pt x="1496695" y="174117"/>
                    <a:pt x="1484122" y="167005"/>
                    <a:pt x="1471295" y="160020"/>
                  </a:cubicBezTo>
                  <a:cubicBezTo>
                    <a:pt x="1460500" y="154178"/>
                    <a:pt x="1456436" y="140716"/>
                    <a:pt x="1462278" y="129921"/>
                  </a:cubicBezTo>
                  <a:cubicBezTo>
                    <a:pt x="1468120" y="119126"/>
                    <a:pt x="1481582" y="115062"/>
                    <a:pt x="1492377" y="120904"/>
                  </a:cubicBezTo>
                  <a:close/>
                  <a:moveTo>
                    <a:pt x="1570355" y="167640"/>
                  </a:moveTo>
                  <a:cubicBezTo>
                    <a:pt x="1583055" y="176022"/>
                    <a:pt x="1595501" y="184658"/>
                    <a:pt x="1607693" y="193548"/>
                  </a:cubicBezTo>
                  <a:cubicBezTo>
                    <a:pt x="1617599" y="200787"/>
                    <a:pt x="1619758" y="214630"/>
                    <a:pt x="1612519" y="224663"/>
                  </a:cubicBezTo>
                  <a:cubicBezTo>
                    <a:pt x="1605280" y="234696"/>
                    <a:pt x="1591437" y="236728"/>
                    <a:pt x="1581404" y="229489"/>
                  </a:cubicBezTo>
                  <a:cubicBezTo>
                    <a:pt x="1569720" y="220980"/>
                    <a:pt x="1557782" y="212725"/>
                    <a:pt x="1545717" y="204724"/>
                  </a:cubicBezTo>
                  <a:cubicBezTo>
                    <a:pt x="1535430" y="197993"/>
                    <a:pt x="1532636" y="184150"/>
                    <a:pt x="1539494" y="173863"/>
                  </a:cubicBezTo>
                  <a:cubicBezTo>
                    <a:pt x="1546352" y="163576"/>
                    <a:pt x="1560068" y="160782"/>
                    <a:pt x="1570355" y="167640"/>
                  </a:cubicBezTo>
                  <a:close/>
                  <a:moveTo>
                    <a:pt x="1643761" y="221234"/>
                  </a:moveTo>
                  <a:cubicBezTo>
                    <a:pt x="1655572" y="230759"/>
                    <a:pt x="1667256" y="240411"/>
                    <a:pt x="1678559" y="250444"/>
                  </a:cubicBezTo>
                  <a:cubicBezTo>
                    <a:pt x="1687830" y="258572"/>
                    <a:pt x="1688719" y="272542"/>
                    <a:pt x="1680591" y="281813"/>
                  </a:cubicBezTo>
                  <a:cubicBezTo>
                    <a:pt x="1672463" y="291084"/>
                    <a:pt x="1658493" y="291973"/>
                    <a:pt x="1649222" y="283845"/>
                  </a:cubicBezTo>
                  <a:cubicBezTo>
                    <a:pt x="1638300" y="274320"/>
                    <a:pt x="1627251" y="265049"/>
                    <a:pt x="1615948" y="255905"/>
                  </a:cubicBezTo>
                  <a:cubicBezTo>
                    <a:pt x="1606423" y="248285"/>
                    <a:pt x="1604772" y="234188"/>
                    <a:pt x="1612519" y="224663"/>
                  </a:cubicBezTo>
                  <a:cubicBezTo>
                    <a:pt x="1620266" y="215138"/>
                    <a:pt x="1634236" y="213487"/>
                    <a:pt x="1643761" y="221234"/>
                  </a:cubicBezTo>
                  <a:close/>
                  <a:moveTo>
                    <a:pt x="1712087" y="281051"/>
                  </a:moveTo>
                  <a:cubicBezTo>
                    <a:pt x="1723009" y="291465"/>
                    <a:pt x="1733677" y="302260"/>
                    <a:pt x="1744218" y="313182"/>
                  </a:cubicBezTo>
                  <a:cubicBezTo>
                    <a:pt x="1752727" y="322072"/>
                    <a:pt x="1752346" y="336169"/>
                    <a:pt x="1743456" y="344551"/>
                  </a:cubicBezTo>
                  <a:cubicBezTo>
                    <a:pt x="1734566" y="352933"/>
                    <a:pt x="1720469" y="352679"/>
                    <a:pt x="1712087" y="343789"/>
                  </a:cubicBezTo>
                  <a:cubicBezTo>
                    <a:pt x="1702054" y="333375"/>
                    <a:pt x="1691894" y="323088"/>
                    <a:pt x="1681353" y="313055"/>
                  </a:cubicBezTo>
                  <a:cubicBezTo>
                    <a:pt x="1672463" y="304546"/>
                    <a:pt x="1672209" y="290449"/>
                    <a:pt x="1680718" y="281686"/>
                  </a:cubicBezTo>
                  <a:cubicBezTo>
                    <a:pt x="1689227" y="272923"/>
                    <a:pt x="1703324" y="272542"/>
                    <a:pt x="1712087" y="281051"/>
                  </a:cubicBezTo>
                  <a:close/>
                  <a:moveTo>
                    <a:pt x="1774825" y="346710"/>
                  </a:moveTo>
                  <a:cubicBezTo>
                    <a:pt x="1784731" y="358140"/>
                    <a:pt x="1794510" y="369697"/>
                    <a:pt x="1803908" y="381635"/>
                  </a:cubicBezTo>
                  <a:cubicBezTo>
                    <a:pt x="1811528" y="391287"/>
                    <a:pt x="1810004" y="405257"/>
                    <a:pt x="1800352" y="412877"/>
                  </a:cubicBezTo>
                  <a:cubicBezTo>
                    <a:pt x="1790700" y="420497"/>
                    <a:pt x="1776730" y="418973"/>
                    <a:pt x="1769110" y="409321"/>
                  </a:cubicBezTo>
                  <a:cubicBezTo>
                    <a:pt x="1760093" y="398018"/>
                    <a:pt x="1750822" y="386842"/>
                    <a:pt x="1741297" y="375920"/>
                  </a:cubicBezTo>
                  <a:cubicBezTo>
                    <a:pt x="1733169" y="366649"/>
                    <a:pt x="1734185" y="352679"/>
                    <a:pt x="1743456" y="344551"/>
                  </a:cubicBezTo>
                  <a:cubicBezTo>
                    <a:pt x="1752727" y="336423"/>
                    <a:pt x="1766697" y="337439"/>
                    <a:pt x="1774825" y="346710"/>
                  </a:cubicBezTo>
                  <a:close/>
                  <a:moveTo>
                    <a:pt x="1831467" y="417703"/>
                  </a:moveTo>
                  <a:cubicBezTo>
                    <a:pt x="1840357" y="429895"/>
                    <a:pt x="1848993" y="442468"/>
                    <a:pt x="1857375" y="455041"/>
                  </a:cubicBezTo>
                  <a:cubicBezTo>
                    <a:pt x="1864106" y="465328"/>
                    <a:pt x="1861312" y="479044"/>
                    <a:pt x="1851025" y="485775"/>
                  </a:cubicBezTo>
                  <a:cubicBezTo>
                    <a:pt x="1840738" y="492506"/>
                    <a:pt x="1827022" y="489712"/>
                    <a:pt x="1820291" y="479425"/>
                  </a:cubicBezTo>
                  <a:cubicBezTo>
                    <a:pt x="1812290" y="467360"/>
                    <a:pt x="1804035" y="455422"/>
                    <a:pt x="1795526" y="443738"/>
                  </a:cubicBezTo>
                  <a:cubicBezTo>
                    <a:pt x="1788287" y="433832"/>
                    <a:pt x="1790573" y="419862"/>
                    <a:pt x="1800479" y="412750"/>
                  </a:cubicBezTo>
                  <a:cubicBezTo>
                    <a:pt x="1810385" y="405638"/>
                    <a:pt x="1824355" y="407797"/>
                    <a:pt x="1831467" y="417703"/>
                  </a:cubicBezTo>
                  <a:close/>
                  <a:moveTo>
                    <a:pt x="1881505" y="493522"/>
                  </a:moveTo>
                  <a:cubicBezTo>
                    <a:pt x="1889252" y="506476"/>
                    <a:pt x="1896745" y="519684"/>
                    <a:pt x="1903984" y="533146"/>
                  </a:cubicBezTo>
                  <a:cubicBezTo>
                    <a:pt x="1909826" y="543941"/>
                    <a:pt x="1905762" y="557403"/>
                    <a:pt x="1894967" y="563245"/>
                  </a:cubicBezTo>
                  <a:cubicBezTo>
                    <a:pt x="1884172" y="569087"/>
                    <a:pt x="1870710" y="565023"/>
                    <a:pt x="1864868" y="554228"/>
                  </a:cubicBezTo>
                  <a:cubicBezTo>
                    <a:pt x="1858010" y="541401"/>
                    <a:pt x="1850898" y="528828"/>
                    <a:pt x="1843405" y="516382"/>
                  </a:cubicBezTo>
                  <a:cubicBezTo>
                    <a:pt x="1837055" y="505841"/>
                    <a:pt x="1840611" y="492252"/>
                    <a:pt x="1851025" y="485902"/>
                  </a:cubicBezTo>
                  <a:cubicBezTo>
                    <a:pt x="1861439" y="479552"/>
                    <a:pt x="1875155" y="483108"/>
                    <a:pt x="1881505" y="493522"/>
                  </a:cubicBezTo>
                  <a:close/>
                  <a:moveTo>
                    <a:pt x="1924558" y="573532"/>
                  </a:moveTo>
                  <a:cubicBezTo>
                    <a:pt x="1931162" y="587121"/>
                    <a:pt x="1937385" y="600964"/>
                    <a:pt x="1943354" y="614934"/>
                  </a:cubicBezTo>
                  <a:cubicBezTo>
                    <a:pt x="1948180" y="626237"/>
                    <a:pt x="1942973" y="639318"/>
                    <a:pt x="1931670" y="644144"/>
                  </a:cubicBezTo>
                  <a:cubicBezTo>
                    <a:pt x="1920367" y="648970"/>
                    <a:pt x="1907286" y="643763"/>
                    <a:pt x="1902460" y="632460"/>
                  </a:cubicBezTo>
                  <a:cubicBezTo>
                    <a:pt x="1896745" y="619125"/>
                    <a:pt x="1890776" y="605917"/>
                    <a:pt x="1884426" y="592836"/>
                  </a:cubicBezTo>
                  <a:cubicBezTo>
                    <a:pt x="1879092" y="581787"/>
                    <a:pt x="1883791" y="568452"/>
                    <a:pt x="1894840" y="563118"/>
                  </a:cubicBezTo>
                  <a:cubicBezTo>
                    <a:pt x="1905889" y="557784"/>
                    <a:pt x="1919224" y="562483"/>
                    <a:pt x="1924558" y="573532"/>
                  </a:cubicBezTo>
                  <a:close/>
                  <a:moveTo>
                    <a:pt x="1960245" y="657098"/>
                  </a:moveTo>
                  <a:cubicBezTo>
                    <a:pt x="1965579" y="671322"/>
                    <a:pt x="1970532" y="685546"/>
                    <a:pt x="1975231" y="700024"/>
                  </a:cubicBezTo>
                  <a:cubicBezTo>
                    <a:pt x="1979041" y="711708"/>
                    <a:pt x="1972564" y="724281"/>
                    <a:pt x="1960880" y="727964"/>
                  </a:cubicBezTo>
                  <a:cubicBezTo>
                    <a:pt x="1949196" y="731647"/>
                    <a:pt x="1936623" y="725297"/>
                    <a:pt x="1932940" y="713613"/>
                  </a:cubicBezTo>
                  <a:cubicBezTo>
                    <a:pt x="1928495" y="699770"/>
                    <a:pt x="1923669" y="686054"/>
                    <a:pt x="1918589" y="672592"/>
                  </a:cubicBezTo>
                  <a:cubicBezTo>
                    <a:pt x="1914271" y="661035"/>
                    <a:pt x="1920113" y="648335"/>
                    <a:pt x="1931670" y="644017"/>
                  </a:cubicBezTo>
                  <a:cubicBezTo>
                    <a:pt x="1943227" y="639699"/>
                    <a:pt x="1955927" y="645541"/>
                    <a:pt x="1960245" y="657098"/>
                  </a:cubicBezTo>
                  <a:close/>
                  <a:moveTo>
                    <a:pt x="1988185" y="743585"/>
                  </a:moveTo>
                  <a:cubicBezTo>
                    <a:pt x="1992122" y="758190"/>
                    <a:pt x="1995805" y="772922"/>
                    <a:pt x="1999234" y="787654"/>
                  </a:cubicBezTo>
                  <a:cubicBezTo>
                    <a:pt x="2001901" y="799592"/>
                    <a:pt x="1994408" y="811530"/>
                    <a:pt x="1982470" y="814197"/>
                  </a:cubicBezTo>
                  <a:cubicBezTo>
                    <a:pt x="1970532" y="816864"/>
                    <a:pt x="1958594" y="809371"/>
                    <a:pt x="1955927" y="797433"/>
                  </a:cubicBezTo>
                  <a:cubicBezTo>
                    <a:pt x="1952752" y="783209"/>
                    <a:pt x="1949196" y="769239"/>
                    <a:pt x="1945386" y="755269"/>
                  </a:cubicBezTo>
                  <a:cubicBezTo>
                    <a:pt x="1942084" y="743458"/>
                    <a:pt x="1949069" y="731266"/>
                    <a:pt x="1960880" y="727964"/>
                  </a:cubicBezTo>
                  <a:cubicBezTo>
                    <a:pt x="1972691" y="724662"/>
                    <a:pt x="1984883" y="731647"/>
                    <a:pt x="1988185" y="743458"/>
                  </a:cubicBezTo>
                  <a:close/>
                  <a:moveTo>
                    <a:pt x="2008251" y="832104"/>
                  </a:moveTo>
                  <a:cubicBezTo>
                    <a:pt x="2010918" y="846963"/>
                    <a:pt x="2013204" y="861949"/>
                    <a:pt x="2015236" y="876935"/>
                  </a:cubicBezTo>
                  <a:cubicBezTo>
                    <a:pt x="2016887" y="889127"/>
                    <a:pt x="2008251" y="900303"/>
                    <a:pt x="1996186" y="901954"/>
                  </a:cubicBezTo>
                  <a:cubicBezTo>
                    <a:pt x="1984121" y="903605"/>
                    <a:pt x="1972818" y="894969"/>
                    <a:pt x="1971167" y="882904"/>
                  </a:cubicBezTo>
                  <a:cubicBezTo>
                    <a:pt x="1969262" y="868553"/>
                    <a:pt x="1966976" y="854202"/>
                    <a:pt x="1964436" y="839978"/>
                  </a:cubicBezTo>
                  <a:cubicBezTo>
                    <a:pt x="1962277" y="827913"/>
                    <a:pt x="1970278" y="816356"/>
                    <a:pt x="1982343" y="814197"/>
                  </a:cubicBezTo>
                  <a:cubicBezTo>
                    <a:pt x="1994408" y="812038"/>
                    <a:pt x="2005965" y="820039"/>
                    <a:pt x="2008124" y="832104"/>
                  </a:cubicBezTo>
                  <a:close/>
                  <a:moveTo>
                    <a:pt x="2020062" y="922147"/>
                  </a:moveTo>
                  <a:cubicBezTo>
                    <a:pt x="2021332" y="937133"/>
                    <a:pt x="2022348" y="952246"/>
                    <a:pt x="2022983" y="967359"/>
                  </a:cubicBezTo>
                  <a:cubicBezTo>
                    <a:pt x="2023491" y="979678"/>
                    <a:pt x="2013966" y="989965"/>
                    <a:pt x="2001774" y="990473"/>
                  </a:cubicBezTo>
                  <a:cubicBezTo>
                    <a:pt x="1989582" y="990981"/>
                    <a:pt x="1979168" y="981456"/>
                    <a:pt x="1978660" y="969264"/>
                  </a:cubicBezTo>
                  <a:cubicBezTo>
                    <a:pt x="1978025" y="954786"/>
                    <a:pt x="1977136" y="940308"/>
                    <a:pt x="1975866" y="926084"/>
                  </a:cubicBezTo>
                  <a:cubicBezTo>
                    <a:pt x="1974850" y="913892"/>
                    <a:pt x="1983867" y="903097"/>
                    <a:pt x="1996059" y="901954"/>
                  </a:cubicBezTo>
                  <a:cubicBezTo>
                    <a:pt x="2008251" y="900811"/>
                    <a:pt x="2019046" y="909955"/>
                    <a:pt x="2020189" y="922147"/>
                  </a:cubicBezTo>
                  <a:close/>
                  <a:moveTo>
                    <a:pt x="2024126" y="1013079"/>
                  </a:moveTo>
                  <a:cubicBezTo>
                    <a:pt x="2024126" y="1028446"/>
                    <a:pt x="2023745" y="1043559"/>
                    <a:pt x="2023110" y="1058799"/>
                  </a:cubicBezTo>
                  <a:cubicBezTo>
                    <a:pt x="2022602" y="1071118"/>
                    <a:pt x="2012188" y="1080516"/>
                    <a:pt x="1999869" y="1080008"/>
                  </a:cubicBezTo>
                  <a:cubicBezTo>
                    <a:pt x="1987550" y="1079500"/>
                    <a:pt x="1978152" y="1069086"/>
                    <a:pt x="1978660" y="1056767"/>
                  </a:cubicBezTo>
                  <a:cubicBezTo>
                    <a:pt x="1979295" y="1042289"/>
                    <a:pt x="1979676" y="1027684"/>
                    <a:pt x="1979676" y="1013079"/>
                  </a:cubicBezTo>
                  <a:cubicBezTo>
                    <a:pt x="1979676" y="1000760"/>
                    <a:pt x="1989709" y="990854"/>
                    <a:pt x="2001901" y="990854"/>
                  </a:cubicBezTo>
                  <a:cubicBezTo>
                    <a:pt x="2014093" y="990854"/>
                    <a:pt x="2024126" y="1000887"/>
                    <a:pt x="2024126" y="1013079"/>
                  </a:cubicBezTo>
                  <a:close/>
                  <a:moveTo>
                    <a:pt x="2019935" y="1103884"/>
                  </a:moveTo>
                  <a:cubicBezTo>
                    <a:pt x="2018538" y="1119124"/>
                    <a:pt x="2016887" y="1134110"/>
                    <a:pt x="2014855" y="1149096"/>
                  </a:cubicBezTo>
                  <a:cubicBezTo>
                    <a:pt x="2013204" y="1161288"/>
                    <a:pt x="2002028" y="1169797"/>
                    <a:pt x="1989836" y="1168146"/>
                  </a:cubicBezTo>
                  <a:cubicBezTo>
                    <a:pt x="1977644" y="1166495"/>
                    <a:pt x="1969135" y="1155319"/>
                    <a:pt x="1970786" y="1143127"/>
                  </a:cubicBezTo>
                  <a:cubicBezTo>
                    <a:pt x="1972691" y="1128776"/>
                    <a:pt x="1974342" y="1114425"/>
                    <a:pt x="1975612" y="1099820"/>
                  </a:cubicBezTo>
                  <a:cubicBezTo>
                    <a:pt x="1976755" y="1087628"/>
                    <a:pt x="1987550" y="1078611"/>
                    <a:pt x="1999742" y="1079627"/>
                  </a:cubicBezTo>
                  <a:cubicBezTo>
                    <a:pt x="2011934" y="1080643"/>
                    <a:pt x="2020951" y="1091565"/>
                    <a:pt x="2019935" y="1103757"/>
                  </a:cubicBezTo>
                  <a:close/>
                  <a:moveTo>
                    <a:pt x="2007743" y="1193800"/>
                  </a:moveTo>
                  <a:cubicBezTo>
                    <a:pt x="2005076" y="1208786"/>
                    <a:pt x="2002028" y="1223645"/>
                    <a:pt x="1998599" y="1238250"/>
                  </a:cubicBezTo>
                  <a:cubicBezTo>
                    <a:pt x="1995805" y="1250188"/>
                    <a:pt x="1983994" y="1257681"/>
                    <a:pt x="1971929" y="1255014"/>
                  </a:cubicBezTo>
                  <a:cubicBezTo>
                    <a:pt x="1959864" y="1252347"/>
                    <a:pt x="1952498" y="1240409"/>
                    <a:pt x="1955165" y="1228344"/>
                  </a:cubicBezTo>
                  <a:cubicBezTo>
                    <a:pt x="1958340" y="1214247"/>
                    <a:pt x="1961261" y="1200150"/>
                    <a:pt x="1963928" y="1185799"/>
                  </a:cubicBezTo>
                  <a:cubicBezTo>
                    <a:pt x="1966087" y="1173734"/>
                    <a:pt x="1977644" y="1165733"/>
                    <a:pt x="1989709" y="1167892"/>
                  </a:cubicBezTo>
                  <a:cubicBezTo>
                    <a:pt x="2001774" y="1170051"/>
                    <a:pt x="2009775" y="1181608"/>
                    <a:pt x="2007616" y="1193673"/>
                  </a:cubicBezTo>
                  <a:close/>
                  <a:moveTo>
                    <a:pt x="1987296" y="1282192"/>
                  </a:moveTo>
                  <a:cubicBezTo>
                    <a:pt x="1983232" y="1296797"/>
                    <a:pt x="1978914" y="1311275"/>
                    <a:pt x="1974215" y="1325626"/>
                  </a:cubicBezTo>
                  <a:cubicBezTo>
                    <a:pt x="1970405" y="1337310"/>
                    <a:pt x="1957832" y="1343660"/>
                    <a:pt x="1946148" y="1339850"/>
                  </a:cubicBezTo>
                  <a:cubicBezTo>
                    <a:pt x="1934464" y="1336040"/>
                    <a:pt x="1928114" y="1323467"/>
                    <a:pt x="1931924" y="1311783"/>
                  </a:cubicBezTo>
                  <a:cubicBezTo>
                    <a:pt x="1936369" y="1298067"/>
                    <a:pt x="1940560" y="1284224"/>
                    <a:pt x="1944497" y="1270254"/>
                  </a:cubicBezTo>
                  <a:cubicBezTo>
                    <a:pt x="1947799" y="1258443"/>
                    <a:pt x="1959991" y="1251458"/>
                    <a:pt x="1971802" y="1254760"/>
                  </a:cubicBezTo>
                  <a:cubicBezTo>
                    <a:pt x="1983613" y="1258062"/>
                    <a:pt x="1990598" y="1270254"/>
                    <a:pt x="1987296" y="1282065"/>
                  </a:cubicBezTo>
                  <a:close/>
                  <a:moveTo>
                    <a:pt x="1959102" y="1368425"/>
                  </a:moveTo>
                  <a:cubicBezTo>
                    <a:pt x="1953768" y="1382649"/>
                    <a:pt x="1948053" y="1396619"/>
                    <a:pt x="1942084" y="1410462"/>
                  </a:cubicBezTo>
                  <a:cubicBezTo>
                    <a:pt x="1937258" y="1421765"/>
                    <a:pt x="1924177" y="1426972"/>
                    <a:pt x="1912874" y="1422146"/>
                  </a:cubicBezTo>
                  <a:cubicBezTo>
                    <a:pt x="1901571" y="1417320"/>
                    <a:pt x="1896364" y="1404239"/>
                    <a:pt x="1901190" y="1392936"/>
                  </a:cubicBezTo>
                  <a:cubicBezTo>
                    <a:pt x="1906905" y="1379728"/>
                    <a:pt x="1912239" y="1366266"/>
                    <a:pt x="1917446" y="1352677"/>
                  </a:cubicBezTo>
                  <a:cubicBezTo>
                    <a:pt x="1921764" y="1341247"/>
                    <a:pt x="1934591" y="1335405"/>
                    <a:pt x="1946148" y="1339723"/>
                  </a:cubicBezTo>
                  <a:cubicBezTo>
                    <a:pt x="1957705" y="1344041"/>
                    <a:pt x="1963420" y="1356868"/>
                    <a:pt x="1959102" y="1368425"/>
                  </a:cubicBezTo>
                  <a:close/>
                  <a:moveTo>
                    <a:pt x="1923288" y="1451864"/>
                  </a:moveTo>
                  <a:cubicBezTo>
                    <a:pt x="1916684" y="1465453"/>
                    <a:pt x="1909826" y="1478915"/>
                    <a:pt x="1902587" y="1492250"/>
                  </a:cubicBezTo>
                  <a:cubicBezTo>
                    <a:pt x="1896745" y="1503045"/>
                    <a:pt x="1883283" y="1507109"/>
                    <a:pt x="1872488" y="1501267"/>
                  </a:cubicBezTo>
                  <a:cubicBezTo>
                    <a:pt x="1861693" y="1495425"/>
                    <a:pt x="1857629" y="1481963"/>
                    <a:pt x="1863471" y="1471168"/>
                  </a:cubicBezTo>
                  <a:cubicBezTo>
                    <a:pt x="1870329" y="1458468"/>
                    <a:pt x="1876933" y="1445641"/>
                    <a:pt x="1883283" y="1432560"/>
                  </a:cubicBezTo>
                  <a:cubicBezTo>
                    <a:pt x="1888617" y="1421511"/>
                    <a:pt x="1901952" y="1416939"/>
                    <a:pt x="1913001" y="1422273"/>
                  </a:cubicBezTo>
                  <a:cubicBezTo>
                    <a:pt x="1924050" y="1427607"/>
                    <a:pt x="1928622" y="1440942"/>
                    <a:pt x="1923288" y="1451991"/>
                  </a:cubicBezTo>
                  <a:close/>
                  <a:moveTo>
                    <a:pt x="1880108" y="1531874"/>
                  </a:moveTo>
                  <a:cubicBezTo>
                    <a:pt x="1872361" y="1544828"/>
                    <a:pt x="1864233" y="1557655"/>
                    <a:pt x="1855851" y="1570228"/>
                  </a:cubicBezTo>
                  <a:cubicBezTo>
                    <a:pt x="1849120" y="1580515"/>
                    <a:pt x="1835277" y="1583182"/>
                    <a:pt x="1824990" y="1576451"/>
                  </a:cubicBezTo>
                  <a:cubicBezTo>
                    <a:pt x="1814703" y="1569720"/>
                    <a:pt x="1812036" y="1555877"/>
                    <a:pt x="1818767" y="1545590"/>
                  </a:cubicBezTo>
                  <a:cubicBezTo>
                    <a:pt x="1826768" y="1533525"/>
                    <a:pt x="1834515" y="1521333"/>
                    <a:pt x="1842008" y="1508887"/>
                  </a:cubicBezTo>
                  <a:cubicBezTo>
                    <a:pt x="1848358" y="1498346"/>
                    <a:pt x="1861947" y="1494917"/>
                    <a:pt x="1872488" y="1501267"/>
                  </a:cubicBezTo>
                  <a:cubicBezTo>
                    <a:pt x="1883029" y="1507617"/>
                    <a:pt x="1886458" y="1521206"/>
                    <a:pt x="1880108" y="1531747"/>
                  </a:cubicBezTo>
                  <a:close/>
                  <a:moveTo>
                    <a:pt x="1829816" y="1607439"/>
                  </a:moveTo>
                  <a:cubicBezTo>
                    <a:pt x="1820926" y="1619631"/>
                    <a:pt x="1811655" y="1631696"/>
                    <a:pt x="1802257" y="1643507"/>
                  </a:cubicBezTo>
                  <a:cubicBezTo>
                    <a:pt x="1794637" y="1653032"/>
                    <a:pt x="1780540" y="1654683"/>
                    <a:pt x="1771015" y="1646936"/>
                  </a:cubicBezTo>
                  <a:cubicBezTo>
                    <a:pt x="1761490" y="1639189"/>
                    <a:pt x="1759839" y="1625219"/>
                    <a:pt x="1767586" y="1615694"/>
                  </a:cubicBezTo>
                  <a:cubicBezTo>
                    <a:pt x="1776603" y="1604391"/>
                    <a:pt x="1785493" y="1592834"/>
                    <a:pt x="1794002" y="1581150"/>
                  </a:cubicBezTo>
                  <a:cubicBezTo>
                    <a:pt x="1801241" y="1571244"/>
                    <a:pt x="1815084" y="1569085"/>
                    <a:pt x="1825117" y="1576324"/>
                  </a:cubicBezTo>
                  <a:cubicBezTo>
                    <a:pt x="1835150" y="1583563"/>
                    <a:pt x="1837182" y="1597406"/>
                    <a:pt x="1829943" y="1607439"/>
                  </a:cubicBezTo>
                  <a:close/>
                  <a:moveTo>
                    <a:pt x="1773174" y="1678305"/>
                  </a:moveTo>
                  <a:cubicBezTo>
                    <a:pt x="1763141" y="1689735"/>
                    <a:pt x="1752981" y="1700911"/>
                    <a:pt x="1742440" y="1711833"/>
                  </a:cubicBezTo>
                  <a:cubicBezTo>
                    <a:pt x="1733931" y="1720723"/>
                    <a:pt x="1719834" y="1720977"/>
                    <a:pt x="1711071" y="1712468"/>
                  </a:cubicBezTo>
                  <a:cubicBezTo>
                    <a:pt x="1702308" y="1703959"/>
                    <a:pt x="1701927" y="1689862"/>
                    <a:pt x="1710436" y="1681099"/>
                  </a:cubicBezTo>
                  <a:cubicBezTo>
                    <a:pt x="1720469" y="1670685"/>
                    <a:pt x="1730248" y="1660017"/>
                    <a:pt x="1739773" y="1649095"/>
                  </a:cubicBezTo>
                  <a:cubicBezTo>
                    <a:pt x="1747901" y="1639824"/>
                    <a:pt x="1761871" y="1638935"/>
                    <a:pt x="1771142" y="1647063"/>
                  </a:cubicBezTo>
                  <a:cubicBezTo>
                    <a:pt x="1780413" y="1655191"/>
                    <a:pt x="1781302" y="1669161"/>
                    <a:pt x="1773174" y="1678432"/>
                  </a:cubicBezTo>
                  <a:close/>
                  <a:moveTo>
                    <a:pt x="1710309" y="1743964"/>
                  </a:moveTo>
                  <a:cubicBezTo>
                    <a:pt x="1699387" y="1754378"/>
                    <a:pt x="1688211" y="1764665"/>
                    <a:pt x="1676781" y="1774571"/>
                  </a:cubicBezTo>
                  <a:cubicBezTo>
                    <a:pt x="1667510" y="1782572"/>
                    <a:pt x="1653540" y="1781683"/>
                    <a:pt x="1645412" y="1772412"/>
                  </a:cubicBezTo>
                  <a:cubicBezTo>
                    <a:pt x="1637284" y="1763141"/>
                    <a:pt x="1638300" y="1749171"/>
                    <a:pt x="1647571" y="1741043"/>
                  </a:cubicBezTo>
                  <a:cubicBezTo>
                    <a:pt x="1658493" y="1731518"/>
                    <a:pt x="1669161" y="1721739"/>
                    <a:pt x="1679702" y="1711833"/>
                  </a:cubicBezTo>
                  <a:cubicBezTo>
                    <a:pt x="1688592" y="1703324"/>
                    <a:pt x="1702689" y="1703705"/>
                    <a:pt x="1711071" y="1712595"/>
                  </a:cubicBezTo>
                  <a:cubicBezTo>
                    <a:pt x="1719453" y="1721485"/>
                    <a:pt x="1719199" y="1735582"/>
                    <a:pt x="1710309" y="1743964"/>
                  </a:cubicBezTo>
                  <a:close/>
                  <a:moveTo>
                    <a:pt x="1641856" y="1803654"/>
                  </a:moveTo>
                  <a:cubicBezTo>
                    <a:pt x="1630045" y="1813052"/>
                    <a:pt x="1617980" y="1822196"/>
                    <a:pt x="1605661" y="1831086"/>
                  </a:cubicBezTo>
                  <a:cubicBezTo>
                    <a:pt x="1595755" y="1838325"/>
                    <a:pt x="1581785" y="1836039"/>
                    <a:pt x="1574673" y="1826133"/>
                  </a:cubicBezTo>
                  <a:cubicBezTo>
                    <a:pt x="1567561" y="1816227"/>
                    <a:pt x="1569720" y="1802257"/>
                    <a:pt x="1579626" y="1795145"/>
                  </a:cubicBezTo>
                  <a:cubicBezTo>
                    <a:pt x="1591310" y="1786636"/>
                    <a:pt x="1602867" y="1777873"/>
                    <a:pt x="1614170" y="1768856"/>
                  </a:cubicBezTo>
                  <a:cubicBezTo>
                    <a:pt x="1623822" y="1761236"/>
                    <a:pt x="1637792" y="1762760"/>
                    <a:pt x="1645412" y="1772412"/>
                  </a:cubicBezTo>
                  <a:cubicBezTo>
                    <a:pt x="1653032" y="1782064"/>
                    <a:pt x="1651508" y="1796034"/>
                    <a:pt x="1641856" y="1803654"/>
                  </a:cubicBezTo>
                  <a:close/>
                  <a:moveTo>
                    <a:pt x="1568323" y="1856994"/>
                  </a:moveTo>
                  <a:cubicBezTo>
                    <a:pt x="1555750" y="1865376"/>
                    <a:pt x="1542923" y="1873377"/>
                    <a:pt x="1529842" y="1881124"/>
                  </a:cubicBezTo>
                  <a:cubicBezTo>
                    <a:pt x="1519301" y="1887474"/>
                    <a:pt x="1505712" y="1883918"/>
                    <a:pt x="1499362" y="1873377"/>
                  </a:cubicBezTo>
                  <a:cubicBezTo>
                    <a:pt x="1493012" y="1862836"/>
                    <a:pt x="1496568" y="1849247"/>
                    <a:pt x="1507109" y="1842897"/>
                  </a:cubicBezTo>
                  <a:cubicBezTo>
                    <a:pt x="1519555" y="1835531"/>
                    <a:pt x="1531874" y="1827784"/>
                    <a:pt x="1543939" y="1819783"/>
                  </a:cubicBezTo>
                  <a:cubicBezTo>
                    <a:pt x="1554226" y="1813052"/>
                    <a:pt x="1567942" y="1815846"/>
                    <a:pt x="1574673" y="1826133"/>
                  </a:cubicBezTo>
                  <a:cubicBezTo>
                    <a:pt x="1581404" y="1836420"/>
                    <a:pt x="1578610" y="1850136"/>
                    <a:pt x="1568323" y="1856867"/>
                  </a:cubicBezTo>
                  <a:close/>
                  <a:moveTo>
                    <a:pt x="1490218" y="1903349"/>
                  </a:moveTo>
                  <a:cubicBezTo>
                    <a:pt x="1476883" y="1910461"/>
                    <a:pt x="1463421" y="1917319"/>
                    <a:pt x="1449705" y="1923923"/>
                  </a:cubicBezTo>
                  <a:cubicBezTo>
                    <a:pt x="1438656" y="1929257"/>
                    <a:pt x="1425321" y="1924558"/>
                    <a:pt x="1419987" y="1913509"/>
                  </a:cubicBezTo>
                  <a:cubicBezTo>
                    <a:pt x="1414653" y="1902460"/>
                    <a:pt x="1419352" y="1889125"/>
                    <a:pt x="1430401" y="1883791"/>
                  </a:cubicBezTo>
                  <a:cubicBezTo>
                    <a:pt x="1443482" y="1877568"/>
                    <a:pt x="1456309" y="1870964"/>
                    <a:pt x="1469009" y="1864106"/>
                  </a:cubicBezTo>
                  <a:cubicBezTo>
                    <a:pt x="1479804" y="1858264"/>
                    <a:pt x="1493266" y="1862328"/>
                    <a:pt x="1499108" y="1873123"/>
                  </a:cubicBezTo>
                  <a:cubicBezTo>
                    <a:pt x="1504950" y="1883918"/>
                    <a:pt x="1500886" y="1897380"/>
                    <a:pt x="1490091" y="1903222"/>
                  </a:cubicBezTo>
                  <a:close/>
                  <a:moveTo>
                    <a:pt x="1408176" y="1942592"/>
                  </a:moveTo>
                  <a:cubicBezTo>
                    <a:pt x="1394333" y="1948561"/>
                    <a:pt x="1380236" y="1954149"/>
                    <a:pt x="1366012" y="1959356"/>
                  </a:cubicBezTo>
                  <a:cubicBezTo>
                    <a:pt x="1354455" y="1963674"/>
                    <a:pt x="1341755" y="1957832"/>
                    <a:pt x="1337437" y="1946275"/>
                  </a:cubicBezTo>
                  <a:cubicBezTo>
                    <a:pt x="1333119" y="1934718"/>
                    <a:pt x="1338961" y="1922018"/>
                    <a:pt x="1350518" y="1917700"/>
                  </a:cubicBezTo>
                  <a:cubicBezTo>
                    <a:pt x="1364107" y="1912620"/>
                    <a:pt x="1377442" y="1907286"/>
                    <a:pt x="1390777" y="1901571"/>
                  </a:cubicBezTo>
                  <a:cubicBezTo>
                    <a:pt x="1402080" y="1896745"/>
                    <a:pt x="1415161" y="1902079"/>
                    <a:pt x="1419987" y="1913255"/>
                  </a:cubicBezTo>
                  <a:cubicBezTo>
                    <a:pt x="1424813" y="1924431"/>
                    <a:pt x="1419479" y="1937639"/>
                    <a:pt x="1408303" y="1942465"/>
                  </a:cubicBezTo>
                  <a:close/>
                  <a:moveTo>
                    <a:pt x="1323213" y="1974215"/>
                  </a:moveTo>
                  <a:cubicBezTo>
                    <a:pt x="1308862" y="1978787"/>
                    <a:pt x="1294384" y="1983105"/>
                    <a:pt x="1279779" y="1987169"/>
                  </a:cubicBezTo>
                  <a:cubicBezTo>
                    <a:pt x="1267968" y="1990344"/>
                    <a:pt x="1255776" y="1983486"/>
                    <a:pt x="1252474" y="1971548"/>
                  </a:cubicBezTo>
                  <a:cubicBezTo>
                    <a:pt x="1249172" y="1959610"/>
                    <a:pt x="1256157" y="1947545"/>
                    <a:pt x="1268095" y="1944243"/>
                  </a:cubicBezTo>
                  <a:cubicBezTo>
                    <a:pt x="1282065" y="1940433"/>
                    <a:pt x="1295908" y="1936242"/>
                    <a:pt x="1309624" y="1931924"/>
                  </a:cubicBezTo>
                  <a:cubicBezTo>
                    <a:pt x="1321308" y="1928114"/>
                    <a:pt x="1333881" y="1934591"/>
                    <a:pt x="1337564" y="1946275"/>
                  </a:cubicBezTo>
                  <a:cubicBezTo>
                    <a:pt x="1341247" y="1957959"/>
                    <a:pt x="1334897" y="1970532"/>
                    <a:pt x="1323213" y="1974215"/>
                  </a:cubicBezTo>
                  <a:close/>
                  <a:moveTo>
                    <a:pt x="1235583" y="1998218"/>
                  </a:moveTo>
                  <a:cubicBezTo>
                    <a:pt x="1220851" y="2001520"/>
                    <a:pt x="1205992" y="2004568"/>
                    <a:pt x="1191133" y="2007235"/>
                  </a:cubicBezTo>
                  <a:cubicBezTo>
                    <a:pt x="1179068" y="2009394"/>
                    <a:pt x="1167511" y="2001393"/>
                    <a:pt x="1165352" y="1989201"/>
                  </a:cubicBezTo>
                  <a:cubicBezTo>
                    <a:pt x="1163193" y="1977009"/>
                    <a:pt x="1171194" y="1965579"/>
                    <a:pt x="1183386" y="1963420"/>
                  </a:cubicBezTo>
                  <a:cubicBezTo>
                    <a:pt x="1197737" y="1960880"/>
                    <a:pt x="1211834" y="1957959"/>
                    <a:pt x="1225931" y="1954784"/>
                  </a:cubicBezTo>
                  <a:cubicBezTo>
                    <a:pt x="1237869" y="1952117"/>
                    <a:pt x="1249807" y="1959610"/>
                    <a:pt x="1252474" y="1971548"/>
                  </a:cubicBezTo>
                  <a:cubicBezTo>
                    <a:pt x="1255141" y="1983486"/>
                    <a:pt x="1247648" y="1995424"/>
                    <a:pt x="1235710" y="1998091"/>
                  </a:cubicBezTo>
                  <a:close/>
                  <a:moveTo>
                    <a:pt x="1146302" y="2014093"/>
                  </a:moveTo>
                  <a:cubicBezTo>
                    <a:pt x="1131316" y="2016125"/>
                    <a:pt x="1116203" y="2017776"/>
                    <a:pt x="1101090" y="2019046"/>
                  </a:cubicBezTo>
                  <a:cubicBezTo>
                    <a:pt x="1088898" y="2020062"/>
                    <a:pt x="1078103" y="2011045"/>
                    <a:pt x="1076960" y="1998853"/>
                  </a:cubicBezTo>
                  <a:cubicBezTo>
                    <a:pt x="1075817" y="1986661"/>
                    <a:pt x="1084961" y="1975866"/>
                    <a:pt x="1097153" y="1974723"/>
                  </a:cubicBezTo>
                  <a:cubicBezTo>
                    <a:pt x="1111631" y="1973453"/>
                    <a:pt x="1126109" y="1971929"/>
                    <a:pt x="1140333" y="1970024"/>
                  </a:cubicBezTo>
                  <a:cubicBezTo>
                    <a:pt x="1152525" y="1968373"/>
                    <a:pt x="1163701" y="1977009"/>
                    <a:pt x="1165225" y="1989201"/>
                  </a:cubicBezTo>
                  <a:cubicBezTo>
                    <a:pt x="1166749" y="2001393"/>
                    <a:pt x="1158240" y="2012569"/>
                    <a:pt x="1146048" y="2014093"/>
                  </a:cubicBezTo>
                  <a:close/>
                  <a:moveTo>
                    <a:pt x="1055624" y="2021967"/>
                  </a:moveTo>
                  <a:cubicBezTo>
                    <a:pt x="1041146" y="2022602"/>
                    <a:pt x="1026541" y="2022856"/>
                    <a:pt x="1011936" y="2022856"/>
                  </a:cubicBezTo>
                  <a:lnTo>
                    <a:pt x="1011936" y="2000631"/>
                  </a:lnTo>
                  <a:lnTo>
                    <a:pt x="1011936" y="2022856"/>
                  </a:lnTo>
                  <a:cubicBezTo>
                    <a:pt x="1011301" y="2022856"/>
                    <a:pt x="1010539" y="2022856"/>
                    <a:pt x="1009904" y="2022856"/>
                  </a:cubicBezTo>
                  <a:cubicBezTo>
                    <a:pt x="997585" y="2022856"/>
                    <a:pt x="987679" y="2012823"/>
                    <a:pt x="987679" y="2000631"/>
                  </a:cubicBezTo>
                  <a:cubicBezTo>
                    <a:pt x="987679" y="1988439"/>
                    <a:pt x="997712" y="1978406"/>
                    <a:pt x="1009904" y="1978406"/>
                  </a:cubicBezTo>
                  <a:cubicBezTo>
                    <a:pt x="1010539" y="1978406"/>
                    <a:pt x="1011174" y="1978406"/>
                    <a:pt x="1011809" y="1978406"/>
                  </a:cubicBezTo>
                  <a:cubicBezTo>
                    <a:pt x="1025779" y="1978406"/>
                    <a:pt x="1039749" y="1978152"/>
                    <a:pt x="1053592" y="1977517"/>
                  </a:cubicBezTo>
                  <a:cubicBezTo>
                    <a:pt x="1065911" y="1977009"/>
                    <a:pt x="1076198" y="1986534"/>
                    <a:pt x="1076706" y="1998726"/>
                  </a:cubicBezTo>
                  <a:cubicBezTo>
                    <a:pt x="1077214" y="2010918"/>
                    <a:pt x="1067689" y="2021332"/>
                    <a:pt x="1055497" y="2021840"/>
                  </a:cubicBezTo>
                  <a:close/>
                  <a:moveTo>
                    <a:pt x="964057" y="2021713"/>
                  </a:moveTo>
                  <a:cubicBezTo>
                    <a:pt x="948944" y="2020951"/>
                    <a:pt x="933831" y="2019935"/>
                    <a:pt x="918845" y="2018665"/>
                  </a:cubicBezTo>
                  <a:cubicBezTo>
                    <a:pt x="906653" y="2017522"/>
                    <a:pt x="897636" y="2006727"/>
                    <a:pt x="898779" y="1994535"/>
                  </a:cubicBezTo>
                  <a:cubicBezTo>
                    <a:pt x="899922" y="1982343"/>
                    <a:pt x="910717" y="1973326"/>
                    <a:pt x="922909" y="1974469"/>
                  </a:cubicBezTo>
                  <a:cubicBezTo>
                    <a:pt x="937260" y="1975739"/>
                    <a:pt x="951611" y="1976755"/>
                    <a:pt x="966089" y="1977390"/>
                  </a:cubicBezTo>
                  <a:cubicBezTo>
                    <a:pt x="978408" y="1977898"/>
                    <a:pt x="987806" y="1988312"/>
                    <a:pt x="987298" y="2000631"/>
                  </a:cubicBezTo>
                  <a:cubicBezTo>
                    <a:pt x="986790" y="2012950"/>
                    <a:pt x="976376" y="2022348"/>
                    <a:pt x="964057" y="2021840"/>
                  </a:cubicBezTo>
                  <a:close/>
                  <a:moveTo>
                    <a:pt x="873633" y="2013585"/>
                  </a:moveTo>
                  <a:cubicBezTo>
                    <a:pt x="858647" y="2011553"/>
                    <a:pt x="843661" y="2009140"/>
                    <a:pt x="828802" y="2006473"/>
                  </a:cubicBezTo>
                  <a:cubicBezTo>
                    <a:pt x="816737" y="2004314"/>
                    <a:pt x="808736" y="1992630"/>
                    <a:pt x="810895" y="1980565"/>
                  </a:cubicBezTo>
                  <a:cubicBezTo>
                    <a:pt x="813054" y="1968500"/>
                    <a:pt x="824738" y="1960499"/>
                    <a:pt x="836803" y="1962658"/>
                  </a:cubicBezTo>
                  <a:cubicBezTo>
                    <a:pt x="851027" y="1965198"/>
                    <a:pt x="865251" y="1967484"/>
                    <a:pt x="879602" y="1969516"/>
                  </a:cubicBezTo>
                  <a:cubicBezTo>
                    <a:pt x="891794" y="1971167"/>
                    <a:pt x="900303" y="1982343"/>
                    <a:pt x="898652" y="1994535"/>
                  </a:cubicBezTo>
                  <a:cubicBezTo>
                    <a:pt x="897001" y="2006727"/>
                    <a:pt x="885825" y="2015236"/>
                    <a:pt x="873633" y="2013585"/>
                  </a:cubicBezTo>
                  <a:close/>
                  <a:moveTo>
                    <a:pt x="784352" y="1997329"/>
                  </a:moveTo>
                  <a:cubicBezTo>
                    <a:pt x="769493" y="1993900"/>
                    <a:pt x="754888" y="1990217"/>
                    <a:pt x="740283" y="1986153"/>
                  </a:cubicBezTo>
                  <a:cubicBezTo>
                    <a:pt x="728472" y="1982851"/>
                    <a:pt x="721487" y="1970659"/>
                    <a:pt x="724789" y="1958848"/>
                  </a:cubicBezTo>
                  <a:cubicBezTo>
                    <a:pt x="728091" y="1947037"/>
                    <a:pt x="740283" y="1940052"/>
                    <a:pt x="752094" y="1943354"/>
                  </a:cubicBezTo>
                  <a:cubicBezTo>
                    <a:pt x="766064" y="1947164"/>
                    <a:pt x="780034" y="1950720"/>
                    <a:pt x="794258" y="1954022"/>
                  </a:cubicBezTo>
                  <a:cubicBezTo>
                    <a:pt x="806196" y="1956816"/>
                    <a:pt x="813689" y="1968754"/>
                    <a:pt x="810895" y="1980692"/>
                  </a:cubicBezTo>
                  <a:cubicBezTo>
                    <a:pt x="808101" y="1992630"/>
                    <a:pt x="796163" y="2000123"/>
                    <a:pt x="784225" y="1997329"/>
                  </a:cubicBezTo>
                  <a:close/>
                  <a:moveTo>
                    <a:pt x="696722" y="1973072"/>
                  </a:moveTo>
                  <a:cubicBezTo>
                    <a:pt x="682244" y="1968373"/>
                    <a:pt x="668020" y="1963293"/>
                    <a:pt x="653796" y="1957959"/>
                  </a:cubicBezTo>
                  <a:cubicBezTo>
                    <a:pt x="642366" y="1953641"/>
                    <a:pt x="636524" y="1940814"/>
                    <a:pt x="640842" y="1929257"/>
                  </a:cubicBezTo>
                  <a:cubicBezTo>
                    <a:pt x="645160" y="1917700"/>
                    <a:pt x="657987" y="1911985"/>
                    <a:pt x="669544" y="1916303"/>
                  </a:cubicBezTo>
                  <a:cubicBezTo>
                    <a:pt x="683133" y="1921383"/>
                    <a:pt x="696722" y="1926209"/>
                    <a:pt x="710565" y="1930781"/>
                  </a:cubicBezTo>
                  <a:cubicBezTo>
                    <a:pt x="722249" y="1934591"/>
                    <a:pt x="728599" y="1947164"/>
                    <a:pt x="724789" y="1958848"/>
                  </a:cubicBezTo>
                  <a:cubicBezTo>
                    <a:pt x="720979" y="1970532"/>
                    <a:pt x="708406" y="1976882"/>
                    <a:pt x="696722" y="1973072"/>
                  </a:cubicBezTo>
                  <a:close/>
                  <a:moveTo>
                    <a:pt x="611759" y="1940941"/>
                  </a:moveTo>
                  <a:cubicBezTo>
                    <a:pt x="597789" y="1934972"/>
                    <a:pt x="583946" y="1928622"/>
                    <a:pt x="570357" y="1922018"/>
                  </a:cubicBezTo>
                  <a:cubicBezTo>
                    <a:pt x="559308" y="1916684"/>
                    <a:pt x="554736" y="1903349"/>
                    <a:pt x="560070" y="1892300"/>
                  </a:cubicBezTo>
                  <a:cubicBezTo>
                    <a:pt x="565404" y="1881251"/>
                    <a:pt x="578739" y="1876679"/>
                    <a:pt x="589788" y="1882013"/>
                  </a:cubicBezTo>
                  <a:cubicBezTo>
                    <a:pt x="602869" y="1888363"/>
                    <a:pt x="615950" y="1894332"/>
                    <a:pt x="629285" y="1900174"/>
                  </a:cubicBezTo>
                  <a:cubicBezTo>
                    <a:pt x="640588" y="1905000"/>
                    <a:pt x="645795" y="1918081"/>
                    <a:pt x="640969" y="1929384"/>
                  </a:cubicBezTo>
                  <a:cubicBezTo>
                    <a:pt x="636143" y="1940687"/>
                    <a:pt x="623062" y="1945894"/>
                    <a:pt x="611759" y="1941068"/>
                  </a:cubicBezTo>
                  <a:close/>
                  <a:moveTo>
                    <a:pt x="529971" y="1901444"/>
                  </a:moveTo>
                  <a:cubicBezTo>
                    <a:pt x="516636" y="1894205"/>
                    <a:pt x="503428" y="1886712"/>
                    <a:pt x="490474" y="1878838"/>
                  </a:cubicBezTo>
                  <a:cubicBezTo>
                    <a:pt x="479933" y="1872488"/>
                    <a:pt x="476504" y="1858899"/>
                    <a:pt x="482854" y="1848358"/>
                  </a:cubicBezTo>
                  <a:cubicBezTo>
                    <a:pt x="489204" y="1837817"/>
                    <a:pt x="502793" y="1834388"/>
                    <a:pt x="513334" y="1840738"/>
                  </a:cubicBezTo>
                  <a:cubicBezTo>
                    <a:pt x="525780" y="1848231"/>
                    <a:pt x="538353" y="1855343"/>
                    <a:pt x="551053" y="1862328"/>
                  </a:cubicBezTo>
                  <a:cubicBezTo>
                    <a:pt x="561848" y="1868170"/>
                    <a:pt x="565912" y="1881632"/>
                    <a:pt x="559943" y="1892427"/>
                  </a:cubicBezTo>
                  <a:cubicBezTo>
                    <a:pt x="553974" y="1903222"/>
                    <a:pt x="540639" y="1907286"/>
                    <a:pt x="529844" y="1901317"/>
                  </a:cubicBezTo>
                  <a:close/>
                  <a:moveTo>
                    <a:pt x="451993" y="1854454"/>
                  </a:moveTo>
                  <a:cubicBezTo>
                    <a:pt x="439420" y="1846072"/>
                    <a:pt x="426974" y="1837436"/>
                    <a:pt x="414655" y="1828419"/>
                  </a:cubicBezTo>
                  <a:cubicBezTo>
                    <a:pt x="404749" y="1821180"/>
                    <a:pt x="402590" y="1807210"/>
                    <a:pt x="409829" y="1797304"/>
                  </a:cubicBezTo>
                  <a:cubicBezTo>
                    <a:pt x="417068" y="1787398"/>
                    <a:pt x="431038" y="1785239"/>
                    <a:pt x="440944" y="1792478"/>
                  </a:cubicBezTo>
                  <a:cubicBezTo>
                    <a:pt x="452628" y="1800987"/>
                    <a:pt x="464566" y="1809369"/>
                    <a:pt x="476631" y="1817370"/>
                  </a:cubicBezTo>
                  <a:cubicBezTo>
                    <a:pt x="486791" y="1824101"/>
                    <a:pt x="489585" y="1837944"/>
                    <a:pt x="482854" y="1848231"/>
                  </a:cubicBezTo>
                  <a:cubicBezTo>
                    <a:pt x="476123" y="1858518"/>
                    <a:pt x="462280" y="1861185"/>
                    <a:pt x="451993" y="1854454"/>
                  </a:cubicBezTo>
                  <a:close/>
                  <a:moveTo>
                    <a:pt x="378587" y="1800860"/>
                  </a:moveTo>
                  <a:cubicBezTo>
                    <a:pt x="366776" y="1791335"/>
                    <a:pt x="355219" y="1781683"/>
                    <a:pt x="343789" y="1771650"/>
                  </a:cubicBezTo>
                  <a:cubicBezTo>
                    <a:pt x="334518" y="1763522"/>
                    <a:pt x="333629" y="1749552"/>
                    <a:pt x="341757" y="1740281"/>
                  </a:cubicBezTo>
                  <a:cubicBezTo>
                    <a:pt x="349885" y="1731010"/>
                    <a:pt x="363855" y="1730121"/>
                    <a:pt x="373126" y="1738249"/>
                  </a:cubicBezTo>
                  <a:cubicBezTo>
                    <a:pt x="384048" y="1747774"/>
                    <a:pt x="395097" y="1757172"/>
                    <a:pt x="406400" y="1766189"/>
                  </a:cubicBezTo>
                  <a:cubicBezTo>
                    <a:pt x="415925" y="1773809"/>
                    <a:pt x="417449" y="1787906"/>
                    <a:pt x="409829" y="1797431"/>
                  </a:cubicBezTo>
                  <a:cubicBezTo>
                    <a:pt x="402209" y="1806956"/>
                    <a:pt x="388112" y="1808480"/>
                    <a:pt x="378587" y="1800860"/>
                  </a:cubicBezTo>
                  <a:close/>
                  <a:moveTo>
                    <a:pt x="310388" y="1740916"/>
                  </a:moveTo>
                  <a:cubicBezTo>
                    <a:pt x="299466" y="1730375"/>
                    <a:pt x="288798" y="1719707"/>
                    <a:pt x="278384" y="1708785"/>
                  </a:cubicBezTo>
                  <a:cubicBezTo>
                    <a:pt x="269875" y="1699895"/>
                    <a:pt x="270256" y="1685798"/>
                    <a:pt x="279146" y="1677416"/>
                  </a:cubicBezTo>
                  <a:cubicBezTo>
                    <a:pt x="288036" y="1669034"/>
                    <a:pt x="302133" y="1669288"/>
                    <a:pt x="310515" y="1678178"/>
                  </a:cubicBezTo>
                  <a:cubicBezTo>
                    <a:pt x="320548" y="1688719"/>
                    <a:pt x="330708" y="1698879"/>
                    <a:pt x="341122" y="1708912"/>
                  </a:cubicBezTo>
                  <a:cubicBezTo>
                    <a:pt x="350012" y="1717421"/>
                    <a:pt x="350266" y="1731518"/>
                    <a:pt x="341757" y="1740281"/>
                  </a:cubicBezTo>
                  <a:cubicBezTo>
                    <a:pt x="333248" y="1749044"/>
                    <a:pt x="319151" y="1749425"/>
                    <a:pt x="310388" y="1740916"/>
                  </a:cubicBezTo>
                  <a:close/>
                  <a:moveTo>
                    <a:pt x="247777" y="1675130"/>
                  </a:moveTo>
                  <a:cubicBezTo>
                    <a:pt x="237871" y="1663700"/>
                    <a:pt x="228092" y="1652016"/>
                    <a:pt x="218694" y="1640205"/>
                  </a:cubicBezTo>
                  <a:cubicBezTo>
                    <a:pt x="211074" y="1630553"/>
                    <a:pt x="212598" y="1616583"/>
                    <a:pt x="222250" y="1608963"/>
                  </a:cubicBezTo>
                  <a:cubicBezTo>
                    <a:pt x="231902" y="1601343"/>
                    <a:pt x="245872" y="1602867"/>
                    <a:pt x="253492" y="1612519"/>
                  </a:cubicBezTo>
                  <a:cubicBezTo>
                    <a:pt x="262509" y="1623822"/>
                    <a:pt x="271780" y="1634998"/>
                    <a:pt x="281305" y="1645920"/>
                  </a:cubicBezTo>
                  <a:cubicBezTo>
                    <a:pt x="289306" y="1655191"/>
                    <a:pt x="288417" y="1669161"/>
                    <a:pt x="279146" y="1677289"/>
                  </a:cubicBezTo>
                  <a:cubicBezTo>
                    <a:pt x="269875" y="1685417"/>
                    <a:pt x="255905" y="1684401"/>
                    <a:pt x="247777" y="1675130"/>
                  </a:cubicBezTo>
                  <a:close/>
                  <a:moveTo>
                    <a:pt x="191262" y="1604010"/>
                  </a:moveTo>
                  <a:cubicBezTo>
                    <a:pt x="182372" y="1591691"/>
                    <a:pt x="173736" y="1579245"/>
                    <a:pt x="165481" y="1566672"/>
                  </a:cubicBezTo>
                  <a:cubicBezTo>
                    <a:pt x="158750" y="1556385"/>
                    <a:pt x="161544" y="1542669"/>
                    <a:pt x="171831" y="1535938"/>
                  </a:cubicBezTo>
                  <a:cubicBezTo>
                    <a:pt x="182118" y="1529207"/>
                    <a:pt x="195834" y="1532001"/>
                    <a:pt x="202565" y="1542288"/>
                  </a:cubicBezTo>
                  <a:cubicBezTo>
                    <a:pt x="210566" y="1554353"/>
                    <a:pt x="218821" y="1566291"/>
                    <a:pt x="227203" y="1578102"/>
                  </a:cubicBezTo>
                  <a:cubicBezTo>
                    <a:pt x="234442" y="1588008"/>
                    <a:pt x="232156" y="1601978"/>
                    <a:pt x="222250" y="1609090"/>
                  </a:cubicBezTo>
                  <a:cubicBezTo>
                    <a:pt x="212344" y="1616202"/>
                    <a:pt x="198374" y="1614043"/>
                    <a:pt x="191262" y="1604137"/>
                  </a:cubicBezTo>
                  <a:close/>
                  <a:moveTo>
                    <a:pt x="141351" y="1528191"/>
                  </a:moveTo>
                  <a:cubicBezTo>
                    <a:pt x="133604" y="1515237"/>
                    <a:pt x="126111" y="1502029"/>
                    <a:pt x="118999" y="1488567"/>
                  </a:cubicBezTo>
                  <a:cubicBezTo>
                    <a:pt x="113157" y="1477772"/>
                    <a:pt x="117221" y="1464310"/>
                    <a:pt x="128143" y="1458468"/>
                  </a:cubicBezTo>
                  <a:cubicBezTo>
                    <a:pt x="139065" y="1452626"/>
                    <a:pt x="152400" y="1456690"/>
                    <a:pt x="158242" y="1467612"/>
                  </a:cubicBezTo>
                  <a:cubicBezTo>
                    <a:pt x="165100" y="1480439"/>
                    <a:pt x="172212" y="1493012"/>
                    <a:pt x="179705" y="1505458"/>
                  </a:cubicBezTo>
                  <a:cubicBezTo>
                    <a:pt x="185928" y="1515999"/>
                    <a:pt x="182499" y="1529588"/>
                    <a:pt x="171958" y="1535938"/>
                  </a:cubicBezTo>
                  <a:cubicBezTo>
                    <a:pt x="161417" y="1542288"/>
                    <a:pt x="147828" y="1538732"/>
                    <a:pt x="141478" y="1528191"/>
                  </a:cubicBezTo>
                  <a:close/>
                  <a:moveTo>
                    <a:pt x="98552" y="1448181"/>
                  </a:moveTo>
                  <a:cubicBezTo>
                    <a:pt x="91948" y="1434465"/>
                    <a:pt x="85725" y="1420749"/>
                    <a:pt x="79756" y="1406652"/>
                  </a:cubicBezTo>
                  <a:cubicBezTo>
                    <a:pt x="74930" y="1395349"/>
                    <a:pt x="80264" y="1382268"/>
                    <a:pt x="91567" y="1377442"/>
                  </a:cubicBezTo>
                  <a:cubicBezTo>
                    <a:pt x="102870" y="1372616"/>
                    <a:pt x="115951" y="1377950"/>
                    <a:pt x="120777" y="1389253"/>
                  </a:cubicBezTo>
                  <a:cubicBezTo>
                    <a:pt x="126492" y="1402588"/>
                    <a:pt x="132461" y="1415796"/>
                    <a:pt x="138684" y="1428877"/>
                  </a:cubicBezTo>
                  <a:cubicBezTo>
                    <a:pt x="144018" y="1439926"/>
                    <a:pt x="139319" y="1453261"/>
                    <a:pt x="128270" y="1458468"/>
                  </a:cubicBezTo>
                  <a:cubicBezTo>
                    <a:pt x="117221" y="1463675"/>
                    <a:pt x="103886" y="1459103"/>
                    <a:pt x="98679" y="1448054"/>
                  </a:cubicBezTo>
                  <a:close/>
                  <a:moveTo>
                    <a:pt x="63500" y="1365631"/>
                  </a:moveTo>
                  <a:cubicBezTo>
                    <a:pt x="58166" y="1351407"/>
                    <a:pt x="53213" y="1337056"/>
                    <a:pt x="48514" y="1322578"/>
                  </a:cubicBezTo>
                  <a:cubicBezTo>
                    <a:pt x="44704" y="1310894"/>
                    <a:pt x="51181" y="1298321"/>
                    <a:pt x="62865" y="1294638"/>
                  </a:cubicBezTo>
                  <a:cubicBezTo>
                    <a:pt x="74549" y="1290955"/>
                    <a:pt x="87122" y="1297305"/>
                    <a:pt x="90805" y="1308989"/>
                  </a:cubicBezTo>
                  <a:cubicBezTo>
                    <a:pt x="95250" y="1322832"/>
                    <a:pt x="100076" y="1336548"/>
                    <a:pt x="105029" y="1350137"/>
                  </a:cubicBezTo>
                  <a:cubicBezTo>
                    <a:pt x="109347" y="1361694"/>
                    <a:pt x="103505" y="1374394"/>
                    <a:pt x="91948" y="1378712"/>
                  </a:cubicBezTo>
                  <a:cubicBezTo>
                    <a:pt x="80391" y="1383030"/>
                    <a:pt x="67691" y="1377188"/>
                    <a:pt x="63373" y="1365631"/>
                  </a:cubicBezTo>
                  <a:close/>
                  <a:moveTo>
                    <a:pt x="35560" y="1279144"/>
                  </a:moveTo>
                  <a:cubicBezTo>
                    <a:pt x="31623" y="1264539"/>
                    <a:pt x="27940" y="1249807"/>
                    <a:pt x="24638" y="1234948"/>
                  </a:cubicBezTo>
                  <a:cubicBezTo>
                    <a:pt x="21971" y="1223010"/>
                    <a:pt x="29464" y="1211072"/>
                    <a:pt x="41402" y="1208405"/>
                  </a:cubicBezTo>
                  <a:cubicBezTo>
                    <a:pt x="53340" y="1205738"/>
                    <a:pt x="65278" y="1213231"/>
                    <a:pt x="67945" y="1225169"/>
                  </a:cubicBezTo>
                  <a:cubicBezTo>
                    <a:pt x="71120" y="1239393"/>
                    <a:pt x="74676" y="1253363"/>
                    <a:pt x="78486" y="1267333"/>
                  </a:cubicBezTo>
                  <a:cubicBezTo>
                    <a:pt x="81661" y="1279144"/>
                    <a:pt x="74676" y="1291336"/>
                    <a:pt x="62865" y="1294638"/>
                  </a:cubicBezTo>
                  <a:cubicBezTo>
                    <a:pt x="51054" y="1297940"/>
                    <a:pt x="38862" y="1290828"/>
                    <a:pt x="35560" y="1279017"/>
                  </a:cubicBezTo>
                  <a:close/>
                  <a:moveTo>
                    <a:pt x="15621" y="1190498"/>
                  </a:moveTo>
                  <a:cubicBezTo>
                    <a:pt x="13081" y="1175639"/>
                    <a:pt x="10668" y="1160653"/>
                    <a:pt x="8763" y="1145540"/>
                  </a:cubicBezTo>
                  <a:cubicBezTo>
                    <a:pt x="7112" y="1133348"/>
                    <a:pt x="15748" y="1122172"/>
                    <a:pt x="27940" y="1120648"/>
                  </a:cubicBezTo>
                  <a:cubicBezTo>
                    <a:pt x="40132" y="1119124"/>
                    <a:pt x="51308" y="1127633"/>
                    <a:pt x="52832" y="1139825"/>
                  </a:cubicBezTo>
                  <a:cubicBezTo>
                    <a:pt x="54737" y="1154176"/>
                    <a:pt x="56896" y="1168527"/>
                    <a:pt x="59436" y="1182751"/>
                  </a:cubicBezTo>
                  <a:cubicBezTo>
                    <a:pt x="61595" y="1194816"/>
                    <a:pt x="53467" y="1206373"/>
                    <a:pt x="41402" y="1208532"/>
                  </a:cubicBezTo>
                  <a:cubicBezTo>
                    <a:pt x="29337" y="1210691"/>
                    <a:pt x="17780" y="1202563"/>
                    <a:pt x="15621" y="1190498"/>
                  </a:cubicBezTo>
                  <a:close/>
                  <a:moveTo>
                    <a:pt x="3810" y="1100328"/>
                  </a:moveTo>
                  <a:cubicBezTo>
                    <a:pt x="2540" y="1085342"/>
                    <a:pt x="1524" y="1070229"/>
                    <a:pt x="889" y="1055116"/>
                  </a:cubicBezTo>
                  <a:cubicBezTo>
                    <a:pt x="381" y="1042797"/>
                    <a:pt x="9906" y="1032510"/>
                    <a:pt x="22225" y="1032002"/>
                  </a:cubicBezTo>
                  <a:cubicBezTo>
                    <a:pt x="34544" y="1031494"/>
                    <a:pt x="44831" y="1041019"/>
                    <a:pt x="45339" y="1053338"/>
                  </a:cubicBezTo>
                  <a:cubicBezTo>
                    <a:pt x="45974" y="1067816"/>
                    <a:pt x="46863" y="1082294"/>
                    <a:pt x="48133" y="1096518"/>
                  </a:cubicBezTo>
                  <a:cubicBezTo>
                    <a:pt x="49149" y="1108710"/>
                    <a:pt x="40132" y="1119505"/>
                    <a:pt x="27940" y="1120521"/>
                  </a:cubicBezTo>
                  <a:cubicBezTo>
                    <a:pt x="15748" y="1121537"/>
                    <a:pt x="4826" y="1112520"/>
                    <a:pt x="3810" y="1100328"/>
                  </a:cubicBezTo>
                  <a:close/>
                  <a:moveTo>
                    <a:pt x="0" y="1012063"/>
                  </a:moveTo>
                  <a:cubicBezTo>
                    <a:pt x="0" y="996696"/>
                    <a:pt x="381" y="981583"/>
                    <a:pt x="1016" y="966343"/>
                  </a:cubicBezTo>
                  <a:cubicBezTo>
                    <a:pt x="1524" y="954024"/>
                    <a:pt x="11938" y="944626"/>
                    <a:pt x="24257" y="945134"/>
                  </a:cubicBezTo>
                  <a:cubicBezTo>
                    <a:pt x="36576" y="945642"/>
                    <a:pt x="45974" y="956056"/>
                    <a:pt x="45466" y="968375"/>
                  </a:cubicBezTo>
                  <a:cubicBezTo>
                    <a:pt x="44831" y="982853"/>
                    <a:pt x="44450" y="997458"/>
                    <a:pt x="44450" y="1012063"/>
                  </a:cubicBezTo>
                  <a:cubicBezTo>
                    <a:pt x="44450" y="1024382"/>
                    <a:pt x="34544" y="1034288"/>
                    <a:pt x="22225" y="1034288"/>
                  </a:cubicBezTo>
                  <a:cubicBezTo>
                    <a:pt x="9906" y="1034288"/>
                    <a:pt x="0" y="1024382"/>
                    <a:pt x="0" y="1012063"/>
                  </a:cubicBezTo>
                  <a:close/>
                </a:path>
              </a:pathLst>
            </a:custGeom>
            <a:solidFill>
              <a:srgbClr val="FF5B00"/>
            </a:solidFill>
          </p:spPr>
        </p:sp>
      </p:grpSp>
      <p:grpSp>
        <p:nvGrpSpPr>
          <p:cNvPr id="38" name="Group 38"/>
          <p:cNvGrpSpPr/>
          <p:nvPr/>
        </p:nvGrpSpPr>
        <p:grpSpPr>
          <a:xfrm>
            <a:off x="6856163" y="4963021"/>
            <a:ext cx="1200615" cy="1200612"/>
            <a:chOff x="0" y="0"/>
            <a:chExt cx="1600820" cy="1600816"/>
          </a:xfrm>
        </p:grpSpPr>
        <p:sp>
          <p:nvSpPr>
            <p:cNvPr id="39" name="Freeform 39"/>
            <p:cNvSpPr/>
            <p:nvPr/>
          </p:nvSpPr>
          <p:spPr>
            <a:xfrm>
              <a:off x="0" y="0"/>
              <a:ext cx="1600708" cy="1600708"/>
            </a:xfrm>
            <a:custGeom>
              <a:avLst/>
              <a:gdLst/>
              <a:ahLst/>
              <a:cxnLst/>
              <a:rect l="l" t="t" r="r" b="b"/>
              <a:pathLst>
                <a:path w="1600708" h="1600708">
                  <a:moveTo>
                    <a:pt x="0" y="800354"/>
                  </a:moveTo>
                  <a:cubicBezTo>
                    <a:pt x="0" y="358394"/>
                    <a:pt x="358394" y="0"/>
                    <a:pt x="800354" y="0"/>
                  </a:cubicBezTo>
                  <a:cubicBezTo>
                    <a:pt x="1242314" y="0"/>
                    <a:pt x="1600708" y="358394"/>
                    <a:pt x="1600708" y="800354"/>
                  </a:cubicBezTo>
                  <a:cubicBezTo>
                    <a:pt x="1600708" y="1242314"/>
                    <a:pt x="1242314" y="1600708"/>
                    <a:pt x="800354" y="1600708"/>
                  </a:cubicBezTo>
                  <a:cubicBezTo>
                    <a:pt x="358394" y="1600708"/>
                    <a:pt x="0" y="1242441"/>
                    <a:pt x="0" y="800354"/>
                  </a:cubicBezTo>
                  <a:close/>
                </a:path>
              </a:pathLst>
            </a:custGeom>
            <a:solidFill>
              <a:srgbClr val="F89F56"/>
            </a:solidFill>
          </p:spPr>
        </p:sp>
      </p:grpSp>
      <p:sp>
        <p:nvSpPr>
          <p:cNvPr id="44" name="Freeform 44"/>
          <p:cNvSpPr/>
          <p:nvPr/>
        </p:nvSpPr>
        <p:spPr>
          <a:xfrm>
            <a:off x="7191000" y="2974881"/>
            <a:ext cx="529493" cy="529805"/>
          </a:xfrm>
          <a:custGeom>
            <a:avLst/>
            <a:gdLst/>
            <a:ahLst/>
            <a:cxnLst/>
            <a:rect l="l" t="t" r="r" b="b"/>
            <a:pathLst>
              <a:path w="705990" h="706406">
                <a:moveTo>
                  <a:pt x="0" y="0"/>
                </a:moveTo>
                <a:lnTo>
                  <a:pt x="705990" y="0"/>
                </a:lnTo>
                <a:lnTo>
                  <a:pt x="705990" y="706406"/>
                </a:lnTo>
                <a:lnTo>
                  <a:pt x="0" y="7064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45" name="Freeform 45"/>
          <p:cNvSpPr/>
          <p:nvPr/>
        </p:nvSpPr>
        <p:spPr>
          <a:xfrm>
            <a:off x="7191000" y="5298234"/>
            <a:ext cx="530216" cy="530186"/>
          </a:xfrm>
          <a:custGeom>
            <a:avLst/>
            <a:gdLst/>
            <a:ahLst/>
            <a:cxnLst/>
            <a:rect l="l" t="t" r="r" b="b"/>
            <a:pathLst>
              <a:path w="706954" h="706914">
                <a:moveTo>
                  <a:pt x="0" y="0"/>
                </a:moveTo>
                <a:lnTo>
                  <a:pt x="706954" y="0"/>
                </a:lnTo>
                <a:lnTo>
                  <a:pt x="706954" y="706914"/>
                </a:lnTo>
                <a:lnTo>
                  <a:pt x="0" y="70691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83" name="组合 82"/>
          <p:cNvGrpSpPr/>
          <p:nvPr/>
        </p:nvGrpSpPr>
        <p:grpSpPr>
          <a:xfrm>
            <a:off x="6697358" y="7401718"/>
            <a:ext cx="1518140" cy="1518140"/>
            <a:chOff x="6697403" y="6895614"/>
            <a:chExt cx="1518140" cy="1518140"/>
          </a:xfrm>
        </p:grpSpPr>
        <p:grpSp>
          <p:nvGrpSpPr>
            <p:cNvPr id="82" name="组合 81"/>
            <p:cNvGrpSpPr/>
            <p:nvPr/>
          </p:nvGrpSpPr>
          <p:grpSpPr>
            <a:xfrm>
              <a:off x="6697403" y="6895614"/>
              <a:ext cx="1518140" cy="1518140"/>
              <a:chOff x="6697403" y="6895614"/>
              <a:chExt cx="1518140" cy="1518140"/>
            </a:xfrm>
          </p:grpSpPr>
          <p:grpSp>
            <p:nvGrpSpPr>
              <p:cNvPr id="40" name="Group 40"/>
              <p:cNvGrpSpPr/>
              <p:nvPr/>
            </p:nvGrpSpPr>
            <p:grpSpPr>
              <a:xfrm>
                <a:off x="6697403" y="6895614"/>
                <a:ext cx="1518140" cy="1518140"/>
                <a:chOff x="0" y="0"/>
                <a:chExt cx="2024186" cy="2024186"/>
              </a:xfrm>
            </p:grpSpPr>
            <p:sp>
              <p:nvSpPr>
                <p:cNvPr id="41" name="Freeform 41"/>
                <p:cNvSpPr/>
                <p:nvPr/>
              </p:nvSpPr>
              <p:spPr>
                <a:xfrm>
                  <a:off x="0" y="0"/>
                  <a:ext cx="2024126" cy="2022856"/>
                </a:xfrm>
                <a:custGeom>
                  <a:avLst/>
                  <a:gdLst/>
                  <a:ahLst/>
                  <a:cxnLst/>
                  <a:rect l="l" t="t" r="r" b="b"/>
                  <a:pathLst>
                    <a:path w="2024126" h="2022856">
                      <a:moveTo>
                        <a:pt x="4064" y="921258"/>
                      </a:moveTo>
                      <a:cubicBezTo>
                        <a:pt x="5461" y="906145"/>
                        <a:pt x="7112" y="891032"/>
                        <a:pt x="9144" y="876046"/>
                      </a:cubicBezTo>
                      <a:cubicBezTo>
                        <a:pt x="10795" y="863854"/>
                        <a:pt x="21971" y="855345"/>
                        <a:pt x="34163" y="856996"/>
                      </a:cubicBezTo>
                      <a:cubicBezTo>
                        <a:pt x="46355" y="858647"/>
                        <a:pt x="54864" y="869823"/>
                        <a:pt x="53213" y="882015"/>
                      </a:cubicBezTo>
                      <a:cubicBezTo>
                        <a:pt x="51308" y="896366"/>
                        <a:pt x="49657" y="910717"/>
                        <a:pt x="48387" y="925322"/>
                      </a:cubicBezTo>
                      <a:cubicBezTo>
                        <a:pt x="47244" y="937514"/>
                        <a:pt x="36449" y="946531"/>
                        <a:pt x="24257" y="945515"/>
                      </a:cubicBezTo>
                      <a:cubicBezTo>
                        <a:pt x="12065" y="944499"/>
                        <a:pt x="2921" y="933450"/>
                        <a:pt x="4064" y="921258"/>
                      </a:cubicBezTo>
                      <a:close/>
                      <a:moveTo>
                        <a:pt x="16129" y="831215"/>
                      </a:moveTo>
                      <a:cubicBezTo>
                        <a:pt x="18796" y="816229"/>
                        <a:pt x="21844" y="801370"/>
                        <a:pt x="25146" y="786765"/>
                      </a:cubicBezTo>
                      <a:cubicBezTo>
                        <a:pt x="27813" y="774827"/>
                        <a:pt x="39751" y="767334"/>
                        <a:pt x="51689" y="770001"/>
                      </a:cubicBezTo>
                      <a:cubicBezTo>
                        <a:pt x="63627" y="772668"/>
                        <a:pt x="71120" y="784606"/>
                        <a:pt x="68453" y="796544"/>
                      </a:cubicBezTo>
                      <a:cubicBezTo>
                        <a:pt x="65278" y="810641"/>
                        <a:pt x="62357" y="824738"/>
                        <a:pt x="59817" y="839089"/>
                      </a:cubicBezTo>
                      <a:cubicBezTo>
                        <a:pt x="57658" y="851154"/>
                        <a:pt x="46101" y="859155"/>
                        <a:pt x="34036" y="856996"/>
                      </a:cubicBezTo>
                      <a:cubicBezTo>
                        <a:pt x="21971" y="854837"/>
                        <a:pt x="13970" y="843280"/>
                        <a:pt x="16129" y="831088"/>
                      </a:cubicBezTo>
                      <a:close/>
                      <a:moveTo>
                        <a:pt x="36322" y="742442"/>
                      </a:moveTo>
                      <a:cubicBezTo>
                        <a:pt x="40386" y="727837"/>
                        <a:pt x="44704" y="713359"/>
                        <a:pt x="49403" y="699008"/>
                      </a:cubicBezTo>
                      <a:cubicBezTo>
                        <a:pt x="53213" y="687324"/>
                        <a:pt x="65786" y="680974"/>
                        <a:pt x="77470" y="684784"/>
                      </a:cubicBezTo>
                      <a:cubicBezTo>
                        <a:pt x="89154" y="688594"/>
                        <a:pt x="95504" y="701167"/>
                        <a:pt x="91694" y="712851"/>
                      </a:cubicBezTo>
                      <a:cubicBezTo>
                        <a:pt x="87249" y="726567"/>
                        <a:pt x="83058" y="740410"/>
                        <a:pt x="79248" y="754380"/>
                      </a:cubicBezTo>
                      <a:cubicBezTo>
                        <a:pt x="75946" y="766191"/>
                        <a:pt x="63754" y="773176"/>
                        <a:pt x="51943" y="769874"/>
                      </a:cubicBezTo>
                      <a:cubicBezTo>
                        <a:pt x="40132" y="766572"/>
                        <a:pt x="33020" y="754380"/>
                        <a:pt x="36322" y="742569"/>
                      </a:cubicBezTo>
                      <a:close/>
                      <a:moveTo>
                        <a:pt x="64389" y="656209"/>
                      </a:moveTo>
                      <a:cubicBezTo>
                        <a:pt x="69723" y="641985"/>
                        <a:pt x="75311" y="628015"/>
                        <a:pt x="81280" y="614172"/>
                      </a:cubicBezTo>
                      <a:cubicBezTo>
                        <a:pt x="86106" y="602869"/>
                        <a:pt x="99187" y="597662"/>
                        <a:pt x="110490" y="602488"/>
                      </a:cubicBezTo>
                      <a:cubicBezTo>
                        <a:pt x="121793" y="607314"/>
                        <a:pt x="127000" y="620395"/>
                        <a:pt x="122174" y="631698"/>
                      </a:cubicBezTo>
                      <a:cubicBezTo>
                        <a:pt x="116459" y="644906"/>
                        <a:pt x="111125" y="658368"/>
                        <a:pt x="106045" y="671957"/>
                      </a:cubicBezTo>
                      <a:cubicBezTo>
                        <a:pt x="101727" y="683387"/>
                        <a:pt x="88900" y="689229"/>
                        <a:pt x="77470" y="684911"/>
                      </a:cubicBezTo>
                      <a:cubicBezTo>
                        <a:pt x="66040" y="680593"/>
                        <a:pt x="60198" y="667766"/>
                        <a:pt x="64516" y="656336"/>
                      </a:cubicBezTo>
                      <a:close/>
                      <a:moveTo>
                        <a:pt x="100330" y="572770"/>
                      </a:moveTo>
                      <a:cubicBezTo>
                        <a:pt x="106934" y="559181"/>
                        <a:pt x="113792" y="545719"/>
                        <a:pt x="121031" y="532384"/>
                      </a:cubicBezTo>
                      <a:cubicBezTo>
                        <a:pt x="126873" y="521589"/>
                        <a:pt x="140335" y="517525"/>
                        <a:pt x="151130" y="523367"/>
                      </a:cubicBezTo>
                      <a:cubicBezTo>
                        <a:pt x="161925" y="529209"/>
                        <a:pt x="165989" y="542671"/>
                        <a:pt x="160147" y="553466"/>
                      </a:cubicBezTo>
                      <a:cubicBezTo>
                        <a:pt x="153289" y="566166"/>
                        <a:pt x="146685" y="578993"/>
                        <a:pt x="140462" y="592074"/>
                      </a:cubicBezTo>
                      <a:cubicBezTo>
                        <a:pt x="135128" y="603123"/>
                        <a:pt x="121793" y="607822"/>
                        <a:pt x="110744" y="602488"/>
                      </a:cubicBezTo>
                      <a:cubicBezTo>
                        <a:pt x="99695" y="597154"/>
                        <a:pt x="94996" y="583819"/>
                        <a:pt x="100330" y="572770"/>
                      </a:cubicBezTo>
                      <a:close/>
                      <a:moveTo>
                        <a:pt x="143510" y="492887"/>
                      </a:moveTo>
                      <a:cubicBezTo>
                        <a:pt x="151257" y="479933"/>
                        <a:pt x="159385" y="467106"/>
                        <a:pt x="167767" y="454406"/>
                      </a:cubicBezTo>
                      <a:cubicBezTo>
                        <a:pt x="174498" y="444119"/>
                        <a:pt x="188341" y="441325"/>
                        <a:pt x="198628" y="448183"/>
                      </a:cubicBezTo>
                      <a:cubicBezTo>
                        <a:pt x="208915" y="455041"/>
                        <a:pt x="211709" y="468757"/>
                        <a:pt x="204851" y="479044"/>
                      </a:cubicBezTo>
                      <a:cubicBezTo>
                        <a:pt x="196850" y="491109"/>
                        <a:pt x="189103" y="503301"/>
                        <a:pt x="181737" y="515747"/>
                      </a:cubicBezTo>
                      <a:cubicBezTo>
                        <a:pt x="175387" y="526288"/>
                        <a:pt x="161798" y="529717"/>
                        <a:pt x="151257" y="523367"/>
                      </a:cubicBezTo>
                      <a:cubicBezTo>
                        <a:pt x="140716" y="517017"/>
                        <a:pt x="137287" y="503428"/>
                        <a:pt x="143637" y="492887"/>
                      </a:cubicBezTo>
                      <a:close/>
                      <a:moveTo>
                        <a:pt x="193802" y="417195"/>
                      </a:moveTo>
                      <a:cubicBezTo>
                        <a:pt x="202692" y="405003"/>
                        <a:pt x="211963" y="392938"/>
                        <a:pt x="221361" y="381127"/>
                      </a:cubicBezTo>
                      <a:cubicBezTo>
                        <a:pt x="228981" y="371475"/>
                        <a:pt x="242951" y="369951"/>
                        <a:pt x="252603" y="377698"/>
                      </a:cubicBezTo>
                      <a:cubicBezTo>
                        <a:pt x="262255" y="385445"/>
                        <a:pt x="263779" y="399288"/>
                        <a:pt x="256032" y="408940"/>
                      </a:cubicBezTo>
                      <a:cubicBezTo>
                        <a:pt x="247015" y="420243"/>
                        <a:pt x="238252" y="431800"/>
                        <a:pt x="229743" y="443484"/>
                      </a:cubicBezTo>
                      <a:cubicBezTo>
                        <a:pt x="222504" y="453390"/>
                        <a:pt x="208661" y="455549"/>
                        <a:pt x="198755" y="448310"/>
                      </a:cubicBezTo>
                      <a:cubicBezTo>
                        <a:pt x="188849" y="441071"/>
                        <a:pt x="186690" y="427228"/>
                        <a:pt x="193929" y="417322"/>
                      </a:cubicBezTo>
                      <a:close/>
                      <a:moveTo>
                        <a:pt x="250571" y="346329"/>
                      </a:moveTo>
                      <a:cubicBezTo>
                        <a:pt x="260604" y="334899"/>
                        <a:pt x="270764" y="323723"/>
                        <a:pt x="281305" y="312801"/>
                      </a:cubicBezTo>
                      <a:cubicBezTo>
                        <a:pt x="289814" y="303911"/>
                        <a:pt x="303911" y="303657"/>
                        <a:pt x="312674" y="312166"/>
                      </a:cubicBezTo>
                      <a:cubicBezTo>
                        <a:pt x="321437" y="320675"/>
                        <a:pt x="321818" y="334772"/>
                        <a:pt x="313309" y="343535"/>
                      </a:cubicBezTo>
                      <a:cubicBezTo>
                        <a:pt x="303276" y="353949"/>
                        <a:pt x="293497" y="364744"/>
                        <a:pt x="283972" y="375539"/>
                      </a:cubicBezTo>
                      <a:cubicBezTo>
                        <a:pt x="275844" y="384810"/>
                        <a:pt x="261874" y="385699"/>
                        <a:pt x="252603" y="377571"/>
                      </a:cubicBezTo>
                      <a:cubicBezTo>
                        <a:pt x="243332" y="369443"/>
                        <a:pt x="242443" y="355473"/>
                        <a:pt x="250571" y="346202"/>
                      </a:cubicBezTo>
                      <a:close/>
                      <a:moveTo>
                        <a:pt x="313436" y="280543"/>
                      </a:moveTo>
                      <a:cubicBezTo>
                        <a:pt x="324358" y="270129"/>
                        <a:pt x="335534" y="259842"/>
                        <a:pt x="346964" y="249936"/>
                      </a:cubicBezTo>
                      <a:cubicBezTo>
                        <a:pt x="356235" y="241808"/>
                        <a:pt x="370205" y="242824"/>
                        <a:pt x="378333" y="252095"/>
                      </a:cubicBezTo>
                      <a:cubicBezTo>
                        <a:pt x="386461" y="261366"/>
                        <a:pt x="385445" y="275336"/>
                        <a:pt x="376174" y="283464"/>
                      </a:cubicBezTo>
                      <a:cubicBezTo>
                        <a:pt x="365252" y="292989"/>
                        <a:pt x="354584" y="302768"/>
                        <a:pt x="344043" y="312801"/>
                      </a:cubicBezTo>
                      <a:cubicBezTo>
                        <a:pt x="335153" y="321310"/>
                        <a:pt x="321056" y="320929"/>
                        <a:pt x="312674" y="312039"/>
                      </a:cubicBezTo>
                      <a:cubicBezTo>
                        <a:pt x="304292" y="303149"/>
                        <a:pt x="304546" y="289052"/>
                        <a:pt x="313436" y="280670"/>
                      </a:cubicBezTo>
                      <a:close/>
                      <a:moveTo>
                        <a:pt x="381889" y="220853"/>
                      </a:moveTo>
                      <a:cubicBezTo>
                        <a:pt x="393700" y="211455"/>
                        <a:pt x="405765" y="202184"/>
                        <a:pt x="418084" y="193294"/>
                      </a:cubicBezTo>
                      <a:cubicBezTo>
                        <a:pt x="427990" y="186055"/>
                        <a:pt x="441960" y="188214"/>
                        <a:pt x="449072" y="198247"/>
                      </a:cubicBezTo>
                      <a:cubicBezTo>
                        <a:pt x="456184" y="208280"/>
                        <a:pt x="454152" y="222123"/>
                        <a:pt x="444119" y="229235"/>
                      </a:cubicBezTo>
                      <a:cubicBezTo>
                        <a:pt x="432435" y="237744"/>
                        <a:pt x="420878" y="246507"/>
                        <a:pt x="409575" y="255524"/>
                      </a:cubicBezTo>
                      <a:cubicBezTo>
                        <a:pt x="399923" y="263144"/>
                        <a:pt x="385953" y="261620"/>
                        <a:pt x="378333" y="251968"/>
                      </a:cubicBezTo>
                      <a:cubicBezTo>
                        <a:pt x="370713" y="242316"/>
                        <a:pt x="372237" y="228346"/>
                        <a:pt x="381889" y="220726"/>
                      </a:cubicBezTo>
                      <a:close/>
                      <a:moveTo>
                        <a:pt x="455422" y="167259"/>
                      </a:moveTo>
                      <a:cubicBezTo>
                        <a:pt x="467995" y="158877"/>
                        <a:pt x="480822" y="150876"/>
                        <a:pt x="493903" y="143129"/>
                      </a:cubicBezTo>
                      <a:cubicBezTo>
                        <a:pt x="504444" y="136779"/>
                        <a:pt x="518033" y="140208"/>
                        <a:pt x="524383" y="150749"/>
                      </a:cubicBezTo>
                      <a:cubicBezTo>
                        <a:pt x="530733" y="161290"/>
                        <a:pt x="527304" y="174879"/>
                        <a:pt x="516763" y="181229"/>
                      </a:cubicBezTo>
                      <a:cubicBezTo>
                        <a:pt x="504317" y="188722"/>
                        <a:pt x="492125" y="196342"/>
                        <a:pt x="480060" y="204343"/>
                      </a:cubicBezTo>
                      <a:cubicBezTo>
                        <a:pt x="469773" y="211074"/>
                        <a:pt x="456057" y="208280"/>
                        <a:pt x="449326" y="197993"/>
                      </a:cubicBezTo>
                      <a:cubicBezTo>
                        <a:pt x="442595" y="187706"/>
                        <a:pt x="445389" y="173990"/>
                        <a:pt x="455676" y="167259"/>
                      </a:cubicBezTo>
                      <a:close/>
                      <a:moveTo>
                        <a:pt x="533654" y="120650"/>
                      </a:moveTo>
                      <a:cubicBezTo>
                        <a:pt x="546989" y="113538"/>
                        <a:pt x="560451" y="106553"/>
                        <a:pt x="574040" y="100076"/>
                      </a:cubicBezTo>
                      <a:cubicBezTo>
                        <a:pt x="585089" y="94742"/>
                        <a:pt x="598424" y="99441"/>
                        <a:pt x="603758" y="110490"/>
                      </a:cubicBezTo>
                      <a:cubicBezTo>
                        <a:pt x="609092" y="121539"/>
                        <a:pt x="604393" y="134874"/>
                        <a:pt x="593344" y="140208"/>
                      </a:cubicBezTo>
                      <a:cubicBezTo>
                        <a:pt x="580263" y="146558"/>
                        <a:pt x="567436" y="153035"/>
                        <a:pt x="554736" y="159893"/>
                      </a:cubicBezTo>
                      <a:cubicBezTo>
                        <a:pt x="543941" y="165735"/>
                        <a:pt x="530479" y="161671"/>
                        <a:pt x="524637" y="150876"/>
                      </a:cubicBezTo>
                      <a:cubicBezTo>
                        <a:pt x="518795" y="140081"/>
                        <a:pt x="522859" y="126619"/>
                        <a:pt x="533654" y="120777"/>
                      </a:cubicBezTo>
                      <a:close/>
                      <a:moveTo>
                        <a:pt x="614680" y="81026"/>
                      </a:moveTo>
                      <a:cubicBezTo>
                        <a:pt x="628523" y="75057"/>
                        <a:pt x="642620" y="69469"/>
                        <a:pt x="656717" y="64135"/>
                      </a:cubicBezTo>
                      <a:cubicBezTo>
                        <a:pt x="668147" y="59817"/>
                        <a:pt x="680974" y="65659"/>
                        <a:pt x="685292" y="77089"/>
                      </a:cubicBezTo>
                      <a:cubicBezTo>
                        <a:pt x="689610" y="88519"/>
                        <a:pt x="683768" y="101346"/>
                        <a:pt x="672338" y="105664"/>
                      </a:cubicBezTo>
                      <a:cubicBezTo>
                        <a:pt x="658749" y="110744"/>
                        <a:pt x="645414" y="116078"/>
                        <a:pt x="632079" y="121793"/>
                      </a:cubicBezTo>
                      <a:cubicBezTo>
                        <a:pt x="620776" y="126619"/>
                        <a:pt x="607695" y="121412"/>
                        <a:pt x="602869" y="110109"/>
                      </a:cubicBezTo>
                      <a:cubicBezTo>
                        <a:pt x="598043" y="98806"/>
                        <a:pt x="603250" y="85725"/>
                        <a:pt x="614553" y="80899"/>
                      </a:cubicBezTo>
                      <a:close/>
                      <a:moveTo>
                        <a:pt x="699643" y="49022"/>
                      </a:moveTo>
                      <a:cubicBezTo>
                        <a:pt x="713994" y="44323"/>
                        <a:pt x="728472" y="40005"/>
                        <a:pt x="743077" y="36068"/>
                      </a:cubicBezTo>
                      <a:cubicBezTo>
                        <a:pt x="754888" y="32766"/>
                        <a:pt x="767207" y="39751"/>
                        <a:pt x="770382" y="51562"/>
                      </a:cubicBezTo>
                      <a:cubicBezTo>
                        <a:pt x="773557" y="63373"/>
                        <a:pt x="766699" y="75692"/>
                        <a:pt x="754888" y="78867"/>
                      </a:cubicBezTo>
                      <a:cubicBezTo>
                        <a:pt x="740918" y="82677"/>
                        <a:pt x="727075" y="86868"/>
                        <a:pt x="713359" y="91313"/>
                      </a:cubicBezTo>
                      <a:cubicBezTo>
                        <a:pt x="701675" y="95123"/>
                        <a:pt x="689102" y="88646"/>
                        <a:pt x="685419" y="76962"/>
                      </a:cubicBezTo>
                      <a:cubicBezTo>
                        <a:pt x="681736" y="65278"/>
                        <a:pt x="688086" y="52705"/>
                        <a:pt x="699770" y="49022"/>
                      </a:cubicBezTo>
                      <a:close/>
                      <a:moveTo>
                        <a:pt x="787400" y="24892"/>
                      </a:moveTo>
                      <a:cubicBezTo>
                        <a:pt x="802132" y="21590"/>
                        <a:pt x="816991" y="18542"/>
                        <a:pt x="831850" y="15875"/>
                      </a:cubicBezTo>
                      <a:cubicBezTo>
                        <a:pt x="843915" y="13716"/>
                        <a:pt x="855472" y="21717"/>
                        <a:pt x="857631" y="33782"/>
                      </a:cubicBezTo>
                      <a:cubicBezTo>
                        <a:pt x="859790" y="45847"/>
                        <a:pt x="851789" y="57404"/>
                        <a:pt x="839724" y="59563"/>
                      </a:cubicBezTo>
                      <a:cubicBezTo>
                        <a:pt x="825373" y="62103"/>
                        <a:pt x="811276" y="65024"/>
                        <a:pt x="797179" y="68199"/>
                      </a:cubicBezTo>
                      <a:cubicBezTo>
                        <a:pt x="785241" y="70866"/>
                        <a:pt x="773303" y="63373"/>
                        <a:pt x="770636" y="51435"/>
                      </a:cubicBezTo>
                      <a:cubicBezTo>
                        <a:pt x="767969" y="39497"/>
                        <a:pt x="775462" y="27559"/>
                        <a:pt x="787400" y="24892"/>
                      </a:cubicBezTo>
                      <a:close/>
                      <a:moveTo>
                        <a:pt x="876681" y="9017"/>
                      </a:moveTo>
                      <a:cubicBezTo>
                        <a:pt x="891667" y="6985"/>
                        <a:pt x="906780" y="5334"/>
                        <a:pt x="921893" y="3937"/>
                      </a:cubicBezTo>
                      <a:cubicBezTo>
                        <a:pt x="934085" y="2794"/>
                        <a:pt x="944880" y="11938"/>
                        <a:pt x="946023" y="24130"/>
                      </a:cubicBezTo>
                      <a:cubicBezTo>
                        <a:pt x="947166" y="36322"/>
                        <a:pt x="938022" y="47117"/>
                        <a:pt x="925830" y="48260"/>
                      </a:cubicBezTo>
                      <a:cubicBezTo>
                        <a:pt x="911352" y="49530"/>
                        <a:pt x="896874" y="51181"/>
                        <a:pt x="882523" y="53086"/>
                      </a:cubicBezTo>
                      <a:cubicBezTo>
                        <a:pt x="870331" y="54737"/>
                        <a:pt x="859155" y="46228"/>
                        <a:pt x="857504" y="34036"/>
                      </a:cubicBezTo>
                      <a:cubicBezTo>
                        <a:pt x="855853" y="21844"/>
                        <a:pt x="864489" y="10668"/>
                        <a:pt x="876681" y="9017"/>
                      </a:cubicBezTo>
                      <a:close/>
                      <a:moveTo>
                        <a:pt x="967105" y="1016"/>
                      </a:moveTo>
                      <a:cubicBezTo>
                        <a:pt x="981964" y="381"/>
                        <a:pt x="996950" y="0"/>
                        <a:pt x="1012063" y="0"/>
                      </a:cubicBezTo>
                      <a:lnTo>
                        <a:pt x="1012063" y="22225"/>
                      </a:lnTo>
                      <a:lnTo>
                        <a:pt x="1012063" y="0"/>
                      </a:lnTo>
                      <a:cubicBezTo>
                        <a:pt x="1012317" y="0"/>
                        <a:pt x="1012571" y="0"/>
                        <a:pt x="1012698" y="0"/>
                      </a:cubicBezTo>
                      <a:cubicBezTo>
                        <a:pt x="1025017" y="0"/>
                        <a:pt x="1034923" y="9906"/>
                        <a:pt x="1034923" y="22225"/>
                      </a:cubicBezTo>
                      <a:cubicBezTo>
                        <a:pt x="1034923" y="34544"/>
                        <a:pt x="1025017" y="44450"/>
                        <a:pt x="1012698" y="44450"/>
                      </a:cubicBezTo>
                      <a:cubicBezTo>
                        <a:pt x="1012444" y="44450"/>
                        <a:pt x="1012317" y="44450"/>
                        <a:pt x="1012063" y="44450"/>
                      </a:cubicBezTo>
                      <a:lnTo>
                        <a:pt x="1012063" y="22225"/>
                      </a:lnTo>
                      <a:lnTo>
                        <a:pt x="1012063" y="44450"/>
                      </a:lnTo>
                      <a:cubicBezTo>
                        <a:pt x="997585" y="44450"/>
                        <a:pt x="983234" y="44704"/>
                        <a:pt x="969010" y="45339"/>
                      </a:cubicBezTo>
                      <a:cubicBezTo>
                        <a:pt x="956691" y="45847"/>
                        <a:pt x="946404" y="36322"/>
                        <a:pt x="945896" y="24130"/>
                      </a:cubicBezTo>
                      <a:cubicBezTo>
                        <a:pt x="945388" y="11938"/>
                        <a:pt x="954786" y="1524"/>
                        <a:pt x="967105" y="1016"/>
                      </a:cubicBezTo>
                      <a:close/>
                      <a:moveTo>
                        <a:pt x="1058545" y="1016"/>
                      </a:moveTo>
                      <a:cubicBezTo>
                        <a:pt x="1073658" y="1651"/>
                        <a:pt x="1088771" y="2667"/>
                        <a:pt x="1103757" y="4064"/>
                      </a:cubicBezTo>
                      <a:cubicBezTo>
                        <a:pt x="1115949" y="5207"/>
                        <a:pt x="1124966" y="16002"/>
                        <a:pt x="1123950" y="28194"/>
                      </a:cubicBezTo>
                      <a:cubicBezTo>
                        <a:pt x="1122934" y="40386"/>
                        <a:pt x="1112012" y="49403"/>
                        <a:pt x="1099820" y="48387"/>
                      </a:cubicBezTo>
                      <a:cubicBezTo>
                        <a:pt x="1085469" y="47117"/>
                        <a:pt x="1071118" y="46101"/>
                        <a:pt x="1056640" y="45466"/>
                      </a:cubicBezTo>
                      <a:cubicBezTo>
                        <a:pt x="1044321" y="44958"/>
                        <a:pt x="1034923" y="34544"/>
                        <a:pt x="1035431" y="22225"/>
                      </a:cubicBezTo>
                      <a:cubicBezTo>
                        <a:pt x="1035939" y="9906"/>
                        <a:pt x="1046226" y="508"/>
                        <a:pt x="1058418" y="1016"/>
                      </a:cubicBezTo>
                      <a:close/>
                      <a:moveTo>
                        <a:pt x="1148842" y="9144"/>
                      </a:moveTo>
                      <a:cubicBezTo>
                        <a:pt x="1163955" y="11176"/>
                        <a:pt x="1178814" y="13589"/>
                        <a:pt x="1193673" y="16256"/>
                      </a:cubicBezTo>
                      <a:cubicBezTo>
                        <a:pt x="1205738" y="18415"/>
                        <a:pt x="1213739" y="29972"/>
                        <a:pt x="1211580" y="42037"/>
                      </a:cubicBezTo>
                      <a:cubicBezTo>
                        <a:pt x="1209421" y="54102"/>
                        <a:pt x="1197864" y="62230"/>
                        <a:pt x="1185799" y="59944"/>
                      </a:cubicBezTo>
                      <a:cubicBezTo>
                        <a:pt x="1171575" y="57404"/>
                        <a:pt x="1157351" y="55118"/>
                        <a:pt x="1142873" y="53213"/>
                      </a:cubicBezTo>
                      <a:cubicBezTo>
                        <a:pt x="1130681" y="51562"/>
                        <a:pt x="1122172" y="40386"/>
                        <a:pt x="1123823" y="28194"/>
                      </a:cubicBezTo>
                      <a:cubicBezTo>
                        <a:pt x="1125474" y="16002"/>
                        <a:pt x="1136650" y="7493"/>
                        <a:pt x="1148842" y="9144"/>
                      </a:cubicBezTo>
                      <a:close/>
                      <a:moveTo>
                        <a:pt x="1238250" y="25400"/>
                      </a:moveTo>
                      <a:cubicBezTo>
                        <a:pt x="1253109" y="28829"/>
                        <a:pt x="1267714" y="32512"/>
                        <a:pt x="1282319" y="36576"/>
                      </a:cubicBezTo>
                      <a:cubicBezTo>
                        <a:pt x="1294130" y="39878"/>
                        <a:pt x="1301115" y="52070"/>
                        <a:pt x="1297813" y="63881"/>
                      </a:cubicBezTo>
                      <a:cubicBezTo>
                        <a:pt x="1294511" y="75692"/>
                        <a:pt x="1282319" y="82677"/>
                        <a:pt x="1270508" y="79375"/>
                      </a:cubicBezTo>
                      <a:cubicBezTo>
                        <a:pt x="1256538" y="75565"/>
                        <a:pt x="1242568" y="72009"/>
                        <a:pt x="1228344" y="68707"/>
                      </a:cubicBezTo>
                      <a:cubicBezTo>
                        <a:pt x="1216406" y="65913"/>
                        <a:pt x="1208913" y="54102"/>
                        <a:pt x="1211580" y="42037"/>
                      </a:cubicBezTo>
                      <a:cubicBezTo>
                        <a:pt x="1214247" y="29972"/>
                        <a:pt x="1226185" y="22606"/>
                        <a:pt x="1238250" y="25400"/>
                      </a:cubicBezTo>
                      <a:close/>
                      <a:moveTo>
                        <a:pt x="1325753" y="49530"/>
                      </a:moveTo>
                      <a:cubicBezTo>
                        <a:pt x="1340231" y="54229"/>
                        <a:pt x="1354582" y="59309"/>
                        <a:pt x="1368679" y="64643"/>
                      </a:cubicBezTo>
                      <a:cubicBezTo>
                        <a:pt x="1380109" y="68961"/>
                        <a:pt x="1385951" y="81788"/>
                        <a:pt x="1381633" y="93218"/>
                      </a:cubicBezTo>
                      <a:cubicBezTo>
                        <a:pt x="1377315" y="104648"/>
                        <a:pt x="1364488" y="110490"/>
                        <a:pt x="1353058" y="106172"/>
                      </a:cubicBezTo>
                      <a:cubicBezTo>
                        <a:pt x="1339469" y="101092"/>
                        <a:pt x="1325880" y="96266"/>
                        <a:pt x="1312037" y="91821"/>
                      </a:cubicBezTo>
                      <a:cubicBezTo>
                        <a:pt x="1300353" y="88011"/>
                        <a:pt x="1294003" y="75438"/>
                        <a:pt x="1297813" y="63754"/>
                      </a:cubicBezTo>
                      <a:cubicBezTo>
                        <a:pt x="1301623" y="52070"/>
                        <a:pt x="1314196" y="45720"/>
                        <a:pt x="1325880" y="49530"/>
                      </a:cubicBezTo>
                      <a:close/>
                      <a:moveTo>
                        <a:pt x="1410843" y="81534"/>
                      </a:moveTo>
                      <a:cubicBezTo>
                        <a:pt x="1424813" y="87503"/>
                        <a:pt x="1438656" y="93853"/>
                        <a:pt x="1452245" y="100457"/>
                      </a:cubicBezTo>
                      <a:cubicBezTo>
                        <a:pt x="1463294" y="105791"/>
                        <a:pt x="1467866" y="119126"/>
                        <a:pt x="1462532" y="130175"/>
                      </a:cubicBezTo>
                      <a:cubicBezTo>
                        <a:pt x="1457198" y="141224"/>
                        <a:pt x="1443863" y="145796"/>
                        <a:pt x="1432814" y="140462"/>
                      </a:cubicBezTo>
                      <a:cubicBezTo>
                        <a:pt x="1419733" y="134112"/>
                        <a:pt x="1406525" y="128143"/>
                        <a:pt x="1393190" y="122428"/>
                      </a:cubicBezTo>
                      <a:cubicBezTo>
                        <a:pt x="1381887" y="117602"/>
                        <a:pt x="1376680" y="104521"/>
                        <a:pt x="1381506" y="93218"/>
                      </a:cubicBezTo>
                      <a:cubicBezTo>
                        <a:pt x="1386332" y="81915"/>
                        <a:pt x="1399413" y="76708"/>
                        <a:pt x="1410716" y="81534"/>
                      </a:cubicBezTo>
                      <a:close/>
                      <a:moveTo>
                        <a:pt x="1492504" y="121031"/>
                      </a:moveTo>
                      <a:cubicBezTo>
                        <a:pt x="1505839" y="128270"/>
                        <a:pt x="1519047" y="135763"/>
                        <a:pt x="1532001" y="143510"/>
                      </a:cubicBezTo>
                      <a:cubicBezTo>
                        <a:pt x="1542542" y="149860"/>
                        <a:pt x="1545971" y="163449"/>
                        <a:pt x="1539621" y="173990"/>
                      </a:cubicBezTo>
                      <a:cubicBezTo>
                        <a:pt x="1533271" y="184531"/>
                        <a:pt x="1519682" y="187960"/>
                        <a:pt x="1509141" y="181610"/>
                      </a:cubicBezTo>
                      <a:cubicBezTo>
                        <a:pt x="1496695" y="174117"/>
                        <a:pt x="1484122" y="167005"/>
                        <a:pt x="1471295" y="160020"/>
                      </a:cubicBezTo>
                      <a:cubicBezTo>
                        <a:pt x="1460500" y="154178"/>
                        <a:pt x="1456436" y="140716"/>
                        <a:pt x="1462278" y="129921"/>
                      </a:cubicBezTo>
                      <a:cubicBezTo>
                        <a:pt x="1468120" y="119126"/>
                        <a:pt x="1481582" y="115062"/>
                        <a:pt x="1492377" y="120904"/>
                      </a:cubicBezTo>
                      <a:close/>
                      <a:moveTo>
                        <a:pt x="1570355" y="167640"/>
                      </a:moveTo>
                      <a:cubicBezTo>
                        <a:pt x="1583055" y="176022"/>
                        <a:pt x="1595501" y="184658"/>
                        <a:pt x="1607693" y="193548"/>
                      </a:cubicBezTo>
                      <a:cubicBezTo>
                        <a:pt x="1617599" y="200787"/>
                        <a:pt x="1619758" y="214630"/>
                        <a:pt x="1612519" y="224663"/>
                      </a:cubicBezTo>
                      <a:cubicBezTo>
                        <a:pt x="1605280" y="234696"/>
                        <a:pt x="1591437" y="236728"/>
                        <a:pt x="1581404" y="229489"/>
                      </a:cubicBezTo>
                      <a:cubicBezTo>
                        <a:pt x="1569720" y="220980"/>
                        <a:pt x="1557782" y="212725"/>
                        <a:pt x="1545717" y="204724"/>
                      </a:cubicBezTo>
                      <a:cubicBezTo>
                        <a:pt x="1535430" y="197993"/>
                        <a:pt x="1532636" y="184150"/>
                        <a:pt x="1539494" y="173863"/>
                      </a:cubicBezTo>
                      <a:cubicBezTo>
                        <a:pt x="1546352" y="163576"/>
                        <a:pt x="1560068" y="160782"/>
                        <a:pt x="1570355" y="167640"/>
                      </a:cubicBezTo>
                      <a:close/>
                      <a:moveTo>
                        <a:pt x="1643761" y="221234"/>
                      </a:moveTo>
                      <a:cubicBezTo>
                        <a:pt x="1655572" y="230759"/>
                        <a:pt x="1667256" y="240411"/>
                        <a:pt x="1678559" y="250444"/>
                      </a:cubicBezTo>
                      <a:cubicBezTo>
                        <a:pt x="1687830" y="258572"/>
                        <a:pt x="1688719" y="272542"/>
                        <a:pt x="1680591" y="281813"/>
                      </a:cubicBezTo>
                      <a:cubicBezTo>
                        <a:pt x="1672463" y="291084"/>
                        <a:pt x="1658493" y="291973"/>
                        <a:pt x="1649222" y="283845"/>
                      </a:cubicBezTo>
                      <a:cubicBezTo>
                        <a:pt x="1638300" y="274320"/>
                        <a:pt x="1627251" y="265049"/>
                        <a:pt x="1615948" y="255905"/>
                      </a:cubicBezTo>
                      <a:cubicBezTo>
                        <a:pt x="1606423" y="248285"/>
                        <a:pt x="1604772" y="234188"/>
                        <a:pt x="1612519" y="224663"/>
                      </a:cubicBezTo>
                      <a:cubicBezTo>
                        <a:pt x="1620266" y="215138"/>
                        <a:pt x="1634236" y="213487"/>
                        <a:pt x="1643761" y="221234"/>
                      </a:cubicBezTo>
                      <a:close/>
                      <a:moveTo>
                        <a:pt x="1712087" y="281051"/>
                      </a:moveTo>
                      <a:cubicBezTo>
                        <a:pt x="1723009" y="291465"/>
                        <a:pt x="1733677" y="302260"/>
                        <a:pt x="1744218" y="313182"/>
                      </a:cubicBezTo>
                      <a:cubicBezTo>
                        <a:pt x="1752727" y="322072"/>
                        <a:pt x="1752346" y="336169"/>
                        <a:pt x="1743456" y="344551"/>
                      </a:cubicBezTo>
                      <a:cubicBezTo>
                        <a:pt x="1734566" y="352933"/>
                        <a:pt x="1720469" y="352679"/>
                        <a:pt x="1712087" y="343789"/>
                      </a:cubicBezTo>
                      <a:cubicBezTo>
                        <a:pt x="1702054" y="333375"/>
                        <a:pt x="1691894" y="323088"/>
                        <a:pt x="1681353" y="313055"/>
                      </a:cubicBezTo>
                      <a:cubicBezTo>
                        <a:pt x="1672463" y="304546"/>
                        <a:pt x="1672209" y="290449"/>
                        <a:pt x="1680718" y="281686"/>
                      </a:cubicBezTo>
                      <a:cubicBezTo>
                        <a:pt x="1689227" y="272923"/>
                        <a:pt x="1703324" y="272542"/>
                        <a:pt x="1712087" y="281051"/>
                      </a:cubicBezTo>
                      <a:close/>
                      <a:moveTo>
                        <a:pt x="1774825" y="346710"/>
                      </a:moveTo>
                      <a:cubicBezTo>
                        <a:pt x="1784731" y="358140"/>
                        <a:pt x="1794510" y="369697"/>
                        <a:pt x="1803908" y="381635"/>
                      </a:cubicBezTo>
                      <a:cubicBezTo>
                        <a:pt x="1811528" y="391287"/>
                        <a:pt x="1810004" y="405257"/>
                        <a:pt x="1800352" y="412877"/>
                      </a:cubicBezTo>
                      <a:cubicBezTo>
                        <a:pt x="1790700" y="420497"/>
                        <a:pt x="1776730" y="418973"/>
                        <a:pt x="1769110" y="409321"/>
                      </a:cubicBezTo>
                      <a:cubicBezTo>
                        <a:pt x="1760093" y="398018"/>
                        <a:pt x="1750822" y="386842"/>
                        <a:pt x="1741297" y="375920"/>
                      </a:cubicBezTo>
                      <a:cubicBezTo>
                        <a:pt x="1733169" y="366649"/>
                        <a:pt x="1734185" y="352679"/>
                        <a:pt x="1743456" y="344551"/>
                      </a:cubicBezTo>
                      <a:cubicBezTo>
                        <a:pt x="1752727" y="336423"/>
                        <a:pt x="1766697" y="337439"/>
                        <a:pt x="1774825" y="346710"/>
                      </a:cubicBezTo>
                      <a:close/>
                      <a:moveTo>
                        <a:pt x="1831467" y="417703"/>
                      </a:moveTo>
                      <a:cubicBezTo>
                        <a:pt x="1840357" y="429895"/>
                        <a:pt x="1848993" y="442468"/>
                        <a:pt x="1857375" y="455041"/>
                      </a:cubicBezTo>
                      <a:cubicBezTo>
                        <a:pt x="1864106" y="465328"/>
                        <a:pt x="1861312" y="479044"/>
                        <a:pt x="1851025" y="485775"/>
                      </a:cubicBezTo>
                      <a:cubicBezTo>
                        <a:pt x="1840738" y="492506"/>
                        <a:pt x="1827022" y="489712"/>
                        <a:pt x="1820291" y="479425"/>
                      </a:cubicBezTo>
                      <a:cubicBezTo>
                        <a:pt x="1812290" y="467360"/>
                        <a:pt x="1804035" y="455422"/>
                        <a:pt x="1795526" y="443738"/>
                      </a:cubicBezTo>
                      <a:cubicBezTo>
                        <a:pt x="1788287" y="433832"/>
                        <a:pt x="1790573" y="419862"/>
                        <a:pt x="1800479" y="412750"/>
                      </a:cubicBezTo>
                      <a:cubicBezTo>
                        <a:pt x="1810385" y="405638"/>
                        <a:pt x="1824355" y="407797"/>
                        <a:pt x="1831467" y="417703"/>
                      </a:cubicBezTo>
                      <a:close/>
                      <a:moveTo>
                        <a:pt x="1881505" y="493522"/>
                      </a:moveTo>
                      <a:cubicBezTo>
                        <a:pt x="1889252" y="506476"/>
                        <a:pt x="1896745" y="519684"/>
                        <a:pt x="1903984" y="533146"/>
                      </a:cubicBezTo>
                      <a:cubicBezTo>
                        <a:pt x="1909826" y="543941"/>
                        <a:pt x="1905762" y="557403"/>
                        <a:pt x="1894967" y="563245"/>
                      </a:cubicBezTo>
                      <a:cubicBezTo>
                        <a:pt x="1884172" y="569087"/>
                        <a:pt x="1870710" y="565023"/>
                        <a:pt x="1864868" y="554228"/>
                      </a:cubicBezTo>
                      <a:cubicBezTo>
                        <a:pt x="1858010" y="541401"/>
                        <a:pt x="1850898" y="528828"/>
                        <a:pt x="1843405" y="516382"/>
                      </a:cubicBezTo>
                      <a:cubicBezTo>
                        <a:pt x="1837055" y="505841"/>
                        <a:pt x="1840611" y="492252"/>
                        <a:pt x="1851025" y="485902"/>
                      </a:cubicBezTo>
                      <a:cubicBezTo>
                        <a:pt x="1861439" y="479552"/>
                        <a:pt x="1875155" y="483108"/>
                        <a:pt x="1881505" y="493522"/>
                      </a:cubicBezTo>
                      <a:close/>
                      <a:moveTo>
                        <a:pt x="1924558" y="573532"/>
                      </a:moveTo>
                      <a:cubicBezTo>
                        <a:pt x="1931162" y="587121"/>
                        <a:pt x="1937385" y="600964"/>
                        <a:pt x="1943354" y="614934"/>
                      </a:cubicBezTo>
                      <a:cubicBezTo>
                        <a:pt x="1948180" y="626237"/>
                        <a:pt x="1942973" y="639318"/>
                        <a:pt x="1931670" y="644144"/>
                      </a:cubicBezTo>
                      <a:cubicBezTo>
                        <a:pt x="1920367" y="648970"/>
                        <a:pt x="1907286" y="643763"/>
                        <a:pt x="1902460" y="632460"/>
                      </a:cubicBezTo>
                      <a:cubicBezTo>
                        <a:pt x="1896745" y="619125"/>
                        <a:pt x="1890776" y="605917"/>
                        <a:pt x="1884426" y="592836"/>
                      </a:cubicBezTo>
                      <a:cubicBezTo>
                        <a:pt x="1879092" y="581787"/>
                        <a:pt x="1883791" y="568452"/>
                        <a:pt x="1894840" y="563118"/>
                      </a:cubicBezTo>
                      <a:cubicBezTo>
                        <a:pt x="1905889" y="557784"/>
                        <a:pt x="1919224" y="562483"/>
                        <a:pt x="1924558" y="573532"/>
                      </a:cubicBezTo>
                      <a:close/>
                      <a:moveTo>
                        <a:pt x="1960245" y="657098"/>
                      </a:moveTo>
                      <a:cubicBezTo>
                        <a:pt x="1965579" y="671322"/>
                        <a:pt x="1970532" y="685546"/>
                        <a:pt x="1975231" y="700024"/>
                      </a:cubicBezTo>
                      <a:cubicBezTo>
                        <a:pt x="1979041" y="711708"/>
                        <a:pt x="1972564" y="724281"/>
                        <a:pt x="1960880" y="727964"/>
                      </a:cubicBezTo>
                      <a:cubicBezTo>
                        <a:pt x="1949196" y="731647"/>
                        <a:pt x="1936623" y="725297"/>
                        <a:pt x="1932940" y="713613"/>
                      </a:cubicBezTo>
                      <a:cubicBezTo>
                        <a:pt x="1928495" y="699770"/>
                        <a:pt x="1923669" y="686054"/>
                        <a:pt x="1918589" y="672592"/>
                      </a:cubicBezTo>
                      <a:cubicBezTo>
                        <a:pt x="1914271" y="661035"/>
                        <a:pt x="1920113" y="648335"/>
                        <a:pt x="1931670" y="644017"/>
                      </a:cubicBezTo>
                      <a:cubicBezTo>
                        <a:pt x="1943227" y="639699"/>
                        <a:pt x="1955927" y="645541"/>
                        <a:pt x="1960245" y="657098"/>
                      </a:cubicBezTo>
                      <a:close/>
                      <a:moveTo>
                        <a:pt x="1988185" y="743585"/>
                      </a:moveTo>
                      <a:cubicBezTo>
                        <a:pt x="1992122" y="758190"/>
                        <a:pt x="1995805" y="772922"/>
                        <a:pt x="1999234" y="787654"/>
                      </a:cubicBezTo>
                      <a:cubicBezTo>
                        <a:pt x="2001901" y="799592"/>
                        <a:pt x="1994408" y="811530"/>
                        <a:pt x="1982470" y="814197"/>
                      </a:cubicBezTo>
                      <a:cubicBezTo>
                        <a:pt x="1970532" y="816864"/>
                        <a:pt x="1958594" y="809371"/>
                        <a:pt x="1955927" y="797433"/>
                      </a:cubicBezTo>
                      <a:cubicBezTo>
                        <a:pt x="1952752" y="783209"/>
                        <a:pt x="1949196" y="769239"/>
                        <a:pt x="1945386" y="755269"/>
                      </a:cubicBezTo>
                      <a:cubicBezTo>
                        <a:pt x="1942084" y="743458"/>
                        <a:pt x="1949069" y="731266"/>
                        <a:pt x="1960880" y="727964"/>
                      </a:cubicBezTo>
                      <a:cubicBezTo>
                        <a:pt x="1972691" y="724662"/>
                        <a:pt x="1984883" y="731647"/>
                        <a:pt x="1988185" y="743458"/>
                      </a:cubicBezTo>
                      <a:close/>
                      <a:moveTo>
                        <a:pt x="2008251" y="832104"/>
                      </a:moveTo>
                      <a:cubicBezTo>
                        <a:pt x="2010918" y="846963"/>
                        <a:pt x="2013204" y="861949"/>
                        <a:pt x="2015236" y="876935"/>
                      </a:cubicBezTo>
                      <a:cubicBezTo>
                        <a:pt x="2016887" y="889127"/>
                        <a:pt x="2008251" y="900303"/>
                        <a:pt x="1996186" y="901954"/>
                      </a:cubicBezTo>
                      <a:cubicBezTo>
                        <a:pt x="1984121" y="903605"/>
                        <a:pt x="1972818" y="894969"/>
                        <a:pt x="1971167" y="882904"/>
                      </a:cubicBezTo>
                      <a:cubicBezTo>
                        <a:pt x="1969262" y="868553"/>
                        <a:pt x="1966976" y="854202"/>
                        <a:pt x="1964436" y="839978"/>
                      </a:cubicBezTo>
                      <a:cubicBezTo>
                        <a:pt x="1962277" y="827913"/>
                        <a:pt x="1970278" y="816356"/>
                        <a:pt x="1982343" y="814197"/>
                      </a:cubicBezTo>
                      <a:cubicBezTo>
                        <a:pt x="1994408" y="812038"/>
                        <a:pt x="2005965" y="820039"/>
                        <a:pt x="2008124" y="832104"/>
                      </a:cubicBezTo>
                      <a:close/>
                      <a:moveTo>
                        <a:pt x="2020062" y="922147"/>
                      </a:moveTo>
                      <a:cubicBezTo>
                        <a:pt x="2021332" y="937133"/>
                        <a:pt x="2022348" y="952246"/>
                        <a:pt x="2022983" y="967359"/>
                      </a:cubicBezTo>
                      <a:cubicBezTo>
                        <a:pt x="2023491" y="979678"/>
                        <a:pt x="2013966" y="989965"/>
                        <a:pt x="2001774" y="990473"/>
                      </a:cubicBezTo>
                      <a:cubicBezTo>
                        <a:pt x="1989582" y="990981"/>
                        <a:pt x="1979168" y="981456"/>
                        <a:pt x="1978660" y="969264"/>
                      </a:cubicBezTo>
                      <a:cubicBezTo>
                        <a:pt x="1978025" y="954786"/>
                        <a:pt x="1977136" y="940308"/>
                        <a:pt x="1975866" y="926084"/>
                      </a:cubicBezTo>
                      <a:cubicBezTo>
                        <a:pt x="1974850" y="913892"/>
                        <a:pt x="1983867" y="903097"/>
                        <a:pt x="1996059" y="901954"/>
                      </a:cubicBezTo>
                      <a:cubicBezTo>
                        <a:pt x="2008251" y="900811"/>
                        <a:pt x="2019046" y="909955"/>
                        <a:pt x="2020189" y="922147"/>
                      </a:cubicBezTo>
                      <a:close/>
                      <a:moveTo>
                        <a:pt x="2024126" y="1013079"/>
                      </a:moveTo>
                      <a:cubicBezTo>
                        <a:pt x="2024126" y="1028446"/>
                        <a:pt x="2023745" y="1043559"/>
                        <a:pt x="2023110" y="1058799"/>
                      </a:cubicBezTo>
                      <a:cubicBezTo>
                        <a:pt x="2022602" y="1071118"/>
                        <a:pt x="2012188" y="1080516"/>
                        <a:pt x="1999869" y="1080008"/>
                      </a:cubicBezTo>
                      <a:cubicBezTo>
                        <a:pt x="1987550" y="1079500"/>
                        <a:pt x="1978152" y="1069086"/>
                        <a:pt x="1978660" y="1056767"/>
                      </a:cubicBezTo>
                      <a:cubicBezTo>
                        <a:pt x="1979295" y="1042289"/>
                        <a:pt x="1979676" y="1027684"/>
                        <a:pt x="1979676" y="1013079"/>
                      </a:cubicBezTo>
                      <a:cubicBezTo>
                        <a:pt x="1979676" y="1000760"/>
                        <a:pt x="1989709" y="990854"/>
                        <a:pt x="2001901" y="990854"/>
                      </a:cubicBezTo>
                      <a:cubicBezTo>
                        <a:pt x="2014093" y="990854"/>
                        <a:pt x="2024126" y="1000887"/>
                        <a:pt x="2024126" y="1013079"/>
                      </a:cubicBezTo>
                      <a:close/>
                      <a:moveTo>
                        <a:pt x="2019935" y="1103884"/>
                      </a:moveTo>
                      <a:cubicBezTo>
                        <a:pt x="2018538" y="1119124"/>
                        <a:pt x="2016887" y="1134110"/>
                        <a:pt x="2014855" y="1149096"/>
                      </a:cubicBezTo>
                      <a:cubicBezTo>
                        <a:pt x="2013204" y="1161288"/>
                        <a:pt x="2002028" y="1169797"/>
                        <a:pt x="1989836" y="1168146"/>
                      </a:cubicBezTo>
                      <a:cubicBezTo>
                        <a:pt x="1977644" y="1166495"/>
                        <a:pt x="1969135" y="1155319"/>
                        <a:pt x="1970786" y="1143127"/>
                      </a:cubicBezTo>
                      <a:cubicBezTo>
                        <a:pt x="1972691" y="1128776"/>
                        <a:pt x="1974342" y="1114425"/>
                        <a:pt x="1975612" y="1099820"/>
                      </a:cubicBezTo>
                      <a:cubicBezTo>
                        <a:pt x="1976755" y="1087628"/>
                        <a:pt x="1987550" y="1078611"/>
                        <a:pt x="1999742" y="1079627"/>
                      </a:cubicBezTo>
                      <a:cubicBezTo>
                        <a:pt x="2011934" y="1080643"/>
                        <a:pt x="2020951" y="1091565"/>
                        <a:pt x="2019935" y="1103757"/>
                      </a:cubicBezTo>
                      <a:close/>
                      <a:moveTo>
                        <a:pt x="2007743" y="1193800"/>
                      </a:moveTo>
                      <a:cubicBezTo>
                        <a:pt x="2005076" y="1208786"/>
                        <a:pt x="2002028" y="1223645"/>
                        <a:pt x="1998599" y="1238250"/>
                      </a:cubicBezTo>
                      <a:cubicBezTo>
                        <a:pt x="1995805" y="1250188"/>
                        <a:pt x="1983994" y="1257681"/>
                        <a:pt x="1971929" y="1255014"/>
                      </a:cubicBezTo>
                      <a:cubicBezTo>
                        <a:pt x="1959864" y="1252347"/>
                        <a:pt x="1952498" y="1240409"/>
                        <a:pt x="1955165" y="1228344"/>
                      </a:cubicBezTo>
                      <a:cubicBezTo>
                        <a:pt x="1958340" y="1214247"/>
                        <a:pt x="1961261" y="1200150"/>
                        <a:pt x="1963928" y="1185799"/>
                      </a:cubicBezTo>
                      <a:cubicBezTo>
                        <a:pt x="1966087" y="1173734"/>
                        <a:pt x="1977644" y="1165733"/>
                        <a:pt x="1989709" y="1167892"/>
                      </a:cubicBezTo>
                      <a:cubicBezTo>
                        <a:pt x="2001774" y="1170051"/>
                        <a:pt x="2009775" y="1181608"/>
                        <a:pt x="2007616" y="1193673"/>
                      </a:cubicBezTo>
                      <a:close/>
                      <a:moveTo>
                        <a:pt x="1987296" y="1282192"/>
                      </a:moveTo>
                      <a:cubicBezTo>
                        <a:pt x="1983232" y="1296797"/>
                        <a:pt x="1978914" y="1311275"/>
                        <a:pt x="1974215" y="1325626"/>
                      </a:cubicBezTo>
                      <a:cubicBezTo>
                        <a:pt x="1970405" y="1337310"/>
                        <a:pt x="1957832" y="1343660"/>
                        <a:pt x="1946148" y="1339850"/>
                      </a:cubicBezTo>
                      <a:cubicBezTo>
                        <a:pt x="1934464" y="1336040"/>
                        <a:pt x="1928114" y="1323467"/>
                        <a:pt x="1931924" y="1311783"/>
                      </a:cubicBezTo>
                      <a:cubicBezTo>
                        <a:pt x="1936369" y="1298067"/>
                        <a:pt x="1940560" y="1284224"/>
                        <a:pt x="1944497" y="1270254"/>
                      </a:cubicBezTo>
                      <a:cubicBezTo>
                        <a:pt x="1947799" y="1258443"/>
                        <a:pt x="1959991" y="1251458"/>
                        <a:pt x="1971802" y="1254760"/>
                      </a:cubicBezTo>
                      <a:cubicBezTo>
                        <a:pt x="1983613" y="1258062"/>
                        <a:pt x="1990598" y="1270254"/>
                        <a:pt x="1987296" y="1282065"/>
                      </a:cubicBezTo>
                      <a:close/>
                      <a:moveTo>
                        <a:pt x="1959102" y="1368425"/>
                      </a:moveTo>
                      <a:cubicBezTo>
                        <a:pt x="1953768" y="1382649"/>
                        <a:pt x="1948053" y="1396619"/>
                        <a:pt x="1942084" y="1410462"/>
                      </a:cubicBezTo>
                      <a:cubicBezTo>
                        <a:pt x="1937258" y="1421765"/>
                        <a:pt x="1924177" y="1426972"/>
                        <a:pt x="1912874" y="1422146"/>
                      </a:cubicBezTo>
                      <a:cubicBezTo>
                        <a:pt x="1901571" y="1417320"/>
                        <a:pt x="1896364" y="1404239"/>
                        <a:pt x="1901190" y="1392936"/>
                      </a:cubicBezTo>
                      <a:cubicBezTo>
                        <a:pt x="1906905" y="1379728"/>
                        <a:pt x="1912239" y="1366266"/>
                        <a:pt x="1917446" y="1352677"/>
                      </a:cubicBezTo>
                      <a:cubicBezTo>
                        <a:pt x="1921764" y="1341247"/>
                        <a:pt x="1934591" y="1335405"/>
                        <a:pt x="1946148" y="1339723"/>
                      </a:cubicBezTo>
                      <a:cubicBezTo>
                        <a:pt x="1957705" y="1344041"/>
                        <a:pt x="1963420" y="1356868"/>
                        <a:pt x="1959102" y="1368425"/>
                      </a:cubicBezTo>
                      <a:close/>
                      <a:moveTo>
                        <a:pt x="1923288" y="1451864"/>
                      </a:moveTo>
                      <a:cubicBezTo>
                        <a:pt x="1916684" y="1465453"/>
                        <a:pt x="1909826" y="1478915"/>
                        <a:pt x="1902587" y="1492250"/>
                      </a:cubicBezTo>
                      <a:cubicBezTo>
                        <a:pt x="1896745" y="1503045"/>
                        <a:pt x="1883283" y="1507109"/>
                        <a:pt x="1872488" y="1501267"/>
                      </a:cubicBezTo>
                      <a:cubicBezTo>
                        <a:pt x="1861693" y="1495425"/>
                        <a:pt x="1857629" y="1481963"/>
                        <a:pt x="1863471" y="1471168"/>
                      </a:cubicBezTo>
                      <a:cubicBezTo>
                        <a:pt x="1870329" y="1458468"/>
                        <a:pt x="1876933" y="1445641"/>
                        <a:pt x="1883283" y="1432560"/>
                      </a:cubicBezTo>
                      <a:cubicBezTo>
                        <a:pt x="1888617" y="1421511"/>
                        <a:pt x="1901952" y="1416939"/>
                        <a:pt x="1913001" y="1422273"/>
                      </a:cubicBezTo>
                      <a:cubicBezTo>
                        <a:pt x="1924050" y="1427607"/>
                        <a:pt x="1928622" y="1440942"/>
                        <a:pt x="1923288" y="1451991"/>
                      </a:cubicBezTo>
                      <a:close/>
                      <a:moveTo>
                        <a:pt x="1880108" y="1531874"/>
                      </a:moveTo>
                      <a:cubicBezTo>
                        <a:pt x="1872361" y="1544828"/>
                        <a:pt x="1864233" y="1557655"/>
                        <a:pt x="1855851" y="1570228"/>
                      </a:cubicBezTo>
                      <a:cubicBezTo>
                        <a:pt x="1849120" y="1580515"/>
                        <a:pt x="1835277" y="1583182"/>
                        <a:pt x="1824990" y="1576451"/>
                      </a:cubicBezTo>
                      <a:cubicBezTo>
                        <a:pt x="1814703" y="1569720"/>
                        <a:pt x="1812036" y="1555877"/>
                        <a:pt x="1818767" y="1545590"/>
                      </a:cubicBezTo>
                      <a:cubicBezTo>
                        <a:pt x="1826768" y="1533525"/>
                        <a:pt x="1834515" y="1521333"/>
                        <a:pt x="1842008" y="1508887"/>
                      </a:cubicBezTo>
                      <a:cubicBezTo>
                        <a:pt x="1848358" y="1498346"/>
                        <a:pt x="1861947" y="1494917"/>
                        <a:pt x="1872488" y="1501267"/>
                      </a:cubicBezTo>
                      <a:cubicBezTo>
                        <a:pt x="1883029" y="1507617"/>
                        <a:pt x="1886458" y="1521206"/>
                        <a:pt x="1880108" y="1531747"/>
                      </a:cubicBezTo>
                      <a:close/>
                      <a:moveTo>
                        <a:pt x="1829816" y="1607439"/>
                      </a:moveTo>
                      <a:cubicBezTo>
                        <a:pt x="1820926" y="1619631"/>
                        <a:pt x="1811655" y="1631696"/>
                        <a:pt x="1802257" y="1643507"/>
                      </a:cubicBezTo>
                      <a:cubicBezTo>
                        <a:pt x="1794637" y="1653032"/>
                        <a:pt x="1780540" y="1654683"/>
                        <a:pt x="1771015" y="1646936"/>
                      </a:cubicBezTo>
                      <a:cubicBezTo>
                        <a:pt x="1761490" y="1639189"/>
                        <a:pt x="1759839" y="1625219"/>
                        <a:pt x="1767586" y="1615694"/>
                      </a:cubicBezTo>
                      <a:cubicBezTo>
                        <a:pt x="1776603" y="1604391"/>
                        <a:pt x="1785493" y="1592834"/>
                        <a:pt x="1794002" y="1581150"/>
                      </a:cubicBezTo>
                      <a:cubicBezTo>
                        <a:pt x="1801241" y="1571244"/>
                        <a:pt x="1815084" y="1569085"/>
                        <a:pt x="1825117" y="1576324"/>
                      </a:cubicBezTo>
                      <a:cubicBezTo>
                        <a:pt x="1835150" y="1583563"/>
                        <a:pt x="1837182" y="1597406"/>
                        <a:pt x="1829943" y="1607439"/>
                      </a:cubicBezTo>
                      <a:close/>
                      <a:moveTo>
                        <a:pt x="1773174" y="1678305"/>
                      </a:moveTo>
                      <a:cubicBezTo>
                        <a:pt x="1763141" y="1689735"/>
                        <a:pt x="1752981" y="1700911"/>
                        <a:pt x="1742440" y="1711833"/>
                      </a:cubicBezTo>
                      <a:cubicBezTo>
                        <a:pt x="1733931" y="1720723"/>
                        <a:pt x="1719834" y="1720977"/>
                        <a:pt x="1711071" y="1712468"/>
                      </a:cubicBezTo>
                      <a:cubicBezTo>
                        <a:pt x="1702308" y="1703959"/>
                        <a:pt x="1701927" y="1689862"/>
                        <a:pt x="1710436" y="1681099"/>
                      </a:cubicBezTo>
                      <a:cubicBezTo>
                        <a:pt x="1720469" y="1670685"/>
                        <a:pt x="1730248" y="1660017"/>
                        <a:pt x="1739773" y="1649095"/>
                      </a:cubicBezTo>
                      <a:cubicBezTo>
                        <a:pt x="1747901" y="1639824"/>
                        <a:pt x="1761871" y="1638935"/>
                        <a:pt x="1771142" y="1647063"/>
                      </a:cubicBezTo>
                      <a:cubicBezTo>
                        <a:pt x="1780413" y="1655191"/>
                        <a:pt x="1781302" y="1669161"/>
                        <a:pt x="1773174" y="1678432"/>
                      </a:cubicBezTo>
                      <a:close/>
                      <a:moveTo>
                        <a:pt x="1710309" y="1743964"/>
                      </a:moveTo>
                      <a:cubicBezTo>
                        <a:pt x="1699387" y="1754378"/>
                        <a:pt x="1688211" y="1764665"/>
                        <a:pt x="1676781" y="1774571"/>
                      </a:cubicBezTo>
                      <a:cubicBezTo>
                        <a:pt x="1667510" y="1782572"/>
                        <a:pt x="1653540" y="1781683"/>
                        <a:pt x="1645412" y="1772412"/>
                      </a:cubicBezTo>
                      <a:cubicBezTo>
                        <a:pt x="1637284" y="1763141"/>
                        <a:pt x="1638300" y="1749171"/>
                        <a:pt x="1647571" y="1741043"/>
                      </a:cubicBezTo>
                      <a:cubicBezTo>
                        <a:pt x="1658493" y="1731518"/>
                        <a:pt x="1669161" y="1721739"/>
                        <a:pt x="1679702" y="1711833"/>
                      </a:cubicBezTo>
                      <a:cubicBezTo>
                        <a:pt x="1688592" y="1703324"/>
                        <a:pt x="1702689" y="1703705"/>
                        <a:pt x="1711071" y="1712595"/>
                      </a:cubicBezTo>
                      <a:cubicBezTo>
                        <a:pt x="1719453" y="1721485"/>
                        <a:pt x="1719199" y="1735582"/>
                        <a:pt x="1710309" y="1743964"/>
                      </a:cubicBezTo>
                      <a:close/>
                      <a:moveTo>
                        <a:pt x="1641856" y="1803654"/>
                      </a:moveTo>
                      <a:cubicBezTo>
                        <a:pt x="1630045" y="1813052"/>
                        <a:pt x="1617980" y="1822196"/>
                        <a:pt x="1605661" y="1831086"/>
                      </a:cubicBezTo>
                      <a:cubicBezTo>
                        <a:pt x="1595755" y="1838325"/>
                        <a:pt x="1581785" y="1836039"/>
                        <a:pt x="1574673" y="1826133"/>
                      </a:cubicBezTo>
                      <a:cubicBezTo>
                        <a:pt x="1567561" y="1816227"/>
                        <a:pt x="1569720" y="1802257"/>
                        <a:pt x="1579626" y="1795145"/>
                      </a:cubicBezTo>
                      <a:cubicBezTo>
                        <a:pt x="1591310" y="1786636"/>
                        <a:pt x="1602867" y="1777873"/>
                        <a:pt x="1614170" y="1768856"/>
                      </a:cubicBezTo>
                      <a:cubicBezTo>
                        <a:pt x="1623822" y="1761236"/>
                        <a:pt x="1637792" y="1762760"/>
                        <a:pt x="1645412" y="1772412"/>
                      </a:cubicBezTo>
                      <a:cubicBezTo>
                        <a:pt x="1653032" y="1782064"/>
                        <a:pt x="1651508" y="1796034"/>
                        <a:pt x="1641856" y="1803654"/>
                      </a:cubicBezTo>
                      <a:close/>
                      <a:moveTo>
                        <a:pt x="1568323" y="1856994"/>
                      </a:moveTo>
                      <a:cubicBezTo>
                        <a:pt x="1555750" y="1865376"/>
                        <a:pt x="1542923" y="1873377"/>
                        <a:pt x="1529842" y="1881124"/>
                      </a:cubicBezTo>
                      <a:cubicBezTo>
                        <a:pt x="1519301" y="1887474"/>
                        <a:pt x="1505712" y="1883918"/>
                        <a:pt x="1499362" y="1873377"/>
                      </a:cubicBezTo>
                      <a:cubicBezTo>
                        <a:pt x="1493012" y="1862836"/>
                        <a:pt x="1496568" y="1849247"/>
                        <a:pt x="1507109" y="1842897"/>
                      </a:cubicBezTo>
                      <a:cubicBezTo>
                        <a:pt x="1519555" y="1835531"/>
                        <a:pt x="1531874" y="1827784"/>
                        <a:pt x="1543939" y="1819783"/>
                      </a:cubicBezTo>
                      <a:cubicBezTo>
                        <a:pt x="1554226" y="1813052"/>
                        <a:pt x="1567942" y="1815846"/>
                        <a:pt x="1574673" y="1826133"/>
                      </a:cubicBezTo>
                      <a:cubicBezTo>
                        <a:pt x="1581404" y="1836420"/>
                        <a:pt x="1578610" y="1850136"/>
                        <a:pt x="1568323" y="1856867"/>
                      </a:cubicBezTo>
                      <a:close/>
                      <a:moveTo>
                        <a:pt x="1490218" y="1903349"/>
                      </a:moveTo>
                      <a:cubicBezTo>
                        <a:pt x="1476883" y="1910461"/>
                        <a:pt x="1463421" y="1917319"/>
                        <a:pt x="1449705" y="1923923"/>
                      </a:cubicBezTo>
                      <a:cubicBezTo>
                        <a:pt x="1438656" y="1929257"/>
                        <a:pt x="1425321" y="1924558"/>
                        <a:pt x="1419987" y="1913509"/>
                      </a:cubicBezTo>
                      <a:cubicBezTo>
                        <a:pt x="1414653" y="1902460"/>
                        <a:pt x="1419352" y="1889125"/>
                        <a:pt x="1430401" y="1883791"/>
                      </a:cubicBezTo>
                      <a:cubicBezTo>
                        <a:pt x="1443482" y="1877568"/>
                        <a:pt x="1456309" y="1870964"/>
                        <a:pt x="1469009" y="1864106"/>
                      </a:cubicBezTo>
                      <a:cubicBezTo>
                        <a:pt x="1479804" y="1858264"/>
                        <a:pt x="1493266" y="1862328"/>
                        <a:pt x="1499108" y="1873123"/>
                      </a:cubicBezTo>
                      <a:cubicBezTo>
                        <a:pt x="1504950" y="1883918"/>
                        <a:pt x="1500886" y="1897380"/>
                        <a:pt x="1490091" y="1903222"/>
                      </a:cubicBezTo>
                      <a:close/>
                      <a:moveTo>
                        <a:pt x="1408176" y="1942592"/>
                      </a:moveTo>
                      <a:cubicBezTo>
                        <a:pt x="1394333" y="1948561"/>
                        <a:pt x="1380236" y="1954149"/>
                        <a:pt x="1366012" y="1959356"/>
                      </a:cubicBezTo>
                      <a:cubicBezTo>
                        <a:pt x="1354455" y="1963674"/>
                        <a:pt x="1341755" y="1957832"/>
                        <a:pt x="1337437" y="1946275"/>
                      </a:cubicBezTo>
                      <a:cubicBezTo>
                        <a:pt x="1333119" y="1934718"/>
                        <a:pt x="1338961" y="1922018"/>
                        <a:pt x="1350518" y="1917700"/>
                      </a:cubicBezTo>
                      <a:cubicBezTo>
                        <a:pt x="1364107" y="1912620"/>
                        <a:pt x="1377442" y="1907286"/>
                        <a:pt x="1390777" y="1901571"/>
                      </a:cubicBezTo>
                      <a:cubicBezTo>
                        <a:pt x="1402080" y="1896745"/>
                        <a:pt x="1415161" y="1902079"/>
                        <a:pt x="1419987" y="1913255"/>
                      </a:cubicBezTo>
                      <a:cubicBezTo>
                        <a:pt x="1424813" y="1924431"/>
                        <a:pt x="1419479" y="1937639"/>
                        <a:pt x="1408303" y="1942465"/>
                      </a:cubicBezTo>
                      <a:close/>
                      <a:moveTo>
                        <a:pt x="1323213" y="1974215"/>
                      </a:moveTo>
                      <a:cubicBezTo>
                        <a:pt x="1308862" y="1978787"/>
                        <a:pt x="1294384" y="1983105"/>
                        <a:pt x="1279779" y="1987169"/>
                      </a:cubicBezTo>
                      <a:cubicBezTo>
                        <a:pt x="1267968" y="1990344"/>
                        <a:pt x="1255776" y="1983486"/>
                        <a:pt x="1252474" y="1971548"/>
                      </a:cubicBezTo>
                      <a:cubicBezTo>
                        <a:pt x="1249172" y="1959610"/>
                        <a:pt x="1256157" y="1947545"/>
                        <a:pt x="1268095" y="1944243"/>
                      </a:cubicBezTo>
                      <a:cubicBezTo>
                        <a:pt x="1282065" y="1940433"/>
                        <a:pt x="1295908" y="1936242"/>
                        <a:pt x="1309624" y="1931924"/>
                      </a:cubicBezTo>
                      <a:cubicBezTo>
                        <a:pt x="1321308" y="1928114"/>
                        <a:pt x="1333881" y="1934591"/>
                        <a:pt x="1337564" y="1946275"/>
                      </a:cubicBezTo>
                      <a:cubicBezTo>
                        <a:pt x="1341247" y="1957959"/>
                        <a:pt x="1334897" y="1970532"/>
                        <a:pt x="1323213" y="1974215"/>
                      </a:cubicBezTo>
                      <a:close/>
                      <a:moveTo>
                        <a:pt x="1235583" y="1998218"/>
                      </a:moveTo>
                      <a:cubicBezTo>
                        <a:pt x="1220851" y="2001520"/>
                        <a:pt x="1205992" y="2004568"/>
                        <a:pt x="1191133" y="2007235"/>
                      </a:cubicBezTo>
                      <a:cubicBezTo>
                        <a:pt x="1179068" y="2009394"/>
                        <a:pt x="1167511" y="2001393"/>
                        <a:pt x="1165352" y="1989201"/>
                      </a:cubicBezTo>
                      <a:cubicBezTo>
                        <a:pt x="1163193" y="1977009"/>
                        <a:pt x="1171194" y="1965579"/>
                        <a:pt x="1183386" y="1963420"/>
                      </a:cubicBezTo>
                      <a:cubicBezTo>
                        <a:pt x="1197737" y="1960880"/>
                        <a:pt x="1211834" y="1957959"/>
                        <a:pt x="1225931" y="1954784"/>
                      </a:cubicBezTo>
                      <a:cubicBezTo>
                        <a:pt x="1237869" y="1952117"/>
                        <a:pt x="1249807" y="1959610"/>
                        <a:pt x="1252474" y="1971548"/>
                      </a:cubicBezTo>
                      <a:cubicBezTo>
                        <a:pt x="1255141" y="1983486"/>
                        <a:pt x="1247648" y="1995424"/>
                        <a:pt x="1235710" y="1998091"/>
                      </a:cubicBezTo>
                      <a:close/>
                      <a:moveTo>
                        <a:pt x="1146302" y="2014093"/>
                      </a:moveTo>
                      <a:cubicBezTo>
                        <a:pt x="1131316" y="2016125"/>
                        <a:pt x="1116203" y="2017776"/>
                        <a:pt x="1101090" y="2019046"/>
                      </a:cubicBezTo>
                      <a:cubicBezTo>
                        <a:pt x="1088898" y="2020062"/>
                        <a:pt x="1078103" y="2011045"/>
                        <a:pt x="1076960" y="1998853"/>
                      </a:cubicBezTo>
                      <a:cubicBezTo>
                        <a:pt x="1075817" y="1986661"/>
                        <a:pt x="1084961" y="1975866"/>
                        <a:pt x="1097153" y="1974723"/>
                      </a:cubicBezTo>
                      <a:cubicBezTo>
                        <a:pt x="1111631" y="1973453"/>
                        <a:pt x="1126109" y="1971929"/>
                        <a:pt x="1140333" y="1970024"/>
                      </a:cubicBezTo>
                      <a:cubicBezTo>
                        <a:pt x="1152525" y="1968373"/>
                        <a:pt x="1163701" y="1977009"/>
                        <a:pt x="1165225" y="1989201"/>
                      </a:cubicBezTo>
                      <a:cubicBezTo>
                        <a:pt x="1166749" y="2001393"/>
                        <a:pt x="1158240" y="2012569"/>
                        <a:pt x="1146048" y="2014093"/>
                      </a:cubicBezTo>
                      <a:close/>
                      <a:moveTo>
                        <a:pt x="1055624" y="2021967"/>
                      </a:moveTo>
                      <a:cubicBezTo>
                        <a:pt x="1041146" y="2022602"/>
                        <a:pt x="1026541" y="2022856"/>
                        <a:pt x="1011936" y="2022856"/>
                      </a:cubicBezTo>
                      <a:lnTo>
                        <a:pt x="1011936" y="2000631"/>
                      </a:lnTo>
                      <a:lnTo>
                        <a:pt x="1011936" y="2022856"/>
                      </a:lnTo>
                      <a:cubicBezTo>
                        <a:pt x="1011301" y="2022856"/>
                        <a:pt x="1010539" y="2022856"/>
                        <a:pt x="1009904" y="2022856"/>
                      </a:cubicBezTo>
                      <a:cubicBezTo>
                        <a:pt x="997585" y="2022856"/>
                        <a:pt x="987679" y="2012823"/>
                        <a:pt x="987679" y="2000631"/>
                      </a:cubicBezTo>
                      <a:cubicBezTo>
                        <a:pt x="987679" y="1988439"/>
                        <a:pt x="997712" y="1978406"/>
                        <a:pt x="1009904" y="1978406"/>
                      </a:cubicBezTo>
                      <a:cubicBezTo>
                        <a:pt x="1010539" y="1978406"/>
                        <a:pt x="1011174" y="1978406"/>
                        <a:pt x="1011809" y="1978406"/>
                      </a:cubicBezTo>
                      <a:cubicBezTo>
                        <a:pt x="1025779" y="1978406"/>
                        <a:pt x="1039749" y="1978152"/>
                        <a:pt x="1053592" y="1977517"/>
                      </a:cubicBezTo>
                      <a:cubicBezTo>
                        <a:pt x="1065911" y="1977009"/>
                        <a:pt x="1076198" y="1986534"/>
                        <a:pt x="1076706" y="1998726"/>
                      </a:cubicBezTo>
                      <a:cubicBezTo>
                        <a:pt x="1077214" y="2010918"/>
                        <a:pt x="1067689" y="2021332"/>
                        <a:pt x="1055497" y="2021840"/>
                      </a:cubicBezTo>
                      <a:close/>
                      <a:moveTo>
                        <a:pt x="964057" y="2021713"/>
                      </a:moveTo>
                      <a:cubicBezTo>
                        <a:pt x="948944" y="2020951"/>
                        <a:pt x="933831" y="2019935"/>
                        <a:pt x="918845" y="2018665"/>
                      </a:cubicBezTo>
                      <a:cubicBezTo>
                        <a:pt x="906653" y="2017522"/>
                        <a:pt x="897636" y="2006727"/>
                        <a:pt x="898779" y="1994535"/>
                      </a:cubicBezTo>
                      <a:cubicBezTo>
                        <a:pt x="899922" y="1982343"/>
                        <a:pt x="910717" y="1973326"/>
                        <a:pt x="922909" y="1974469"/>
                      </a:cubicBezTo>
                      <a:cubicBezTo>
                        <a:pt x="937260" y="1975739"/>
                        <a:pt x="951611" y="1976755"/>
                        <a:pt x="966089" y="1977390"/>
                      </a:cubicBezTo>
                      <a:cubicBezTo>
                        <a:pt x="978408" y="1977898"/>
                        <a:pt x="987806" y="1988312"/>
                        <a:pt x="987298" y="2000631"/>
                      </a:cubicBezTo>
                      <a:cubicBezTo>
                        <a:pt x="986790" y="2012950"/>
                        <a:pt x="976376" y="2022348"/>
                        <a:pt x="964057" y="2021840"/>
                      </a:cubicBezTo>
                      <a:close/>
                      <a:moveTo>
                        <a:pt x="873633" y="2013585"/>
                      </a:moveTo>
                      <a:cubicBezTo>
                        <a:pt x="858647" y="2011553"/>
                        <a:pt x="843661" y="2009140"/>
                        <a:pt x="828802" y="2006473"/>
                      </a:cubicBezTo>
                      <a:cubicBezTo>
                        <a:pt x="816737" y="2004314"/>
                        <a:pt x="808736" y="1992630"/>
                        <a:pt x="810895" y="1980565"/>
                      </a:cubicBezTo>
                      <a:cubicBezTo>
                        <a:pt x="813054" y="1968500"/>
                        <a:pt x="824738" y="1960499"/>
                        <a:pt x="836803" y="1962658"/>
                      </a:cubicBezTo>
                      <a:cubicBezTo>
                        <a:pt x="851027" y="1965198"/>
                        <a:pt x="865251" y="1967484"/>
                        <a:pt x="879602" y="1969516"/>
                      </a:cubicBezTo>
                      <a:cubicBezTo>
                        <a:pt x="891794" y="1971167"/>
                        <a:pt x="900303" y="1982343"/>
                        <a:pt x="898652" y="1994535"/>
                      </a:cubicBezTo>
                      <a:cubicBezTo>
                        <a:pt x="897001" y="2006727"/>
                        <a:pt x="885825" y="2015236"/>
                        <a:pt x="873633" y="2013585"/>
                      </a:cubicBezTo>
                      <a:close/>
                      <a:moveTo>
                        <a:pt x="784352" y="1997329"/>
                      </a:moveTo>
                      <a:cubicBezTo>
                        <a:pt x="769493" y="1993900"/>
                        <a:pt x="754888" y="1990217"/>
                        <a:pt x="740283" y="1986153"/>
                      </a:cubicBezTo>
                      <a:cubicBezTo>
                        <a:pt x="728472" y="1982851"/>
                        <a:pt x="721487" y="1970659"/>
                        <a:pt x="724789" y="1958848"/>
                      </a:cubicBezTo>
                      <a:cubicBezTo>
                        <a:pt x="728091" y="1947037"/>
                        <a:pt x="740283" y="1940052"/>
                        <a:pt x="752094" y="1943354"/>
                      </a:cubicBezTo>
                      <a:cubicBezTo>
                        <a:pt x="766064" y="1947164"/>
                        <a:pt x="780034" y="1950720"/>
                        <a:pt x="794258" y="1954022"/>
                      </a:cubicBezTo>
                      <a:cubicBezTo>
                        <a:pt x="806196" y="1956816"/>
                        <a:pt x="813689" y="1968754"/>
                        <a:pt x="810895" y="1980692"/>
                      </a:cubicBezTo>
                      <a:cubicBezTo>
                        <a:pt x="808101" y="1992630"/>
                        <a:pt x="796163" y="2000123"/>
                        <a:pt x="784225" y="1997329"/>
                      </a:cubicBezTo>
                      <a:close/>
                      <a:moveTo>
                        <a:pt x="696722" y="1973072"/>
                      </a:moveTo>
                      <a:cubicBezTo>
                        <a:pt x="682244" y="1968373"/>
                        <a:pt x="668020" y="1963293"/>
                        <a:pt x="653796" y="1957959"/>
                      </a:cubicBezTo>
                      <a:cubicBezTo>
                        <a:pt x="642366" y="1953641"/>
                        <a:pt x="636524" y="1940814"/>
                        <a:pt x="640842" y="1929257"/>
                      </a:cubicBezTo>
                      <a:cubicBezTo>
                        <a:pt x="645160" y="1917700"/>
                        <a:pt x="657987" y="1911985"/>
                        <a:pt x="669544" y="1916303"/>
                      </a:cubicBezTo>
                      <a:cubicBezTo>
                        <a:pt x="683133" y="1921383"/>
                        <a:pt x="696722" y="1926209"/>
                        <a:pt x="710565" y="1930781"/>
                      </a:cubicBezTo>
                      <a:cubicBezTo>
                        <a:pt x="722249" y="1934591"/>
                        <a:pt x="728599" y="1947164"/>
                        <a:pt x="724789" y="1958848"/>
                      </a:cubicBezTo>
                      <a:cubicBezTo>
                        <a:pt x="720979" y="1970532"/>
                        <a:pt x="708406" y="1976882"/>
                        <a:pt x="696722" y="1973072"/>
                      </a:cubicBezTo>
                      <a:close/>
                      <a:moveTo>
                        <a:pt x="611759" y="1940941"/>
                      </a:moveTo>
                      <a:cubicBezTo>
                        <a:pt x="597789" y="1934972"/>
                        <a:pt x="583946" y="1928622"/>
                        <a:pt x="570357" y="1922018"/>
                      </a:cubicBezTo>
                      <a:cubicBezTo>
                        <a:pt x="559308" y="1916684"/>
                        <a:pt x="554736" y="1903349"/>
                        <a:pt x="560070" y="1892300"/>
                      </a:cubicBezTo>
                      <a:cubicBezTo>
                        <a:pt x="565404" y="1881251"/>
                        <a:pt x="578739" y="1876679"/>
                        <a:pt x="589788" y="1882013"/>
                      </a:cubicBezTo>
                      <a:cubicBezTo>
                        <a:pt x="602869" y="1888363"/>
                        <a:pt x="615950" y="1894332"/>
                        <a:pt x="629285" y="1900174"/>
                      </a:cubicBezTo>
                      <a:cubicBezTo>
                        <a:pt x="640588" y="1905000"/>
                        <a:pt x="645795" y="1918081"/>
                        <a:pt x="640969" y="1929384"/>
                      </a:cubicBezTo>
                      <a:cubicBezTo>
                        <a:pt x="636143" y="1940687"/>
                        <a:pt x="623062" y="1945894"/>
                        <a:pt x="611759" y="1941068"/>
                      </a:cubicBezTo>
                      <a:close/>
                      <a:moveTo>
                        <a:pt x="529971" y="1901444"/>
                      </a:moveTo>
                      <a:cubicBezTo>
                        <a:pt x="516636" y="1894205"/>
                        <a:pt x="503428" y="1886712"/>
                        <a:pt x="490474" y="1878838"/>
                      </a:cubicBezTo>
                      <a:cubicBezTo>
                        <a:pt x="479933" y="1872488"/>
                        <a:pt x="476504" y="1858899"/>
                        <a:pt x="482854" y="1848358"/>
                      </a:cubicBezTo>
                      <a:cubicBezTo>
                        <a:pt x="489204" y="1837817"/>
                        <a:pt x="502793" y="1834388"/>
                        <a:pt x="513334" y="1840738"/>
                      </a:cubicBezTo>
                      <a:cubicBezTo>
                        <a:pt x="525780" y="1848231"/>
                        <a:pt x="538353" y="1855343"/>
                        <a:pt x="551053" y="1862328"/>
                      </a:cubicBezTo>
                      <a:cubicBezTo>
                        <a:pt x="561848" y="1868170"/>
                        <a:pt x="565912" y="1881632"/>
                        <a:pt x="559943" y="1892427"/>
                      </a:cubicBezTo>
                      <a:cubicBezTo>
                        <a:pt x="553974" y="1903222"/>
                        <a:pt x="540639" y="1907286"/>
                        <a:pt x="529844" y="1901317"/>
                      </a:cubicBezTo>
                      <a:close/>
                      <a:moveTo>
                        <a:pt x="451993" y="1854454"/>
                      </a:moveTo>
                      <a:cubicBezTo>
                        <a:pt x="439420" y="1846072"/>
                        <a:pt x="426974" y="1837436"/>
                        <a:pt x="414655" y="1828419"/>
                      </a:cubicBezTo>
                      <a:cubicBezTo>
                        <a:pt x="404749" y="1821180"/>
                        <a:pt x="402590" y="1807210"/>
                        <a:pt x="409829" y="1797304"/>
                      </a:cubicBezTo>
                      <a:cubicBezTo>
                        <a:pt x="417068" y="1787398"/>
                        <a:pt x="431038" y="1785239"/>
                        <a:pt x="440944" y="1792478"/>
                      </a:cubicBezTo>
                      <a:cubicBezTo>
                        <a:pt x="452628" y="1800987"/>
                        <a:pt x="464566" y="1809369"/>
                        <a:pt x="476631" y="1817370"/>
                      </a:cubicBezTo>
                      <a:cubicBezTo>
                        <a:pt x="486791" y="1824101"/>
                        <a:pt x="489585" y="1837944"/>
                        <a:pt x="482854" y="1848231"/>
                      </a:cubicBezTo>
                      <a:cubicBezTo>
                        <a:pt x="476123" y="1858518"/>
                        <a:pt x="462280" y="1861185"/>
                        <a:pt x="451993" y="1854454"/>
                      </a:cubicBezTo>
                      <a:close/>
                      <a:moveTo>
                        <a:pt x="378587" y="1800860"/>
                      </a:moveTo>
                      <a:cubicBezTo>
                        <a:pt x="366776" y="1791335"/>
                        <a:pt x="355219" y="1781683"/>
                        <a:pt x="343789" y="1771650"/>
                      </a:cubicBezTo>
                      <a:cubicBezTo>
                        <a:pt x="334518" y="1763522"/>
                        <a:pt x="333629" y="1749552"/>
                        <a:pt x="341757" y="1740281"/>
                      </a:cubicBezTo>
                      <a:cubicBezTo>
                        <a:pt x="349885" y="1731010"/>
                        <a:pt x="363855" y="1730121"/>
                        <a:pt x="373126" y="1738249"/>
                      </a:cubicBezTo>
                      <a:cubicBezTo>
                        <a:pt x="384048" y="1747774"/>
                        <a:pt x="395097" y="1757172"/>
                        <a:pt x="406400" y="1766189"/>
                      </a:cubicBezTo>
                      <a:cubicBezTo>
                        <a:pt x="415925" y="1773809"/>
                        <a:pt x="417449" y="1787906"/>
                        <a:pt x="409829" y="1797431"/>
                      </a:cubicBezTo>
                      <a:cubicBezTo>
                        <a:pt x="402209" y="1806956"/>
                        <a:pt x="388112" y="1808480"/>
                        <a:pt x="378587" y="1800860"/>
                      </a:cubicBezTo>
                      <a:close/>
                      <a:moveTo>
                        <a:pt x="310388" y="1740916"/>
                      </a:moveTo>
                      <a:cubicBezTo>
                        <a:pt x="299466" y="1730375"/>
                        <a:pt x="288798" y="1719707"/>
                        <a:pt x="278384" y="1708785"/>
                      </a:cubicBezTo>
                      <a:cubicBezTo>
                        <a:pt x="269875" y="1699895"/>
                        <a:pt x="270256" y="1685798"/>
                        <a:pt x="279146" y="1677416"/>
                      </a:cubicBezTo>
                      <a:cubicBezTo>
                        <a:pt x="288036" y="1669034"/>
                        <a:pt x="302133" y="1669288"/>
                        <a:pt x="310515" y="1678178"/>
                      </a:cubicBezTo>
                      <a:cubicBezTo>
                        <a:pt x="320548" y="1688719"/>
                        <a:pt x="330708" y="1698879"/>
                        <a:pt x="341122" y="1708912"/>
                      </a:cubicBezTo>
                      <a:cubicBezTo>
                        <a:pt x="350012" y="1717421"/>
                        <a:pt x="350266" y="1731518"/>
                        <a:pt x="341757" y="1740281"/>
                      </a:cubicBezTo>
                      <a:cubicBezTo>
                        <a:pt x="333248" y="1749044"/>
                        <a:pt x="319151" y="1749425"/>
                        <a:pt x="310388" y="1740916"/>
                      </a:cubicBezTo>
                      <a:close/>
                      <a:moveTo>
                        <a:pt x="247777" y="1675130"/>
                      </a:moveTo>
                      <a:cubicBezTo>
                        <a:pt x="237871" y="1663700"/>
                        <a:pt x="228092" y="1652016"/>
                        <a:pt x="218694" y="1640205"/>
                      </a:cubicBezTo>
                      <a:cubicBezTo>
                        <a:pt x="211074" y="1630553"/>
                        <a:pt x="212598" y="1616583"/>
                        <a:pt x="222250" y="1608963"/>
                      </a:cubicBezTo>
                      <a:cubicBezTo>
                        <a:pt x="231902" y="1601343"/>
                        <a:pt x="245872" y="1602867"/>
                        <a:pt x="253492" y="1612519"/>
                      </a:cubicBezTo>
                      <a:cubicBezTo>
                        <a:pt x="262509" y="1623822"/>
                        <a:pt x="271780" y="1634998"/>
                        <a:pt x="281305" y="1645920"/>
                      </a:cubicBezTo>
                      <a:cubicBezTo>
                        <a:pt x="289306" y="1655191"/>
                        <a:pt x="288417" y="1669161"/>
                        <a:pt x="279146" y="1677289"/>
                      </a:cubicBezTo>
                      <a:cubicBezTo>
                        <a:pt x="269875" y="1685417"/>
                        <a:pt x="255905" y="1684401"/>
                        <a:pt x="247777" y="1675130"/>
                      </a:cubicBezTo>
                      <a:close/>
                      <a:moveTo>
                        <a:pt x="191262" y="1604010"/>
                      </a:moveTo>
                      <a:cubicBezTo>
                        <a:pt x="182372" y="1591691"/>
                        <a:pt x="173736" y="1579245"/>
                        <a:pt x="165481" y="1566672"/>
                      </a:cubicBezTo>
                      <a:cubicBezTo>
                        <a:pt x="158750" y="1556385"/>
                        <a:pt x="161544" y="1542669"/>
                        <a:pt x="171831" y="1535938"/>
                      </a:cubicBezTo>
                      <a:cubicBezTo>
                        <a:pt x="182118" y="1529207"/>
                        <a:pt x="195834" y="1532001"/>
                        <a:pt x="202565" y="1542288"/>
                      </a:cubicBezTo>
                      <a:cubicBezTo>
                        <a:pt x="210566" y="1554353"/>
                        <a:pt x="218821" y="1566291"/>
                        <a:pt x="227203" y="1578102"/>
                      </a:cubicBezTo>
                      <a:cubicBezTo>
                        <a:pt x="234442" y="1588008"/>
                        <a:pt x="232156" y="1601978"/>
                        <a:pt x="222250" y="1609090"/>
                      </a:cubicBezTo>
                      <a:cubicBezTo>
                        <a:pt x="212344" y="1616202"/>
                        <a:pt x="198374" y="1614043"/>
                        <a:pt x="191262" y="1604137"/>
                      </a:cubicBezTo>
                      <a:close/>
                      <a:moveTo>
                        <a:pt x="141351" y="1528191"/>
                      </a:moveTo>
                      <a:cubicBezTo>
                        <a:pt x="133604" y="1515237"/>
                        <a:pt x="126111" y="1502029"/>
                        <a:pt x="118999" y="1488567"/>
                      </a:cubicBezTo>
                      <a:cubicBezTo>
                        <a:pt x="113157" y="1477772"/>
                        <a:pt x="117221" y="1464310"/>
                        <a:pt x="128143" y="1458468"/>
                      </a:cubicBezTo>
                      <a:cubicBezTo>
                        <a:pt x="139065" y="1452626"/>
                        <a:pt x="152400" y="1456690"/>
                        <a:pt x="158242" y="1467612"/>
                      </a:cubicBezTo>
                      <a:cubicBezTo>
                        <a:pt x="165100" y="1480439"/>
                        <a:pt x="172212" y="1493012"/>
                        <a:pt x="179705" y="1505458"/>
                      </a:cubicBezTo>
                      <a:cubicBezTo>
                        <a:pt x="185928" y="1515999"/>
                        <a:pt x="182499" y="1529588"/>
                        <a:pt x="171958" y="1535938"/>
                      </a:cubicBezTo>
                      <a:cubicBezTo>
                        <a:pt x="161417" y="1542288"/>
                        <a:pt x="147828" y="1538732"/>
                        <a:pt x="141478" y="1528191"/>
                      </a:cubicBezTo>
                      <a:close/>
                      <a:moveTo>
                        <a:pt x="98552" y="1448181"/>
                      </a:moveTo>
                      <a:cubicBezTo>
                        <a:pt x="91948" y="1434465"/>
                        <a:pt x="85725" y="1420749"/>
                        <a:pt x="79756" y="1406652"/>
                      </a:cubicBezTo>
                      <a:cubicBezTo>
                        <a:pt x="74930" y="1395349"/>
                        <a:pt x="80264" y="1382268"/>
                        <a:pt x="91567" y="1377442"/>
                      </a:cubicBezTo>
                      <a:cubicBezTo>
                        <a:pt x="102870" y="1372616"/>
                        <a:pt x="115951" y="1377950"/>
                        <a:pt x="120777" y="1389253"/>
                      </a:cubicBezTo>
                      <a:cubicBezTo>
                        <a:pt x="126492" y="1402588"/>
                        <a:pt x="132461" y="1415796"/>
                        <a:pt x="138684" y="1428877"/>
                      </a:cubicBezTo>
                      <a:cubicBezTo>
                        <a:pt x="144018" y="1439926"/>
                        <a:pt x="139319" y="1453261"/>
                        <a:pt x="128270" y="1458468"/>
                      </a:cubicBezTo>
                      <a:cubicBezTo>
                        <a:pt x="117221" y="1463675"/>
                        <a:pt x="103886" y="1459103"/>
                        <a:pt x="98679" y="1448054"/>
                      </a:cubicBezTo>
                      <a:close/>
                      <a:moveTo>
                        <a:pt x="63500" y="1365631"/>
                      </a:moveTo>
                      <a:cubicBezTo>
                        <a:pt x="58166" y="1351407"/>
                        <a:pt x="53213" y="1337056"/>
                        <a:pt x="48514" y="1322578"/>
                      </a:cubicBezTo>
                      <a:cubicBezTo>
                        <a:pt x="44704" y="1310894"/>
                        <a:pt x="51181" y="1298321"/>
                        <a:pt x="62865" y="1294638"/>
                      </a:cubicBezTo>
                      <a:cubicBezTo>
                        <a:pt x="74549" y="1290955"/>
                        <a:pt x="87122" y="1297305"/>
                        <a:pt x="90805" y="1308989"/>
                      </a:cubicBezTo>
                      <a:cubicBezTo>
                        <a:pt x="95250" y="1322832"/>
                        <a:pt x="100076" y="1336548"/>
                        <a:pt x="105029" y="1350137"/>
                      </a:cubicBezTo>
                      <a:cubicBezTo>
                        <a:pt x="109347" y="1361694"/>
                        <a:pt x="103505" y="1374394"/>
                        <a:pt x="91948" y="1378712"/>
                      </a:cubicBezTo>
                      <a:cubicBezTo>
                        <a:pt x="80391" y="1383030"/>
                        <a:pt x="67691" y="1377188"/>
                        <a:pt x="63373" y="1365631"/>
                      </a:cubicBezTo>
                      <a:close/>
                      <a:moveTo>
                        <a:pt x="35560" y="1279144"/>
                      </a:moveTo>
                      <a:cubicBezTo>
                        <a:pt x="31623" y="1264539"/>
                        <a:pt x="27940" y="1249807"/>
                        <a:pt x="24638" y="1234948"/>
                      </a:cubicBezTo>
                      <a:cubicBezTo>
                        <a:pt x="21971" y="1223010"/>
                        <a:pt x="29464" y="1211072"/>
                        <a:pt x="41402" y="1208405"/>
                      </a:cubicBezTo>
                      <a:cubicBezTo>
                        <a:pt x="53340" y="1205738"/>
                        <a:pt x="65278" y="1213231"/>
                        <a:pt x="67945" y="1225169"/>
                      </a:cubicBezTo>
                      <a:cubicBezTo>
                        <a:pt x="71120" y="1239393"/>
                        <a:pt x="74676" y="1253363"/>
                        <a:pt x="78486" y="1267333"/>
                      </a:cubicBezTo>
                      <a:cubicBezTo>
                        <a:pt x="81661" y="1279144"/>
                        <a:pt x="74676" y="1291336"/>
                        <a:pt x="62865" y="1294638"/>
                      </a:cubicBezTo>
                      <a:cubicBezTo>
                        <a:pt x="51054" y="1297940"/>
                        <a:pt x="38862" y="1290828"/>
                        <a:pt x="35560" y="1279017"/>
                      </a:cubicBezTo>
                      <a:close/>
                      <a:moveTo>
                        <a:pt x="15621" y="1190498"/>
                      </a:moveTo>
                      <a:cubicBezTo>
                        <a:pt x="13081" y="1175639"/>
                        <a:pt x="10668" y="1160653"/>
                        <a:pt x="8763" y="1145540"/>
                      </a:cubicBezTo>
                      <a:cubicBezTo>
                        <a:pt x="7112" y="1133348"/>
                        <a:pt x="15748" y="1122172"/>
                        <a:pt x="27940" y="1120648"/>
                      </a:cubicBezTo>
                      <a:cubicBezTo>
                        <a:pt x="40132" y="1119124"/>
                        <a:pt x="51308" y="1127633"/>
                        <a:pt x="52832" y="1139825"/>
                      </a:cubicBezTo>
                      <a:cubicBezTo>
                        <a:pt x="54737" y="1154176"/>
                        <a:pt x="56896" y="1168527"/>
                        <a:pt x="59436" y="1182751"/>
                      </a:cubicBezTo>
                      <a:cubicBezTo>
                        <a:pt x="61595" y="1194816"/>
                        <a:pt x="53467" y="1206373"/>
                        <a:pt x="41402" y="1208532"/>
                      </a:cubicBezTo>
                      <a:cubicBezTo>
                        <a:pt x="29337" y="1210691"/>
                        <a:pt x="17780" y="1202563"/>
                        <a:pt x="15621" y="1190498"/>
                      </a:cubicBezTo>
                      <a:close/>
                      <a:moveTo>
                        <a:pt x="3810" y="1100328"/>
                      </a:moveTo>
                      <a:cubicBezTo>
                        <a:pt x="2540" y="1085342"/>
                        <a:pt x="1524" y="1070229"/>
                        <a:pt x="889" y="1055116"/>
                      </a:cubicBezTo>
                      <a:cubicBezTo>
                        <a:pt x="381" y="1042797"/>
                        <a:pt x="9906" y="1032510"/>
                        <a:pt x="22225" y="1032002"/>
                      </a:cubicBezTo>
                      <a:cubicBezTo>
                        <a:pt x="34544" y="1031494"/>
                        <a:pt x="44831" y="1041019"/>
                        <a:pt x="45339" y="1053338"/>
                      </a:cubicBezTo>
                      <a:cubicBezTo>
                        <a:pt x="45974" y="1067816"/>
                        <a:pt x="46863" y="1082294"/>
                        <a:pt x="48133" y="1096518"/>
                      </a:cubicBezTo>
                      <a:cubicBezTo>
                        <a:pt x="49149" y="1108710"/>
                        <a:pt x="40132" y="1119505"/>
                        <a:pt x="27940" y="1120521"/>
                      </a:cubicBezTo>
                      <a:cubicBezTo>
                        <a:pt x="15748" y="1121537"/>
                        <a:pt x="4826" y="1112520"/>
                        <a:pt x="3810" y="1100328"/>
                      </a:cubicBezTo>
                      <a:close/>
                      <a:moveTo>
                        <a:pt x="0" y="1012063"/>
                      </a:moveTo>
                      <a:cubicBezTo>
                        <a:pt x="0" y="996696"/>
                        <a:pt x="381" y="981583"/>
                        <a:pt x="1016" y="966343"/>
                      </a:cubicBezTo>
                      <a:cubicBezTo>
                        <a:pt x="1524" y="954024"/>
                        <a:pt x="11938" y="944626"/>
                        <a:pt x="24257" y="945134"/>
                      </a:cubicBezTo>
                      <a:cubicBezTo>
                        <a:pt x="36576" y="945642"/>
                        <a:pt x="45974" y="956056"/>
                        <a:pt x="45466" y="968375"/>
                      </a:cubicBezTo>
                      <a:cubicBezTo>
                        <a:pt x="44831" y="982853"/>
                        <a:pt x="44450" y="997458"/>
                        <a:pt x="44450" y="1012063"/>
                      </a:cubicBezTo>
                      <a:cubicBezTo>
                        <a:pt x="44450" y="1024382"/>
                        <a:pt x="34544" y="1034288"/>
                        <a:pt x="22225" y="1034288"/>
                      </a:cubicBezTo>
                      <a:cubicBezTo>
                        <a:pt x="9906" y="1034288"/>
                        <a:pt x="0" y="1024382"/>
                        <a:pt x="0" y="1012063"/>
                      </a:cubicBezTo>
                      <a:close/>
                    </a:path>
                  </a:pathLst>
                </a:custGeom>
                <a:solidFill>
                  <a:srgbClr val="FF5B00"/>
                </a:solidFill>
              </p:spPr>
            </p:sp>
          </p:grpSp>
          <p:grpSp>
            <p:nvGrpSpPr>
              <p:cNvPr id="42" name="Group 42"/>
              <p:cNvGrpSpPr/>
              <p:nvPr/>
            </p:nvGrpSpPr>
            <p:grpSpPr>
              <a:xfrm>
                <a:off x="6856163" y="7054378"/>
                <a:ext cx="1200615" cy="1200612"/>
                <a:chOff x="0" y="0"/>
                <a:chExt cx="1600820" cy="1600816"/>
              </a:xfrm>
            </p:grpSpPr>
            <p:sp>
              <p:nvSpPr>
                <p:cNvPr id="43" name="Freeform 43"/>
                <p:cNvSpPr/>
                <p:nvPr/>
              </p:nvSpPr>
              <p:spPr>
                <a:xfrm>
                  <a:off x="0" y="0"/>
                  <a:ext cx="1600708" cy="1600708"/>
                </a:xfrm>
                <a:custGeom>
                  <a:avLst/>
                  <a:gdLst/>
                  <a:ahLst/>
                  <a:cxnLst/>
                  <a:rect l="l" t="t" r="r" b="b"/>
                  <a:pathLst>
                    <a:path w="1600708" h="1600708">
                      <a:moveTo>
                        <a:pt x="0" y="800354"/>
                      </a:moveTo>
                      <a:cubicBezTo>
                        <a:pt x="0" y="358394"/>
                        <a:pt x="358394" y="0"/>
                        <a:pt x="800354" y="0"/>
                      </a:cubicBezTo>
                      <a:cubicBezTo>
                        <a:pt x="1242314" y="0"/>
                        <a:pt x="1600708" y="358394"/>
                        <a:pt x="1600708" y="800354"/>
                      </a:cubicBezTo>
                      <a:cubicBezTo>
                        <a:pt x="1600708" y="1242314"/>
                        <a:pt x="1242314" y="1600708"/>
                        <a:pt x="800354" y="1600708"/>
                      </a:cubicBezTo>
                      <a:cubicBezTo>
                        <a:pt x="358394" y="1600708"/>
                        <a:pt x="0" y="1242441"/>
                        <a:pt x="0" y="800354"/>
                      </a:cubicBezTo>
                      <a:close/>
                    </a:path>
                  </a:pathLst>
                </a:custGeom>
                <a:solidFill>
                  <a:srgbClr val="F79B4F"/>
                </a:solidFill>
              </p:spPr>
            </p:sp>
          </p:grpSp>
        </p:grpSp>
        <p:sp>
          <p:nvSpPr>
            <p:cNvPr id="46" name="Freeform 46"/>
            <p:cNvSpPr/>
            <p:nvPr/>
          </p:nvSpPr>
          <p:spPr>
            <a:xfrm>
              <a:off x="7221397" y="7389775"/>
              <a:ext cx="530186" cy="529818"/>
            </a:xfrm>
            <a:custGeom>
              <a:avLst/>
              <a:gdLst/>
              <a:ahLst/>
              <a:cxnLst/>
              <a:rect l="l" t="t" r="r" b="b"/>
              <a:pathLst>
                <a:path w="706914" h="706424">
                  <a:moveTo>
                    <a:pt x="0" y="0"/>
                  </a:moveTo>
                  <a:lnTo>
                    <a:pt x="706914" y="0"/>
                  </a:lnTo>
                  <a:lnTo>
                    <a:pt x="706914" y="706424"/>
                  </a:lnTo>
                  <a:lnTo>
                    <a:pt x="0" y="70642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grpSp>
        <p:nvGrpSpPr>
          <p:cNvPr id="47" name="Group 47"/>
          <p:cNvGrpSpPr/>
          <p:nvPr/>
        </p:nvGrpSpPr>
        <p:grpSpPr>
          <a:xfrm>
            <a:off x="730147" y="7729750"/>
            <a:ext cx="5387723" cy="709526"/>
            <a:chOff x="0" y="0"/>
            <a:chExt cx="8425402" cy="1109568"/>
          </a:xfrm>
        </p:grpSpPr>
        <p:sp>
          <p:nvSpPr>
            <p:cNvPr id="48" name="Freeform 48"/>
            <p:cNvSpPr/>
            <p:nvPr/>
          </p:nvSpPr>
          <p:spPr>
            <a:xfrm>
              <a:off x="0" y="0"/>
              <a:ext cx="8425434" cy="1109599"/>
            </a:xfrm>
            <a:custGeom>
              <a:avLst/>
              <a:gdLst/>
              <a:ahLst/>
              <a:cxnLst/>
              <a:rect l="l" t="t" r="r" b="b"/>
              <a:pathLst>
                <a:path w="8425434" h="1109599">
                  <a:moveTo>
                    <a:pt x="0" y="0"/>
                  </a:moveTo>
                  <a:lnTo>
                    <a:pt x="8425434" y="0"/>
                  </a:lnTo>
                  <a:lnTo>
                    <a:pt x="8425434" y="1109599"/>
                  </a:lnTo>
                  <a:lnTo>
                    <a:pt x="0" y="1109599"/>
                  </a:lnTo>
                  <a:lnTo>
                    <a:pt x="0" y="0"/>
                  </a:lnTo>
                  <a:close/>
                </a:path>
              </a:pathLst>
            </a:custGeom>
            <a:blipFill>
              <a:blip r:embed="rId11"/>
              <a:stretch>
                <a:fillRect b="2"/>
              </a:stretch>
            </a:blipFill>
          </p:spPr>
        </p:sp>
      </p:grpSp>
      <p:grpSp>
        <p:nvGrpSpPr>
          <p:cNvPr id="49" name="Group 49"/>
          <p:cNvGrpSpPr/>
          <p:nvPr/>
        </p:nvGrpSpPr>
        <p:grpSpPr>
          <a:xfrm>
            <a:off x="336774" y="3784345"/>
            <a:ext cx="5970221" cy="4331103"/>
            <a:chOff x="0" y="0"/>
            <a:chExt cx="9169178" cy="7742592"/>
          </a:xfrm>
        </p:grpSpPr>
        <p:sp>
          <p:nvSpPr>
            <p:cNvPr id="50" name="Freeform 50"/>
            <p:cNvSpPr/>
            <p:nvPr/>
          </p:nvSpPr>
          <p:spPr>
            <a:xfrm>
              <a:off x="0" y="0"/>
              <a:ext cx="9169146" cy="7742555"/>
            </a:xfrm>
            <a:custGeom>
              <a:avLst/>
              <a:gdLst/>
              <a:ahLst/>
              <a:cxnLst/>
              <a:rect l="l" t="t" r="r" b="b"/>
              <a:pathLst>
                <a:path w="9169146" h="7742555">
                  <a:moveTo>
                    <a:pt x="0" y="0"/>
                  </a:moveTo>
                  <a:lnTo>
                    <a:pt x="9169146" y="0"/>
                  </a:lnTo>
                  <a:lnTo>
                    <a:pt x="9169146" y="7742555"/>
                  </a:lnTo>
                  <a:lnTo>
                    <a:pt x="0" y="7742555"/>
                  </a:lnTo>
                  <a:lnTo>
                    <a:pt x="0" y="0"/>
                  </a:lnTo>
                  <a:close/>
                </a:path>
              </a:pathLst>
            </a:custGeom>
            <a:blipFill>
              <a:blip r:embed="rId12"/>
              <a:stretch>
                <a:fillRect/>
              </a:stretch>
            </a:blipFill>
          </p:spPr>
        </p:sp>
      </p:grpSp>
      <p:grpSp>
        <p:nvGrpSpPr>
          <p:cNvPr id="59" name="组合 58"/>
          <p:cNvGrpSpPr/>
          <p:nvPr>
            <p:custDataLst>
              <p:tags r:id="rId13"/>
            </p:custDataLst>
          </p:nvPr>
        </p:nvGrpSpPr>
        <p:grpSpPr>
          <a:xfrm>
            <a:off x="8391531" y="2019300"/>
            <a:ext cx="8768080" cy="2190133"/>
            <a:chOff x="4919" y="1992"/>
            <a:chExt cx="13808" cy="2832"/>
          </a:xfrm>
        </p:grpSpPr>
        <p:sp>
          <p:nvSpPr>
            <p:cNvPr id="60" name="矩形 59"/>
            <p:cNvSpPr/>
            <p:nvPr>
              <p:custDataLst>
                <p:tags r:id="rId14"/>
              </p:custDataLst>
            </p:nvPr>
          </p:nvSpPr>
          <p:spPr>
            <a:xfrm>
              <a:off x="4919" y="1992"/>
              <a:ext cx="13808" cy="2832"/>
            </a:xfrm>
            <a:prstGeom prst="rect">
              <a:avLst/>
            </a:prstGeom>
            <a:pattFill prst="ltUpDiag">
              <a:fgClr>
                <a:sysClr val="window" lastClr="FFFFFF">
                  <a:lumMod val="95000"/>
                </a:sysClr>
              </a:fgClr>
              <a:bgClr>
                <a:sysClr val="window" lastClr="FFFFFF"/>
              </a:bgClr>
            </a:pattFill>
            <a:ln w="6350" cap="flat" cmpd="sng" algn="ctr">
              <a:solidFill>
                <a:schemeClr val="accent6">
                  <a:alpha val="20000"/>
                </a:schemeClr>
              </a:solidFill>
              <a:prstDash val="solid"/>
              <a:miter lim="800000"/>
            </a:ln>
            <a:effectLst>
              <a:outerShdw blurRad="762000" dist="596900" dir="5400000" sx="80000" sy="80000" algn="t" rotWithShape="0">
                <a:schemeClr val="accent6">
                  <a:lumMod val="50000"/>
                  <a:alpha val="40000"/>
                </a:schemeClr>
              </a:outerShdw>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grpSp>
          <p:nvGrpSpPr>
            <p:cNvPr id="61" name="组合 60"/>
            <p:cNvGrpSpPr/>
            <p:nvPr/>
          </p:nvGrpSpPr>
          <p:grpSpPr>
            <a:xfrm>
              <a:off x="5050" y="2102"/>
              <a:ext cx="11606" cy="786"/>
              <a:chOff x="2897456" y="-1451976"/>
              <a:chExt cx="11695391" cy="498523"/>
            </a:xfrm>
          </p:grpSpPr>
          <p:sp>
            <p:nvSpPr>
              <p:cNvPr id="63" name="六边形 62"/>
              <p:cNvSpPr/>
              <p:nvPr>
                <p:custDataLst>
                  <p:tags r:id="rId15"/>
                </p:custDataLst>
              </p:nvPr>
            </p:nvSpPr>
            <p:spPr>
              <a:xfrm>
                <a:off x="2897456" y="-1451050"/>
                <a:ext cx="11695391" cy="497597"/>
              </a:xfrm>
              <a:prstGeom prst="hexagon">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65" name="六边形 64"/>
              <p:cNvSpPr/>
              <p:nvPr>
                <p:custDataLst>
                  <p:tags r:id="rId16"/>
                </p:custDataLst>
              </p:nvPr>
            </p:nvSpPr>
            <p:spPr>
              <a:xfrm>
                <a:off x="2960441" y="-1451976"/>
                <a:ext cx="11546734" cy="497888"/>
              </a:xfrm>
              <a:prstGeom prst="hexagon">
                <a:avLst/>
              </a:prstGeom>
              <a:gradFill>
                <a:gsLst>
                  <a:gs pos="100000">
                    <a:srgbClr val="EC8340">
                      <a:lumMod val="20000"/>
                      <a:lumOff val="80000"/>
                    </a:srgbClr>
                  </a:gs>
                  <a:gs pos="0">
                    <a:sysClr val="window" lastClr="FFFFFF"/>
                  </a:gs>
                </a:gsLst>
                <a:lin ang="5400000" scaled="0"/>
              </a:gradFill>
              <a:ln w="12700" cap="flat" cmpd="sng" algn="ctr">
                <a:noFill/>
                <a:prstDash val="solid"/>
                <a:miter lim="800000"/>
              </a:ln>
              <a:effectLst>
                <a:outerShdw blurRad="127000" dist="38100" dir="5400000" algn="t" rotWithShape="0">
                  <a:srgbClr val="D7511C">
                    <a:lumMod val="50000"/>
                    <a:alpha val="20000"/>
                  </a:srgbClr>
                </a:outerShdw>
              </a:effectLst>
            </p:spPr>
            <p:txBody>
              <a:bodyPr rtlCol="0" anchor="ctr"/>
              <a:lstStyle/>
              <a:p>
                <a:pPr algn="ctr">
                  <a:buClrTx/>
                  <a:buSzTx/>
                  <a:buFontTx/>
                </a:pPr>
                <a:r>
                  <a:rPr lang="zh-CN" altLang="en-US" sz="2800" b="1" kern="0" dirty="0">
                    <a:solidFill>
                      <a:srgbClr val="C00000"/>
                    </a:solidFill>
                    <a:latin typeface="微软雅黑" panose="020B0503020204020204" pitchFamily="34" charset="-122"/>
                    <a:ea typeface="微软雅黑" panose="020B0503020204020204" pitchFamily="34" charset="-122"/>
                    <a:sym typeface="+mn-ea"/>
                  </a:rPr>
                  <a:t>半结构化访谈法</a:t>
                </a:r>
                <a:endParaRPr lang="zh-CN" altLang="en-US" sz="2800" b="1" kern="0" dirty="0">
                  <a:solidFill>
                    <a:srgbClr val="C00000"/>
                  </a:solidFill>
                  <a:latin typeface="微软雅黑" panose="020B0503020204020204" pitchFamily="34" charset="-122"/>
                  <a:ea typeface="微软雅黑" panose="020B0503020204020204" pitchFamily="34" charset="-122"/>
                  <a:sym typeface="+mn-ea"/>
                </a:endParaRPr>
              </a:p>
            </p:txBody>
          </p:sp>
        </p:grpSp>
        <p:sp>
          <p:nvSpPr>
            <p:cNvPr id="62" name="文本框 61"/>
            <p:cNvSpPr txBox="1"/>
            <p:nvPr>
              <p:custDataLst>
                <p:tags r:id="rId17"/>
              </p:custDataLst>
            </p:nvPr>
          </p:nvSpPr>
          <p:spPr>
            <a:xfrm>
              <a:off x="4919" y="2793"/>
              <a:ext cx="13392" cy="1789"/>
            </a:xfrm>
            <a:prstGeom prst="rect">
              <a:avLst/>
            </a:prstGeom>
            <a:noFill/>
          </p:spPr>
          <p:txBody>
            <a:bodyPr wrap="square" rtlCol="0" anchor="t">
              <a:spAutoFit/>
            </a:bodyPr>
            <a:lstStyle/>
            <a:p>
              <a:pPr marL="558800" lvl="1" indent="-342900">
                <a:lnSpc>
                  <a:spcPct val="150000"/>
                </a:lnSpc>
                <a:buFont typeface="Wingdings" panose="05000000000000000000" pitchFamily="2" charset="2"/>
                <a:buChar char="Ø"/>
              </a:pPr>
              <a:r>
                <a:rPr lang="zh-CN" altLang="en-US" sz="2800" b="1" kern="0" dirty="0">
                  <a:gradFill>
                    <a:gsLst>
                      <a:gs pos="50000">
                        <a:schemeClr val="accent6"/>
                      </a:gs>
                      <a:gs pos="0">
                        <a:schemeClr val="accent6">
                          <a:lumMod val="25000"/>
                          <a:lumOff val="75000"/>
                        </a:schemeClr>
                      </a:gs>
                      <a:gs pos="100000">
                        <a:schemeClr val="accent6">
                          <a:lumMod val="85000"/>
                        </a:schemeClr>
                      </a:gs>
                    </a:gsLst>
                    <a:lin ang="5400000" scaled="1"/>
                  </a:gradFill>
                  <a:latin typeface="微软雅黑" panose="020B0503020204020204" pitchFamily="34" charset="-122"/>
                  <a:ea typeface="微软雅黑" panose="020B0503020204020204" pitchFamily="34" charset="-122"/>
                  <a:sym typeface="+mn-ea"/>
                </a:rPr>
                <a:t>与信托经理、精算师、资产评估师进行针对性对话，获取一线业务数据</a:t>
              </a:r>
              <a:endParaRPr lang="zh-CN" altLang="en-US" sz="2800" b="1" kern="0" dirty="0">
                <a:solidFill>
                  <a:srgbClr val="C00000"/>
                </a:solidFill>
                <a:latin typeface="微软雅黑" panose="020B0503020204020204" pitchFamily="34" charset="-122"/>
                <a:ea typeface="微软雅黑" panose="020B0503020204020204" pitchFamily="34" charset="-122"/>
                <a:sym typeface="+mn-ea"/>
              </a:endParaRPr>
            </a:p>
          </p:txBody>
        </p:sp>
      </p:grpSp>
      <p:grpSp>
        <p:nvGrpSpPr>
          <p:cNvPr id="66" name="组合 65"/>
          <p:cNvGrpSpPr/>
          <p:nvPr>
            <p:custDataLst>
              <p:tags r:id="rId18"/>
            </p:custDataLst>
          </p:nvPr>
        </p:nvGrpSpPr>
        <p:grpSpPr>
          <a:xfrm>
            <a:off x="8352796" y="4562399"/>
            <a:ext cx="8839835" cy="2030675"/>
            <a:chOff x="4806" y="4896"/>
            <a:chExt cx="13921" cy="3388"/>
          </a:xfrm>
        </p:grpSpPr>
        <p:sp>
          <p:nvSpPr>
            <p:cNvPr id="67" name="矩形 66"/>
            <p:cNvSpPr/>
            <p:nvPr>
              <p:custDataLst>
                <p:tags r:id="rId19"/>
              </p:custDataLst>
            </p:nvPr>
          </p:nvSpPr>
          <p:spPr>
            <a:xfrm>
              <a:off x="4919" y="4896"/>
              <a:ext cx="13808" cy="3388"/>
            </a:xfrm>
            <a:prstGeom prst="rect">
              <a:avLst/>
            </a:prstGeom>
            <a:pattFill prst="ltUpDiag">
              <a:fgClr>
                <a:sysClr val="window" lastClr="FFFFFF">
                  <a:lumMod val="95000"/>
                </a:sysClr>
              </a:fgClr>
              <a:bgClr>
                <a:sysClr val="window" lastClr="FFFFFF"/>
              </a:bgClr>
            </a:pattFill>
            <a:ln w="6350" cap="flat" cmpd="sng" algn="ctr">
              <a:solidFill>
                <a:schemeClr val="accent6">
                  <a:alpha val="20000"/>
                </a:schemeClr>
              </a:solidFill>
              <a:prstDash val="solid"/>
              <a:miter lim="800000"/>
            </a:ln>
            <a:effectLst>
              <a:outerShdw blurRad="762000" dist="596900" dir="5400000" sx="80000" sy="80000" algn="t" rotWithShape="0">
                <a:schemeClr val="accent6">
                  <a:lumMod val="50000"/>
                  <a:alpha val="40000"/>
                </a:schemeClr>
              </a:outerShdw>
            </a:effectLst>
          </p:spPr>
          <p:txBody>
            <a:bodyPr rtlCol="0" anchor="ctr"/>
            <a:lstStyle/>
            <a:p>
              <a:pPr algn="ctr"/>
              <a:endParaRPr lang="zh-CN" altLang="en-US" kern="0">
                <a:solidFill>
                  <a:prstClr val="white"/>
                </a:solidFill>
                <a:latin typeface="微软雅黑" panose="020B0503020204020204" pitchFamily="34" charset="-122"/>
                <a:ea typeface="微软雅黑" panose="020B0503020204020204" pitchFamily="34" charset="-122"/>
              </a:endParaRPr>
            </a:p>
          </p:txBody>
        </p:sp>
        <p:grpSp>
          <p:nvGrpSpPr>
            <p:cNvPr id="68" name="组合 67"/>
            <p:cNvGrpSpPr/>
            <p:nvPr/>
          </p:nvGrpSpPr>
          <p:grpSpPr>
            <a:xfrm>
              <a:off x="4978" y="5042"/>
              <a:ext cx="11719" cy="1003"/>
              <a:chOff x="2844208" y="-1389894"/>
              <a:chExt cx="8372110" cy="637328"/>
            </a:xfrm>
          </p:grpSpPr>
          <p:sp>
            <p:nvSpPr>
              <p:cNvPr id="70" name="六边形 69"/>
              <p:cNvSpPr/>
              <p:nvPr>
                <p:custDataLst>
                  <p:tags r:id="rId20"/>
                </p:custDataLst>
              </p:nvPr>
            </p:nvSpPr>
            <p:spPr>
              <a:xfrm>
                <a:off x="2844208" y="-1389003"/>
                <a:ext cx="8372110" cy="636437"/>
              </a:xfrm>
              <a:prstGeom prst="hexagon">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71" name="六边形 70"/>
              <p:cNvSpPr/>
              <p:nvPr>
                <p:custDataLst>
                  <p:tags r:id="rId21"/>
                </p:custDataLst>
              </p:nvPr>
            </p:nvSpPr>
            <p:spPr>
              <a:xfrm>
                <a:off x="2899217" y="-1389894"/>
                <a:ext cx="8250314" cy="636716"/>
              </a:xfrm>
              <a:prstGeom prst="hexagon">
                <a:avLst/>
              </a:prstGeom>
              <a:gradFill>
                <a:gsLst>
                  <a:gs pos="100000">
                    <a:srgbClr val="EC8340">
                      <a:lumMod val="20000"/>
                      <a:lumOff val="80000"/>
                    </a:srgbClr>
                  </a:gs>
                  <a:gs pos="0">
                    <a:sysClr val="window" lastClr="FFFFFF"/>
                  </a:gs>
                </a:gsLst>
                <a:lin ang="5400000" scaled="0"/>
              </a:gradFill>
              <a:ln w="12700" cap="flat" cmpd="sng" algn="ctr">
                <a:noFill/>
                <a:prstDash val="solid"/>
                <a:miter lim="800000"/>
              </a:ln>
              <a:effectLst>
                <a:outerShdw blurRad="127000" dist="38100" dir="5400000" algn="t" rotWithShape="0">
                  <a:srgbClr val="D7511C">
                    <a:lumMod val="50000"/>
                    <a:alpha val="20000"/>
                  </a:srgbClr>
                </a:outerShdw>
              </a:effectLst>
            </p:spPr>
            <p:txBody>
              <a:bodyPr rtlCol="0" anchor="ctr"/>
              <a:lstStyle/>
              <a:p>
                <a:pPr algn="ctr">
                  <a:lnSpc>
                    <a:spcPct val="110000"/>
                  </a:lnSpc>
                  <a:spcBef>
                    <a:spcPts val="0"/>
                  </a:spcBef>
                  <a:spcAft>
                    <a:spcPts val="0"/>
                  </a:spcAft>
                  <a:buClrTx/>
                  <a:buSzTx/>
                  <a:buFontTx/>
                </a:pPr>
                <a:r>
                  <a:rPr lang="zh-CN" altLang="en-US" sz="2800" b="1" kern="0" dirty="0">
                    <a:solidFill>
                      <a:srgbClr val="C00000"/>
                    </a:solidFill>
                    <a:latin typeface="微软雅黑" panose="020B0503020204020204" pitchFamily="34" charset="-122"/>
                    <a:ea typeface="微软雅黑" panose="020B0503020204020204" pitchFamily="34" charset="-122"/>
                    <a:sym typeface="+mn-ea"/>
                  </a:rPr>
                  <a:t>精算建模与数值仿真</a:t>
                </a:r>
                <a:endParaRPr lang="zh-CN" altLang="en-US" sz="2800" b="1" kern="0" dirty="0">
                  <a:solidFill>
                    <a:srgbClr val="C00000"/>
                  </a:solidFill>
                  <a:latin typeface="微软雅黑" panose="020B0503020204020204" pitchFamily="34" charset="-122"/>
                  <a:ea typeface="微软雅黑" panose="020B0503020204020204" pitchFamily="34" charset="-122"/>
                  <a:sym typeface="+mn-ea"/>
                </a:endParaRPr>
              </a:p>
            </p:txBody>
          </p:sp>
        </p:grpSp>
        <p:sp>
          <p:nvSpPr>
            <p:cNvPr id="69" name="文本框 68"/>
            <p:cNvSpPr txBox="1"/>
            <p:nvPr>
              <p:custDataLst>
                <p:tags r:id="rId22"/>
              </p:custDataLst>
            </p:nvPr>
          </p:nvSpPr>
          <p:spPr>
            <a:xfrm>
              <a:off x="4806" y="6480"/>
              <a:ext cx="13677" cy="810"/>
            </a:xfrm>
            <a:prstGeom prst="rect">
              <a:avLst/>
            </a:prstGeom>
            <a:noFill/>
          </p:spPr>
          <p:txBody>
            <a:bodyPr wrap="square" rtlCol="0" anchor="t">
              <a:spAutoFit/>
            </a:bodyPr>
            <a:lstStyle/>
            <a:p>
              <a:pPr marL="558800" lvl="1" indent="-342900">
                <a:lnSpc>
                  <a:spcPts val="3480"/>
                </a:lnSpc>
                <a:buFont typeface="Wingdings" panose="05000000000000000000" pitchFamily="2" charset="2"/>
                <a:buChar char="Ø"/>
              </a:pPr>
              <a:r>
                <a:rPr lang="zh-CN" altLang="en-US" sz="2800" b="1" kern="0" dirty="0">
                  <a:gradFill>
                    <a:gsLst>
                      <a:gs pos="50000">
                        <a:schemeClr val="accent6"/>
                      </a:gs>
                      <a:gs pos="0">
                        <a:schemeClr val="accent6">
                          <a:lumMod val="25000"/>
                          <a:lumOff val="75000"/>
                        </a:schemeClr>
                      </a:gs>
                      <a:gs pos="100000">
                        <a:schemeClr val="accent6">
                          <a:lumMod val="85000"/>
                        </a:schemeClr>
                      </a:gs>
                    </a:gsLst>
                    <a:lin ang="5400000" scaled="1"/>
                  </a:gradFill>
                  <a:latin typeface="微软雅黑" panose="020B0503020204020204" pitchFamily="34" charset="-122"/>
                  <a:ea typeface="微软雅黑" panose="020B0503020204020204" pitchFamily="34" charset="-122"/>
                  <a:sym typeface="+mn-ea"/>
                </a:rPr>
                <a:t>利用蒙特卡洛模拟等方法进行压力测试与风险定价</a:t>
              </a:r>
              <a:endParaRPr lang="zh-CN" altLang="en-US" sz="2800" b="1" kern="0" dirty="0">
                <a:gradFill>
                  <a:gsLst>
                    <a:gs pos="50000">
                      <a:schemeClr val="accent6"/>
                    </a:gs>
                    <a:gs pos="0">
                      <a:schemeClr val="accent6">
                        <a:lumMod val="25000"/>
                        <a:lumOff val="75000"/>
                      </a:schemeClr>
                    </a:gs>
                    <a:gs pos="100000">
                      <a:schemeClr val="accent6">
                        <a:lumMod val="85000"/>
                      </a:schemeClr>
                    </a:gs>
                  </a:gsLst>
                  <a:lin ang="5400000" scaled="1"/>
                </a:gradFill>
                <a:latin typeface="微软雅黑" panose="020B0503020204020204" pitchFamily="34" charset="-122"/>
                <a:ea typeface="微软雅黑" panose="020B0503020204020204" pitchFamily="34" charset="-122"/>
                <a:sym typeface="+mn-ea"/>
              </a:endParaRPr>
            </a:p>
          </p:txBody>
        </p:sp>
      </p:grpSp>
      <p:grpSp>
        <p:nvGrpSpPr>
          <p:cNvPr id="80" name="组合 79"/>
          <p:cNvGrpSpPr/>
          <p:nvPr/>
        </p:nvGrpSpPr>
        <p:grpSpPr>
          <a:xfrm>
            <a:off x="8391531" y="6825337"/>
            <a:ext cx="8768080" cy="2519506"/>
            <a:chOff x="12787875" y="1752325"/>
            <a:chExt cx="8768080" cy="2519506"/>
          </a:xfrm>
        </p:grpSpPr>
        <p:grpSp>
          <p:nvGrpSpPr>
            <p:cNvPr id="72" name="组合 71"/>
            <p:cNvGrpSpPr/>
            <p:nvPr>
              <p:custDataLst>
                <p:tags r:id="rId23"/>
              </p:custDataLst>
            </p:nvPr>
          </p:nvGrpSpPr>
          <p:grpSpPr>
            <a:xfrm>
              <a:off x="12787875" y="1752325"/>
              <a:ext cx="8768080" cy="2519506"/>
              <a:chOff x="4866" y="7591"/>
              <a:chExt cx="13808" cy="2767"/>
            </a:xfrm>
          </p:grpSpPr>
          <p:sp>
            <p:nvSpPr>
              <p:cNvPr id="73" name="矩形 72"/>
              <p:cNvSpPr/>
              <p:nvPr>
                <p:custDataLst>
                  <p:tags r:id="rId24"/>
                </p:custDataLst>
              </p:nvPr>
            </p:nvSpPr>
            <p:spPr>
              <a:xfrm>
                <a:off x="4866" y="7591"/>
                <a:ext cx="13808" cy="2767"/>
              </a:xfrm>
              <a:prstGeom prst="rect">
                <a:avLst/>
              </a:prstGeom>
              <a:pattFill prst="ltUpDiag">
                <a:fgClr>
                  <a:sysClr val="window" lastClr="FFFFFF">
                    <a:lumMod val="95000"/>
                  </a:sysClr>
                </a:fgClr>
                <a:bgClr>
                  <a:sysClr val="window" lastClr="FFFFFF"/>
                </a:bgClr>
              </a:pattFill>
              <a:ln w="6350" cap="flat" cmpd="sng" algn="ctr">
                <a:solidFill>
                  <a:schemeClr val="accent6">
                    <a:alpha val="20000"/>
                  </a:schemeClr>
                </a:solidFill>
                <a:prstDash val="solid"/>
                <a:miter lim="800000"/>
              </a:ln>
              <a:effectLst>
                <a:outerShdw blurRad="762000" dist="596900" dir="5400000" sx="80000" sy="80000" algn="t" rotWithShape="0">
                  <a:schemeClr val="accent6">
                    <a:lumMod val="50000"/>
                    <a:alpha val="40000"/>
                  </a:schemeClr>
                </a:outerShdw>
              </a:effectLst>
            </p:spPr>
            <p:txBody>
              <a:bodyPr rtlCol="0" anchor="ctr"/>
              <a:lstStyle/>
              <a:p>
                <a:pPr algn="ctr"/>
                <a:endParaRPr lang="zh-CN" altLang="en-US" kern="0">
                  <a:solidFill>
                    <a:prstClr val="white"/>
                  </a:solidFill>
                  <a:latin typeface="微软雅黑" panose="020B0503020204020204" pitchFamily="34" charset="-122"/>
                  <a:ea typeface="微软雅黑" panose="020B0503020204020204" pitchFamily="34" charset="-122"/>
                </a:endParaRPr>
              </a:p>
            </p:txBody>
          </p:sp>
          <p:sp>
            <p:nvSpPr>
              <p:cNvPr id="75" name="文本框 74"/>
              <p:cNvSpPr txBox="1"/>
              <p:nvPr>
                <p:custDataLst>
                  <p:tags r:id="rId25"/>
                </p:custDataLst>
              </p:nvPr>
            </p:nvSpPr>
            <p:spPr>
              <a:xfrm>
                <a:off x="5091" y="8506"/>
                <a:ext cx="12901" cy="1437"/>
              </a:xfrm>
              <a:prstGeom prst="rect">
                <a:avLst/>
              </a:prstGeom>
              <a:noFill/>
            </p:spPr>
            <p:txBody>
              <a:bodyPr wrap="square" rtlCol="0" anchor="t">
                <a:spAutoFit/>
              </a:bodyPr>
              <a:lstStyle/>
              <a:p>
                <a:pPr marL="285750" indent="-285750">
                  <a:lnSpc>
                    <a:spcPct val="150000"/>
                  </a:lnSpc>
                  <a:buFont typeface="Wingdings" panose="05000000000000000000" charset="0"/>
                  <a:buChar char="Ø"/>
                </a:pPr>
                <a:r>
                  <a:rPr lang="zh-CN" altLang="en-US" sz="2800" b="1" kern="0" dirty="0">
                    <a:gradFill>
                      <a:gsLst>
                        <a:gs pos="50000">
                          <a:schemeClr val="accent6"/>
                        </a:gs>
                        <a:gs pos="0">
                          <a:schemeClr val="accent6">
                            <a:lumMod val="25000"/>
                            <a:lumOff val="75000"/>
                          </a:schemeClr>
                        </a:gs>
                        <a:gs pos="100000">
                          <a:schemeClr val="accent6">
                            <a:lumMod val="85000"/>
                          </a:schemeClr>
                        </a:gs>
                      </a:gsLst>
                      <a:lin ang="5400000" scaled="1"/>
                    </a:gradFill>
                    <a:latin typeface="微软雅黑" panose="020B0503020204020204" pitchFamily="34" charset="-122"/>
                    <a:ea typeface="微软雅黑" panose="020B0503020204020204" pitchFamily="34" charset="-122"/>
                    <a:sym typeface="+mn-ea"/>
                  </a:rPr>
                  <a:t>运用专业设计工具绘制数字化管理平台的逻辑架构与交互流程</a:t>
                </a: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
          <p:nvSpPr>
            <p:cNvPr id="78" name="六边形 77"/>
            <p:cNvSpPr/>
            <p:nvPr>
              <p:custDataLst>
                <p:tags r:id="rId26"/>
              </p:custDataLst>
            </p:nvPr>
          </p:nvSpPr>
          <p:spPr>
            <a:xfrm>
              <a:off x="12827880" y="1859408"/>
              <a:ext cx="7441565" cy="590585"/>
            </a:xfrm>
            <a:prstGeom prst="hexagon">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79" name="六边形 78"/>
            <p:cNvSpPr/>
            <p:nvPr>
              <p:custDataLst>
                <p:tags r:id="rId27"/>
              </p:custDataLst>
            </p:nvPr>
          </p:nvSpPr>
          <p:spPr>
            <a:xfrm>
              <a:off x="12882009" y="1859408"/>
              <a:ext cx="7333306" cy="590585"/>
            </a:xfrm>
            <a:prstGeom prst="hexagon">
              <a:avLst/>
            </a:prstGeom>
            <a:gradFill>
              <a:gsLst>
                <a:gs pos="100000">
                  <a:srgbClr val="EC8340">
                    <a:lumMod val="20000"/>
                    <a:lumOff val="80000"/>
                  </a:srgbClr>
                </a:gs>
                <a:gs pos="0">
                  <a:sysClr val="window" lastClr="FFFFFF"/>
                </a:gs>
              </a:gsLst>
              <a:lin ang="5400000" scaled="0"/>
            </a:gradFill>
            <a:ln w="12700" cap="flat" cmpd="sng" algn="ctr">
              <a:noFill/>
              <a:prstDash val="solid"/>
              <a:miter lim="800000"/>
            </a:ln>
            <a:effectLst>
              <a:outerShdw blurRad="127000" dist="38100" dir="5400000" algn="t" rotWithShape="0">
                <a:srgbClr val="D7511C">
                  <a:lumMod val="50000"/>
                  <a:alpha val="20000"/>
                </a:srgbClr>
              </a:outerShdw>
            </a:effectLst>
          </p:spPr>
          <p:txBody>
            <a:bodyPr rtlCol="0" anchor="ctr"/>
            <a:lstStyle/>
            <a:p>
              <a:pPr algn="ctr">
                <a:lnSpc>
                  <a:spcPct val="110000"/>
                </a:lnSpc>
                <a:spcBef>
                  <a:spcPts val="0"/>
                </a:spcBef>
                <a:spcAft>
                  <a:spcPts val="0"/>
                </a:spcAft>
                <a:buClrTx/>
                <a:buSzTx/>
                <a:buFontTx/>
              </a:pPr>
              <a:r>
                <a:rPr lang="zh-CN" altLang="en-US" sz="2800" b="1" kern="0" dirty="0">
                  <a:solidFill>
                    <a:srgbClr val="C00000"/>
                  </a:solidFill>
                  <a:latin typeface="微软雅黑" panose="020B0503020204020204" pitchFamily="34" charset="-122"/>
                  <a:ea typeface="微软雅黑" panose="020B0503020204020204" pitchFamily="34" charset="-122"/>
                  <a:sym typeface="+mn-ea"/>
                </a:rPr>
                <a:t>交互设计法</a:t>
              </a:r>
              <a:endParaRPr lang="zh-CN" altLang="en-US" sz="2800" b="1" kern="0" dirty="0">
                <a:solidFill>
                  <a:srgbClr val="C00000"/>
                </a:solidFill>
                <a:latin typeface="微软雅黑" panose="020B0503020204020204" pitchFamily="34" charset="-122"/>
                <a:ea typeface="微软雅黑" panose="020B0503020204020204" pitchFamily="34" charset="-122"/>
                <a:sym typeface="+mn-ea"/>
              </a:endParaRPr>
            </a:p>
          </p:txBody>
        </p:sp>
      </p:grpSp>
      <p:pic>
        <p:nvPicPr>
          <p:cNvPr id="30" name="图片 29"/>
          <p:cNvPicPr>
            <a:picLocks noChangeAspect="1"/>
          </p:cNvPicPr>
          <p:nvPr/>
        </p:nvPicPr>
        <p:blipFill>
          <a:blip r:embed="rId28"/>
          <a:stretch>
            <a:fillRect/>
          </a:stretch>
        </p:blipFill>
        <p:spPr>
          <a:xfrm>
            <a:off x="529460" y="4018227"/>
            <a:ext cx="5553709" cy="2725473"/>
          </a:xfrm>
          <a:prstGeom prst="rect">
            <a:avLst/>
          </a:prstGeom>
        </p:spPr>
      </p:pic>
      <p:grpSp>
        <p:nvGrpSpPr>
          <p:cNvPr id="4" name="Group 35"/>
          <p:cNvGrpSpPr/>
          <p:nvPr/>
        </p:nvGrpSpPr>
        <p:grpSpPr>
          <a:xfrm>
            <a:off x="7496608" y="-399971"/>
            <a:ext cx="2127827" cy="1166061"/>
            <a:chOff x="-4407" y="-123825"/>
            <a:chExt cx="613756" cy="307110"/>
          </a:xfrm>
        </p:grpSpPr>
        <p:sp>
          <p:nvSpPr>
            <p:cNvPr id="5" name="Freeform 36"/>
            <p:cNvSpPr/>
            <p:nvPr/>
          </p:nvSpPr>
          <p:spPr>
            <a:xfrm>
              <a:off x="-4407" y="8261"/>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dirty="0"/>
            </a:p>
          </p:txBody>
        </p:sp>
        <p:sp>
          <p:nvSpPr>
            <p:cNvPr id="6"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7" name="TextBox 64"/>
          <p:cNvSpPr txBox="1"/>
          <p:nvPr/>
        </p:nvSpPr>
        <p:spPr>
          <a:xfrm>
            <a:off x="11607729" y="192268"/>
            <a:ext cx="2314575" cy="4616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0" name="TextBox 65"/>
          <p:cNvSpPr txBox="1"/>
          <p:nvPr/>
        </p:nvSpPr>
        <p:spPr>
          <a:xfrm>
            <a:off x="13617504" y="192268"/>
            <a:ext cx="2232413" cy="46164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1" name="TextBox 66"/>
          <p:cNvSpPr txBox="1"/>
          <p:nvPr/>
        </p:nvSpPr>
        <p:spPr>
          <a:xfrm>
            <a:off x="5189672" y="199629"/>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2" name="TextBox 65"/>
          <p:cNvSpPr txBox="1"/>
          <p:nvPr/>
        </p:nvSpPr>
        <p:spPr>
          <a:xfrm>
            <a:off x="15581836" y="199629"/>
            <a:ext cx="2232413"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3" name="TextBox 66"/>
          <p:cNvSpPr txBox="1"/>
          <p:nvPr/>
        </p:nvSpPr>
        <p:spPr>
          <a:xfrm>
            <a:off x="9593620" y="186035"/>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4" name="TextBox 66"/>
          <p:cNvSpPr txBox="1"/>
          <p:nvPr/>
        </p:nvSpPr>
        <p:spPr>
          <a:xfrm>
            <a:off x="7379603" y="191117"/>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a:off x="7055501"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2">
              <a:alphaModFix amt="15000"/>
            </a:blip>
            <a:stretch>
              <a:fillRect r="-20235"/>
            </a:stretch>
          </a:blipFill>
          <a:ln w="19050" cap="sq">
            <a:solidFill>
              <a:srgbClr val="FCFBF9">
                <a:alpha val="14902"/>
              </a:srgbClr>
            </a:solidFill>
            <a:prstDash val="solid"/>
            <a:miter/>
          </a:ln>
        </p:spPr>
      </p:sp>
      <p:sp>
        <p:nvSpPr>
          <p:cNvPr id="4" name="Freeform 4"/>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3"/>
            <a:stretch>
              <a:fillRect t="-883"/>
            </a:stretch>
          </a:blipFill>
        </p:spPr>
        <p:txBody>
          <a:bodyPr/>
          <a:lstStyle/>
          <a:p>
            <a:endParaRPr lang="zh-CN" altLang="en-US" dirty="0"/>
          </a:p>
        </p:txBody>
      </p:sp>
      <p:grpSp>
        <p:nvGrpSpPr>
          <p:cNvPr id="5" name="Group 5"/>
          <p:cNvGrpSpPr/>
          <p:nvPr/>
        </p:nvGrpSpPr>
        <p:grpSpPr>
          <a:xfrm>
            <a:off x="160070" y="-2829424"/>
            <a:ext cx="5133103" cy="4618309"/>
            <a:chOff x="0" y="0"/>
            <a:chExt cx="6844137" cy="6157745"/>
          </a:xfrm>
        </p:grpSpPr>
        <p:grpSp>
          <p:nvGrpSpPr>
            <p:cNvPr id="6" name="Group 6"/>
            <p:cNvGrpSpPr/>
            <p:nvPr/>
          </p:nvGrpSpPr>
          <p:grpSpPr>
            <a:xfrm rot="215490">
              <a:off x="271581" y="295285"/>
              <a:ext cx="6401327" cy="5667527"/>
              <a:chOff x="0" y="0"/>
              <a:chExt cx="2560354" cy="2266854"/>
            </a:xfrm>
          </p:grpSpPr>
          <p:sp>
            <p:nvSpPr>
              <p:cNvPr id="7" name="Freeform 7"/>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8" name="TextBox 8"/>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9" name="Group 9"/>
            <p:cNvGrpSpPr/>
            <p:nvPr/>
          </p:nvGrpSpPr>
          <p:grpSpPr>
            <a:xfrm rot="215490">
              <a:off x="171229" y="194933"/>
              <a:ext cx="6401327" cy="5667527"/>
              <a:chOff x="0" y="0"/>
              <a:chExt cx="2560354" cy="2266854"/>
            </a:xfrm>
          </p:grpSpPr>
          <p:sp>
            <p:nvSpPr>
              <p:cNvPr id="10" name="Freeform 10"/>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1" name="TextBox 11"/>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2" name="Group 12"/>
            <p:cNvGrpSpPr/>
            <p:nvPr/>
          </p:nvGrpSpPr>
          <p:grpSpPr>
            <a:xfrm>
              <a:off x="124175" y="194933"/>
              <a:ext cx="6401327" cy="5667527"/>
              <a:chOff x="0" y="0"/>
              <a:chExt cx="2560354" cy="2266854"/>
            </a:xfrm>
          </p:grpSpPr>
          <p:sp>
            <p:nvSpPr>
              <p:cNvPr id="13" name="Freeform 13"/>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4" name="TextBox 14"/>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5" name="AutoShape 15"/>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19" name="Freeform 19"/>
          <p:cNvSpPr/>
          <p:nvPr/>
        </p:nvSpPr>
        <p:spPr>
          <a:xfrm flipH="1">
            <a:off x="160070" y="-71799"/>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4"/>
            <a:stretch>
              <a:fillRect/>
            </a:stretch>
          </a:blipFill>
        </p:spPr>
      </p:sp>
      <p:sp>
        <p:nvSpPr>
          <p:cNvPr id="20" name="Freeform 20"/>
          <p:cNvSpPr/>
          <p:nvPr/>
        </p:nvSpPr>
        <p:spPr>
          <a:xfrm>
            <a:off x="4534322" y="2128374"/>
            <a:ext cx="7025651" cy="4701848"/>
          </a:xfrm>
          <a:custGeom>
            <a:avLst/>
            <a:gdLst/>
            <a:ahLst/>
            <a:cxnLst/>
            <a:rect l="l" t="t" r="r" b="b"/>
            <a:pathLst>
              <a:path w="7025651" h="4701848">
                <a:moveTo>
                  <a:pt x="0" y="0"/>
                </a:moveTo>
                <a:lnTo>
                  <a:pt x="7025651" y="0"/>
                </a:lnTo>
                <a:lnTo>
                  <a:pt x="7025651" y="4701847"/>
                </a:lnTo>
                <a:lnTo>
                  <a:pt x="0" y="470184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1" name="Freeform 21"/>
          <p:cNvSpPr/>
          <p:nvPr/>
        </p:nvSpPr>
        <p:spPr>
          <a:xfrm>
            <a:off x="7698185" y="2898199"/>
            <a:ext cx="575881" cy="817304"/>
          </a:xfrm>
          <a:custGeom>
            <a:avLst/>
            <a:gdLst/>
            <a:ahLst/>
            <a:cxnLst/>
            <a:rect l="l" t="t" r="r" b="b"/>
            <a:pathLst>
              <a:path w="575881" h="817304">
                <a:moveTo>
                  <a:pt x="0" y="0"/>
                </a:moveTo>
                <a:lnTo>
                  <a:pt x="575881" y="0"/>
                </a:lnTo>
                <a:lnTo>
                  <a:pt x="575881" y="817305"/>
                </a:lnTo>
                <a:lnTo>
                  <a:pt x="0" y="81730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2" name="Freeform 22"/>
          <p:cNvSpPr/>
          <p:nvPr/>
        </p:nvSpPr>
        <p:spPr>
          <a:xfrm>
            <a:off x="10000114" y="5140652"/>
            <a:ext cx="745417" cy="1019374"/>
          </a:xfrm>
          <a:custGeom>
            <a:avLst/>
            <a:gdLst/>
            <a:ahLst/>
            <a:cxnLst/>
            <a:rect l="l" t="t" r="r" b="b"/>
            <a:pathLst>
              <a:path w="745417" h="1019374">
                <a:moveTo>
                  <a:pt x="0" y="0"/>
                </a:moveTo>
                <a:lnTo>
                  <a:pt x="745417" y="0"/>
                </a:lnTo>
                <a:lnTo>
                  <a:pt x="745417" y="1019375"/>
                </a:lnTo>
                <a:lnTo>
                  <a:pt x="0" y="101937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3" name="Freeform 23"/>
          <p:cNvSpPr/>
          <p:nvPr/>
        </p:nvSpPr>
        <p:spPr>
          <a:xfrm>
            <a:off x="5106619" y="5066132"/>
            <a:ext cx="1187466" cy="1187466"/>
          </a:xfrm>
          <a:custGeom>
            <a:avLst/>
            <a:gdLst/>
            <a:ahLst/>
            <a:cxnLst/>
            <a:rect l="l" t="t" r="r" b="b"/>
            <a:pathLst>
              <a:path w="1187466" h="1187466">
                <a:moveTo>
                  <a:pt x="0" y="0"/>
                </a:moveTo>
                <a:lnTo>
                  <a:pt x="1187466" y="0"/>
                </a:lnTo>
                <a:lnTo>
                  <a:pt x="1187466" y="1187466"/>
                </a:lnTo>
                <a:lnTo>
                  <a:pt x="0" y="1187466"/>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24" name="Group 24"/>
          <p:cNvGrpSpPr/>
          <p:nvPr/>
        </p:nvGrpSpPr>
        <p:grpSpPr>
          <a:xfrm rot="-10800000">
            <a:off x="9045453" y="7161516"/>
            <a:ext cx="8647508" cy="2387318"/>
            <a:chOff x="0" y="0"/>
            <a:chExt cx="1935522" cy="706564"/>
          </a:xfrm>
        </p:grpSpPr>
        <p:sp>
          <p:nvSpPr>
            <p:cNvPr id="25" name="Freeform 25"/>
            <p:cNvSpPr/>
            <p:nvPr/>
          </p:nvSpPr>
          <p:spPr>
            <a:xfrm>
              <a:off x="0" y="0"/>
              <a:ext cx="1935522" cy="706564"/>
            </a:xfrm>
            <a:custGeom>
              <a:avLst/>
              <a:gdLst/>
              <a:ahLst/>
              <a:cxnLst/>
              <a:rect l="l" t="t" r="r" b="b"/>
              <a:pathLst>
                <a:path w="1935522" h="706564">
                  <a:moveTo>
                    <a:pt x="26015" y="0"/>
                  </a:moveTo>
                  <a:lnTo>
                    <a:pt x="1909508" y="0"/>
                  </a:lnTo>
                  <a:cubicBezTo>
                    <a:pt x="1923875" y="0"/>
                    <a:pt x="1935522" y="11647"/>
                    <a:pt x="1935522" y="26015"/>
                  </a:cubicBezTo>
                  <a:lnTo>
                    <a:pt x="1935522" y="680549"/>
                  </a:lnTo>
                  <a:cubicBezTo>
                    <a:pt x="1935522" y="694917"/>
                    <a:pt x="1923875" y="706564"/>
                    <a:pt x="1909508" y="706564"/>
                  </a:cubicBezTo>
                  <a:lnTo>
                    <a:pt x="26015" y="706564"/>
                  </a:lnTo>
                  <a:cubicBezTo>
                    <a:pt x="19115" y="706564"/>
                    <a:pt x="12498" y="703823"/>
                    <a:pt x="7620" y="698945"/>
                  </a:cubicBezTo>
                  <a:cubicBezTo>
                    <a:pt x="2741" y="694066"/>
                    <a:pt x="0" y="687449"/>
                    <a:pt x="0" y="680549"/>
                  </a:cubicBezTo>
                  <a:lnTo>
                    <a:pt x="0" y="26015"/>
                  </a:lnTo>
                  <a:cubicBezTo>
                    <a:pt x="0" y="19115"/>
                    <a:pt x="2741" y="12498"/>
                    <a:pt x="7620" y="7620"/>
                  </a:cubicBezTo>
                  <a:cubicBezTo>
                    <a:pt x="12498" y="2741"/>
                    <a:pt x="19115" y="0"/>
                    <a:pt x="26015" y="0"/>
                  </a:cubicBezTo>
                  <a:close/>
                </a:path>
              </a:pathLst>
            </a:custGeom>
            <a:gradFill rotWithShape="1">
              <a:gsLst>
                <a:gs pos="0">
                  <a:srgbClr val="FFFFFF">
                    <a:alpha val="100000"/>
                  </a:srgbClr>
                </a:gs>
                <a:gs pos="100000">
                  <a:srgbClr val="FFE7BF">
                    <a:alpha val="100000"/>
                  </a:srgbClr>
                </a:gs>
              </a:gsLst>
              <a:path path="circle">
                <a:fillToRect r="100000" b="100000"/>
              </a:path>
              <a:tileRect l="-100000" t="-100000"/>
            </a:gradFill>
          </p:spPr>
        </p:sp>
        <p:sp>
          <p:nvSpPr>
            <p:cNvPr id="26" name="TextBox 26"/>
            <p:cNvSpPr txBox="1"/>
            <p:nvPr/>
          </p:nvSpPr>
          <p:spPr>
            <a:xfrm>
              <a:off x="0" y="-114300"/>
              <a:ext cx="1935522" cy="820864"/>
            </a:xfrm>
            <a:prstGeom prst="rect">
              <a:avLst/>
            </a:prstGeom>
          </p:spPr>
          <p:txBody>
            <a:bodyPr lIns="51429" tIns="51429" rIns="51429" bIns="51429" rtlCol="0" anchor="ctr"/>
            <a:lstStyle/>
            <a:p>
              <a:pPr algn="ctr">
                <a:lnSpc>
                  <a:spcPts val="378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27" name="Group 27"/>
          <p:cNvGrpSpPr/>
          <p:nvPr/>
        </p:nvGrpSpPr>
        <p:grpSpPr>
          <a:xfrm>
            <a:off x="641771" y="7124700"/>
            <a:ext cx="6067619" cy="2424135"/>
            <a:chOff x="0" y="0"/>
            <a:chExt cx="1634534" cy="706564"/>
          </a:xfrm>
        </p:grpSpPr>
        <p:sp>
          <p:nvSpPr>
            <p:cNvPr id="28" name="Freeform 28"/>
            <p:cNvSpPr/>
            <p:nvPr/>
          </p:nvSpPr>
          <p:spPr>
            <a:xfrm>
              <a:off x="0" y="0"/>
              <a:ext cx="1634534" cy="706564"/>
            </a:xfrm>
            <a:custGeom>
              <a:avLst/>
              <a:gdLst/>
              <a:ahLst/>
              <a:cxnLst/>
              <a:rect l="l" t="t" r="r" b="b"/>
              <a:pathLst>
                <a:path w="1634534" h="706564">
                  <a:moveTo>
                    <a:pt x="30805" y="0"/>
                  </a:moveTo>
                  <a:lnTo>
                    <a:pt x="1603729" y="0"/>
                  </a:lnTo>
                  <a:cubicBezTo>
                    <a:pt x="1620742" y="0"/>
                    <a:pt x="1634534" y="13792"/>
                    <a:pt x="1634534" y="30805"/>
                  </a:cubicBezTo>
                  <a:lnTo>
                    <a:pt x="1634534" y="675759"/>
                  </a:lnTo>
                  <a:cubicBezTo>
                    <a:pt x="1634534" y="683929"/>
                    <a:pt x="1631288" y="691765"/>
                    <a:pt x="1625511" y="697542"/>
                  </a:cubicBezTo>
                  <a:cubicBezTo>
                    <a:pt x="1619734" y="703319"/>
                    <a:pt x="1611899" y="706564"/>
                    <a:pt x="1603729" y="706564"/>
                  </a:cubicBezTo>
                  <a:lnTo>
                    <a:pt x="30805" y="706564"/>
                  </a:lnTo>
                  <a:cubicBezTo>
                    <a:pt x="22635" y="706564"/>
                    <a:pt x="14800" y="703319"/>
                    <a:pt x="9023" y="697542"/>
                  </a:cubicBezTo>
                  <a:cubicBezTo>
                    <a:pt x="3246" y="691765"/>
                    <a:pt x="0" y="683929"/>
                    <a:pt x="0" y="675759"/>
                  </a:cubicBezTo>
                  <a:lnTo>
                    <a:pt x="0" y="30805"/>
                  </a:lnTo>
                  <a:cubicBezTo>
                    <a:pt x="0" y="22635"/>
                    <a:pt x="3246" y="14800"/>
                    <a:pt x="9023" y="9023"/>
                  </a:cubicBezTo>
                  <a:cubicBezTo>
                    <a:pt x="14800" y="3246"/>
                    <a:pt x="22635" y="0"/>
                    <a:pt x="30805" y="0"/>
                  </a:cubicBezTo>
                  <a:close/>
                </a:path>
              </a:pathLst>
            </a:custGeom>
            <a:gradFill rotWithShape="1">
              <a:gsLst>
                <a:gs pos="0">
                  <a:srgbClr val="FFFFFF">
                    <a:alpha val="100000"/>
                  </a:srgbClr>
                </a:gs>
                <a:gs pos="100000">
                  <a:srgbClr val="FFE7BF">
                    <a:alpha val="100000"/>
                  </a:srgbClr>
                </a:gs>
              </a:gsLst>
              <a:path path="circle">
                <a:fillToRect r="100000" b="100000"/>
              </a:path>
              <a:tileRect l="-100000" t="-100000"/>
            </a:gradFill>
          </p:spPr>
        </p:sp>
        <p:sp>
          <p:nvSpPr>
            <p:cNvPr id="29" name="TextBox 29"/>
            <p:cNvSpPr txBox="1"/>
            <p:nvPr/>
          </p:nvSpPr>
          <p:spPr>
            <a:xfrm>
              <a:off x="0" y="-114300"/>
              <a:ext cx="1634534" cy="820864"/>
            </a:xfrm>
            <a:prstGeom prst="rect">
              <a:avLst/>
            </a:prstGeom>
          </p:spPr>
          <p:txBody>
            <a:bodyPr lIns="51429" tIns="51429" rIns="51429" bIns="51429" rtlCol="0" anchor="ctr"/>
            <a:lstStyle/>
            <a:p>
              <a:pPr algn="ctr">
                <a:lnSpc>
                  <a:spcPts val="378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30" name="Group 30"/>
          <p:cNvGrpSpPr/>
          <p:nvPr/>
        </p:nvGrpSpPr>
        <p:grpSpPr>
          <a:xfrm>
            <a:off x="267482" y="2019466"/>
            <a:ext cx="6282958" cy="1459792"/>
            <a:chOff x="0" y="0"/>
            <a:chExt cx="1634534" cy="537698"/>
          </a:xfrm>
        </p:grpSpPr>
        <p:sp>
          <p:nvSpPr>
            <p:cNvPr id="31" name="Freeform 31"/>
            <p:cNvSpPr/>
            <p:nvPr/>
          </p:nvSpPr>
          <p:spPr>
            <a:xfrm>
              <a:off x="0" y="0"/>
              <a:ext cx="1634534" cy="537698"/>
            </a:xfrm>
            <a:custGeom>
              <a:avLst/>
              <a:gdLst/>
              <a:ahLst/>
              <a:cxnLst/>
              <a:rect l="l" t="t" r="r" b="b"/>
              <a:pathLst>
                <a:path w="1634534" h="537698">
                  <a:moveTo>
                    <a:pt x="30805" y="0"/>
                  </a:moveTo>
                  <a:lnTo>
                    <a:pt x="1603729" y="0"/>
                  </a:lnTo>
                  <a:cubicBezTo>
                    <a:pt x="1620742" y="0"/>
                    <a:pt x="1634534" y="13792"/>
                    <a:pt x="1634534" y="30805"/>
                  </a:cubicBezTo>
                  <a:lnTo>
                    <a:pt x="1634534" y="506892"/>
                  </a:lnTo>
                  <a:cubicBezTo>
                    <a:pt x="1634534" y="515062"/>
                    <a:pt x="1631288" y="522898"/>
                    <a:pt x="1625511" y="528675"/>
                  </a:cubicBezTo>
                  <a:cubicBezTo>
                    <a:pt x="1619734" y="534452"/>
                    <a:pt x="1611899" y="537698"/>
                    <a:pt x="1603729" y="537698"/>
                  </a:cubicBezTo>
                  <a:lnTo>
                    <a:pt x="30805" y="537698"/>
                  </a:lnTo>
                  <a:cubicBezTo>
                    <a:pt x="22635" y="537698"/>
                    <a:pt x="14800" y="534452"/>
                    <a:pt x="9023" y="528675"/>
                  </a:cubicBezTo>
                  <a:cubicBezTo>
                    <a:pt x="3246" y="522898"/>
                    <a:pt x="0" y="515062"/>
                    <a:pt x="0" y="506892"/>
                  </a:cubicBezTo>
                  <a:lnTo>
                    <a:pt x="0" y="30805"/>
                  </a:lnTo>
                  <a:cubicBezTo>
                    <a:pt x="0" y="22635"/>
                    <a:pt x="3246" y="14800"/>
                    <a:pt x="9023" y="9023"/>
                  </a:cubicBezTo>
                  <a:cubicBezTo>
                    <a:pt x="14800" y="3246"/>
                    <a:pt x="22635" y="0"/>
                    <a:pt x="30805" y="0"/>
                  </a:cubicBezTo>
                  <a:close/>
                </a:path>
              </a:pathLst>
            </a:custGeom>
            <a:gradFill rotWithShape="1">
              <a:gsLst>
                <a:gs pos="0">
                  <a:srgbClr val="FFFFFF">
                    <a:alpha val="100000"/>
                  </a:srgbClr>
                </a:gs>
                <a:gs pos="100000">
                  <a:srgbClr val="FFE7BF">
                    <a:alpha val="100000"/>
                  </a:srgbClr>
                </a:gs>
              </a:gsLst>
              <a:path path="circle">
                <a:fillToRect r="100000" b="100000"/>
              </a:path>
              <a:tileRect l="-100000" t="-100000"/>
            </a:gradFill>
          </p:spPr>
        </p:sp>
        <p:sp>
          <p:nvSpPr>
            <p:cNvPr id="32" name="TextBox 32"/>
            <p:cNvSpPr txBox="1"/>
            <p:nvPr/>
          </p:nvSpPr>
          <p:spPr>
            <a:xfrm>
              <a:off x="0" y="-114300"/>
              <a:ext cx="1634534" cy="651998"/>
            </a:xfrm>
            <a:prstGeom prst="rect">
              <a:avLst/>
            </a:prstGeom>
          </p:spPr>
          <p:txBody>
            <a:bodyPr lIns="51429" tIns="51429" rIns="51429" bIns="51429" rtlCol="0" anchor="ctr"/>
            <a:lstStyle/>
            <a:p>
              <a:pPr algn="ctr">
                <a:lnSpc>
                  <a:spcPts val="378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33" name="Group 33"/>
          <p:cNvGrpSpPr/>
          <p:nvPr/>
        </p:nvGrpSpPr>
        <p:grpSpPr>
          <a:xfrm>
            <a:off x="9289755" y="7362825"/>
            <a:ext cx="8403206" cy="1981221"/>
            <a:chOff x="0" y="283089"/>
            <a:chExt cx="9113200" cy="2641626"/>
          </a:xfrm>
        </p:grpSpPr>
        <p:sp>
          <p:nvSpPr>
            <p:cNvPr id="34" name="TextBox 34"/>
            <p:cNvSpPr txBox="1"/>
            <p:nvPr/>
          </p:nvSpPr>
          <p:spPr>
            <a:xfrm>
              <a:off x="0" y="283089"/>
              <a:ext cx="8596688" cy="596900"/>
            </a:xfrm>
            <a:prstGeom prst="rect">
              <a:avLst/>
            </a:prstGeom>
          </p:spPr>
          <p:txBody>
            <a:bodyPr lIns="0" tIns="0" rIns="0" bIns="0" rtlCol="0" anchor="t">
              <a:spAutoFit/>
            </a:bodyPr>
            <a:lstStyle/>
            <a:p>
              <a:pPr algn="l">
                <a:lnSpc>
                  <a:spcPts val="3550"/>
                </a:lnSpc>
                <a:spcBef>
                  <a:spcPct val="0"/>
                </a:spcBef>
              </a:pPr>
              <a:r>
                <a:rPr lang="en-US" sz="2960" b="1" spc="59" dirty="0" err="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制约因素</a:t>
              </a:r>
              <a:endParaRPr lang="en-US" sz="2960" b="1" spc="59" dirty="0">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5" name="TextBox 35"/>
            <p:cNvSpPr txBox="1"/>
            <p:nvPr/>
          </p:nvSpPr>
          <p:spPr>
            <a:xfrm>
              <a:off x="1" y="975720"/>
              <a:ext cx="9113199" cy="1948995"/>
            </a:xfrm>
            <a:prstGeom prst="rect">
              <a:avLst/>
            </a:prstGeom>
          </p:spPr>
          <p:txBody>
            <a:bodyPr wrap="square" lIns="0" tIns="0" rIns="0" bIns="0" rtlCol="0" anchor="t">
              <a:spAutoFit/>
            </a:bodyPr>
            <a:lstStyle/>
            <a:p>
              <a:pPr marL="342900" indent="-342900">
                <a:lnSpc>
                  <a:spcPct val="150000"/>
                </a:lnSpc>
                <a:buFont typeface="Arial" panose="020B0604020202020204" pitchFamily="34" charset="0"/>
                <a:buChar char="•"/>
              </a:pPr>
              <a:r>
                <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供给侧：房价波动、长寿风险、估值标准不统一 → 产品门槛高</a:t>
              </a:r>
              <a:endPar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ct val="150000"/>
                </a:lnSpc>
                <a:buFont typeface="Arial" panose="020B0604020202020204" pitchFamily="34" charset="0"/>
                <a:buChar char="•"/>
              </a:pPr>
              <a:r>
                <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需求侧：代际传承观念、信任不足、成本高 → 参与意愿弱</a:t>
              </a:r>
              <a:endPar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ct val="150000"/>
                </a:lnSpc>
                <a:buFont typeface="Arial" panose="020B0604020202020204" pitchFamily="34" charset="0"/>
                <a:buChar char="•"/>
              </a:pPr>
              <a:r>
                <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制度层：法律衔接不完善、监管与兜底不足 → 落地推广难</a:t>
              </a:r>
              <a:endPar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36" name="Group 36"/>
          <p:cNvGrpSpPr/>
          <p:nvPr/>
        </p:nvGrpSpPr>
        <p:grpSpPr>
          <a:xfrm>
            <a:off x="12639772" y="1622475"/>
            <a:ext cx="4821220" cy="5713645"/>
            <a:chOff x="0" y="0"/>
            <a:chExt cx="6428293" cy="7618193"/>
          </a:xfrm>
        </p:grpSpPr>
        <p:grpSp>
          <p:nvGrpSpPr>
            <p:cNvPr id="37" name="Group 37"/>
            <p:cNvGrpSpPr/>
            <p:nvPr/>
          </p:nvGrpSpPr>
          <p:grpSpPr>
            <a:xfrm>
              <a:off x="0" y="0"/>
              <a:ext cx="6428293" cy="7618193"/>
              <a:chOff x="0" y="0"/>
              <a:chExt cx="1254257" cy="1486425"/>
            </a:xfrm>
          </p:grpSpPr>
          <p:sp>
            <p:nvSpPr>
              <p:cNvPr id="38" name="Freeform 38"/>
              <p:cNvSpPr/>
              <p:nvPr/>
            </p:nvSpPr>
            <p:spPr>
              <a:xfrm>
                <a:off x="0" y="0"/>
                <a:ext cx="1254257" cy="1486425"/>
              </a:xfrm>
              <a:custGeom>
                <a:avLst/>
                <a:gdLst/>
                <a:ahLst/>
                <a:cxnLst/>
                <a:rect l="l" t="t" r="r" b="b"/>
                <a:pathLst>
                  <a:path w="1254257" h="1486425">
                    <a:moveTo>
                      <a:pt x="47882" y="0"/>
                    </a:moveTo>
                    <a:lnTo>
                      <a:pt x="1206375" y="0"/>
                    </a:lnTo>
                    <a:cubicBezTo>
                      <a:pt x="1232820" y="0"/>
                      <a:pt x="1254257" y="21437"/>
                      <a:pt x="1254257" y="47882"/>
                    </a:cubicBezTo>
                    <a:lnTo>
                      <a:pt x="1254257" y="1438543"/>
                    </a:lnTo>
                    <a:cubicBezTo>
                      <a:pt x="1254257" y="1464987"/>
                      <a:pt x="1232820" y="1486425"/>
                      <a:pt x="1206375" y="1486425"/>
                    </a:cubicBezTo>
                    <a:lnTo>
                      <a:pt x="47882" y="1486425"/>
                    </a:lnTo>
                    <a:cubicBezTo>
                      <a:pt x="21437" y="1486425"/>
                      <a:pt x="0" y="1464987"/>
                      <a:pt x="0" y="1438543"/>
                    </a:cubicBezTo>
                    <a:lnTo>
                      <a:pt x="0" y="47882"/>
                    </a:lnTo>
                    <a:cubicBezTo>
                      <a:pt x="0" y="21437"/>
                      <a:pt x="21437" y="0"/>
                      <a:pt x="47882" y="0"/>
                    </a:cubicBezTo>
                    <a:close/>
                  </a:path>
                </a:pathLst>
              </a:custGeom>
              <a:gradFill rotWithShape="1">
                <a:gsLst>
                  <a:gs pos="0">
                    <a:srgbClr val="EE7E35">
                      <a:alpha val="100000"/>
                    </a:srgbClr>
                  </a:gs>
                  <a:gs pos="100000">
                    <a:srgbClr val="FFA65C">
                      <a:alpha val="100000"/>
                    </a:srgbClr>
                  </a:gs>
                </a:gsLst>
                <a:lin ang="5400000"/>
              </a:gradFill>
            </p:spPr>
          </p:sp>
          <p:sp>
            <p:nvSpPr>
              <p:cNvPr id="39" name="TextBox 39"/>
              <p:cNvSpPr txBox="1"/>
              <p:nvPr/>
            </p:nvSpPr>
            <p:spPr>
              <a:xfrm>
                <a:off x="0" y="-114300"/>
                <a:ext cx="1254257" cy="1600725"/>
              </a:xfrm>
              <a:prstGeom prst="rect">
                <a:avLst/>
              </a:prstGeom>
            </p:spPr>
            <p:txBody>
              <a:bodyPr lIns="51743" tIns="51743" rIns="51743" bIns="51743" rtlCol="0" anchor="ctr"/>
              <a:lstStyle/>
              <a:p>
                <a:pPr algn="ctr">
                  <a:lnSpc>
                    <a:spcPts val="378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40" name="Group 40"/>
            <p:cNvGrpSpPr/>
            <p:nvPr/>
          </p:nvGrpSpPr>
          <p:grpSpPr>
            <a:xfrm>
              <a:off x="277232" y="1412007"/>
              <a:ext cx="5873828" cy="5973388"/>
              <a:chOff x="0" y="0"/>
              <a:chExt cx="1146073" cy="1165499"/>
            </a:xfrm>
          </p:grpSpPr>
          <p:sp>
            <p:nvSpPr>
              <p:cNvPr id="41" name="Freeform 41"/>
              <p:cNvSpPr/>
              <p:nvPr/>
            </p:nvSpPr>
            <p:spPr>
              <a:xfrm>
                <a:off x="0" y="0"/>
                <a:ext cx="1146073" cy="1165499"/>
              </a:xfrm>
              <a:custGeom>
                <a:avLst/>
                <a:gdLst/>
                <a:ahLst/>
                <a:cxnLst/>
                <a:rect l="l" t="t" r="r" b="b"/>
                <a:pathLst>
                  <a:path w="1146073" h="1165499">
                    <a:moveTo>
                      <a:pt x="43668" y="0"/>
                    </a:moveTo>
                    <a:lnTo>
                      <a:pt x="1102405" y="0"/>
                    </a:lnTo>
                    <a:cubicBezTo>
                      <a:pt x="1113986" y="0"/>
                      <a:pt x="1125093" y="4601"/>
                      <a:pt x="1133283" y="12790"/>
                    </a:cubicBezTo>
                    <a:cubicBezTo>
                      <a:pt x="1141472" y="20979"/>
                      <a:pt x="1146073" y="32087"/>
                      <a:pt x="1146073" y="43668"/>
                    </a:cubicBezTo>
                    <a:lnTo>
                      <a:pt x="1146073" y="1121830"/>
                    </a:lnTo>
                    <a:cubicBezTo>
                      <a:pt x="1146073" y="1145948"/>
                      <a:pt x="1126522" y="1165499"/>
                      <a:pt x="1102405" y="1165499"/>
                    </a:cubicBezTo>
                    <a:lnTo>
                      <a:pt x="43668" y="1165499"/>
                    </a:lnTo>
                    <a:cubicBezTo>
                      <a:pt x="32087" y="1165499"/>
                      <a:pt x="20979" y="1160898"/>
                      <a:pt x="12790" y="1152708"/>
                    </a:cubicBezTo>
                    <a:cubicBezTo>
                      <a:pt x="4601" y="1144519"/>
                      <a:pt x="0" y="1133412"/>
                      <a:pt x="0" y="1121830"/>
                    </a:cubicBezTo>
                    <a:lnTo>
                      <a:pt x="0" y="43668"/>
                    </a:lnTo>
                    <a:cubicBezTo>
                      <a:pt x="0" y="19551"/>
                      <a:pt x="19551" y="0"/>
                      <a:pt x="43668" y="0"/>
                    </a:cubicBezTo>
                    <a:close/>
                  </a:path>
                </a:pathLst>
              </a:custGeom>
              <a:solidFill>
                <a:srgbClr val="FCFBF9"/>
              </a:solidFill>
            </p:spPr>
          </p:sp>
          <p:sp>
            <p:nvSpPr>
              <p:cNvPr id="42" name="TextBox 42"/>
              <p:cNvSpPr txBox="1"/>
              <p:nvPr/>
            </p:nvSpPr>
            <p:spPr>
              <a:xfrm>
                <a:off x="0" y="-114300"/>
                <a:ext cx="1146073" cy="1279799"/>
              </a:xfrm>
              <a:prstGeom prst="rect">
                <a:avLst/>
              </a:prstGeom>
            </p:spPr>
            <p:txBody>
              <a:bodyPr lIns="51743" tIns="51743" rIns="51743" bIns="51743" rtlCol="0" anchor="ctr"/>
              <a:lstStyle/>
              <a:p>
                <a:pPr algn="ctr">
                  <a:lnSpc>
                    <a:spcPts val="378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43" name="TextBox 43"/>
            <p:cNvSpPr txBox="1"/>
            <p:nvPr/>
          </p:nvSpPr>
          <p:spPr>
            <a:xfrm>
              <a:off x="307565" y="178416"/>
              <a:ext cx="5813162" cy="1025667"/>
            </a:xfrm>
            <a:prstGeom prst="rect">
              <a:avLst/>
            </a:prstGeom>
          </p:spPr>
          <p:txBody>
            <a:bodyPr lIns="0" tIns="0" rIns="0" bIns="0" rtlCol="0" anchor="t">
              <a:spAutoFit/>
            </a:bodyPr>
            <a:lstStyle/>
            <a:p>
              <a:pPr algn="ctr">
                <a:lnSpc>
                  <a:spcPts val="6795"/>
                </a:lnSpc>
                <a:spcBef>
                  <a:spcPct val="0"/>
                </a:spcBef>
              </a:pPr>
              <a:r>
                <a:rPr lang="en-US" sz="3775" b="1" spc="35">
                  <a:solidFill>
                    <a:srgbClr val="FFFFFF"/>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核心研究极为有限</a:t>
              </a:r>
              <a:endParaRPr lang="en-US" sz="3775" b="1" spc="35">
                <a:solidFill>
                  <a:srgbClr val="FFFFFF"/>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44" name="TextBox 44"/>
            <p:cNvSpPr txBox="1"/>
            <p:nvPr/>
          </p:nvSpPr>
          <p:spPr>
            <a:xfrm>
              <a:off x="555943" y="1788351"/>
              <a:ext cx="5316409" cy="5225626"/>
            </a:xfrm>
            <a:prstGeom prst="rect">
              <a:avLst/>
            </a:prstGeom>
          </p:spPr>
          <p:txBody>
            <a:bodyPr lIns="0" tIns="0" rIns="0" bIns="0" rtlCol="0" anchor="t">
              <a:spAutoFit/>
            </a:bodyPr>
            <a:lstStyle/>
            <a:p>
              <a:pPr marL="570865" lvl="1" indent="-285115" algn="l">
                <a:lnSpc>
                  <a:spcPts val="4755"/>
                </a:lnSpc>
                <a:buFont typeface="微软雅黑" panose="020B0503020204020204" pitchFamily="34" charset="-122"/>
                <a:buChar char="•"/>
              </a:pPr>
              <a:r>
                <a:rPr lang="en-US" sz="2645" spc="-150">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rPr>
                <a:t>缺乏对信托以房养老新型制度安排接受机制的系统性</a:t>
              </a:r>
              <a:r>
                <a:rPr lang="en-US" sz="2645" b="1" spc="-150">
                  <a:solidFill>
                    <a:srgbClr val="0000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实证检验</a:t>
              </a:r>
              <a:endParaRPr lang="en-US" sz="2645" spc="-150">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endParaRPr>
            </a:p>
            <a:p>
              <a:pPr algn="l">
                <a:lnSpc>
                  <a:spcPts val="1795"/>
                </a:lnSpc>
              </a:pPr>
              <a:endParaRPr lang="en-US" sz="2645" spc="-150">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endParaRPr>
            </a:p>
            <a:p>
              <a:pPr marL="570865" lvl="1" indent="-285115" algn="l">
                <a:lnSpc>
                  <a:spcPts val="4835"/>
                </a:lnSpc>
                <a:buFont typeface="微软雅黑" panose="020B0503020204020204" pitchFamily="34" charset="-122"/>
                <a:buChar char="•"/>
              </a:pPr>
              <a:r>
                <a:rPr lang="en-US" sz="2645" spc="-150">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rPr>
                <a:t>极少关注</a:t>
              </a:r>
              <a:r>
                <a:rPr lang="en-US" sz="2645" b="1" spc="-150">
                  <a:solidFill>
                    <a:srgbClr val="0000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中青年子女</a:t>
              </a:r>
              <a:r>
                <a:rPr lang="en-US" sz="2645" spc="-150">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rPr>
                <a:t>作 为代际守门人在资产处置决策中的量化作用</a:t>
              </a:r>
              <a:endParaRPr lang="en-US" sz="2645" spc="-150">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endParaRPr>
            </a:p>
          </p:txBody>
        </p:sp>
      </p:grpSp>
      <p:sp>
        <p:nvSpPr>
          <p:cNvPr id="45" name="Freeform 45"/>
          <p:cNvSpPr/>
          <p:nvPr/>
        </p:nvSpPr>
        <p:spPr>
          <a:xfrm rot="5145022">
            <a:off x="2009050" y="4792873"/>
            <a:ext cx="2848168" cy="1072182"/>
          </a:xfrm>
          <a:custGeom>
            <a:avLst/>
            <a:gdLst/>
            <a:ahLst/>
            <a:cxnLst/>
            <a:rect l="l" t="t" r="r" b="b"/>
            <a:pathLst>
              <a:path w="2314561" h="920038">
                <a:moveTo>
                  <a:pt x="0" y="0"/>
                </a:moveTo>
                <a:lnTo>
                  <a:pt x="2314561" y="0"/>
                </a:lnTo>
                <a:lnTo>
                  <a:pt x="2314561" y="920038"/>
                </a:lnTo>
                <a:lnTo>
                  <a:pt x="0" y="920038"/>
                </a:lnTo>
                <a:lnTo>
                  <a:pt x="0" y="0"/>
                </a:lnTo>
                <a:close/>
              </a:path>
            </a:pathLst>
          </a:custGeom>
          <a:blipFill>
            <a:blip r:embed="rId13"/>
            <a:stretch>
              <a:fillRect/>
            </a:stretch>
          </a:blipFill>
        </p:spPr>
      </p:sp>
      <p:sp>
        <p:nvSpPr>
          <p:cNvPr id="46" name="Freeform 46"/>
          <p:cNvSpPr/>
          <p:nvPr/>
        </p:nvSpPr>
        <p:spPr>
          <a:xfrm rot="-645765">
            <a:off x="6878251" y="8256843"/>
            <a:ext cx="2030434" cy="836975"/>
          </a:xfrm>
          <a:custGeom>
            <a:avLst/>
            <a:gdLst/>
            <a:ahLst/>
            <a:cxnLst/>
            <a:rect l="l" t="t" r="r" b="b"/>
            <a:pathLst>
              <a:path w="2314561" h="920038">
                <a:moveTo>
                  <a:pt x="0" y="0"/>
                </a:moveTo>
                <a:lnTo>
                  <a:pt x="2314561" y="0"/>
                </a:lnTo>
                <a:lnTo>
                  <a:pt x="2314561" y="920038"/>
                </a:lnTo>
                <a:lnTo>
                  <a:pt x="0" y="920038"/>
                </a:lnTo>
                <a:lnTo>
                  <a:pt x="0" y="0"/>
                </a:lnTo>
                <a:close/>
              </a:path>
            </a:pathLst>
          </a:custGeom>
          <a:blipFill>
            <a:blip r:embed="rId14"/>
            <a:stretch>
              <a:fillRect/>
            </a:stretch>
          </a:blipFill>
        </p:spPr>
      </p:sp>
      <p:sp>
        <p:nvSpPr>
          <p:cNvPr id="47" name="Freeform 47"/>
          <p:cNvSpPr/>
          <p:nvPr/>
        </p:nvSpPr>
        <p:spPr>
          <a:xfrm>
            <a:off x="10100609" y="1622475"/>
            <a:ext cx="2360839" cy="1870569"/>
          </a:xfrm>
          <a:custGeom>
            <a:avLst/>
            <a:gdLst/>
            <a:ahLst/>
            <a:cxnLst/>
            <a:rect l="l" t="t" r="r" b="b"/>
            <a:pathLst>
              <a:path w="2360839" h="1870569">
                <a:moveTo>
                  <a:pt x="0" y="0"/>
                </a:moveTo>
                <a:lnTo>
                  <a:pt x="2360839" y="0"/>
                </a:lnTo>
                <a:lnTo>
                  <a:pt x="2360839" y="1870569"/>
                </a:lnTo>
                <a:lnTo>
                  <a:pt x="0" y="187056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48" name="Freeform 48"/>
          <p:cNvSpPr/>
          <p:nvPr/>
        </p:nvSpPr>
        <p:spPr>
          <a:xfrm>
            <a:off x="7125319" y="5009611"/>
            <a:ext cx="1843656" cy="1820610"/>
          </a:xfrm>
          <a:custGeom>
            <a:avLst/>
            <a:gdLst/>
            <a:ahLst/>
            <a:cxnLst/>
            <a:rect l="l" t="t" r="r" b="b"/>
            <a:pathLst>
              <a:path w="1843656" h="1820610">
                <a:moveTo>
                  <a:pt x="0" y="0"/>
                </a:moveTo>
                <a:lnTo>
                  <a:pt x="1843656" y="0"/>
                </a:lnTo>
                <a:lnTo>
                  <a:pt x="1843656" y="1820610"/>
                </a:lnTo>
                <a:lnTo>
                  <a:pt x="0" y="1820610"/>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49" name="TextBox 49"/>
          <p:cNvSpPr txBox="1"/>
          <p:nvPr/>
        </p:nvSpPr>
        <p:spPr>
          <a:xfrm>
            <a:off x="294888" y="360232"/>
            <a:ext cx="4728527" cy="679414"/>
          </a:xfrm>
          <a:prstGeom prst="rect">
            <a:avLst/>
          </a:prstGeom>
        </p:spPr>
        <p:txBody>
          <a:bodyPr lIns="0" tIns="0" rIns="0" bIns="0" rtlCol="0" anchor="t">
            <a:spAutoFit/>
          </a:bodyPr>
          <a:lstStyle/>
          <a:p>
            <a:pPr algn="ctr">
              <a:lnSpc>
                <a:spcPts val="5600"/>
              </a:lnSpc>
              <a:spcBef>
                <a:spcPct val="0"/>
              </a:spcBef>
            </a:pPr>
            <a:r>
              <a:rPr lang="en-US" sz="4000" b="1" spc="-11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文献综述</a:t>
            </a:r>
            <a:endParaRPr lang="en-US" sz="4000" b="1" spc="-11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nvGrpSpPr>
          <p:cNvPr id="55" name="Group 55"/>
          <p:cNvGrpSpPr/>
          <p:nvPr/>
        </p:nvGrpSpPr>
        <p:grpSpPr>
          <a:xfrm>
            <a:off x="10644" y="2240106"/>
            <a:ext cx="6353684" cy="914189"/>
            <a:chOff x="0" y="0"/>
            <a:chExt cx="8471578" cy="1218918"/>
          </a:xfrm>
        </p:grpSpPr>
        <p:sp>
          <p:nvSpPr>
            <p:cNvPr id="56" name="TextBox 56"/>
            <p:cNvSpPr txBox="1"/>
            <p:nvPr/>
          </p:nvSpPr>
          <p:spPr>
            <a:xfrm>
              <a:off x="0" y="0"/>
              <a:ext cx="8471576" cy="596900"/>
            </a:xfrm>
            <a:prstGeom prst="rect">
              <a:avLst/>
            </a:prstGeom>
          </p:spPr>
          <p:txBody>
            <a:bodyPr lIns="0" tIns="0" rIns="0" bIns="0" rtlCol="0" anchor="t">
              <a:spAutoFit/>
            </a:bodyPr>
            <a:lstStyle/>
            <a:p>
              <a:pPr algn="r">
                <a:lnSpc>
                  <a:spcPts val="3550"/>
                </a:lnSpc>
                <a:spcBef>
                  <a:spcPct val="0"/>
                </a:spcBef>
              </a:pPr>
              <a:r>
                <a:rPr lang="en-US" sz="2960" b="1" spc="59">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制度基础</a:t>
              </a:r>
              <a:endParaRPr lang="en-US" sz="2960" b="1" spc="59">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7" name="TextBox 57"/>
            <p:cNvSpPr txBox="1"/>
            <p:nvPr/>
          </p:nvSpPr>
          <p:spPr>
            <a:xfrm>
              <a:off x="515163" y="757509"/>
              <a:ext cx="7956415" cy="461409"/>
            </a:xfrm>
            <a:prstGeom prst="rect">
              <a:avLst/>
            </a:prstGeom>
          </p:spPr>
          <p:txBody>
            <a:bodyPr lIns="0" tIns="0" rIns="0" bIns="0" rtlCol="0" anchor="t">
              <a:spAutoFit/>
            </a:bodyPr>
            <a:lstStyle/>
            <a:p>
              <a:pPr algn="r">
                <a:lnSpc>
                  <a:spcPts val="2870"/>
                </a:lnSpc>
              </a:pPr>
              <a:r>
                <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以房养老是一种制度嵌入型金融安排</a:t>
              </a:r>
              <a:endParaRPr lang="en-US" altLang="zh-CN"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sp>
        <p:nvSpPr>
          <p:cNvPr id="58" name="TextBox 58"/>
          <p:cNvSpPr txBox="1"/>
          <p:nvPr/>
        </p:nvSpPr>
        <p:spPr>
          <a:xfrm>
            <a:off x="763063" y="7814293"/>
            <a:ext cx="5620339" cy="1471930"/>
          </a:xfrm>
          <a:prstGeom prst="rect">
            <a:avLst/>
          </a:prstGeom>
        </p:spPr>
        <p:txBody>
          <a:bodyPr wrap="square" lIns="0" tIns="0" rIns="0" bIns="0" rtlCol="0" anchor="t">
            <a:spAutoFit/>
          </a:bodyPr>
          <a:lstStyle/>
          <a:p>
            <a:pPr marL="342900" indent="-342900" algn="just">
              <a:lnSpc>
                <a:spcPts val="2870"/>
              </a:lnSpc>
              <a:buFont typeface="Arial" panose="020B0604020202020204" pitchFamily="34" charset="0"/>
              <a:buChar char="•"/>
            </a:pPr>
            <a:r>
              <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房产具有代际契约属性，代际支持起负向调节作用</a:t>
            </a:r>
            <a:endPar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gn="just">
              <a:lnSpc>
                <a:spcPts val="2870"/>
              </a:lnSpc>
              <a:buFont typeface="Arial" panose="020B0604020202020204" pitchFamily="34" charset="0"/>
              <a:buChar char="•"/>
            </a:pPr>
            <a:r>
              <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制度信任是核心中介变量，决策依赖对未来不确定性的主观评估</a:t>
            </a:r>
            <a:endPar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9" name="TextBox 59"/>
          <p:cNvSpPr txBox="1"/>
          <p:nvPr/>
        </p:nvSpPr>
        <p:spPr>
          <a:xfrm>
            <a:off x="673746" y="7277100"/>
            <a:ext cx="5712358" cy="447675"/>
          </a:xfrm>
          <a:prstGeom prst="rect">
            <a:avLst/>
          </a:prstGeom>
        </p:spPr>
        <p:txBody>
          <a:bodyPr lIns="0" tIns="0" rIns="0" bIns="0" rtlCol="0" anchor="t">
            <a:spAutoFit/>
          </a:bodyPr>
          <a:lstStyle/>
          <a:p>
            <a:pPr algn="r">
              <a:lnSpc>
                <a:spcPts val="3550"/>
              </a:lnSpc>
              <a:spcBef>
                <a:spcPct val="0"/>
              </a:spcBef>
            </a:pPr>
            <a:r>
              <a:rPr lang="en-US" sz="2960" b="1" spc="59" dirty="0" err="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家庭决策</a:t>
            </a:r>
            <a:endParaRPr lang="en-US" sz="2960" b="1" spc="59" dirty="0">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nvGrpSpPr>
          <p:cNvPr id="51" name="Group 35"/>
          <p:cNvGrpSpPr/>
          <p:nvPr/>
        </p:nvGrpSpPr>
        <p:grpSpPr>
          <a:xfrm>
            <a:off x="9534747" y="-381623"/>
            <a:ext cx="2112548" cy="1134695"/>
            <a:chOff x="0" y="-123825"/>
            <a:chExt cx="609349" cy="298849"/>
          </a:xfrm>
        </p:grpSpPr>
        <p:sp>
          <p:nvSpPr>
            <p:cNvPr id="52" name="Freeform 3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a:p>
          </p:txBody>
        </p:sp>
        <p:sp>
          <p:nvSpPr>
            <p:cNvPr id="60"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61" name="TextBox 63"/>
          <p:cNvSpPr txBox="1"/>
          <p:nvPr/>
        </p:nvSpPr>
        <p:spPr>
          <a:xfrm>
            <a:off x="7482844" y="182001"/>
            <a:ext cx="2029460"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2" name="TextBox 64"/>
          <p:cNvSpPr txBox="1"/>
          <p:nvPr/>
        </p:nvSpPr>
        <p:spPr>
          <a:xfrm>
            <a:off x="11607729" y="192268"/>
            <a:ext cx="2314575" cy="4616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3" name="TextBox 65"/>
          <p:cNvSpPr txBox="1"/>
          <p:nvPr/>
        </p:nvSpPr>
        <p:spPr>
          <a:xfrm>
            <a:off x="13617504" y="192268"/>
            <a:ext cx="2232413" cy="46164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4" name="TextBox 66"/>
          <p:cNvSpPr txBox="1"/>
          <p:nvPr/>
        </p:nvSpPr>
        <p:spPr>
          <a:xfrm>
            <a:off x="5274208" y="184126"/>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6" name="TextBox 65"/>
          <p:cNvSpPr txBox="1"/>
          <p:nvPr/>
        </p:nvSpPr>
        <p:spPr>
          <a:xfrm>
            <a:off x="15581836" y="199629"/>
            <a:ext cx="2232413"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70" name="TextBox 66"/>
          <p:cNvSpPr txBox="1"/>
          <p:nvPr/>
        </p:nvSpPr>
        <p:spPr>
          <a:xfrm>
            <a:off x="9464826" y="191117"/>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a:off x="7055501"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2">
              <a:alphaModFix amt="15000"/>
            </a:blip>
            <a:stretch>
              <a:fillRect r="-20235"/>
            </a:stretch>
          </a:blipFill>
          <a:ln w="19050" cap="sq">
            <a:solidFill>
              <a:srgbClr val="FCFBF9">
                <a:alpha val="14902"/>
              </a:srgbClr>
            </a:solidFill>
            <a:prstDash val="solid"/>
            <a:miter/>
          </a:ln>
        </p:spPr>
      </p:sp>
      <p:sp>
        <p:nvSpPr>
          <p:cNvPr id="4" name="Freeform 4"/>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3"/>
            <a:stretch>
              <a:fillRect t="-883"/>
            </a:stretch>
          </a:blipFill>
        </p:spPr>
      </p:sp>
      <p:grpSp>
        <p:nvGrpSpPr>
          <p:cNvPr id="5" name="Group 5"/>
          <p:cNvGrpSpPr/>
          <p:nvPr/>
        </p:nvGrpSpPr>
        <p:grpSpPr>
          <a:xfrm>
            <a:off x="160070" y="-2829424"/>
            <a:ext cx="5133103" cy="4618309"/>
            <a:chOff x="0" y="0"/>
            <a:chExt cx="6844137" cy="6157745"/>
          </a:xfrm>
        </p:grpSpPr>
        <p:grpSp>
          <p:nvGrpSpPr>
            <p:cNvPr id="6" name="Group 6"/>
            <p:cNvGrpSpPr/>
            <p:nvPr/>
          </p:nvGrpSpPr>
          <p:grpSpPr>
            <a:xfrm rot="215490">
              <a:off x="271581" y="295285"/>
              <a:ext cx="6401327" cy="5667527"/>
              <a:chOff x="0" y="0"/>
              <a:chExt cx="2560354" cy="2266854"/>
            </a:xfrm>
          </p:grpSpPr>
          <p:sp>
            <p:nvSpPr>
              <p:cNvPr id="7" name="Freeform 7"/>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8" name="TextBox 8"/>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9" name="Group 9"/>
            <p:cNvGrpSpPr/>
            <p:nvPr/>
          </p:nvGrpSpPr>
          <p:grpSpPr>
            <a:xfrm rot="215490">
              <a:off x="171229" y="194933"/>
              <a:ext cx="6401327" cy="5667527"/>
              <a:chOff x="0" y="0"/>
              <a:chExt cx="2560354" cy="2266854"/>
            </a:xfrm>
          </p:grpSpPr>
          <p:sp>
            <p:nvSpPr>
              <p:cNvPr id="10" name="Freeform 10"/>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1" name="TextBox 11"/>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2" name="Group 12"/>
            <p:cNvGrpSpPr/>
            <p:nvPr/>
          </p:nvGrpSpPr>
          <p:grpSpPr>
            <a:xfrm>
              <a:off x="124175" y="194933"/>
              <a:ext cx="6401327" cy="5667527"/>
              <a:chOff x="0" y="0"/>
              <a:chExt cx="2560354" cy="2266854"/>
            </a:xfrm>
          </p:grpSpPr>
          <p:sp>
            <p:nvSpPr>
              <p:cNvPr id="13" name="Freeform 13"/>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4" name="TextBox 14"/>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5" name="AutoShape 15"/>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19" name="Freeform 19"/>
          <p:cNvSpPr/>
          <p:nvPr/>
        </p:nvSpPr>
        <p:spPr>
          <a:xfrm flipH="1">
            <a:off x="160070" y="-71799"/>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4"/>
            <a:stretch>
              <a:fillRect/>
            </a:stretch>
          </a:blipFill>
        </p:spPr>
      </p:sp>
      <p:sp>
        <p:nvSpPr>
          <p:cNvPr id="20" name="TextBox 20"/>
          <p:cNvSpPr txBox="1"/>
          <p:nvPr/>
        </p:nvSpPr>
        <p:spPr>
          <a:xfrm>
            <a:off x="294888" y="55432"/>
            <a:ext cx="4728527" cy="1435735"/>
          </a:xfrm>
          <a:prstGeom prst="rect">
            <a:avLst/>
          </a:prstGeom>
        </p:spPr>
        <p:txBody>
          <a:bodyPr lIns="0" tIns="0" rIns="0" bIns="0" rtlCol="0" anchor="t">
            <a:spAutoFit/>
          </a:bodyPr>
          <a:lstStyle/>
          <a:p>
            <a:pPr algn="ctr">
              <a:lnSpc>
                <a:spcPts val="5600"/>
              </a:lnSpc>
              <a:spcBef>
                <a:spcPct val="0"/>
              </a:spcBef>
            </a:pPr>
            <a:r>
              <a:rPr lang="zh-CN" altLang="en-US" sz="4000" b="1" spc="-111">
                <a:gradFill>
                  <a:gsLst>
                    <a:gs pos="0">
                      <a:srgbClr val="FF4C00">
                        <a:alpha val="100000"/>
                      </a:srgbClr>
                    </a:gs>
                    <a:gs pos="100000">
                      <a:srgbClr val="FF7400">
                        <a:alpha val="100000"/>
                      </a:srgbClr>
                    </a:gs>
                  </a:gsLst>
                  <a:lin ang="5400000"/>
                </a:gradFill>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rPr>
              <a:t>以房养老</a:t>
            </a:r>
            <a:endParaRPr lang="zh-CN" altLang="en-US" sz="4000" b="1" spc="-111">
              <a:gradFill>
                <a:gsLst>
                  <a:gs pos="0">
                    <a:srgbClr val="FF4C00">
                      <a:alpha val="100000"/>
                    </a:srgbClr>
                  </a:gs>
                  <a:gs pos="100000">
                    <a:srgbClr val="FF7400">
                      <a:alpha val="100000"/>
                    </a:srgbClr>
                  </a:gs>
                </a:gsLst>
                <a:lin ang="5400000"/>
              </a:gradFill>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endParaRPr>
          </a:p>
          <a:p>
            <a:pPr algn="ctr">
              <a:lnSpc>
                <a:spcPts val="5600"/>
              </a:lnSpc>
              <a:spcBef>
                <a:spcPct val="0"/>
              </a:spcBef>
            </a:pPr>
            <a:r>
              <a:rPr lang="en-US" sz="4000" b="1" spc="-111">
                <a:gradFill>
                  <a:gsLst>
                    <a:gs pos="0">
                      <a:srgbClr val="FF4C00">
                        <a:alpha val="100000"/>
                      </a:srgbClr>
                    </a:gs>
                    <a:gs pos="100000">
                      <a:srgbClr val="FF7400">
                        <a:alpha val="100000"/>
                      </a:srgbClr>
                    </a:gs>
                  </a:gsLst>
                  <a:lin ang="5400000"/>
                </a:gradFill>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rPr>
              <a:t>国际经验</a:t>
            </a:r>
            <a:endParaRPr lang="en-US" sz="4000" b="1" spc="-111">
              <a:gradFill>
                <a:gsLst>
                  <a:gs pos="0">
                    <a:srgbClr val="FF4C00">
                      <a:alpha val="100000"/>
                    </a:srgbClr>
                  </a:gs>
                  <a:gs pos="100000">
                    <a:srgbClr val="FF7400">
                      <a:alpha val="100000"/>
                    </a:srgbClr>
                  </a:gs>
                </a:gsLst>
                <a:lin ang="5400000"/>
              </a:gradFill>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endParaRPr>
          </a:p>
        </p:txBody>
      </p:sp>
      <p:grpSp>
        <p:nvGrpSpPr>
          <p:cNvPr id="26" name="Group 26"/>
          <p:cNvGrpSpPr/>
          <p:nvPr/>
        </p:nvGrpSpPr>
        <p:grpSpPr>
          <a:xfrm>
            <a:off x="494667" y="1831547"/>
            <a:ext cx="17298667" cy="4951447"/>
            <a:chOff x="0" y="0"/>
            <a:chExt cx="23064889" cy="6601930"/>
          </a:xfrm>
        </p:grpSpPr>
        <p:grpSp>
          <p:nvGrpSpPr>
            <p:cNvPr id="27" name="Group 27"/>
            <p:cNvGrpSpPr/>
            <p:nvPr/>
          </p:nvGrpSpPr>
          <p:grpSpPr>
            <a:xfrm>
              <a:off x="0" y="0"/>
              <a:ext cx="7514260" cy="6601930"/>
              <a:chOff x="0" y="0"/>
              <a:chExt cx="7514260" cy="6601930"/>
            </a:xfrm>
          </p:grpSpPr>
          <p:sp>
            <p:nvSpPr>
              <p:cNvPr id="28" name="Freeform 28"/>
              <p:cNvSpPr/>
              <p:nvPr/>
            </p:nvSpPr>
            <p:spPr>
              <a:xfrm>
                <a:off x="0" y="0"/>
                <a:ext cx="7514209" cy="6601968"/>
              </a:xfrm>
              <a:custGeom>
                <a:avLst/>
                <a:gdLst/>
                <a:ahLst/>
                <a:cxnLst/>
                <a:rect l="l" t="t" r="r" b="b"/>
                <a:pathLst>
                  <a:path w="7514209" h="6601968">
                    <a:moveTo>
                      <a:pt x="66294" y="0"/>
                    </a:moveTo>
                    <a:lnTo>
                      <a:pt x="7447915" y="0"/>
                    </a:lnTo>
                    <a:cubicBezTo>
                      <a:pt x="7484618" y="0"/>
                      <a:pt x="7514209" y="29718"/>
                      <a:pt x="7514209" y="66294"/>
                    </a:cubicBezTo>
                    <a:lnTo>
                      <a:pt x="7514209" y="6469253"/>
                    </a:lnTo>
                    <a:cubicBezTo>
                      <a:pt x="7514209" y="6542532"/>
                      <a:pt x="7454773" y="6601968"/>
                      <a:pt x="7381494" y="6601968"/>
                    </a:cubicBezTo>
                    <a:lnTo>
                      <a:pt x="132715" y="6601968"/>
                    </a:lnTo>
                    <a:cubicBezTo>
                      <a:pt x="59436" y="6601968"/>
                      <a:pt x="0" y="6542532"/>
                      <a:pt x="0" y="6469253"/>
                    </a:cubicBezTo>
                    <a:lnTo>
                      <a:pt x="0" y="66294"/>
                    </a:lnTo>
                    <a:cubicBezTo>
                      <a:pt x="0" y="29718"/>
                      <a:pt x="29718" y="0"/>
                      <a:pt x="66294" y="0"/>
                    </a:cubicBezTo>
                    <a:close/>
                  </a:path>
                </a:pathLst>
              </a:custGeom>
              <a:solidFill>
                <a:srgbClr val="FEF7D2"/>
              </a:solidFill>
            </p:spPr>
          </p:sp>
        </p:grpSp>
        <p:grpSp>
          <p:nvGrpSpPr>
            <p:cNvPr id="29" name="Group 29"/>
            <p:cNvGrpSpPr/>
            <p:nvPr/>
          </p:nvGrpSpPr>
          <p:grpSpPr>
            <a:xfrm>
              <a:off x="265405" y="298577"/>
              <a:ext cx="796214" cy="796214"/>
              <a:chOff x="0" y="0"/>
              <a:chExt cx="796214" cy="796214"/>
            </a:xfrm>
          </p:grpSpPr>
          <p:sp>
            <p:nvSpPr>
              <p:cNvPr id="30" name="Freeform 30"/>
              <p:cNvSpPr/>
              <p:nvPr/>
            </p:nvSpPr>
            <p:spPr>
              <a:xfrm>
                <a:off x="0" y="0"/>
                <a:ext cx="796290" cy="796163"/>
              </a:xfrm>
              <a:custGeom>
                <a:avLst/>
                <a:gdLst/>
                <a:ahLst/>
                <a:cxnLst/>
                <a:rect l="l" t="t" r="r" b="b"/>
                <a:pathLst>
                  <a:path w="796290" h="796163">
                    <a:moveTo>
                      <a:pt x="398145" y="0"/>
                    </a:moveTo>
                    <a:cubicBezTo>
                      <a:pt x="617855" y="0"/>
                      <a:pt x="796290" y="178435"/>
                      <a:pt x="796290" y="398145"/>
                    </a:cubicBezTo>
                    <a:cubicBezTo>
                      <a:pt x="796290" y="617855"/>
                      <a:pt x="617855" y="796163"/>
                      <a:pt x="398145" y="796163"/>
                    </a:cubicBezTo>
                    <a:cubicBezTo>
                      <a:pt x="178435" y="796163"/>
                      <a:pt x="0" y="617855"/>
                      <a:pt x="0" y="398145"/>
                    </a:cubicBezTo>
                    <a:cubicBezTo>
                      <a:pt x="0" y="178435"/>
                      <a:pt x="178435" y="0"/>
                      <a:pt x="398145" y="0"/>
                    </a:cubicBezTo>
                    <a:close/>
                  </a:path>
                </a:pathLst>
              </a:custGeom>
              <a:solidFill>
                <a:srgbClr val="F3A370"/>
              </a:solidFill>
            </p:spPr>
          </p:sp>
        </p:grpSp>
        <p:grpSp>
          <p:nvGrpSpPr>
            <p:cNvPr id="31" name="Group 31"/>
            <p:cNvGrpSpPr/>
            <p:nvPr/>
          </p:nvGrpSpPr>
          <p:grpSpPr>
            <a:xfrm>
              <a:off x="1260665" y="298577"/>
              <a:ext cx="1293838" cy="568334"/>
              <a:chOff x="0" y="0"/>
              <a:chExt cx="1293838" cy="568334"/>
            </a:xfrm>
          </p:grpSpPr>
          <p:sp>
            <p:nvSpPr>
              <p:cNvPr id="32" name="Freeform 32"/>
              <p:cNvSpPr/>
              <p:nvPr/>
            </p:nvSpPr>
            <p:spPr>
              <a:xfrm>
                <a:off x="0" y="0"/>
                <a:ext cx="1293844" cy="568340"/>
              </a:xfrm>
              <a:custGeom>
                <a:avLst/>
                <a:gdLst/>
                <a:ahLst/>
                <a:cxnLst/>
                <a:rect l="l" t="t" r="r" b="b"/>
                <a:pathLst>
                  <a:path w="1293844" h="568340">
                    <a:moveTo>
                      <a:pt x="0" y="0"/>
                    </a:moveTo>
                    <a:lnTo>
                      <a:pt x="1293844" y="0"/>
                    </a:lnTo>
                    <a:lnTo>
                      <a:pt x="1293844" y="568340"/>
                    </a:lnTo>
                    <a:lnTo>
                      <a:pt x="0" y="568340"/>
                    </a:lnTo>
                    <a:close/>
                  </a:path>
                </a:pathLst>
              </a:custGeom>
              <a:blipFill>
                <a:blip r:embed="rId5">
                  <a:alphaModFix amt="0"/>
                </a:blip>
                <a:stretch>
                  <a:fillRect t="-3497" b="14781"/>
                </a:stretch>
              </a:blipFill>
            </p:spPr>
          </p:sp>
          <p:sp>
            <p:nvSpPr>
              <p:cNvPr id="33" name="TextBox 33"/>
              <p:cNvSpPr txBox="1"/>
              <p:nvPr/>
            </p:nvSpPr>
            <p:spPr>
              <a:xfrm>
                <a:off x="0" y="-57150"/>
                <a:ext cx="1293838" cy="625484"/>
              </a:xfrm>
              <a:prstGeom prst="rect">
                <a:avLst/>
              </a:prstGeom>
            </p:spPr>
            <p:txBody>
              <a:bodyPr lIns="0" tIns="0" rIns="0" bIns="0" rtlCol="0" anchor="ctr"/>
              <a:lstStyle/>
              <a:p>
                <a:pPr algn="l">
                  <a:lnSpc>
                    <a:spcPts val="3025"/>
                  </a:lnSpc>
                </a:pPr>
                <a:r>
                  <a:rPr lang="en-US" sz="2100" b="1">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美国</a:t>
                </a:r>
                <a:endParaRPr lang="en-US" sz="2100" b="1">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34" name="Group 34"/>
            <p:cNvGrpSpPr/>
            <p:nvPr/>
          </p:nvGrpSpPr>
          <p:grpSpPr>
            <a:xfrm>
              <a:off x="1260665" y="715628"/>
              <a:ext cx="5988473" cy="379307"/>
              <a:chOff x="0" y="-47413"/>
              <a:chExt cx="5988473" cy="379307"/>
            </a:xfrm>
          </p:grpSpPr>
          <p:sp>
            <p:nvSpPr>
              <p:cNvPr id="35" name="Freeform 35"/>
              <p:cNvSpPr/>
              <p:nvPr/>
            </p:nvSpPr>
            <p:spPr>
              <a:xfrm>
                <a:off x="0" y="0"/>
                <a:ext cx="1244082" cy="331756"/>
              </a:xfrm>
              <a:custGeom>
                <a:avLst/>
                <a:gdLst/>
                <a:ahLst/>
                <a:cxnLst/>
                <a:rect l="l" t="t" r="r" b="b"/>
                <a:pathLst>
                  <a:path w="1244082" h="331756">
                    <a:moveTo>
                      <a:pt x="0" y="0"/>
                    </a:moveTo>
                    <a:lnTo>
                      <a:pt x="1244082" y="0"/>
                    </a:lnTo>
                    <a:lnTo>
                      <a:pt x="1244082" y="331756"/>
                    </a:lnTo>
                    <a:lnTo>
                      <a:pt x="0" y="331756"/>
                    </a:lnTo>
                    <a:close/>
                  </a:path>
                </a:pathLst>
              </a:custGeom>
              <a:blipFill>
                <a:blip r:embed="rId5">
                  <a:alphaModFix amt="0"/>
                </a:blip>
                <a:stretch>
                  <a:fillRect t="-23067" b="-23069"/>
                </a:stretch>
              </a:blipFill>
            </p:spPr>
          </p:sp>
          <p:sp>
            <p:nvSpPr>
              <p:cNvPr id="36" name="TextBox 36"/>
              <p:cNvSpPr txBox="1"/>
              <p:nvPr/>
            </p:nvSpPr>
            <p:spPr>
              <a:xfrm>
                <a:off x="0" y="-47413"/>
                <a:ext cx="5988473" cy="379307"/>
              </a:xfrm>
              <a:prstGeom prst="rect">
                <a:avLst/>
              </a:prstGeom>
            </p:spPr>
            <p:txBody>
              <a:bodyPr lIns="0" tIns="0" rIns="0" bIns="0" rtlCol="0" anchor="ctr"/>
              <a:lstStyle/>
              <a:p>
                <a:pPr algn="l">
                  <a:lnSpc>
                    <a:spcPts val="1975"/>
                  </a:lnSpc>
                </a:pPr>
                <a:r>
                  <a:rPr 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HECM</a:t>
                </a:r>
                <a:r>
                  <a:rPr lang="zh-CN" alt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（联邦住房反向抵押贷款）</a:t>
                </a:r>
                <a:r>
                  <a:rPr 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计划</a:t>
                </a:r>
                <a:endParaRPr 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37" name="Group 37"/>
            <p:cNvGrpSpPr/>
            <p:nvPr/>
          </p:nvGrpSpPr>
          <p:grpSpPr>
            <a:xfrm>
              <a:off x="265405" y="1293851"/>
              <a:ext cx="6983438" cy="1592428"/>
              <a:chOff x="0" y="0"/>
              <a:chExt cx="6983438" cy="1592428"/>
            </a:xfrm>
          </p:grpSpPr>
          <p:sp>
            <p:nvSpPr>
              <p:cNvPr id="38" name="Freeform 38"/>
              <p:cNvSpPr/>
              <p:nvPr/>
            </p:nvSpPr>
            <p:spPr>
              <a:xfrm>
                <a:off x="0" y="0"/>
                <a:ext cx="6983476" cy="1592453"/>
              </a:xfrm>
              <a:custGeom>
                <a:avLst/>
                <a:gdLst/>
                <a:ahLst/>
                <a:cxnLst/>
                <a:rect l="l" t="t" r="r" b="b"/>
                <a:pathLst>
                  <a:path w="6983476" h="1592453">
                    <a:moveTo>
                      <a:pt x="132715" y="0"/>
                    </a:moveTo>
                    <a:lnTo>
                      <a:pt x="6850761" y="0"/>
                    </a:lnTo>
                    <a:cubicBezTo>
                      <a:pt x="6924040" y="0"/>
                      <a:pt x="6983476" y="59436"/>
                      <a:pt x="6983476" y="132715"/>
                    </a:cubicBezTo>
                    <a:lnTo>
                      <a:pt x="6983476" y="1459738"/>
                    </a:lnTo>
                    <a:cubicBezTo>
                      <a:pt x="6983476" y="1533017"/>
                      <a:pt x="6924040" y="1592453"/>
                      <a:pt x="6850761" y="1592453"/>
                    </a:cubicBezTo>
                    <a:lnTo>
                      <a:pt x="132715" y="1592453"/>
                    </a:lnTo>
                    <a:cubicBezTo>
                      <a:pt x="59436" y="1592453"/>
                      <a:pt x="0" y="1533017"/>
                      <a:pt x="0" y="1459738"/>
                    </a:cubicBezTo>
                    <a:lnTo>
                      <a:pt x="0" y="132715"/>
                    </a:lnTo>
                    <a:cubicBezTo>
                      <a:pt x="0" y="59436"/>
                      <a:pt x="59436" y="0"/>
                      <a:pt x="132715" y="0"/>
                    </a:cubicBezTo>
                    <a:close/>
                  </a:path>
                </a:pathLst>
              </a:custGeom>
              <a:solidFill>
                <a:srgbClr val="FFFFFF"/>
              </a:solidFill>
            </p:spPr>
          </p:sp>
        </p:grpSp>
        <p:sp>
          <p:nvSpPr>
            <p:cNvPr id="39" name="Freeform 39"/>
            <p:cNvSpPr/>
            <p:nvPr/>
          </p:nvSpPr>
          <p:spPr>
            <a:xfrm>
              <a:off x="431279" y="1492898"/>
              <a:ext cx="265405" cy="265405"/>
            </a:xfrm>
            <a:custGeom>
              <a:avLst/>
              <a:gdLst/>
              <a:ahLst/>
              <a:cxnLst/>
              <a:rect l="l" t="t" r="r" b="b"/>
              <a:pathLst>
                <a:path w="265405" h="265405">
                  <a:moveTo>
                    <a:pt x="0" y="0"/>
                  </a:moveTo>
                  <a:lnTo>
                    <a:pt x="265405" y="0"/>
                  </a:lnTo>
                  <a:lnTo>
                    <a:pt x="265405" y="265404"/>
                  </a:lnTo>
                  <a:lnTo>
                    <a:pt x="0" y="2654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40" name="Group 40"/>
            <p:cNvGrpSpPr/>
            <p:nvPr/>
          </p:nvGrpSpPr>
          <p:grpSpPr>
            <a:xfrm>
              <a:off x="729856" y="1426553"/>
              <a:ext cx="6518986" cy="398107"/>
              <a:chOff x="0" y="0"/>
              <a:chExt cx="6518986" cy="398107"/>
            </a:xfrm>
          </p:grpSpPr>
          <p:sp>
            <p:nvSpPr>
              <p:cNvPr id="41" name="Freeform 41"/>
              <p:cNvSpPr/>
              <p:nvPr/>
            </p:nvSpPr>
            <p:spPr>
              <a:xfrm>
                <a:off x="0" y="0"/>
                <a:ext cx="6518988" cy="398106"/>
              </a:xfrm>
              <a:custGeom>
                <a:avLst/>
                <a:gdLst/>
                <a:ahLst/>
                <a:cxnLst/>
                <a:rect l="l" t="t" r="r" b="b"/>
                <a:pathLst>
                  <a:path w="6518988" h="398106">
                    <a:moveTo>
                      <a:pt x="0" y="0"/>
                    </a:moveTo>
                    <a:lnTo>
                      <a:pt x="6518988" y="0"/>
                    </a:lnTo>
                    <a:lnTo>
                      <a:pt x="6518988" y="398106"/>
                    </a:lnTo>
                    <a:lnTo>
                      <a:pt x="0" y="398106"/>
                    </a:lnTo>
                    <a:close/>
                  </a:path>
                </a:pathLst>
              </a:custGeom>
              <a:blipFill>
                <a:blip r:embed="rId5">
                  <a:alphaModFix amt="0"/>
                </a:blip>
                <a:stretch>
                  <a:fillRect t="-269067" b="-269067"/>
                </a:stretch>
              </a:blipFill>
            </p:spPr>
          </p:sp>
          <p:sp>
            <p:nvSpPr>
              <p:cNvPr id="42" name="TextBox 42"/>
              <p:cNvSpPr txBox="1"/>
              <p:nvPr/>
            </p:nvSpPr>
            <p:spPr>
              <a:xfrm>
                <a:off x="0" y="-76200"/>
                <a:ext cx="6518986" cy="474307"/>
              </a:xfrm>
              <a:prstGeom prst="rect">
                <a:avLst/>
              </a:prstGeom>
            </p:spPr>
            <p:txBody>
              <a:bodyPr lIns="0" tIns="0" rIns="0" bIns="0" rtlCol="0" anchor="ctr"/>
              <a:lstStyle/>
              <a:p>
                <a:pPr algn="l">
                  <a:lnSpc>
                    <a:spcPts val="2810"/>
                  </a:lnSpc>
                </a:pPr>
                <a:r>
                  <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核心机制</a:t>
                </a:r>
                <a:endPar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43" name="Group 43"/>
            <p:cNvGrpSpPr/>
            <p:nvPr/>
          </p:nvGrpSpPr>
          <p:grpSpPr>
            <a:xfrm>
              <a:off x="398107" y="1891005"/>
              <a:ext cx="6850748" cy="862559"/>
              <a:chOff x="0" y="0"/>
              <a:chExt cx="6850748" cy="862559"/>
            </a:xfrm>
          </p:grpSpPr>
          <p:sp>
            <p:nvSpPr>
              <p:cNvPr id="44" name="Freeform 44"/>
              <p:cNvSpPr/>
              <p:nvPr/>
            </p:nvSpPr>
            <p:spPr>
              <a:xfrm>
                <a:off x="0" y="0"/>
                <a:ext cx="6850742" cy="862564"/>
              </a:xfrm>
              <a:custGeom>
                <a:avLst/>
                <a:gdLst/>
                <a:ahLst/>
                <a:cxnLst/>
                <a:rect l="l" t="t" r="r" b="b"/>
                <a:pathLst>
                  <a:path w="6850742" h="862564">
                    <a:moveTo>
                      <a:pt x="0" y="0"/>
                    </a:moveTo>
                    <a:lnTo>
                      <a:pt x="6850742" y="0"/>
                    </a:lnTo>
                    <a:lnTo>
                      <a:pt x="6850742" y="862564"/>
                    </a:lnTo>
                    <a:lnTo>
                      <a:pt x="0" y="862564"/>
                    </a:lnTo>
                    <a:close/>
                  </a:path>
                </a:pathLst>
              </a:custGeom>
              <a:blipFill>
                <a:blip r:embed="rId5">
                  <a:alphaModFix amt="0"/>
                </a:blip>
                <a:stretch>
                  <a:fillRect t="-104756" b="-104755"/>
                </a:stretch>
              </a:blipFill>
            </p:spPr>
          </p:sp>
          <p:sp>
            <p:nvSpPr>
              <p:cNvPr id="45" name="TextBox 45"/>
              <p:cNvSpPr txBox="1"/>
              <p:nvPr/>
            </p:nvSpPr>
            <p:spPr>
              <a:xfrm>
                <a:off x="0" y="-95250"/>
                <a:ext cx="6850748" cy="957809"/>
              </a:xfrm>
              <a:prstGeom prst="rect">
                <a:avLst/>
              </a:prstGeom>
            </p:spPr>
            <p:txBody>
              <a:bodyPr lIns="0" tIns="0" rIns="0" bIns="0" rtlCol="0" anchor="ctr"/>
              <a:lstStyle/>
              <a:p>
                <a:pPr algn="l">
                  <a:lnSpc>
                    <a:spcPts val="3025"/>
                  </a:lnSpc>
                </a:pPr>
                <a:r>
                  <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联邦住房管理局（FHA）双向保险机制，覆盖借款人长寿风险与房价下跌风险（非追索权）</a:t>
                </a:r>
                <a:endPar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46" name="Group 46"/>
            <p:cNvGrpSpPr/>
            <p:nvPr/>
          </p:nvGrpSpPr>
          <p:grpSpPr>
            <a:xfrm>
              <a:off x="265405" y="3018968"/>
              <a:ext cx="6983438" cy="1592428"/>
              <a:chOff x="0" y="0"/>
              <a:chExt cx="6983438" cy="1592428"/>
            </a:xfrm>
          </p:grpSpPr>
          <p:sp>
            <p:nvSpPr>
              <p:cNvPr id="47" name="Freeform 47"/>
              <p:cNvSpPr/>
              <p:nvPr/>
            </p:nvSpPr>
            <p:spPr>
              <a:xfrm>
                <a:off x="0" y="0"/>
                <a:ext cx="6983476" cy="1592453"/>
              </a:xfrm>
              <a:custGeom>
                <a:avLst/>
                <a:gdLst/>
                <a:ahLst/>
                <a:cxnLst/>
                <a:rect l="l" t="t" r="r" b="b"/>
                <a:pathLst>
                  <a:path w="6983476" h="1592453">
                    <a:moveTo>
                      <a:pt x="132715" y="0"/>
                    </a:moveTo>
                    <a:lnTo>
                      <a:pt x="6850761" y="0"/>
                    </a:lnTo>
                    <a:cubicBezTo>
                      <a:pt x="6924040" y="0"/>
                      <a:pt x="6983476" y="59436"/>
                      <a:pt x="6983476" y="132715"/>
                    </a:cubicBezTo>
                    <a:lnTo>
                      <a:pt x="6983476" y="1459738"/>
                    </a:lnTo>
                    <a:cubicBezTo>
                      <a:pt x="6983476" y="1533017"/>
                      <a:pt x="6924040" y="1592453"/>
                      <a:pt x="6850761" y="1592453"/>
                    </a:cubicBezTo>
                    <a:lnTo>
                      <a:pt x="132715" y="1592453"/>
                    </a:lnTo>
                    <a:cubicBezTo>
                      <a:pt x="59436" y="1592453"/>
                      <a:pt x="0" y="1533017"/>
                      <a:pt x="0" y="1459738"/>
                    </a:cubicBezTo>
                    <a:lnTo>
                      <a:pt x="0" y="132715"/>
                    </a:lnTo>
                    <a:cubicBezTo>
                      <a:pt x="0" y="59436"/>
                      <a:pt x="59436" y="0"/>
                      <a:pt x="132715" y="0"/>
                    </a:cubicBezTo>
                    <a:close/>
                  </a:path>
                </a:pathLst>
              </a:custGeom>
              <a:solidFill>
                <a:srgbClr val="FFFFFF"/>
              </a:solidFill>
            </p:spPr>
          </p:sp>
        </p:grpSp>
        <p:sp>
          <p:nvSpPr>
            <p:cNvPr id="48" name="Freeform 48"/>
            <p:cNvSpPr/>
            <p:nvPr/>
          </p:nvSpPr>
          <p:spPr>
            <a:xfrm>
              <a:off x="398107" y="3218028"/>
              <a:ext cx="331762" cy="265405"/>
            </a:xfrm>
            <a:custGeom>
              <a:avLst/>
              <a:gdLst/>
              <a:ahLst/>
              <a:cxnLst/>
              <a:rect l="l" t="t" r="r" b="b"/>
              <a:pathLst>
                <a:path w="331762" h="265405">
                  <a:moveTo>
                    <a:pt x="0" y="0"/>
                  </a:moveTo>
                  <a:lnTo>
                    <a:pt x="331762" y="0"/>
                  </a:lnTo>
                  <a:lnTo>
                    <a:pt x="331762" y="265404"/>
                  </a:lnTo>
                  <a:lnTo>
                    <a:pt x="0" y="26540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49" name="Group 49"/>
            <p:cNvGrpSpPr/>
            <p:nvPr/>
          </p:nvGrpSpPr>
          <p:grpSpPr>
            <a:xfrm>
              <a:off x="729856" y="3151670"/>
              <a:ext cx="6518986" cy="398107"/>
              <a:chOff x="0" y="0"/>
              <a:chExt cx="6518986" cy="398107"/>
            </a:xfrm>
          </p:grpSpPr>
          <p:sp>
            <p:nvSpPr>
              <p:cNvPr id="50" name="Freeform 50"/>
              <p:cNvSpPr/>
              <p:nvPr/>
            </p:nvSpPr>
            <p:spPr>
              <a:xfrm>
                <a:off x="0" y="0"/>
                <a:ext cx="6518988" cy="398106"/>
              </a:xfrm>
              <a:custGeom>
                <a:avLst/>
                <a:gdLst/>
                <a:ahLst/>
                <a:cxnLst/>
                <a:rect l="l" t="t" r="r" b="b"/>
                <a:pathLst>
                  <a:path w="6518988" h="398106">
                    <a:moveTo>
                      <a:pt x="0" y="0"/>
                    </a:moveTo>
                    <a:lnTo>
                      <a:pt x="6518988" y="0"/>
                    </a:lnTo>
                    <a:lnTo>
                      <a:pt x="6518988" y="398106"/>
                    </a:lnTo>
                    <a:lnTo>
                      <a:pt x="0" y="398106"/>
                    </a:lnTo>
                    <a:close/>
                  </a:path>
                </a:pathLst>
              </a:custGeom>
              <a:blipFill>
                <a:blip r:embed="rId5">
                  <a:alphaModFix amt="0"/>
                </a:blip>
                <a:stretch>
                  <a:fillRect t="-269067" b="-269067"/>
                </a:stretch>
              </a:blipFill>
            </p:spPr>
          </p:sp>
          <p:sp>
            <p:nvSpPr>
              <p:cNvPr id="51" name="TextBox 51"/>
              <p:cNvSpPr txBox="1"/>
              <p:nvPr/>
            </p:nvSpPr>
            <p:spPr>
              <a:xfrm>
                <a:off x="0" y="-76200"/>
                <a:ext cx="6518986" cy="474307"/>
              </a:xfrm>
              <a:prstGeom prst="rect">
                <a:avLst/>
              </a:prstGeom>
            </p:spPr>
            <p:txBody>
              <a:bodyPr lIns="0" tIns="0" rIns="0" bIns="0" rtlCol="0" anchor="ctr"/>
              <a:lstStyle/>
              <a:p>
                <a:pPr algn="l">
                  <a:lnSpc>
                    <a:spcPts val="2810"/>
                  </a:lnSpc>
                </a:pPr>
                <a:r>
                  <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52" name="Group 52"/>
            <p:cNvGrpSpPr/>
            <p:nvPr/>
          </p:nvGrpSpPr>
          <p:grpSpPr>
            <a:xfrm>
              <a:off x="398107" y="3616134"/>
              <a:ext cx="6850748" cy="862559"/>
              <a:chOff x="0" y="0"/>
              <a:chExt cx="6850748" cy="862559"/>
            </a:xfrm>
          </p:grpSpPr>
          <p:sp>
            <p:nvSpPr>
              <p:cNvPr id="53" name="Freeform 53"/>
              <p:cNvSpPr/>
              <p:nvPr/>
            </p:nvSpPr>
            <p:spPr>
              <a:xfrm>
                <a:off x="0" y="0"/>
                <a:ext cx="6850742" cy="862564"/>
              </a:xfrm>
              <a:custGeom>
                <a:avLst/>
                <a:gdLst/>
                <a:ahLst/>
                <a:cxnLst/>
                <a:rect l="l" t="t" r="r" b="b"/>
                <a:pathLst>
                  <a:path w="6850742" h="862564">
                    <a:moveTo>
                      <a:pt x="0" y="0"/>
                    </a:moveTo>
                    <a:lnTo>
                      <a:pt x="6850742" y="0"/>
                    </a:lnTo>
                    <a:lnTo>
                      <a:pt x="6850742" y="862564"/>
                    </a:lnTo>
                    <a:lnTo>
                      <a:pt x="0" y="862564"/>
                    </a:lnTo>
                    <a:close/>
                  </a:path>
                </a:pathLst>
              </a:custGeom>
              <a:blipFill>
                <a:blip r:embed="rId5">
                  <a:alphaModFix amt="0"/>
                </a:blip>
                <a:stretch>
                  <a:fillRect t="-104756" b="-104755"/>
                </a:stretch>
              </a:blipFill>
            </p:spPr>
          </p:sp>
          <p:sp>
            <p:nvSpPr>
              <p:cNvPr id="54" name="TextBox 54"/>
              <p:cNvSpPr txBox="1"/>
              <p:nvPr/>
            </p:nvSpPr>
            <p:spPr>
              <a:xfrm>
                <a:off x="0" y="-95250"/>
                <a:ext cx="6850748" cy="957809"/>
              </a:xfrm>
              <a:prstGeom prst="rect">
                <a:avLst/>
              </a:prstGeom>
            </p:spPr>
            <p:txBody>
              <a:bodyPr lIns="0" tIns="0" rIns="0" bIns="0" rtlCol="0" anchor="ctr"/>
              <a:lstStyle/>
              <a:p>
                <a:pPr algn="l">
                  <a:lnSpc>
                    <a:spcPts val="3025"/>
                  </a:lnSpc>
                </a:pPr>
                <a:r>
                  <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高度灵活，可选择一次性支取、按月定额领取、信用额度提取等多种方式</a:t>
                </a:r>
                <a:endPar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55" name="Group 55"/>
            <p:cNvGrpSpPr/>
            <p:nvPr/>
          </p:nvGrpSpPr>
          <p:grpSpPr>
            <a:xfrm>
              <a:off x="264858" y="4744123"/>
              <a:ext cx="6983730" cy="1591310"/>
              <a:chOff x="0" y="0"/>
              <a:chExt cx="6983730" cy="1591310"/>
            </a:xfrm>
          </p:grpSpPr>
          <p:sp>
            <p:nvSpPr>
              <p:cNvPr id="56" name="Freeform 56"/>
              <p:cNvSpPr/>
              <p:nvPr/>
            </p:nvSpPr>
            <p:spPr>
              <a:xfrm>
                <a:off x="0" y="0"/>
                <a:ext cx="6983730" cy="1591310"/>
              </a:xfrm>
              <a:custGeom>
                <a:avLst/>
                <a:gdLst/>
                <a:ahLst/>
                <a:cxnLst/>
                <a:rect l="l" t="t" r="r" b="b"/>
                <a:pathLst>
                  <a:path w="6983730" h="1591310">
                    <a:moveTo>
                      <a:pt x="132715" y="0"/>
                    </a:moveTo>
                    <a:lnTo>
                      <a:pt x="6851015" y="0"/>
                    </a:lnTo>
                    <a:cubicBezTo>
                      <a:pt x="6924294" y="0"/>
                      <a:pt x="6983730" y="81407"/>
                      <a:pt x="6983730" y="181864"/>
                    </a:cubicBezTo>
                    <a:lnTo>
                      <a:pt x="6983730" y="1409446"/>
                    </a:lnTo>
                    <a:cubicBezTo>
                      <a:pt x="6983730" y="1509903"/>
                      <a:pt x="6924294" y="1591310"/>
                      <a:pt x="6851015" y="1591310"/>
                    </a:cubicBezTo>
                    <a:lnTo>
                      <a:pt x="132715" y="1591310"/>
                    </a:lnTo>
                    <a:cubicBezTo>
                      <a:pt x="59436" y="1591310"/>
                      <a:pt x="0" y="1509776"/>
                      <a:pt x="0" y="1409446"/>
                    </a:cubicBezTo>
                    <a:lnTo>
                      <a:pt x="0" y="181864"/>
                    </a:lnTo>
                    <a:cubicBezTo>
                      <a:pt x="0" y="81534"/>
                      <a:pt x="59436" y="0"/>
                      <a:pt x="132715" y="0"/>
                    </a:cubicBezTo>
                    <a:close/>
                  </a:path>
                </a:pathLst>
              </a:custGeom>
              <a:solidFill>
                <a:srgbClr val="FFFFFF"/>
              </a:solidFill>
            </p:spPr>
          </p:sp>
        </p:grpSp>
        <p:sp>
          <p:nvSpPr>
            <p:cNvPr id="57" name="Freeform 57"/>
            <p:cNvSpPr/>
            <p:nvPr/>
          </p:nvSpPr>
          <p:spPr>
            <a:xfrm>
              <a:off x="431279" y="4943145"/>
              <a:ext cx="265405" cy="265405"/>
            </a:xfrm>
            <a:custGeom>
              <a:avLst/>
              <a:gdLst/>
              <a:ahLst/>
              <a:cxnLst/>
              <a:rect l="l" t="t" r="r" b="b"/>
              <a:pathLst>
                <a:path w="265405" h="265405">
                  <a:moveTo>
                    <a:pt x="0" y="0"/>
                  </a:moveTo>
                  <a:lnTo>
                    <a:pt x="265405" y="0"/>
                  </a:lnTo>
                  <a:lnTo>
                    <a:pt x="265405" y="265404"/>
                  </a:lnTo>
                  <a:lnTo>
                    <a:pt x="0" y="26540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58" name="Group 58"/>
            <p:cNvGrpSpPr/>
            <p:nvPr/>
          </p:nvGrpSpPr>
          <p:grpSpPr>
            <a:xfrm>
              <a:off x="729679" y="4876203"/>
              <a:ext cx="5539740" cy="397510"/>
              <a:chOff x="0" y="0"/>
              <a:chExt cx="5539740" cy="397510"/>
            </a:xfrm>
          </p:grpSpPr>
          <p:sp>
            <p:nvSpPr>
              <p:cNvPr id="59" name="Freeform 59"/>
              <p:cNvSpPr/>
              <p:nvPr/>
            </p:nvSpPr>
            <p:spPr>
              <a:xfrm>
                <a:off x="0" y="0"/>
                <a:ext cx="5539740" cy="397510"/>
              </a:xfrm>
              <a:custGeom>
                <a:avLst/>
                <a:gdLst/>
                <a:ahLst/>
                <a:cxnLst/>
                <a:rect l="l" t="t" r="r" b="b"/>
                <a:pathLst>
                  <a:path w="5539740" h="397510">
                    <a:moveTo>
                      <a:pt x="0" y="0"/>
                    </a:moveTo>
                    <a:lnTo>
                      <a:pt x="5539740" y="0"/>
                    </a:lnTo>
                    <a:lnTo>
                      <a:pt x="5539740" y="397510"/>
                    </a:lnTo>
                    <a:lnTo>
                      <a:pt x="0" y="397510"/>
                    </a:lnTo>
                    <a:close/>
                  </a:path>
                </a:pathLst>
              </a:custGeom>
              <a:blipFill>
                <a:blip r:embed="rId5">
                  <a:alphaModFix amt="0"/>
                </a:blip>
                <a:stretch>
                  <a:fillRect t="-221545" b="-221545"/>
                </a:stretch>
              </a:blipFill>
            </p:spPr>
          </p:sp>
          <p:sp>
            <p:nvSpPr>
              <p:cNvPr id="60" name="TextBox 60"/>
              <p:cNvSpPr txBox="1"/>
              <p:nvPr/>
            </p:nvSpPr>
            <p:spPr>
              <a:xfrm>
                <a:off x="0" y="-76200"/>
                <a:ext cx="5539740" cy="473710"/>
              </a:xfrm>
              <a:prstGeom prst="rect">
                <a:avLst/>
              </a:prstGeom>
            </p:spPr>
            <p:txBody>
              <a:bodyPr lIns="0" tIns="0" rIns="0" bIns="0" rtlCol="0" anchor="ctr"/>
              <a:lstStyle/>
              <a:p>
                <a:pPr algn="l">
                  <a:lnSpc>
                    <a:spcPts val="2810"/>
                  </a:lnSpc>
                </a:pPr>
                <a:r>
                  <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适配壁垒</a:t>
                </a:r>
                <a:endPar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61" name="Group 61"/>
            <p:cNvGrpSpPr/>
            <p:nvPr/>
          </p:nvGrpSpPr>
          <p:grpSpPr>
            <a:xfrm>
              <a:off x="398107" y="5417452"/>
              <a:ext cx="6850748" cy="431279"/>
              <a:chOff x="0" y="0"/>
              <a:chExt cx="6850748" cy="431279"/>
            </a:xfrm>
          </p:grpSpPr>
          <p:sp>
            <p:nvSpPr>
              <p:cNvPr id="62" name="Freeform 62"/>
              <p:cNvSpPr/>
              <p:nvPr/>
            </p:nvSpPr>
            <p:spPr>
              <a:xfrm>
                <a:off x="0" y="0"/>
                <a:ext cx="6850742" cy="431282"/>
              </a:xfrm>
              <a:custGeom>
                <a:avLst/>
                <a:gdLst/>
                <a:ahLst/>
                <a:cxnLst/>
                <a:rect l="l" t="t" r="r" b="b"/>
                <a:pathLst>
                  <a:path w="6850742" h="431282">
                    <a:moveTo>
                      <a:pt x="0" y="0"/>
                    </a:moveTo>
                    <a:lnTo>
                      <a:pt x="6850742" y="0"/>
                    </a:lnTo>
                    <a:lnTo>
                      <a:pt x="6850742" y="431282"/>
                    </a:lnTo>
                    <a:lnTo>
                      <a:pt x="0" y="431282"/>
                    </a:lnTo>
                    <a:close/>
                  </a:path>
                </a:pathLst>
              </a:custGeom>
              <a:blipFill>
                <a:blip r:embed="rId5">
                  <a:alphaModFix amt="0"/>
                </a:blip>
                <a:stretch>
                  <a:fillRect t="-259512" b="-259512"/>
                </a:stretch>
              </a:blipFill>
            </p:spPr>
          </p:sp>
          <p:sp>
            <p:nvSpPr>
              <p:cNvPr id="63" name="TextBox 63"/>
              <p:cNvSpPr txBox="1"/>
              <p:nvPr/>
            </p:nvSpPr>
            <p:spPr>
              <a:xfrm>
                <a:off x="0" y="-95250"/>
                <a:ext cx="6850748" cy="526529"/>
              </a:xfrm>
              <a:prstGeom prst="rect">
                <a:avLst/>
              </a:prstGeom>
            </p:spPr>
            <p:txBody>
              <a:bodyPr lIns="0" tIns="0" rIns="0" bIns="0" rtlCol="0" anchor="ctr"/>
              <a:lstStyle/>
              <a:p>
                <a:pPr algn="l">
                  <a:lnSpc>
                    <a:spcPts val="3025"/>
                  </a:lnSpc>
                </a:pPr>
                <a:r>
                  <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高度依赖发达的资产证券化市场与政府信用背书</a:t>
                </a:r>
                <a:endPar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64" name="Group 64"/>
            <p:cNvGrpSpPr/>
            <p:nvPr/>
          </p:nvGrpSpPr>
          <p:grpSpPr>
            <a:xfrm>
              <a:off x="7775245" y="0"/>
              <a:ext cx="7514260" cy="6601930"/>
              <a:chOff x="0" y="0"/>
              <a:chExt cx="7514260" cy="6601930"/>
            </a:xfrm>
          </p:grpSpPr>
          <p:sp>
            <p:nvSpPr>
              <p:cNvPr id="65" name="Freeform 65"/>
              <p:cNvSpPr/>
              <p:nvPr/>
            </p:nvSpPr>
            <p:spPr>
              <a:xfrm>
                <a:off x="0" y="0"/>
                <a:ext cx="7514209" cy="6601968"/>
              </a:xfrm>
              <a:custGeom>
                <a:avLst/>
                <a:gdLst/>
                <a:ahLst/>
                <a:cxnLst/>
                <a:rect l="l" t="t" r="r" b="b"/>
                <a:pathLst>
                  <a:path w="7514209" h="6601968">
                    <a:moveTo>
                      <a:pt x="66294" y="0"/>
                    </a:moveTo>
                    <a:lnTo>
                      <a:pt x="7447915" y="0"/>
                    </a:lnTo>
                    <a:cubicBezTo>
                      <a:pt x="7484618" y="0"/>
                      <a:pt x="7514209" y="29718"/>
                      <a:pt x="7514209" y="66294"/>
                    </a:cubicBezTo>
                    <a:lnTo>
                      <a:pt x="7514209" y="6469253"/>
                    </a:lnTo>
                    <a:cubicBezTo>
                      <a:pt x="7514209" y="6542532"/>
                      <a:pt x="7454773" y="6601968"/>
                      <a:pt x="7381494" y="6601968"/>
                    </a:cubicBezTo>
                    <a:lnTo>
                      <a:pt x="132715" y="6601968"/>
                    </a:lnTo>
                    <a:cubicBezTo>
                      <a:pt x="59436" y="6601968"/>
                      <a:pt x="0" y="6542532"/>
                      <a:pt x="0" y="6469253"/>
                    </a:cubicBezTo>
                    <a:lnTo>
                      <a:pt x="0" y="66294"/>
                    </a:lnTo>
                    <a:cubicBezTo>
                      <a:pt x="0" y="29718"/>
                      <a:pt x="29718" y="0"/>
                      <a:pt x="66294" y="0"/>
                    </a:cubicBezTo>
                    <a:close/>
                  </a:path>
                </a:pathLst>
              </a:custGeom>
              <a:solidFill>
                <a:srgbClr val="FFEBCA"/>
              </a:solidFill>
            </p:spPr>
          </p:sp>
        </p:grpSp>
        <p:grpSp>
          <p:nvGrpSpPr>
            <p:cNvPr id="66" name="Group 66"/>
            <p:cNvGrpSpPr/>
            <p:nvPr/>
          </p:nvGrpSpPr>
          <p:grpSpPr>
            <a:xfrm>
              <a:off x="8040649" y="298577"/>
              <a:ext cx="796214" cy="796214"/>
              <a:chOff x="0" y="0"/>
              <a:chExt cx="796214" cy="796214"/>
            </a:xfrm>
          </p:grpSpPr>
          <p:sp>
            <p:nvSpPr>
              <p:cNvPr id="67" name="Freeform 67"/>
              <p:cNvSpPr/>
              <p:nvPr/>
            </p:nvSpPr>
            <p:spPr>
              <a:xfrm>
                <a:off x="0" y="0"/>
                <a:ext cx="796290" cy="796163"/>
              </a:xfrm>
              <a:custGeom>
                <a:avLst/>
                <a:gdLst/>
                <a:ahLst/>
                <a:cxnLst/>
                <a:rect l="l" t="t" r="r" b="b"/>
                <a:pathLst>
                  <a:path w="796290" h="796163">
                    <a:moveTo>
                      <a:pt x="398145" y="0"/>
                    </a:moveTo>
                    <a:cubicBezTo>
                      <a:pt x="617855" y="0"/>
                      <a:pt x="796290" y="178435"/>
                      <a:pt x="796290" y="398145"/>
                    </a:cubicBezTo>
                    <a:cubicBezTo>
                      <a:pt x="796290" y="617855"/>
                      <a:pt x="617855" y="796163"/>
                      <a:pt x="398145" y="796163"/>
                    </a:cubicBezTo>
                    <a:cubicBezTo>
                      <a:pt x="178435" y="796163"/>
                      <a:pt x="0" y="617855"/>
                      <a:pt x="0" y="398145"/>
                    </a:cubicBezTo>
                    <a:cubicBezTo>
                      <a:pt x="0" y="178435"/>
                      <a:pt x="178435" y="0"/>
                      <a:pt x="398145" y="0"/>
                    </a:cubicBezTo>
                    <a:close/>
                  </a:path>
                </a:pathLst>
              </a:custGeom>
              <a:solidFill>
                <a:srgbClr val="FF802E"/>
              </a:solidFill>
            </p:spPr>
          </p:sp>
        </p:grpSp>
        <p:grpSp>
          <p:nvGrpSpPr>
            <p:cNvPr id="68" name="Group 68"/>
            <p:cNvGrpSpPr/>
            <p:nvPr/>
          </p:nvGrpSpPr>
          <p:grpSpPr>
            <a:xfrm>
              <a:off x="9035923" y="298577"/>
              <a:ext cx="1658772" cy="568334"/>
              <a:chOff x="0" y="0"/>
              <a:chExt cx="1658772" cy="568334"/>
            </a:xfrm>
          </p:grpSpPr>
          <p:sp>
            <p:nvSpPr>
              <p:cNvPr id="69" name="Freeform 69"/>
              <p:cNvSpPr/>
              <p:nvPr/>
            </p:nvSpPr>
            <p:spPr>
              <a:xfrm>
                <a:off x="0" y="0"/>
                <a:ext cx="1658776" cy="568340"/>
              </a:xfrm>
              <a:custGeom>
                <a:avLst/>
                <a:gdLst/>
                <a:ahLst/>
                <a:cxnLst/>
                <a:rect l="l" t="t" r="r" b="b"/>
                <a:pathLst>
                  <a:path w="1658776" h="568340">
                    <a:moveTo>
                      <a:pt x="0" y="0"/>
                    </a:moveTo>
                    <a:lnTo>
                      <a:pt x="1658776" y="0"/>
                    </a:lnTo>
                    <a:lnTo>
                      <a:pt x="1658776" y="568340"/>
                    </a:lnTo>
                    <a:lnTo>
                      <a:pt x="0" y="568340"/>
                    </a:lnTo>
                    <a:close/>
                  </a:path>
                </a:pathLst>
              </a:custGeom>
              <a:blipFill>
                <a:blip r:embed="rId5">
                  <a:alphaModFix amt="0"/>
                </a:blip>
                <a:stretch>
                  <a:fillRect t="-16009" b="2270"/>
                </a:stretch>
              </a:blipFill>
            </p:spPr>
          </p:sp>
          <p:sp>
            <p:nvSpPr>
              <p:cNvPr id="70" name="TextBox 70"/>
              <p:cNvSpPr txBox="1"/>
              <p:nvPr/>
            </p:nvSpPr>
            <p:spPr>
              <a:xfrm>
                <a:off x="0" y="-57150"/>
                <a:ext cx="1658772" cy="625484"/>
              </a:xfrm>
              <a:prstGeom prst="rect">
                <a:avLst/>
              </a:prstGeom>
            </p:spPr>
            <p:txBody>
              <a:bodyPr lIns="0" tIns="0" rIns="0" bIns="0" rtlCol="0" anchor="ctr"/>
              <a:lstStyle/>
              <a:p>
                <a:pPr algn="l">
                  <a:lnSpc>
                    <a:spcPts val="3025"/>
                  </a:lnSpc>
                </a:pPr>
                <a:r>
                  <a:rPr lang="en-US" sz="2100" b="1">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新加坡</a:t>
                </a:r>
                <a:endParaRPr lang="en-US" sz="2100" b="1">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71" name="Group 71"/>
            <p:cNvGrpSpPr/>
            <p:nvPr/>
          </p:nvGrpSpPr>
          <p:grpSpPr>
            <a:xfrm>
              <a:off x="9035923" y="715628"/>
              <a:ext cx="6009640" cy="379307"/>
              <a:chOff x="0" y="-47413"/>
              <a:chExt cx="6009640" cy="379307"/>
            </a:xfrm>
          </p:grpSpPr>
          <p:sp>
            <p:nvSpPr>
              <p:cNvPr id="72" name="Freeform 72"/>
              <p:cNvSpPr/>
              <p:nvPr/>
            </p:nvSpPr>
            <p:spPr>
              <a:xfrm>
                <a:off x="0" y="0"/>
                <a:ext cx="1609012" cy="331756"/>
              </a:xfrm>
              <a:custGeom>
                <a:avLst/>
                <a:gdLst/>
                <a:ahLst/>
                <a:cxnLst/>
                <a:rect l="l" t="t" r="r" b="b"/>
                <a:pathLst>
                  <a:path w="1609012" h="331756">
                    <a:moveTo>
                      <a:pt x="0" y="0"/>
                    </a:moveTo>
                    <a:lnTo>
                      <a:pt x="1609012" y="0"/>
                    </a:lnTo>
                    <a:lnTo>
                      <a:pt x="1609012" y="331756"/>
                    </a:lnTo>
                    <a:lnTo>
                      <a:pt x="0" y="331756"/>
                    </a:lnTo>
                    <a:close/>
                  </a:path>
                </a:pathLst>
              </a:custGeom>
              <a:blipFill>
                <a:blip r:embed="rId5">
                  <a:alphaModFix amt="0"/>
                </a:blip>
                <a:stretch>
                  <a:fillRect t="-44501" b="-44503"/>
                </a:stretch>
              </a:blipFill>
            </p:spPr>
          </p:sp>
          <p:sp>
            <p:nvSpPr>
              <p:cNvPr id="73" name="TextBox 73"/>
              <p:cNvSpPr txBox="1"/>
              <p:nvPr/>
            </p:nvSpPr>
            <p:spPr>
              <a:xfrm>
                <a:off x="0" y="-47413"/>
                <a:ext cx="6009640" cy="379307"/>
              </a:xfrm>
              <a:prstGeom prst="rect">
                <a:avLst/>
              </a:prstGeom>
            </p:spPr>
            <p:txBody>
              <a:bodyPr lIns="0" tIns="0" rIns="0" bIns="0" rtlCol="0" anchor="ctr"/>
              <a:lstStyle/>
              <a:p>
                <a:pPr algn="l">
                  <a:lnSpc>
                    <a:spcPts val="1975"/>
                  </a:lnSpc>
                </a:pPr>
                <a:r>
                  <a:rPr 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LBS+DBS</a:t>
                </a:r>
                <a:r>
                  <a:rPr lang="zh-CN" alt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（屋契回购</a:t>
                </a:r>
                <a:r>
                  <a:rPr lang="en-US" altLang="zh-CN"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zh-CN" alt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星展银行反向抵押）</a:t>
                </a:r>
                <a:r>
                  <a:rPr 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双轨</a:t>
                </a:r>
                <a:endParaRPr 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74" name="Group 74"/>
            <p:cNvGrpSpPr/>
            <p:nvPr/>
          </p:nvGrpSpPr>
          <p:grpSpPr>
            <a:xfrm>
              <a:off x="8040649" y="1293851"/>
              <a:ext cx="6983438" cy="1592428"/>
              <a:chOff x="0" y="0"/>
              <a:chExt cx="6983438" cy="1592428"/>
            </a:xfrm>
          </p:grpSpPr>
          <p:sp>
            <p:nvSpPr>
              <p:cNvPr id="75" name="Freeform 75"/>
              <p:cNvSpPr/>
              <p:nvPr/>
            </p:nvSpPr>
            <p:spPr>
              <a:xfrm>
                <a:off x="0" y="0"/>
                <a:ext cx="6983476" cy="1592453"/>
              </a:xfrm>
              <a:custGeom>
                <a:avLst/>
                <a:gdLst/>
                <a:ahLst/>
                <a:cxnLst/>
                <a:rect l="l" t="t" r="r" b="b"/>
                <a:pathLst>
                  <a:path w="6983476" h="1592453">
                    <a:moveTo>
                      <a:pt x="132715" y="0"/>
                    </a:moveTo>
                    <a:lnTo>
                      <a:pt x="6850761" y="0"/>
                    </a:lnTo>
                    <a:cubicBezTo>
                      <a:pt x="6924040" y="0"/>
                      <a:pt x="6983476" y="59436"/>
                      <a:pt x="6983476" y="132715"/>
                    </a:cubicBezTo>
                    <a:lnTo>
                      <a:pt x="6983476" y="1459738"/>
                    </a:lnTo>
                    <a:cubicBezTo>
                      <a:pt x="6983476" y="1533017"/>
                      <a:pt x="6924040" y="1592453"/>
                      <a:pt x="6850761" y="1592453"/>
                    </a:cubicBezTo>
                    <a:lnTo>
                      <a:pt x="132715" y="1592453"/>
                    </a:lnTo>
                    <a:cubicBezTo>
                      <a:pt x="59436" y="1592453"/>
                      <a:pt x="0" y="1533017"/>
                      <a:pt x="0" y="1459738"/>
                    </a:cubicBezTo>
                    <a:lnTo>
                      <a:pt x="0" y="132715"/>
                    </a:lnTo>
                    <a:cubicBezTo>
                      <a:pt x="0" y="59436"/>
                      <a:pt x="59436" y="0"/>
                      <a:pt x="132715" y="0"/>
                    </a:cubicBezTo>
                    <a:close/>
                  </a:path>
                </a:pathLst>
              </a:custGeom>
              <a:solidFill>
                <a:srgbClr val="FFFFFF"/>
              </a:solidFill>
            </p:spPr>
          </p:sp>
        </p:grpSp>
        <p:sp>
          <p:nvSpPr>
            <p:cNvPr id="76" name="Freeform 76"/>
            <p:cNvSpPr/>
            <p:nvPr/>
          </p:nvSpPr>
          <p:spPr>
            <a:xfrm>
              <a:off x="8239709" y="1492898"/>
              <a:ext cx="199060" cy="265405"/>
            </a:xfrm>
            <a:custGeom>
              <a:avLst/>
              <a:gdLst/>
              <a:ahLst/>
              <a:cxnLst/>
              <a:rect l="l" t="t" r="r" b="b"/>
              <a:pathLst>
                <a:path w="199060" h="265405">
                  <a:moveTo>
                    <a:pt x="0" y="0"/>
                  </a:moveTo>
                  <a:lnTo>
                    <a:pt x="199060" y="0"/>
                  </a:lnTo>
                  <a:lnTo>
                    <a:pt x="199060" y="265404"/>
                  </a:lnTo>
                  <a:lnTo>
                    <a:pt x="0" y="26540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grpSp>
          <p:nvGrpSpPr>
            <p:cNvPr id="77" name="Group 77"/>
            <p:cNvGrpSpPr/>
            <p:nvPr/>
          </p:nvGrpSpPr>
          <p:grpSpPr>
            <a:xfrm>
              <a:off x="8505114" y="1426553"/>
              <a:ext cx="6518986" cy="398107"/>
              <a:chOff x="0" y="0"/>
              <a:chExt cx="6518986" cy="398107"/>
            </a:xfrm>
          </p:grpSpPr>
          <p:sp>
            <p:nvSpPr>
              <p:cNvPr id="78" name="Freeform 78"/>
              <p:cNvSpPr/>
              <p:nvPr/>
            </p:nvSpPr>
            <p:spPr>
              <a:xfrm>
                <a:off x="0" y="0"/>
                <a:ext cx="6518988" cy="398106"/>
              </a:xfrm>
              <a:custGeom>
                <a:avLst/>
                <a:gdLst/>
                <a:ahLst/>
                <a:cxnLst/>
                <a:rect l="l" t="t" r="r" b="b"/>
                <a:pathLst>
                  <a:path w="6518988" h="398106">
                    <a:moveTo>
                      <a:pt x="0" y="0"/>
                    </a:moveTo>
                    <a:lnTo>
                      <a:pt x="6518988" y="0"/>
                    </a:lnTo>
                    <a:lnTo>
                      <a:pt x="6518988" y="398106"/>
                    </a:lnTo>
                    <a:lnTo>
                      <a:pt x="0" y="398106"/>
                    </a:lnTo>
                    <a:close/>
                  </a:path>
                </a:pathLst>
              </a:custGeom>
              <a:blipFill>
                <a:blip r:embed="rId5">
                  <a:alphaModFix amt="0"/>
                </a:blip>
                <a:stretch>
                  <a:fillRect t="-269067" b="-269067"/>
                </a:stretch>
              </a:blipFill>
            </p:spPr>
          </p:sp>
          <p:sp>
            <p:nvSpPr>
              <p:cNvPr id="79" name="TextBox 79"/>
              <p:cNvSpPr txBox="1"/>
              <p:nvPr/>
            </p:nvSpPr>
            <p:spPr>
              <a:xfrm>
                <a:off x="0" y="-76200"/>
                <a:ext cx="6518986" cy="474307"/>
              </a:xfrm>
              <a:prstGeom prst="rect">
                <a:avLst/>
              </a:prstGeom>
            </p:spPr>
            <p:txBody>
              <a:bodyPr lIns="0" tIns="0" rIns="0" bIns="0" rtlCol="0" anchor="ctr"/>
              <a:lstStyle/>
              <a:p>
                <a:pPr algn="l">
                  <a:lnSpc>
                    <a:spcPts val="2810"/>
                  </a:lnSpc>
                </a:pPr>
                <a:r>
                  <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LBS计划</a:t>
                </a:r>
                <a:endPar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80" name="Group 80"/>
            <p:cNvGrpSpPr/>
            <p:nvPr/>
          </p:nvGrpSpPr>
          <p:grpSpPr>
            <a:xfrm>
              <a:off x="8040649" y="3018968"/>
              <a:ext cx="6983438" cy="1592428"/>
              <a:chOff x="0" y="0"/>
              <a:chExt cx="6983438" cy="1592428"/>
            </a:xfrm>
          </p:grpSpPr>
          <p:sp>
            <p:nvSpPr>
              <p:cNvPr id="81" name="Freeform 81"/>
              <p:cNvSpPr/>
              <p:nvPr/>
            </p:nvSpPr>
            <p:spPr>
              <a:xfrm>
                <a:off x="0" y="0"/>
                <a:ext cx="6983476" cy="1592453"/>
              </a:xfrm>
              <a:custGeom>
                <a:avLst/>
                <a:gdLst/>
                <a:ahLst/>
                <a:cxnLst/>
                <a:rect l="l" t="t" r="r" b="b"/>
                <a:pathLst>
                  <a:path w="6983476" h="1592453">
                    <a:moveTo>
                      <a:pt x="132715" y="0"/>
                    </a:moveTo>
                    <a:lnTo>
                      <a:pt x="6850761" y="0"/>
                    </a:lnTo>
                    <a:cubicBezTo>
                      <a:pt x="6924040" y="0"/>
                      <a:pt x="6983476" y="59436"/>
                      <a:pt x="6983476" y="132715"/>
                    </a:cubicBezTo>
                    <a:lnTo>
                      <a:pt x="6983476" y="1459738"/>
                    </a:lnTo>
                    <a:cubicBezTo>
                      <a:pt x="6983476" y="1533017"/>
                      <a:pt x="6924040" y="1592453"/>
                      <a:pt x="6850761" y="1592453"/>
                    </a:cubicBezTo>
                    <a:lnTo>
                      <a:pt x="132715" y="1592453"/>
                    </a:lnTo>
                    <a:cubicBezTo>
                      <a:pt x="59436" y="1592453"/>
                      <a:pt x="0" y="1533017"/>
                      <a:pt x="0" y="1459738"/>
                    </a:cubicBezTo>
                    <a:lnTo>
                      <a:pt x="0" y="132715"/>
                    </a:lnTo>
                    <a:cubicBezTo>
                      <a:pt x="0" y="59436"/>
                      <a:pt x="59436" y="0"/>
                      <a:pt x="132715" y="0"/>
                    </a:cubicBezTo>
                    <a:close/>
                  </a:path>
                </a:pathLst>
              </a:custGeom>
              <a:solidFill>
                <a:srgbClr val="FFFFFF"/>
              </a:solidFill>
            </p:spPr>
          </p:sp>
        </p:grpSp>
        <p:sp>
          <p:nvSpPr>
            <p:cNvPr id="82" name="Freeform 82"/>
            <p:cNvSpPr/>
            <p:nvPr/>
          </p:nvSpPr>
          <p:spPr>
            <a:xfrm>
              <a:off x="8206537" y="3218028"/>
              <a:ext cx="265405" cy="265405"/>
            </a:xfrm>
            <a:custGeom>
              <a:avLst/>
              <a:gdLst/>
              <a:ahLst/>
              <a:cxnLst/>
              <a:rect l="l" t="t" r="r" b="b"/>
              <a:pathLst>
                <a:path w="265405" h="265405">
                  <a:moveTo>
                    <a:pt x="0" y="0"/>
                  </a:moveTo>
                  <a:lnTo>
                    <a:pt x="265404" y="0"/>
                  </a:lnTo>
                  <a:lnTo>
                    <a:pt x="265404" y="265404"/>
                  </a:lnTo>
                  <a:lnTo>
                    <a:pt x="0" y="26540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grpSp>
          <p:nvGrpSpPr>
            <p:cNvPr id="83" name="Group 83"/>
            <p:cNvGrpSpPr/>
            <p:nvPr/>
          </p:nvGrpSpPr>
          <p:grpSpPr>
            <a:xfrm>
              <a:off x="8505114" y="3151670"/>
              <a:ext cx="6518986" cy="398107"/>
              <a:chOff x="0" y="0"/>
              <a:chExt cx="6518986" cy="398107"/>
            </a:xfrm>
          </p:grpSpPr>
          <p:sp>
            <p:nvSpPr>
              <p:cNvPr id="84" name="Freeform 84"/>
              <p:cNvSpPr/>
              <p:nvPr/>
            </p:nvSpPr>
            <p:spPr>
              <a:xfrm>
                <a:off x="0" y="0"/>
                <a:ext cx="6518988" cy="398106"/>
              </a:xfrm>
              <a:custGeom>
                <a:avLst/>
                <a:gdLst/>
                <a:ahLst/>
                <a:cxnLst/>
                <a:rect l="l" t="t" r="r" b="b"/>
                <a:pathLst>
                  <a:path w="6518988" h="398106">
                    <a:moveTo>
                      <a:pt x="0" y="0"/>
                    </a:moveTo>
                    <a:lnTo>
                      <a:pt x="6518988" y="0"/>
                    </a:lnTo>
                    <a:lnTo>
                      <a:pt x="6518988" y="398106"/>
                    </a:lnTo>
                    <a:lnTo>
                      <a:pt x="0" y="398106"/>
                    </a:lnTo>
                    <a:close/>
                  </a:path>
                </a:pathLst>
              </a:custGeom>
              <a:blipFill>
                <a:blip r:embed="rId5">
                  <a:alphaModFix amt="0"/>
                </a:blip>
                <a:stretch>
                  <a:fillRect t="-269067" b="-269067"/>
                </a:stretch>
              </a:blipFill>
            </p:spPr>
          </p:sp>
          <p:sp>
            <p:nvSpPr>
              <p:cNvPr id="85" name="TextBox 85"/>
              <p:cNvSpPr txBox="1"/>
              <p:nvPr/>
            </p:nvSpPr>
            <p:spPr>
              <a:xfrm>
                <a:off x="0" y="-76200"/>
                <a:ext cx="6518986" cy="474307"/>
              </a:xfrm>
              <a:prstGeom prst="rect">
                <a:avLst/>
              </a:prstGeom>
            </p:spPr>
            <p:txBody>
              <a:bodyPr lIns="0" tIns="0" rIns="0" bIns="0" rtlCol="0" anchor="ctr"/>
              <a:lstStyle/>
              <a:p>
                <a:pPr algn="l">
                  <a:lnSpc>
                    <a:spcPts val="2810"/>
                  </a:lnSpc>
                </a:pPr>
                <a:r>
                  <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DBS模式</a:t>
                </a:r>
                <a:endPar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86" name="Group 86"/>
            <p:cNvGrpSpPr/>
            <p:nvPr/>
          </p:nvGrpSpPr>
          <p:grpSpPr>
            <a:xfrm>
              <a:off x="8173352" y="3616134"/>
              <a:ext cx="6850748" cy="862559"/>
              <a:chOff x="0" y="0"/>
              <a:chExt cx="6850748" cy="862559"/>
            </a:xfrm>
          </p:grpSpPr>
          <p:sp>
            <p:nvSpPr>
              <p:cNvPr id="87" name="Freeform 87"/>
              <p:cNvSpPr/>
              <p:nvPr/>
            </p:nvSpPr>
            <p:spPr>
              <a:xfrm>
                <a:off x="0" y="0"/>
                <a:ext cx="6850742" cy="862564"/>
              </a:xfrm>
              <a:custGeom>
                <a:avLst/>
                <a:gdLst/>
                <a:ahLst/>
                <a:cxnLst/>
                <a:rect l="l" t="t" r="r" b="b"/>
                <a:pathLst>
                  <a:path w="6850742" h="862564">
                    <a:moveTo>
                      <a:pt x="0" y="0"/>
                    </a:moveTo>
                    <a:lnTo>
                      <a:pt x="6850742" y="0"/>
                    </a:lnTo>
                    <a:lnTo>
                      <a:pt x="6850742" y="862564"/>
                    </a:lnTo>
                    <a:lnTo>
                      <a:pt x="0" y="862564"/>
                    </a:lnTo>
                    <a:close/>
                  </a:path>
                </a:pathLst>
              </a:custGeom>
              <a:blipFill>
                <a:blip r:embed="rId5">
                  <a:alphaModFix amt="0"/>
                </a:blip>
                <a:stretch>
                  <a:fillRect t="-104756" b="-104755"/>
                </a:stretch>
              </a:blipFill>
            </p:spPr>
          </p:sp>
          <p:sp>
            <p:nvSpPr>
              <p:cNvPr id="88" name="TextBox 88"/>
              <p:cNvSpPr txBox="1"/>
              <p:nvPr/>
            </p:nvSpPr>
            <p:spPr>
              <a:xfrm>
                <a:off x="0" y="-95250"/>
                <a:ext cx="6850748" cy="957809"/>
              </a:xfrm>
              <a:prstGeom prst="rect">
                <a:avLst/>
              </a:prstGeom>
            </p:spPr>
            <p:txBody>
              <a:bodyPr lIns="0" tIns="0" rIns="0" bIns="0" rtlCol="0" anchor="ctr"/>
              <a:lstStyle/>
              <a:p>
                <a:pPr algn="l">
                  <a:lnSpc>
                    <a:spcPts val="3025"/>
                  </a:lnSpc>
                </a:pPr>
                <a:r>
                  <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商业机构主导，面向私人产权住房，无需转移所有权，无追索权</a:t>
                </a:r>
                <a:endPar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89" name="Group 89"/>
            <p:cNvGrpSpPr/>
            <p:nvPr/>
          </p:nvGrpSpPr>
          <p:grpSpPr>
            <a:xfrm>
              <a:off x="8040649" y="4744098"/>
              <a:ext cx="6983438" cy="1592428"/>
              <a:chOff x="0" y="0"/>
              <a:chExt cx="6983438" cy="1592428"/>
            </a:xfrm>
          </p:grpSpPr>
          <p:sp>
            <p:nvSpPr>
              <p:cNvPr id="90" name="Freeform 90"/>
              <p:cNvSpPr/>
              <p:nvPr/>
            </p:nvSpPr>
            <p:spPr>
              <a:xfrm>
                <a:off x="0" y="0"/>
                <a:ext cx="6983476" cy="1592453"/>
              </a:xfrm>
              <a:custGeom>
                <a:avLst/>
                <a:gdLst/>
                <a:ahLst/>
                <a:cxnLst/>
                <a:rect l="l" t="t" r="r" b="b"/>
                <a:pathLst>
                  <a:path w="6983476" h="1592453">
                    <a:moveTo>
                      <a:pt x="132715" y="0"/>
                    </a:moveTo>
                    <a:lnTo>
                      <a:pt x="6850761" y="0"/>
                    </a:lnTo>
                    <a:cubicBezTo>
                      <a:pt x="6924040" y="0"/>
                      <a:pt x="6983476" y="59436"/>
                      <a:pt x="6983476" y="132715"/>
                    </a:cubicBezTo>
                    <a:lnTo>
                      <a:pt x="6983476" y="1459738"/>
                    </a:lnTo>
                    <a:cubicBezTo>
                      <a:pt x="6983476" y="1533017"/>
                      <a:pt x="6924040" y="1592453"/>
                      <a:pt x="6850761" y="1592453"/>
                    </a:cubicBezTo>
                    <a:lnTo>
                      <a:pt x="132715" y="1592453"/>
                    </a:lnTo>
                    <a:cubicBezTo>
                      <a:pt x="59436" y="1592453"/>
                      <a:pt x="0" y="1533017"/>
                      <a:pt x="0" y="1459738"/>
                    </a:cubicBezTo>
                    <a:lnTo>
                      <a:pt x="0" y="132715"/>
                    </a:lnTo>
                    <a:cubicBezTo>
                      <a:pt x="0" y="59436"/>
                      <a:pt x="59436" y="0"/>
                      <a:pt x="132715" y="0"/>
                    </a:cubicBezTo>
                    <a:close/>
                  </a:path>
                </a:pathLst>
              </a:custGeom>
              <a:solidFill>
                <a:srgbClr val="FFFFFF"/>
              </a:solidFill>
            </p:spPr>
          </p:sp>
        </p:grpSp>
        <p:sp>
          <p:nvSpPr>
            <p:cNvPr id="91" name="Freeform 91"/>
            <p:cNvSpPr/>
            <p:nvPr/>
          </p:nvSpPr>
          <p:spPr>
            <a:xfrm>
              <a:off x="8189951" y="4943145"/>
              <a:ext cx="298577" cy="265405"/>
            </a:xfrm>
            <a:custGeom>
              <a:avLst/>
              <a:gdLst/>
              <a:ahLst/>
              <a:cxnLst/>
              <a:rect l="l" t="t" r="r" b="b"/>
              <a:pathLst>
                <a:path w="298577" h="265405">
                  <a:moveTo>
                    <a:pt x="0" y="0"/>
                  </a:moveTo>
                  <a:lnTo>
                    <a:pt x="298577" y="0"/>
                  </a:lnTo>
                  <a:lnTo>
                    <a:pt x="298577" y="265404"/>
                  </a:lnTo>
                  <a:lnTo>
                    <a:pt x="0" y="265404"/>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grpSp>
          <p:nvGrpSpPr>
            <p:cNvPr id="92" name="Group 92"/>
            <p:cNvGrpSpPr/>
            <p:nvPr/>
          </p:nvGrpSpPr>
          <p:grpSpPr>
            <a:xfrm>
              <a:off x="8505114" y="4876800"/>
              <a:ext cx="6518986" cy="398107"/>
              <a:chOff x="0" y="0"/>
              <a:chExt cx="6518986" cy="398107"/>
            </a:xfrm>
          </p:grpSpPr>
          <p:sp>
            <p:nvSpPr>
              <p:cNvPr id="93" name="Freeform 93"/>
              <p:cNvSpPr/>
              <p:nvPr/>
            </p:nvSpPr>
            <p:spPr>
              <a:xfrm>
                <a:off x="0" y="0"/>
                <a:ext cx="6518988" cy="398106"/>
              </a:xfrm>
              <a:custGeom>
                <a:avLst/>
                <a:gdLst/>
                <a:ahLst/>
                <a:cxnLst/>
                <a:rect l="l" t="t" r="r" b="b"/>
                <a:pathLst>
                  <a:path w="6518988" h="398106">
                    <a:moveTo>
                      <a:pt x="0" y="0"/>
                    </a:moveTo>
                    <a:lnTo>
                      <a:pt x="6518988" y="0"/>
                    </a:lnTo>
                    <a:lnTo>
                      <a:pt x="6518988" y="398106"/>
                    </a:lnTo>
                    <a:lnTo>
                      <a:pt x="0" y="398106"/>
                    </a:lnTo>
                    <a:close/>
                  </a:path>
                </a:pathLst>
              </a:custGeom>
              <a:blipFill>
                <a:blip r:embed="rId5">
                  <a:alphaModFix amt="0"/>
                </a:blip>
                <a:stretch>
                  <a:fillRect t="-269067" b="-269067"/>
                </a:stretch>
              </a:blipFill>
            </p:spPr>
          </p:sp>
          <p:sp>
            <p:nvSpPr>
              <p:cNvPr id="94" name="TextBox 94"/>
              <p:cNvSpPr txBox="1"/>
              <p:nvPr/>
            </p:nvSpPr>
            <p:spPr>
              <a:xfrm>
                <a:off x="0" y="-76200"/>
                <a:ext cx="6518986" cy="474307"/>
              </a:xfrm>
              <a:prstGeom prst="rect">
                <a:avLst/>
              </a:prstGeom>
            </p:spPr>
            <p:txBody>
              <a:bodyPr lIns="0" tIns="0" rIns="0" bIns="0" rtlCol="0" anchor="ctr"/>
              <a:lstStyle/>
              <a:p>
                <a:pPr algn="l">
                  <a:lnSpc>
                    <a:spcPts val="2810"/>
                  </a:lnSpc>
                </a:pPr>
                <a:r>
                  <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核心优势</a:t>
                </a:r>
                <a:endPar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95" name="Group 95"/>
            <p:cNvGrpSpPr/>
            <p:nvPr/>
          </p:nvGrpSpPr>
          <p:grpSpPr>
            <a:xfrm>
              <a:off x="8173352" y="5417452"/>
              <a:ext cx="6850748" cy="862559"/>
              <a:chOff x="0" y="0"/>
              <a:chExt cx="6850748" cy="862559"/>
            </a:xfrm>
          </p:grpSpPr>
          <p:sp>
            <p:nvSpPr>
              <p:cNvPr id="96" name="Freeform 96"/>
              <p:cNvSpPr/>
              <p:nvPr/>
            </p:nvSpPr>
            <p:spPr>
              <a:xfrm>
                <a:off x="0" y="0"/>
                <a:ext cx="6850742" cy="862564"/>
              </a:xfrm>
              <a:custGeom>
                <a:avLst/>
                <a:gdLst/>
                <a:ahLst/>
                <a:cxnLst/>
                <a:rect l="l" t="t" r="r" b="b"/>
                <a:pathLst>
                  <a:path w="6850742" h="862564">
                    <a:moveTo>
                      <a:pt x="0" y="0"/>
                    </a:moveTo>
                    <a:lnTo>
                      <a:pt x="6850742" y="0"/>
                    </a:lnTo>
                    <a:lnTo>
                      <a:pt x="6850742" y="862564"/>
                    </a:lnTo>
                    <a:lnTo>
                      <a:pt x="0" y="862564"/>
                    </a:lnTo>
                    <a:close/>
                  </a:path>
                </a:pathLst>
              </a:custGeom>
              <a:blipFill>
                <a:blip r:embed="rId5">
                  <a:alphaModFix amt="0"/>
                </a:blip>
                <a:stretch>
                  <a:fillRect t="-104756" b="-104755"/>
                </a:stretch>
              </a:blipFill>
            </p:spPr>
          </p:sp>
          <p:sp>
            <p:nvSpPr>
              <p:cNvPr id="97" name="TextBox 97"/>
              <p:cNvSpPr txBox="1"/>
              <p:nvPr/>
            </p:nvSpPr>
            <p:spPr>
              <a:xfrm>
                <a:off x="0" y="-95250"/>
                <a:ext cx="6850748" cy="957809"/>
              </a:xfrm>
              <a:prstGeom prst="rect">
                <a:avLst/>
              </a:prstGeom>
            </p:spPr>
            <p:txBody>
              <a:bodyPr lIns="0" tIns="0" rIns="0" bIns="0" rtlCol="0" anchor="ctr"/>
              <a:lstStyle/>
              <a:p>
                <a:pPr algn="l">
                  <a:lnSpc>
                    <a:spcPts val="3025"/>
                  </a:lnSpc>
                </a:pPr>
                <a:r>
                  <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财政公积金制度与金融市场协同，"让渡部分产权换取终身保障"</a:t>
                </a:r>
                <a:endPar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98" name="Group 98"/>
            <p:cNvGrpSpPr/>
            <p:nvPr/>
          </p:nvGrpSpPr>
          <p:grpSpPr>
            <a:xfrm>
              <a:off x="15550629" y="0"/>
              <a:ext cx="7514260" cy="6601930"/>
              <a:chOff x="0" y="0"/>
              <a:chExt cx="7514260" cy="6601930"/>
            </a:xfrm>
          </p:grpSpPr>
          <p:sp>
            <p:nvSpPr>
              <p:cNvPr id="99" name="Freeform 99"/>
              <p:cNvSpPr/>
              <p:nvPr/>
            </p:nvSpPr>
            <p:spPr>
              <a:xfrm>
                <a:off x="0" y="0"/>
                <a:ext cx="7514209" cy="6601968"/>
              </a:xfrm>
              <a:custGeom>
                <a:avLst/>
                <a:gdLst/>
                <a:ahLst/>
                <a:cxnLst/>
                <a:rect l="l" t="t" r="r" b="b"/>
                <a:pathLst>
                  <a:path w="7514209" h="6601968">
                    <a:moveTo>
                      <a:pt x="66294" y="0"/>
                    </a:moveTo>
                    <a:lnTo>
                      <a:pt x="7447915" y="0"/>
                    </a:lnTo>
                    <a:cubicBezTo>
                      <a:pt x="7484618" y="0"/>
                      <a:pt x="7514209" y="29718"/>
                      <a:pt x="7514209" y="66294"/>
                    </a:cubicBezTo>
                    <a:lnTo>
                      <a:pt x="7514209" y="6469253"/>
                    </a:lnTo>
                    <a:cubicBezTo>
                      <a:pt x="7514209" y="6542532"/>
                      <a:pt x="7454773" y="6601968"/>
                      <a:pt x="7381494" y="6601968"/>
                    </a:cubicBezTo>
                    <a:lnTo>
                      <a:pt x="132715" y="6601968"/>
                    </a:lnTo>
                    <a:cubicBezTo>
                      <a:pt x="59436" y="6601968"/>
                      <a:pt x="0" y="6542532"/>
                      <a:pt x="0" y="6469253"/>
                    </a:cubicBezTo>
                    <a:lnTo>
                      <a:pt x="0" y="66294"/>
                    </a:lnTo>
                    <a:cubicBezTo>
                      <a:pt x="0" y="29718"/>
                      <a:pt x="29718" y="0"/>
                      <a:pt x="66294" y="0"/>
                    </a:cubicBezTo>
                    <a:close/>
                  </a:path>
                </a:pathLst>
              </a:custGeom>
              <a:solidFill>
                <a:srgbClr val="FFDCC3"/>
              </a:solidFill>
            </p:spPr>
          </p:sp>
        </p:grpSp>
        <p:grpSp>
          <p:nvGrpSpPr>
            <p:cNvPr id="100" name="Group 100"/>
            <p:cNvGrpSpPr/>
            <p:nvPr/>
          </p:nvGrpSpPr>
          <p:grpSpPr>
            <a:xfrm>
              <a:off x="15816034" y="298577"/>
              <a:ext cx="796214" cy="796214"/>
              <a:chOff x="0" y="0"/>
              <a:chExt cx="796214" cy="796214"/>
            </a:xfrm>
          </p:grpSpPr>
          <p:sp>
            <p:nvSpPr>
              <p:cNvPr id="101" name="Freeform 101"/>
              <p:cNvSpPr/>
              <p:nvPr/>
            </p:nvSpPr>
            <p:spPr>
              <a:xfrm>
                <a:off x="0" y="0"/>
                <a:ext cx="796290" cy="796163"/>
              </a:xfrm>
              <a:custGeom>
                <a:avLst/>
                <a:gdLst/>
                <a:ahLst/>
                <a:cxnLst/>
                <a:rect l="l" t="t" r="r" b="b"/>
                <a:pathLst>
                  <a:path w="796290" h="796163">
                    <a:moveTo>
                      <a:pt x="398145" y="0"/>
                    </a:moveTo>
                    <a:cubicBezTo>
                      <a:pt x="617855" y="0"/>
                      <a:pt x="796290" y="178435"/>
                      <a:pt x="796290" y="398145"/>
                    </a:cubicBezTo>
                    <a:cubicBezTo>
                      <a:pt x="796290" y="617855"/>
                      <a:pt x="617855" y="796163"/>
                      <a:pt x="398145" y="796163"/>
                    </a:cubicBezTo>
                    <a:cubicBezTo>
                      <a:pt x="178435" y="796163"/>
                      <a:pt x="0" y="617855"/>
                      <a:pt x="0" y="398145"/>
                    </a:cubicBezTo>
                    <a:cubicBezTo>
                      <a:pt x="0" y="178435"/>
                      <a:pt x="178435" y="0"/>
                      <a:pt x="398145" y="0"/>
                    </a:cubicBezTo>
                    <a:close/>
                  </a:path>
                </a:pathLst>
              </a:custGeom>
              <a:solidFill>
                <a:srgbClr val="DC5400"/>
              </a:solidFill>
            </p:spPr>
          </p:sp>
        </p:grpSp>
        <p:grpSp>
          <p:nvGrpSpPr>
            <p:cNvPr id="102" name="Group 102"/>
            <p:cNvGrpSpPr/>
            <p:nvPr/>
          </p:nvGrpSpPr>
          <p:grpSpPr>
            <a:xfrm>
              <a:off x="16811295" y="298577"/>
              <a:ext cx="1327023" cy="568334"/>
              <a:chOff x="0" y="0"/>
              <a:chExt cx="1327023" cy="568334"/>
            </a:xfrm>
          </p:grpSpPr>
          <p:sp>
            <p:nvSpPr>
              <p:cNvPr id="103" name="Freeform 103"/>
              <p:cNvSpPr/>
              <p:nvPr/>
            </p:nvSpPr>
            <p:spPr>
              <a:xfrm>
                <a:off x="0" y="0"/>
                <a:ext cx="1327020" cy="568340"/>
              </a:xfrm>
              <a:custGeom>
                <a:avLst/>
                <a:gdLst/>
                <a:ahLst/>
                <a:cxnLst/>
                <a:rect l="l" t="t" r="r" b="b"/>
                <a:pathLst>
                  <a:path w="1327020" h="568340">
                    <a:moveTo>
                      <a:pt x="0" y="0"/>
                    </a:moveTo>
                    <a:lnTo>
                      <a:pt x="1327020" y="0"/>
                    </a:lnTo>
                    <a:lnTo>
                      <a:pt x="1327020" y="568340"/>
                    </a:lnTo>
                    <a:lnTo>
                      <a:pt x="0" y="568340"/>
                    </a:lnTo>
                    <a:close/>
                  </a:path>
                </a:pathLst>
              </a:custGeom>
              <a:blipFill>
                <a:blip r:embed="rId5">
                  <a:alphaModFix amt="0"/>
                </a:blip>
                <a:stretch>
                  <a:fillRect t="-4635" b="13643"/>
                </a:stretch>
              </a:blipFill>
            </p:spPr>
          </p:sp>
          <p:sp>
            <p:nvSpPr>
              <p:cNvPr id="104" name="TextBox 104"/>
              <p:cNvSpPr txBox="1"/>
              <p:nvPr/>
            </p:nvSpPr>
            <p:spPr>
              <a:xfrm>
                <a:off x="0" y="-57150"/>
                <a:ext cx="1327023" cy="625484"/>
              </a:xfrm>
              <a:prstGeom prst="rect">
                <a:avLst/>
              </a:prstGeom>
            </p:spPr>
            <p:txBody>
              <a:bodyPr lIns="0" tIns="0" rIns="0" bIns="0" rtlCol="0" anchor="ctr"/>
              <a:lstStyle/>
              <a:p>
                <a:pPr algn="l">
                  <a:lnSpc>
                    <a:spcPts val="3025"/>
                  </a:lnSpc>
                </a:pPr>
                <a:r>
                  <a:rPr lang="en-US" sz="2100" b="1">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日本</a:t>
                </a:r>
                <a:endParaRPr lang="en-US" sz="2100" b="1">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05" name="Group 105"/>
            <p:cNvGrpSpPr/>
            <p:nvPr/>
          </p:nvGrpSpPr>
          <p:grpSpPr>
            <a:xfrm>
              <a:off x="16811295" y="763041"/>
              <a:ext cx="1277252" cy="331762"/>
              <a:chOff x="0" y="0"/>
              <a:chExt cx="1277252" cy="331762"/>
            </a:xfrm>
          </p:grpSpPr>
          <p:sp>
            <p:nvSpPr>
              <p:cNvPr id="106" name="Freeform 106"/>
              <p:cNvSpPr/>
              <p:nvPr/>
            </p:nvSpPr>
            <p:spPr>
              <a:xfrm>
                <a:off x="0" y="0"/>
                <a:ext cx="1277258" cy="331756"/>
              </a:xfrm>
              <a:custGeom>
                <a:avLst/>
                <a:gdLst/>
                <a:ahLst/>
                <a:cxnLst/>
                <a:rect l="l" t="t" r="r" b="b"/>
                <a:pathLst>
                  <a:path w="1277258" h="331756">
                    <a:moveTo>
                      <a:pt x="0" y="0"/>
                    </a:moveTo>
                    <a:lnTo>
                      <a:pt x="1277258" y="0"/>
                    </a:lnTo>
                    <a:lnTo>
                      <a:pt x="1277258" y="331756"/>
                    </a:lnTo>
                    <a:lnTo>
                      <a:pt x="0" y="331756"/>
                    </a:lnTo>
                    <a:close/>
                  </a:path>
                </a:pathLst>
              </a:custGeom>
              <a:blipFill>
                <a:blip r:embed="rId5">
                  <a:alphaModFix amt="0"/>
                </a:blip>
                <a:stretch>
                  <a:fillRect t="-25015" b="-25017"/>
                </a:stretch>
              </a:blipFill>
            </p:spPr>
          </p:sp>
          <p:sp>
            <p:nvSpPr>
              <p:cNvPr id="107" name="TextBox 107"/>
              <p:cNvSpPr txBox="1"/>
              <p:nvPr/>
            </p:nvSpPr>
            <p:spPr>
              <a:xfrm>
                <a:off x="0" y="-47625"/>
                <a:ext cx="1277252" cy="379387"/>
              </a:xfrm>
              <a:prstGeom prst="rect">
                <a:avLst/>
              </a:prstGeom>
            </p:spPr>
            <p:txBody>
              <a:bodyPr lIns="0" tIns="0" rIns="0" bIns="0" rtlCol="0" anchor="ctr"/>
              <a:lstStyle/>
              <a:p>
                <a:pPr algn="l">
                  <a:lnSpc>
                    <a:spcPts val="1975"/>
                  </a:lnSpc>
                </a:pPr>
                <a:r>
                  <a:rPr 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多元化矩阵</a:t>
                </a:r>
                <a:endParaRPr 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08" name="Group 108"/>
            <p:cNvGrpSpPr/>
            <p:nvPr/>
          </p:nvGrpSpPr>
          <p:grpSpPr>
            <a:xfrm>
              <a:off x="15816034" y="1293851"/>
              <a:ext cx="6983438" cy="1592428"/>
              <a:chOff x="0" y="0"/>
              <a:chExt cx="6983438" cy="1592428"/>
            </a:xfrm>
          </p:grpSpPr>
          <p:sp>
            <p:nvSpPr>
              <p:cNvPr id="109" name="Freeform 109"/>
              <p:cNvSpPr/>
              <p:nvPr/>
            </p:nvSpPr>
            <p:spPr>
              <a:xfrm>
                <a:off x="0" y="0"/>
                <a:ext cx="6983476" cy="1592453"/>
              </a:xfrm>
              <a:custGeom>
                <a:avLst/>
                <a:gdLst/>
                <a:ahLst/>
                <a:cxnLst/>
                <a:rect l="l" t="t" r="r" b="b"/>
                <a:pathLst>
                  <a:path w="6983476" h="1592453">
                    <a:moveTo>
                      <a:pt x="132715" y="0"/>
                    </a:moveTo>
                    <a:lnTo>
                      <a:pt x="6850761" y="0"/>
                    </a:lnTo>
                    <a:cubicBezTo>
                      <a:pt x="6924040" y="0"/>
                      <a:pt x="6983476" y="59436"/>
                      <a:pt x="6983476" y="132715"/>
                    </a:cubicBezTo>
                    <a:lnTo>
                      <a:pt x="6983476" y="1459738"/>
                    </a:lnTo>
                    <a:cubicBezTo>
                      <a:pt x="6983476" y="1533017"/>
                      <a:pt x="6924040" y="1592453"/>
                      <a:pt x="6850761" y="1592453"/>
                    </a:cubicBezTo>
                    <a:lnTo>
                      <a:pt x="132715" y="1592453"/>
                    </a:lnTo>
                    <a:cubicBezTo>
                      <a:pt x="59436" y="1592453"/>
                      <a:pt x="0" y="1533017"/>
                      <a:pt x="0" y="1459738"/>
                    </a:cubicBezTo>
                    <a:lnTo>
                      <a:pt x="0" y="132715"/>
                    </a:lnTo>
                    <a:cubicBezTo>
                      <a:pt x="0" y="59436"/>
                      <a:pt x="59436" y="0"/>
                      <a:pt x="132715" y="0"/>
                    </a:cubicBezTo>
                    <a:close/>
                  </a:path>
                </a:pathLst>
              </a:custGeom>
              <a:solidFill>
                <a:srgbClr val="FFFFFF"/>
              </a:solidFill>
            </p:spPr>
          </p:sp>
        </p:grpSp>
        <p:sp>
          <p:nvSpPr>
            <p:cNvPr id="110" name="Freeform 110"/>
            <p:cNvSpPr/>
            <p:nvPr/>
          </p:nvSpPr>
          <p:spPr>
            <a:xfrm>
              <a:off x="15981909" y="1492898"/>
              <a:ext cx="265405" cy="265405"/>
            </a:xfrm>
            <a:custGeom>
              <a:avLst/>
              <a:gdLst/>
              <a:ahLst/>
              <a:cxnLst/>
              <a:rect l="l" t="t" r="r" b="b"/>
              <a:pathLst>
                <a:path w="265405" h="265405">
                  <a:moveTo>
                    <a:pt x="0" y="0"/>
                  </a:moveTo>
                  <a:lnTo>
                    <a:pt x="265404" y="0"/>
                  </a:lnTo>
                  <a:lnTo>
                    <a:pt x="265404" y="265404"/>
                  </a:lnTo>
                  <a:lnTo>
                    <a:pt x="0" y="26540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grpSp>
          <p:nvGrpSpPr>
            <p:cNvPr id="111" name="Group 111"/>
            <p:cNvGrpSpPr/>
            <p:nvPr/>
          </p:nvGrpSpPr>
          <p:grpSpPr>
            <a:xfrm>
              <a:off x="16280498" y="1426553"/>
              <a:ext cx="6518986" cy="398107"/>
              <a:chOff x="0" y="0"/>
              <a:chExt cx="6518986" cy="398107"/>
            </a:xfrm>
          </p:grpSpPr>
          <p:sp>
            <p:nvSpPr>
              <p:cNvPr id="112" name="Freeform 112"/>
              <p:cNvSpPr/>
              <p:nvPr/>
            </p:nvSpPr>
            <p:spPr>
              <a:xfrm>
                <a:off x="0" y="0"/>
                <a:ext cx="6518988" cy="398106"/>
              </a:xfrm>
              <a:custGeom>
                <a:avLst/>
                <a:gdLst/>
                <a:ahLst/>
                <a:cxnLst/>
                <a:rect l="l" t="t" r="r" b="b"/>
                <a:pathLst>
                  <a:path w="6518988" h="398106">
                    <a:moveTo>
                      <a:pt x="0" y="0"/>
                    </a:moveTo>
                    <a:lnTo>
                      <a:pt x="6518988" y="0"/>
                    </a:lnTo>
                    <a:lnTo>
                      <a:pt x="6518988" y="398106"/>
                    </a:lnTo>
                    <a:lnTo>
                      <a:pt x="0" y="398106"/>
                    </a:lnTo>
                    <a:close/>
                  </a:path>
                </a:pathLst>
              </a:custGeom>
              <a:blipFill>
                <a:blip r:embed="rId5">
                  <a:alphaModFix amt="0"/>
                </a:blip>
                <a:stretch>
                  <a:fillRect t="-269067" b="-269067"/>
                </a:stretch>
              </a:blipFill>
            </p:spPr>
          </p:sp>
          <p:sp>
            <p:nvSpPr>
              <p:cNvPr id="113" name="TextBox 113"/>
              <p:cNvSpPr txBox="1"/>
              <p:nvPr/>
            </p:nvSpPr>
            <p:spPr>
              <a:xfrm>
                <a:off x="0" y="-76200"/>
                <a:ext cx="6518986" cy="474307"/>
              </a:xfrm>
              <a:prstGeom prst="rect">
                <a:avLst/>
              </a:prstGeom>
            </p:spPr>
            <p:txBody>
              <a:bodyPr lIns="0" tIns="0" rIns="0" bIns="0" rtlCol="0" anchor="ctr"/>
              <a:lstStyle/>
              <a:p>
                <a:pPr algn="l">
                  <a:lnSpc>
                    <a:spcPts val="2810"/>
                  </a:lnSpc>
                </a:pPr>
                <a:r>
                  <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售后回租</a:t>
                </a:r>
                <a:endPar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14" name="Group 114"/>
            <p:cNvGrpSpPr/>
            <p:nvPr/>
          </p:nvGrpSpPr>
          <p:grpSpPr>
            <a:xfrm>
              <a:off x="15948736" y="1891005"/>
              <a:ext cx="6850748" cy="862559"/>
              <a:chOff x="0" y="0"/>
              <a:chExt cx="6850748" cy="862559"/>
            </a:xfrm>
          </p:grpSpPr>
          <p:sp>
            <p:nvSpPr>
              <p:cNvPr id="115" name="Freeform 115"/>
              <p:cNvSpPr/>
              <p:nvPr/>
            </p:nvSpPr>
            <p:spPr>
              <a:xfrm>
                <a:off x="0" y="0"/>
                <a:ext cx="6850742" cy="862564"/>
              </a:xfrm>
              <a:custGeom>
                <a:avLst/>
                <a:gdLst/>
                <a:ahLst/>
                <a:cxnLst/>
                <a:rect l="l" t="t" r="r" b="b"/>
                <a:pathLst>
                  <a:path w="6850742" h="862564">
                    <a:moveTo>
                      <a:pt x="0" y="0"/>
                    </a:moveTo>
                    <a:lnTo>
                      <a:pt x="6850742" y="0"/>
                    </a:lnTo>
                    <a:lnTo>
                      <a:pt x="6850742" y="862564"/>
                    </a:lnTo>
                    <a:lnTo>
                      <a:pt x="0" y="862564"/>
                    </a:lnTo>
                    <a:close/>
                  </a:path>
                </a:pathLst>
              </a:custGeom>
              <a:blipFill>
                <a:blip r:embed="rId5">
                  <a:alphaModFix amt="0"/>
                </a:blip>
                <a:stretch>
                  <a:fillRect t="-104756" b="-104755"/>
                </a:stretch>
              </a:blipFill>
            </p:spPr>
          </p:sp>
          <p:sp>
            <p:nvSpPr>
              <p:cNvPr id="116" name="TextBox 116"/>
              <p:cNvSpPr txBox="1"/>
              <p:nvPr/>
            </p:nvSpPr>
            <p:spPr>
              <a:xfrm>
                <a:off x="0" y="-95250"/>
                <a:ext cx="6850748" cy="957809"/>
              </a:xfrm>
              <a:prstGeom prst="rect">
                <a:avLst/>
              </a:prstGeom>
            </p:spPr>
            <p:txBody>
              <a:bodyPr lIns="0" tIns="0" rIns="0" bIns="0" rtlCol="0" anchor="ctr"/>
              <a:lstStyle/>
              <a:p>
                <a:pPr algn="l">
                  <a:lnSpc>
                    <a:spcPts val="3025"/>
                  </a:lnSpc>
                </a:pPr>
                <a:r>
                  <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产权转移后通过长期租赁保留终身居住权，支持未来按约定条件赎回房产</a:t>
                </a:r>
                <a:endPar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17" name="Group 117"/>
            <p:cNvGrpSpPr/>
            <p:nvPr/>
          </p:nvGrpSpPr>
          <p:grpSpPr>
            <a:xfrm>
              <a:off x="15816034" y="3018968"/>
              <a:ext cx="6983438" cy="1592428"/>
              <a:chOff x="0" y="0"/>
              <a:chExt cx="6983438" cy="1592428"/>
            </a:xfrm>
          </p:grpSpPr>
          <p:sp>
            <p:nvSpPr>
              <p:cNvPr id="118" name="Freeform 118"/>
              <p:cNvSpPr/>
              <p:nvPr/>
            </p:nvSpPr>
            <p:spPr>
              <a:xfrm>
                <a:off x="0" y="0"/>
                <a:ext cx="6983476" cy="1592453"/>
              </a:xfrm>
              <a:custGeom>
                <a:avLst/>
                <a:gdLst/>
                <a:ahLst/>
                <a:cxnLst/>
                <a:rect l="l" t="t" r="r" b="b"/>
                <a:pathLst>
                  <a:path w="6983476" h="1592453">
                    <a:moveTo>
                      <a:pt x="132715" y="0"/>
                    </a:moveTo>
                    <a:lnTo>
                      <a:pt x="6850761" y="0"/>
                    </a:lnTo>
                    <a:cubicBezTo>
                      <a:pt x="6924040" y="0"/>
                      <a:pt x="6983476" y="59436"/>
                      <a:pt x="6983476" y="132715"/>
                    </a:cubicBezTo>
                    <a:lnTo>
                      <a:pt x="6983476" y="1459738"/>
                    </a:lnTo>
                    <a:cubicBezTo>
                      <a:pt x="6983476" y="1533017"/>
                      <a:pt x="6924040" y="1592453"/>
                      <a:pt x="6850761" y="1592453"/>
                    </a:cubicBezTo>
                    <a:lnTo>
                      <a:pt x="132715" y="1592453"/>
                    </a:lnTo>
                    <a:cubicBezTo>
                      <a:pt x="59436" y="1592453"/>
                      <a:pt x="0" y="1533017"/>
                      <a:pt x="0" y="1459738"/>
                    </a:cubicBezTo>
                    <a:lnTo>
                      <a:pt x="0" y="132715"/>
                    </a:lnTo>
                    <a:cubicBezTo>
                      <a:pt x="0" y="59436"/>
                      <a:pt x="59436" y="0"/>
                      <a:pt x="132715" y="0"/>
                    </a:cubicBezTo>
                    <a:close/>
                  </a:path>
                </a:pathLst>
              </a:custGeom>
              <a:solidFill>
                <a:srgbClr val="FFFFFF"/>
              </a:solidFill>
            </p:spPr>
          </p:sp>
        </p:grpSp>
        <p:sp>
          <p:nvSpPr>
            <p:cNvPr id="119" name="Freeform 119"/>
            <p:cNvSpPr/>
            <p:nvPr/>
          </p:nvSpPr>
          <p:spPr>
            <a:xfrm>
              <a:off x="15965322" y="3218028"/>
              <a:ext cx="298577" cy="265405"/>
            </a:xfrm>
            <a:custGeom>
              <a:avLst/>
              <a:gdLst/>
              <a:ahLst/>
              <a:cxnLst/>
              <a:rect l="l" t="t" r="r" b="b"/>
              <a:pathLst>
                <a:path w="298577" h="265405">
                  <a:moveTo>
                    <a:pt x="0" y="0"/>
                  </a:moveTo>
                  <a:lnTo>
                    <a:pt x="298577" y="0"/>
                  </a:lnTo>
                  <a:lnTo>
                    <a:pt x="298577" y="265404"/>
                  </a:lnTo>
                  <a:lnTo>
                    <a:pt x="0" y="265404"/>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grpSp>
          <p:nvGrpSpPr>
            <p:cNvPr id="120" name="Group 120"/>
            <p:cNvGrpSpPr/>
            <p:nvPr/>
          </p:nvGrpSpPr>
          <p:grpSpPr>
            <a:xfrm>
              <a:off x="16280498" y="3151670"/>
              <a:ext cx="6518986" cy="398107"/>
              <a:chOff x="0" y="0"/>
              <a:chExt cx="6518986" cy="398107"/>
            </a:xfrm>
          </p:grpSpPr>
          <p:sp>
            <p:nvSpPr>
              <p:cNvPr id="121" name="Freeform 121"/>
              <p:cNvSpPr/>
              <p:nvPr/>
            </p:nvSpPr>
            <p:spPr>
              <a:xfrm>
                <a:off x="0" y="0"/>
                <a:ext cx="6518988" cy="398106"/>
              </a:xfrm>
              <a:custGeom>
                <a:avLst/>
                <a:gdLst/>
                <a:ahLst/>
                <a:cxnLst/>
                <a:rect l="l" t="t" r="r" b="b"/>
                <a:pathLst>
                  <a:path w="6518988" h="398106">
                    <a:moveTo>
                      <a:pt x="0" y="0"/>
                    </a:moveTo>
                    <a:lnTo>
                      <a:pt x="6518988" y="0"/>
                    </a:lnTo>
                    <a:lnTo>
                      <a:pt x="6518988" y="398106"/>
                    </a:lnTo>
                    <a:lnTo>
                      <a:pt x="0" y="398106"/>
                    </a:lnTo>
                    <a:close/>
                  </a:path>
                </a:pathLst>
              </a:custGeom>
              <a:blipFill>
                <a:blip r:embed="rId5">
                  <a:alphaModFix amt="0"/>
                </a:blip>
                <a:stretch>
                  <a:fillRect t="-269067" b="-269067"/>
                </a:stretch>
              </a:blipFill>
            </p:spPr>
          </p:sp>
          <p:sp>
            <p:nvSpPr>
              <p:cNvPr id="122" name="TextBox 122"/>
              <p:cNvSpPr txBox="1"/>
              <p:nvPr/>
            </p:nvSpPr>
            <p:spPr>
              <a:xfrm>
                <a:off x="0" y="-76200"/>
                <a:ext cx="6518986" cy="474307"/>
              </a:xfrm>
              <a:prstGeom prst="rect">
                <a:avLst/>
              </a:prstGeom>
            </p:spPr>
            <p:txBody>
              <a:bodyPr lIns="0" tIns="0" rIns="0" bIns="0" rtlCol="0" anchor="ctr"/>
              <a:lstStyle/>
              <a:p>
                <a:pPr algn="l">
                  <a:lnSpc>
                    <a:spcPts val="2810"/>
                  </a:lnSpc>
                </a:pPr>
                <a:r>
                  <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反向抵押信托</a:t>
                </a:r>
                <a:endPar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23" name="Group 123"/>
            <p:cNvGrpSpPr/>
            <p:nvPr/>
          </p:nvGrpSpPr>
          <p:grpSpPr>
            <a:xfrm>
              <a:off x="15948736" y="3616134"/>
              <a:ext cx="6850748" cy="862559"/>
              <a:chOff x="0" y="0"/>
              <a:chExt cx="6850748" cy="862559"/>
            </a:xfrm>
          </p:grpSpPr>
          <p:sp>
            <p:nvSpPr>
              <p:cNvPr id="124" name="Freeform 124"/>
              <p:cNvSpPr/>
              <p:nvPr/>
            </p:nvSpPr>
            <p:spPr>
              <a:xfrm>
                <a:off x="0" y="0"/>
                <a:ext cx="6850742" cy="862564"/>
              </a:xfrm>
              <a:custGeom>
                <a:avLst/>
                <a:gdLst/>
                <a:ahLst/>
                <a:cxnLst/>
                <a:rect l="l" t="t" r="r" b="b"/>
                <a:pathLst>
                  <a:path w="6850742" h="862564">
                    <a:moveTo>
                      <a:pt x="0" y="0"/>
                    </a:moveTo>
                    <a:lnTo>
                      <a:pt x="6850742" y="0"/>
                    </a:lnTo>
                    <a:lnTo>
                      <a:pt x="6850742" y="862564"/>
                    </a:lnTo>
                    <a:lnTo>
                      <a:pt x="0" y="862564"/>
                    </a:lnTo>
                    <a:close/>
                  </a:path>
                </a:pathLst>
              </a:custGeom>
              <a:blipFill>
                <a:blip r:embed="rId5">
                  <a:alphaModFix amt="0"/>
                </a:blip>
                <a:stretch>
                  <a:fillRect t="-104756" b="-104755"/>
                </a:stretch>
              </a:blipFill>
            </p:spPr>
          </p:sp>
          <p:sp>
            <p:nvSpPr>
              <p:cNvPr id="125" name="TextBox 125"/>
              <p:cNvSpPr txBox="1"/>
              <p:nvPr/>
            </p:nvSpPr>
            <p:spPr>
              <a:xfrm>
                <a:off x="0" y="-95250"/>
                <a:ext cx="6850748" cy="957809"/>
              </a:xfrm>
              <a:prstGeom prst="rect">
                <a:avLst/>
              </a:prstGeom>
            </p:spPr>
            <p:txBody>
              <a:bodyPr lIns="0" tIns="0" rIns="0" bIns="0" rtlCol="0" anchor="ctr"/>
              <a:lstStyle/>
              <a:p>
                <a:pPr algn="l">
                  <a:lnSpc>
                    <a:spcPts val="3025"/>
                  </a:lnSpc>
                </a:pPr>
                <a:r>
                  <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"リ・バース６０"产品，信托机制进行资产锁定与遗产规划，JHF担保吸收尾部风险</a:t>
                </a:r>
                <a:endPar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26" name="Group 126"/>
            <p:cNvGrpSpPr/>
            <p:nvPr/>
          </p:nvGrpSpPr>
          <p:grpSpPr>
            <a:xfrm>
              <a:off x="15816008" y="4744123"/>
              <a:ext cx="6983730" cy="1593850"/>
              <a:chOff x="0" y="0"/>
              <a:chExt cx="6983730" cy="1593850"/>
            </a:xfrm>
          </p:grpSpPr>
          <p:sp>
            <p:nvSpPr>
              <p:cNvPr id="127" name="Freeform 127"/>
              <p:cNvSpPr/>
              <p:nvPr/>
            </p:nvSpPr>
            <p:spPr>
              <a:xfrm>
                <a:off x="0" y="0"/>
                <a:ext cx="6983730" cy="1593723"/>
              </a:xfrm>
              <a:custGeom>
                <a:avLst/>
                <a:gdLst/>
                <a:ahLst/>
                <a:cxnLst/>
                <a:rect l="l" t="t" r="r" b="b"/>
                <a:pathLst>
                  <a:path w="6983730" h="1593723">
                    <a:moveTo>
                      <a:pt x="132715" y="0"/>
                    </a:moveTo>
                    <a:lnTo>
                      <a:pt x="6851015" y="0"/>
                    </a:lnTo>
                    <a:cubicBezTo>
                      <a:pt x="6924294" y="0"/>
                      <a:pt x="6983730" y="81534"/>
                      <a:pt x="6983730" y="182118"/>
                    </a:cubicBezTo>
                    <a:lnTo>
                      <a:pt x="6983730" y="1411605"/>
                    </a:lnTo>
                    <a:cubicBezTo>
                      <a:pt x="6983730" y="1512189"/>
                      <a:pt x="6924294" y="1593723"/>
                      <a:pt x="6851015" y="1593723"/>
                    </a:cubicBezTo>
                    <a:lnTo>
                      <a:pt x="132715" y="1593723"/>
                    </a:lnTo>
                    <a:cubicBezTo>
                      <a:pt x="59436" y="1593850"/>
                      <a:pt x="0" y="1512189"/>
                      <a:pt x="0" y="1411732"/>
                    </a:cubicBezTo>
                    <a:lnTo>
                      <a:pt x="0" y="182118"/>
                    </a:lnTo>
                    <a:cubicBezTo>
                      <a:pt x="0" y="81661"/>
                      <a:pt x="59436" y="0"/>
                      <a:pt x="132715" y="0"/>
                    </a:cubicBezTo>
                    <a:close/>
                  </a:path>
                </a:pathLst>
              </a:custGeom>
              <a:solidFill>
                <a:srgbClr val="FFFFFF"/>
              </a:solidFill>
            </p:spPr>
          </p:sp>
        </p:grpSp>
        <p:sp>
          <p:nvSpPr>
            <p:cNvPr id="128" name="Freeform 128"/>
            <p:cNvSpPr/>
            <p:nvPr/>
          </p:nvSpPr>
          <p:spPr>
            <a:xfrm>
              <a:off x="15965322" y="4943145"/>
              <a:ext cx="298577" cy="265405"/>
            </a:xfrm>
            <a:custGeom>
              <a:avLst/>
              <a:gdLst/>
              <a:ahLst/>
              <a:cxnLst/>
              <a:rect l="l" t="t" r="r" b="b"/>
              <a:pathLst>
                <a:path w="298577" h="265405">
                  <a:moveTo>
                    <a:pt x="0" y="0"/>
                  </a:moveTo>
                  <a:lnTo>
                    <a:pt x="298577" y="0"/>
                  </a:lnTo>
                  <a:lnTo>
                    <a:pt x="298577" y="265404"/>
                  </a:lnTo>
                  <a:lnTo>
                    <a:pt x="0" y="265404"/>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grpSp>
          <p:nvGrpSpPr>
            <p:cNvPr id="129" name="Group 129"/>
            <p:cNvGrpSpPr/>
            <p:nvPr/>
          </p:nvGrpSpPr>
          <p:grpSpPr>
            <a:xfrm>
              <a:off x="16280829" y="4876203"/>
              <a:ext cx="5789930" cy="397510"/>
              <a:chOff x="0" y="0"/>
              <a:chExt cx="5789930" cy="397510"/>
            </a:xfrm>
          </p:grpSpPr>
          <p:sp>
            <p:nvSpPr>
              <p:cNvPr id="130" name="Freeform 130"/>
              <p:cNvSpPr/>
              <p:nvPr/>
            </p:nvSpPr>
            <p:spPr>
              <a:xfrm>
                <a:off x="0" y="0"/>
                <a:ext cx="5789930" cy="397510"/>
              </a:xfrm>
              <a:custGeom>
                <a:avLst/>
                <a:gdLst/>
                <a:ahLst/>
                <a:cxnLst/>
                <a:rect l="l" t="t" r="r" b="b"/>
                <a:pathLst>
                  <a:path w="5789930" h="397510">
                    <a:moveTo>
                      <a:pt x="0" y="0"/>
                    </a:moveTo>
                    <a:lnTo>
                      <a:pt x="5789930" y="0"/>
                    </a:lnTo>
                    <a:lnTo>
                      <a:pt x="5789930" y="397510"/>
                    </a:lnTo>
                    <a:lnTo>
                      <a:pt x="0" y="397510"/>
                    </a:lnTo>
                    <a:close/>
                  </a:path>
                </a:pathLst>
              </a:custGeom>
              <a:blipFill>
                <a:blip r:embed="rId5">
                  <a:alphaModFix amt="0"/>
                </a:blip>
                <a:stretch>
                  <a:fillRect t="-233809" b="-233809"/>
                </a:stretch>
              </a:blipFill>
            </p:spPr>
          </p:sp>
          <p:sp>
            <p:nvSpPr>
              <p:cNvPr id="131" name="TextBox 131"/>
              <p:cNvSpPr txBox="1"/>
              <p:nvPr/>
            </p:nvSpPr>
            <p:spPr>
              <a:xfrm>
                <a:off x="0" y="-76200"/>
                <a:ext cx="5789930" cy="473710"/>
              </a:xfrm>
              <a:prstGeom prst="rect">
                <a:avLst/>
              </a:prstGeom>
            </p:spPr>
            <p:txBody>
              <a:bodyPr lIns="0" tIns="0" rIns="0" bIns="0" rtlCol="0" anchor="ctr"/>
              <a:lstStyle/>
              <a:p>
                <a:pPr algn="l">
                  <a:lnSpc>
                    <a:spcPts val="2810"/>
                  </a:lnSpc>
                </a:pPr>
                <a:r>
                  <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法律支撑</a:t>
                </a:r>
                <a:endPar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32" name="Group 132"/>
            <p:cNvGrpSpPr/>
            <p:nvPr/>
          </p:nvGrpSpPr>
          <p:grpSpPr>
            <a:xfrm>
              <a:off x="16031162" y="5245176"/>
              <a:ext cx="6685896" cy="1054710"/>
              <a:chOff x="0" y="0"/>
              <a:chExt cx="6685896" cy="1054710"/>
            </a:xfrm>
          </p:grpSpPr>
          <p:sp>
            <p:nvSpPr>
              <p:cNvPr id="133" name="Freeform 133"/>
              <p:cNvSpPr/>
              <p:nvPr/>
            </p:nvSpPr>
            <p:spPr>
              <a:xfrm>
                <a:off x="0" y="0"/>
                <a:ext cx="6685890" cy="1054712"/>
              </a:xfrm>
              <a:custGeom>
                <a:avLst/>
                <a:gdLst/>
                <a:ahLst/>
                <a:cxnLst/>
                <a:rect l="l" t="t" r="r" b="b"/>
                <a:pathLst>
                  <a:path w="6685890" h="1054712">
                    <a:moveTo>
                      <a:pt x="0" y="0"/>
                    </a:moveTo>
                    <a:lnTo>
                      <a:pt x="6685890" y="0"/>
                    </a:lnTo>
                    <a:lnTo>
                      <a:pt x="6685890" y="1054712"/>
                    </a:lnTo>
                    <a:lnTo>
                      <a:pt x="0" y="1054712"/>
                    </a:lnTo>
                    <a:close/>
                  </a:path>
                </a:pathLst>
              </a:custGeom>
              <a:blipFill>
                <a:blip r:embed="rId5">
                  <a:alphaModFix amt="0"/>
                </a:blip>
                <a:stretch>
                  <a:fillRect t="-106117" r="-2465" b="-47007"/>
                </a:stretch>
              </a:blipFill>
            </p:spPr>
          </p:sp>
          <p:sp>
            <p:nvSpPr>
              <p:cNvPr id="134" name="TextBox 134"/>
              <p:cNvSpPr txBox="1"/>
              <p:nvPr/>
            </p:nvSpPr>
            <p:spPr>
              <a:xfrm>
                <a:off x="0" y="-95250"/>
                <a:ext cx="6685896" cy="1149960"/>
              </a:xfrm>
              <a:prstGeom prst="rect">
                <a:avLst/>
              </a:prstGeom>
            </p:spPr>
            <p:txBody>
              <a:bodyPr lIns="0" tIns="0" rIns="0" bIns="0" rtlCol="0" anchor="ctr"/>
              <a:lstStyle/>
              <a:p>
                <a:pPr algn="l">
                  <a:lnSpc>
                    <a:spcPts val="3025"/>
                  </a:lnSpc>
                </a:pPr>
                <a:r>
                  <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2006年《信托法》改革明确不动产信托的财产独立属性</a:t>
                </a:r>
                <a:endPar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35" name="Group 135"/>
            <p:cNvGrpSpPr/>
            <p:nvPr/>
          </p:nvGrpSpPr>
          <p:grpSpPr>
            <a:xfrm>
              <a:off x="8173352" y="1891005"/>
              <a:ext cx="6850748" cy="862559"/>
              <a:chOff x="0" y="0"/>
              <a:chExt cx="6850748" cy="862559"/>
            </a:xfrm>
          </p:grpSpPr>
          <p:sp>
            <p:nvSpPr>
              <p:cNvPr id="136" name="Freeform 136"/>
              <p:cNvSpPr/>
              <p:nvPr/>
            </p:nvSpPr>
            <p:spPr>
              <a:xfrm>
                <a:off x="0" y="0"/>
                <a:ext cx="6850742" cy="862564"/>
              </a:xfrm>
              <a:custGeom>
                <a:avLst/>
                <a:gdLst/>
                <a:ahLst/>
                <a:cxnLst/>
                <a:rect l="l" t="t" r="r" b="b"/>
                <a:pathLst>
                  <a:path w="6850742" h="862564">
                    <a:moveTo>
                      <a:pt x="0" y="0"/>
                    </a:moveTo>
                    <a:lnTo>
                      <a:pt x="6850742" y="0"/>
                    </a:lnTo>
                    <a:lnTo>
                      <a:pt x="6850742" y="862564"/>
                    </a:lnTo>
                    <a:lnTo>
                      <a:pt x="0" y="862564"/>
                    </a:lnTo>
                    <a:close/>
                  </a:path>
                </a:pathLst>
              </a:custGeom>
              <a:blipFill>
                <a:blip r:embed="rId5">
                  <a:alphaModFix amt="0"/>
                </a:blip>
                <a:stretch>
                  <a:fillRect t="-104756" b="-104755"/>
                </a:stretch>
              </a:blipFill>
            </p:spPr>
          </p:sp>
          <p:sp>
            <p:nvSpPr>
              <p:cNvPr id="137" name="TextBox 137"/>
              <p:cNvSpPr txBox="1"/>
              <p:nvPr/>
            </p:nvSpPr>
            <p:spPr>
              <a:xfrm>
                <a:off x="0" y="-95250"/>
                <a:ext cx="6850748" cy="957809"/>
              </a:xfrm>
              <a:prstGeom prst="rect">
                <a:avLst/>
              </a:prstGeom>
            </p:spPr>
            <p:txBody>
              <a:bodyPr lIns="0" tIns="0" rIns="0" bIns="0" rtlCol="0" anchor="ctr"/>
              <a:lstStyle/>
              <a:p>
                <a:pPr algn="l">
                  <a:lnSpc>
                    <a:spcPts val="3025"/>
                  </a:lnSpc>
                </a:pPr>
                <a:r>
                  <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政府主导，面向组屋老年群体，"部分产权转移"逻辑，保留终身居住权</a:t>
                </a:r>
                <a:endPar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sp>
          <p:nvSpPr>
            <p:cNvPr id="138" name="TextBox 138"/>
            <p:cNvSpPr txBox="1"/>
            <p:nvPr/>
          </p:nvSpPr>
          <p:spPr>
            <a:xfrm>
              <a:off x="265405" y="366751"/>
              <a:ext cx="796214" cy="520700"/>
            </a:xfrm>
            <a:prstGeom prst="rect">
              <a:avLst/>
            </a:prstGeom>
          </p:spPr>
          <p:txBody>
            <a:bodyPr lIns="0" tIns="0" rIns="0" bIns="0" rtlCol="0" anchor="t">
              <a:spAutoFit/>
            </a:bodyPr>
            <a:lstStyle/>
            <a:p>
              <a:pPr algn="ctr">
                <a:lnSpc>
                  <a:spcPts val="3600"/>
                </a:lnSpc>
                <a:spcBef>
                  <a:spcPct val="0"/>
                </a:spcBef>
              </a:pPr>
              <a:r>
                <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US</a:t>
              </a:r>
              <a:endPar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39" name="TextBox 139"/>
            <p:cNvSpPr txBox="1"/>
            <p:nvPr/>
          </p:nvSpPr>
          <p:spPr>
            <a:xfrm>
              <a:off x="8036509" y="366751"/>
              <a:ext cx="796214" cy="520700"/>
            </a:xfrm>
            <a:prstGeom prst="rect">
              <a:avLst/>
            </a:prstGeom>
          </p:spPr>
          <p:txBody>
            <a:bodyPr lIns="0" tIns="0" rIns="0" bIns="0" rtlCol="0" anchor="t">
              <a:spAutoFit/>
            </a:bodyPr>
            <a:lstStyle/>
            <a:p>
              <a:pPr algn="ctr">
                <a:lnSpc>
                  <a:spcPts val="3600"/>
                </a:lnSpc>
                <a:spcBef>
                  <a:spcPct val="0"/>
                </a:spcBef>
              </a:pPr>
              <a:r>
                <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SG</a:t>
              </a:r>
              <a:endPar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40" name="TextBox 140"/>
            <p:cNvSpPr txBox="1"/>
            <p:nvPr/>
          </p:nvSpPr>
          <p:spPr>
            <a:xfrm>
              <a:off x="15816034" y="366484"/>
              <a:ext cx="796214" cy="520700"/>
            </a:xfrm>
            <a:prstGeom prst="rect">
              <a:avLst/>
            </a:prstGeom>
          </p:spPr>
          <p:txBody>
            <a:bodyPr lIns="0" tIns="0" rIns="0" bIns="0" rtlCol="0" anchor="t">
              <a:spAutoFit/>
            </a:bodyPr>
            <a:lstStyle/>
            <a:p>
              <a:pPr algn="ctr">
                <a:lnSpc>
                  <a:spcPts val="3600"/>
                </a:lnSpc>
                <a:spcBef>
                  <a:spcPct val="0"/>
                </a:spcBef>
              </a:pPr>
              <a:r>
                <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JP</a:t>
              </a:r>
              <a:endPar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41" name="Group 141"/>
          <p:cNvGrpSpPr/>
          <p:nvPr/>
        </p:nvGrpSpPr>
        <p:grpSpPr>
          <a:xfrm>
            <a:off x="494667" y="6992544"/>
            <a:ext cx="17296128" cy="2905210"/>
            <a:chOff x="0" y="0"/>
            <a:chExt cx="23061505" cy="3873613"/>
          </a:xfrm>
        </p:grpSpPr>
        <p:grpSp>
          <p:nvGrpSpPr>
            <p:cNvPr id="142" name="Group 142"/>
            <p:cNvGrpSpPr/>
            <p:nvPr/>
          </p:nvGrpSpPr>
          <p:grpSpPr>
            <a:xfrm>
              <a:off x="0" y="0"/>
              <a:ext cx="23061505" cy="3873613"/>
              <a:chOff x="0" y="0"/>
              <a:chExt cx="23056850" cy="3872831"/>
            </a:xfrm>
          </p:grpSpPr>
          <p:sp>
            <p:nvSpPr>
              <p:cNvPr id="143" name="Freeform 143"/>
              <p:cNvSpPr/>
              <p:nvPr/>
            </p:nvSpPr>
            <p:spPr>
              <a:xfrm>
                <a:off x="0" y="0"/>
                <a:ext cx="23056850" cy="3872831"/>
              </a:xfrm>
              <a:custGeom>
                <a:avLst/>
                <a:gdLst/>
                <a:ahLst/>
                <a:cxnLst/>
                <a:rect l="l" t="t" r="r" b="b"/>
                <a:pathLst>
                  <a:path w="23056850" h="3872831">
                    <a:moveTo>
                      <a:pt x="132715" y="0"/>
                    </a:moveTo>
                    <a:lnTo>
                      <a:pt x="22924134" y="0"/>
                    </a:lnTo>
                    <a:cubicBezTo>
                      <a:pt x="22997413" y="0"/>
                      <a:pt x="23056850" y="55280"/>
                      <a:pt x="23056850" y="123458"/>
                    </a:cubicBezTo>
                    <a:lnTo>
                      <a:pt x="23056850" y="3749373"/>
                    </a:lnTo>
                    <a:cubicBezTo>
                      <a:pt x="23056850" y="3817551"/>
                      <a:pt x="22997413" y="3872831"/>
                      <a:pt x="22924134" y="3872831"/>
                    </a:cubicBezTo>
                    <a:lnTo>
                      <a:pt x="132715" y="3872831"/>
                    </a:lnTo>
                    <a:cubicBezTo>
                      <a:pt x="59436" y="3872831"/>
                      <a:pt x="0" y="3817551"/>
                      <a:pt x="0" y="3749373"/>
                    </a:cubicBezTo>
                    <a:lnTo>
                      <a:pt x="0" y="123458"/>
                    </a:lnTo>
                    <a:cubicBezTo>
                      <a:pt x="0" y="55280"/>
                      <a:pt x="59436" y="0"/>
                      <a:pt x="132715" y="0"/>
                    </a:cubicBezTo>
                    <a:close/>
                  </a:path>
                </a:pathLst>
              </a:custGeom>
              <a:gradFill rotWithShape="1">
                <a:gsLst>
                  <a:gs pos="0">
                    <a:srgbClr val="EE7E35">
                      <a:alpha val="100000"/>
                    </a:srgbClr>
                  </a:gs>
                  <a:gs pos="100000">
                    <a:srgbClr val="E9A988">
                      <a:alpha val="66000"/>
                    </a:srgbClr>
                  </a:gs>
                </a:gsLst>
                <a:lin ang="0"/>
              </a:gradFill>
            </p:spPr>
          </p:sp>
        </p:grpSp>
        <p:sp>
          <p:nvSpPr>
            <p:cNvPr id="144" name="Freeform 144"/>
            <p:cNvSpPr/>
            <p:nvPr/>
          </p:nvSpPr>
          <p:spPr>
            <a:xfrm>
              <a:off x="449099" y="372559"/>
              <a:ext cx="298637" cy="398187"/>
            </a:xfrm>
            <a:custGeom>
              <a:avLst/>
              <a:gdLst/>
              <a:ahLst/>
              <a:cxnLst/>
              <a:rect l="l" t="t" r="r" b="b"/>
              <a:pathLst>
                <a:path w="298637" h="398187">
                  <a:moveTo>
                    <a:pt x="0" y="0"/>
                  </a:moveTo>
                  <a:lnTo>
                    <a:pt x="298637" y="0"/>
                  </a:lnTo>
                  <a:lnTo>
                    <a:pt x="298637" y="398187"/>
                  </a:lnTo>
                  <a:lnTo>
                    <a:pt x="0" y="398187"/>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grpSp>
          <p:nvGrpSpPr>
            <p:cNvPr id="145" name="Group 145"/>
            <p:cNvGrpSpPr/>
            <p:nvPr/>
          </p:nvGrpSpPr>
          <p:grpSpPr>
            <a:xfrm>
              <a:off x="1029225" y="266700"/>
              <a:ext cx="4180960" cy="651121"/>
              <a:chOff x="0" y="0"/>
              <a:chExt cx="4180116" cy="650990"/>
            </a:xfrm>
          </p:grpSpPr>
          <p:sp>
            <p:nvSpPr>
              <p:cNvPr id="146" name="Freeform 146"/>
              <p:cNvSpPr/>
              <p:nvPr/>
            </p:nvSpPr>
            <p:spPr>
              <a:xfrm>
                <a:off x="0" y="0"/>
                <a:ext cx="4180114" cy="650988"/>
              </a:xfrm>
              <a:custGeom>
                <a:avLst/>
                <a:gdLst/>
                <a:ahLst/>
                <a:cxnLst/>
                <a:rect l="l" t="t" r="r" b="b"/>
                <a:pathLst>
                  <a:path w="4180114" h="650988">
                    <a:moveTo>
                      <a:pt x="0" y="0"/>
                    </a:moveTo>
                    <a:lnTo>
                      <a:pt x="4180114" y="0"/>
                    </a:lnTo>
                    <a:lnTo>
                      <a:pt x="4180114" y="650988"/>
                    </a:lnTo>
                    <a:lnTo>
                      <a:pt x="0" y="650988"/>
                    </a:lnTo>
                    <a:close/>
                  </a:path>
                </a:pathLst>
              </a:custGeom>
              <a:blipFill>
                <a:blip r:embed="rId5">
                  <a:alphaModFix amt="0"/>
                </a:blip>
                <a:stretch>
                  <a:fillRect t="-84347" b="-65886"/>
                </a:stretch>
              </a:blipFill>
            </p:spPr>
          </p:sp>
          <p:sp>
            <p:nvSpPr>
              <p:cNvPr id="147" name="TextBox 147"/>
              <p:cNvSpPr txBox="1"/>
              <p:nvPr/>
            </p:nvSpPr>
            <p:spPr>
              <a:xfrm>
                <a:off x="0" y="-38100"/>
                <a:ext cx="4180116" cy="689090"/>
              </a:xfrm>
              <a:prstGeom prst="rect">
                <a:avLst/>
              </a:prstGeom>
            </p:spPr>
            <p:txBody>
              <a:bodyPr lIns="0" tIns="0" rIns="0" bIns="0" rtlCol="0" anchor="ctr"/>
              <a:lstStyle/>
              <a:p>
                <a:pPr algn="l">
                  <a:lnSpc>
                    <a:spcPts val="3170"/>
                  </a:lnSpc>
                </a:pPr>
                <a:r>
                  <a:rPr lang="en-US" sz="24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国际经验述评</a:t>
                </a:r>
                <a:endParaRPr lang="en-US" sz="24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48" name="Group 148"/>
            <p:cNvGrpSpPr/>
            <p:nvPr/>
          </p:nvGrpSpPr>
          <p:grpSpPr>
            <a:xfrm>
              <a:off x="332807" y="1061934"/>
              <a:ext cx="7283650" cy="2483726"/>
              <a:chOff x="0" y="0"/>
              <a:chExt cx="7282180" cy="2483224"/>
            </a:xfrm>
          </p:grpSpPr>
          <p:sp>
            <p:nvSpPr>
              <p:cNvPr id="149" name="Freeform 149"/>
              <p:cNvSpPr/>
              <p:nvPr/>
            </p:nvSpPr>
            <p:spPr>
              <a:xfrm>
                <a:off x="0" y="0"/>
                <a:ext cx="7282180" cy="2483224"/>
              </a:xfrm>
              <a:custGeom>
                <a:avLst/>
                <a:gdLst/>
                <a:ahLst/>
                <a:cxnLst/>
                <a:rect l="l" t="t" r="r" b="b"/>
                <a:pathLst>
                  <a:path w="7282180" h="2483224">
                    <a:moveTo>
                      <a:pt x="132715" y="0"/>
                    </a:moveTo>
                    <a:lnTo>
                      <a:pt x="7149465" y="0"/>
                    </a:lnTo>
                    <a:cubicBezTo>
                      <a:pt x="7222744" y="0"/>
                      <a:pt x="7282180" y="76667"/>
                      <a:pt x="7282180" y="171294"/>
                    </a:cubicBezTo>
                    <a:lnTo>
                      <a:pt x="7282180" y="2311930"/>
                    </a:lnTo>
                    <a:cubicBezTo>
                      <a:pt x="7282180" y="2406558"/>
                      <a:pt x="7222744" y="2483224"/>
                      <a:pt x="7149465" y="2483224"/>
                    </a:cubicBezTo>
                    <a:lnTo>
                      <a:pt x="132715" y="2483224"/>
                    </a:lnTo>
                    <a:cubicBezTo>
                      <a:pt x="59436" y="2483224"/>
                      <a:pt x="0" y="2406558"/>
                      <a:pt x="0" y="2311930"/>
                    </a:cubicBezTo>
                    <a:lnTo>
                      <a:pt x="0" y="171294"/>
                    </a:lnTo>
                    <a:cubicBezTo>
                      <a:pt x="0" y="76667"/>
                      <a:pt x="59436" y="0"/>
                      <a:pt x="132715" y="0"/>
                    </a:cubicBezTo>
                    <a:close/>
                  </a:path>
                </a:pathLst>
              </a:custGeom>
              <a:solidFill>
                <a:srgbClr val="FFFFFF"/>
              </a:solidFill>
            </p:spPr>
          </p:sp>
        </p:grpSp>
        <p:grpSp>
          <p:nvGrpSpPr>
            <p:cNvPr id="150" name="Group 150"/>
            <p:cNvGrpSpPr/>
            <p:nvPr/>
          </p:nvGrpSpPr>
          <p:grpSpPr>
            <a:xfrm>
              <a:off x="531488" y="1260691"/>
              <a:ext cx="530916" cy="530916"/>
              <a:chOff x="0" y="0"/>
              <a:chExt cx="530809" cy="530809"/>
            </a:xfrm>
          </p:grpSpPr>
          <p:sp>
            <p:nvSpPr>
              <p:cNvPr id="151" name="Freeform 151"/>
              <p:cNvSpPr/>
              <p:nvPr/>
            </p:nvSpPr>
            <p:spPr>
              <a:xfrm>
                <a:off x="0" y="0"/>
                <a:ext cx="530860" cy="530860"/>
              </a:xfrm>
              <a:custGeom>
                <a:avLst/>
                <a:gdLst/>
                <a:ahLst/>
                <a:cxnLst/>
                <a:rect l="l" t="t" r="r" b="b"/>
                <a:pathLst>
                  <a:path w="530860" h="530860">
                    <a:moveTo>
                      <a:pt x="265430" y="0"/>
                    </a:moveTo>
                    <a:cubicBezTo>
                      <a:pt x="411988" y="0"/>
                      <a:pt x="530860" y="118872"/>
                      <a:pt x="530860" y="265430"/>
                    </a:cubicBezTo>
                    <a:cubicBezTo>
                      <a:pt x="530860" y="411988"/>
                      <a:pt x="411988" y="530860"/>
                      <a:pt x="265430" y="530860"/>
                    </a:cubicBezTo>
                    <a:cubicBezTo>
                      <a:pt x="118872" y="530860"/>
                      <a:pt x="0" y="411988"/>
                      <a:pt x="0" y="265430"/>
                    </a:cubicBezTo>
                    <a:cubicBezTo>
                      <a:pt x="0" y="118872"/>
                      <a:pt x="118872" y="0"/>
                      <a:pt x="265430" y="0"/>
                    </a:cubicBezTo>
                    <a:close/>
                  </a:path>
                </a:pathLst>
              </a:custGeom>
              <a:solidFill>
                <a:srgbClr val="EE7E35"/>
              </a:solidFill>
            </p:spPr>
          </p:sp>
        </p:grpSp>
        <p:grpSp>
          <p:nvGrpSpPr>
            <p:cNvPr id="152" name="Group 152"/>
            <p:cNvGrpSpPr/>
            <p:nvPr/>
          </p:nvGrpSpPr>
          <p:grpSpPr>
            <a:xfrm>
              <a:off x="946855" y="1040304"/>
              <a:ext cx="4614334" cy="947601"/>
              <a:chOff x="-304740" y="-114277"/>
              <a:chExt cx="4613403" cy="947410"/>
            </a:xfrm>
          </p:grpSpPr>
          <p:sp>
            <p:nvSpPr>
              <p:cNvPr id="153" name="Freeform 153"/>
              <p:cNvSpPr/>
              <p:nvPr/>
            </p:nvSpPr>
            <p:spPr>
              <a:xfrm>
                <a:off x="0" y="0"/>
                <a:ext cx="3329940" cy="833133"/>
              </a:xfrm>
              <a:custGeom>
                <a:avLst/>
                <a:gdLst/>
                <a:ahLst/>
                <a:cxnLst/>
                <a:rect l="l" t="t" r="r" b="b"/>
                <a:pathLst>
                  <a:path w="3329940" h="833133">
                    <a:moveTo>
                      <a:pt x="0" y="0"/>
                    </a:moveTo>
                    <a:lnTo>
                      <a:pt x="3329940" y="0"/>
                    </a:lnTo>
                    <a:lnTo>
                      <a:pt x="3329940" y="833133"/>
                    </a:lnTo>
                    <a:lnTo>
                      <a:pt x="0" y="833133"/>
                    </a:lnTo>
                    <a:close/>
                  </a:path>
                </a:pathLst>
              </a:custGeom>
              <a:blipFill>
                <a:blip r:embed="rId5">
                  <a:alphaModFix amt="0"/>
                </a:blip>
                <a:stretch>
                  <a:fillRect t="-51965" b="-3793"/>
                </a:stretch>
              </a:blipFill>
            </p:spPr>
          </p:sp>
          <p:sp>
            <p:nvSpPr>
              <p:cNvPr id="154" name="TextBox 154"/>
              <p:cNvSpPr txBox="1"/>
              <p:nvPr/>
            </p:nvSpPr>
            <p:spPr>
              <a:xfrm>
                <a:off x="-304740" y="-114277"/>
                <a:ext cx="4613403" cy="947229"/>
              </a:xfrm>
              <a:prstGeom prst="rect">
                <a:avLst/>
              </a:prstGeom>
            </p:spPr>
            <p:txBody>
              <a:bodyPr lIns="0" tIns="0" rIns="0" bIns="0" rtlCol="0" anchor="ctr"/>
              <a:lstStyle/>
              <a:p>
                <a:pPr algn="ctr">
                  <a:lnSpc>
                    <a:spcPct val="110000"/>
                  </a:lnSpc>
                  <a:buClrTx/>
                  <a:buSzTx/>
                  <a:buFontTx/>
                </a:pPr>
                <a:r>
                  <a:rPr lang="zh-CN" altLang="en-US" sz="3200" b="1" kern="0" dirty="0">
                    <a:ln w="38100">
                      <a:noFill/>
                    </a:ln>
                    <a:gradFill>
                      <a:gsLst>
                        <a:gs pos="0">
                          <a:srgbClr val="FBAF03"/>
                        </a:gs>
                        <a:gs pos="81000">
                          <a:srgbClr val="FE6719"/>
                        </a:gs>
                        <a:gs pos="35000">
                          <a:srgbClr val="FF8C0B"/>
                        </a:gs>
                      </a:gsLst>
                      <a:lin ang="18900000" scaled="0"/>
                    </a:gradFill>
                    <a:latin typeface="演示流云楷" panose="02000600000000000000" charset="-122"/>
                    <a:ea typeface="演示流云楷" panose="02000600000000000000" charset="-122"/>
                    <a:cs typeface="演示流云楷" panose="02000600000000000000" charset="-122"/>
                    <a:sym typeface="微软雅黑" panose="020B0503020204020204" pitchFamily="34" charset="-122"/>
                  </a:rPr>
                  <a:t>法律与风险隔离</a:t>
                </a:r>
                <a:endParaRPr lang="zh-CN" altLang="en-US" sz="3200" b="1" kern="0" dirty="0">
                  <a:ln w="38100">
                    <a:noFill/>
                  </a:ln>
                  <a:gradFill>
                    <a:gsLst>
                      <a:gs pos="0">
                        <a:srgbClr val="FBAF03"/>
                      </a:gs>
                      <a:gs pos="81000">
                        <a:srgbClr val="FE6719"/>
                      </a:gs>
                      <a:gs pos="35000">
                        <a:srgbClr val="FF8C0B"/>
                      </a:gs>
                    </a:gsLst>
                    <a:lin ang="18900000" scaled="0"/>
                  </a:gradFill>
                  <a:latin typeface="演示流云楷" panose="02000600000000000000" charset="-122"/>
                  <a:ea typeface="演示流云楷" panose="02000600000000000000" charset="-122"/>
                  <a:cs typeface="演示流云楷" panose="02000600000000000000" charset="-122"/>
                  <a:sym typeface="微软雅黑" panose="020B0503020204020204" pitchFamily="34" charset="-122"/>
                </a:endParaRPr>
              </a:p>
            </p:txBody>
          </p:sp>
        </p:grpSp>
        <p:grpSp>
          <p:nvGrpSpPr>
            <p:cNvPr id="155" name="Group 155"/>
            <p:cNvGrpSpPr/>
            <p:nvPr/>
          </p:nvGrpSpPr>
          <p:grpSpPr>
            <a:xfrm>
              <a:off x="598418" y="1973951"/>
              <a:ext cx="7018039" cy="1397813"/>
              <a:chOff x="0" y="0"/>
              <a:chExt cx="7016623" cy="1397531"/>
            </a:xfrm>
          </p:grpSpPr>
          <p:sp>
            <p:nvSpPr>
              <p:cNvPr id="156" name="Freeform 156"/>
              <p:cNvSpPr/>
              <p:nvPr/>
            </p:nvSpPr>
            <p:spPr>
              <a:xfrm>
                <a:off x="0" y="0"/>
                <a:ext cx="7016620" cy="1397536"/>
              </a:xfrm>
              <a:custGeom>
                <a:avLst/>
                <a:gdLst/>
                <a:ahLst/>
                <a:cxnLst/>
                <a:rect l="l" t="t" r="r" b="b"/>
                <a:pathLst>
                  <a:path w="7016620" h="1397536">
                    <a:moveTo>
                      <a:pt x="0" y="0"/>
                    </a:moveTo>
                    <a:lnTo>
                      <a:pt x="7016620" y="0"/>
                    </a:lnTo>
                    <a:lnTo>
                      <a:pt x="7016620" y="1397536"/>
                    </a:lnTo>
                    <a:lnTo>
                      <a:pt x="0" y="1397536"/>
                    </a:lnTo>
                    <a:close/>
                  </a:path>
                </a:pathLst>
              </a:custGeom>
              <a:blipFill>
                <a:blip r:embed="rId5">
                  <a:alphaModFix amt="0"/>
                </a:blip>
                <a:stretch>
                  <a:fillRect t="-66968" b="-28688"/>
                </a:stretch>
              </a:blipFill>
            </p:spPr>
          </p:sp>
          <p:sp>
            <p:nvSpPr>
              <p:cNvPr id="157" name="TextBox 157"/>
              <p:cNvSpPr txBox="1"/>
              <p:nvPr/>
            </p:nvSpPr>
            <p:spPr>
              <a:xfrm>
                <a:off x="0" y="-133350"/>
                <a:ext cx="7016623" cy="1530881"/>
              </a:xfrm>
              <a:prstGeom prst="rect">
                <a:avLst/>
              </a:prstGeom>
            </p:spPr>
            <p:txBody>
              <a:bodyPr lIns="0" tIns="0" rIns="0" bIns="0" rtlCol="0" anchor="ctr"/>
              <a:lstStyle/>
              <a:p>
                <a:pPr algn="l">
                  <a:lnSpc>
                    <a:spcPts val="4030"/>
                  </a:lnSpc>
                </a:pPr>
                <a:r>
                  <a:rPr 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完善的法律保障与风险隔离机制（如信托架构）是模式成功的制度基石</a:t>
                </a:r>
                <a:endParaRPr 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58" name="Group 158"/>
            <p:cNvGrpSpPr/>
            <p:nvPr/>
          </p:nvGrpSpPr>
          <p:grpSpPr>
            <a:xfrm>
              <a:off x="7888292" y="1061934"/>
              <a:ext cx="7283650" cy="2483726"/>
              <a:chOff x="0" y="0"/>
              <a:chExt cx="7282180" cy="2483224"/>
            </a:xfrm>
          </p:grpSpPr>
          <p:sp>
            <p:nvSpPr>
              <p:cNvPr id="159" name="Freeform 159"/>
              <p:cNvSpPr/>
              <p:nvPr/>
            </p:nvSpPr>
            <p:spPr>
              <a:xfrm>
                <a:off x="0" y="0"/>
                <a:ext cx="7282180" cy="2483224"/>
              </a:xfrm>
              <a:custGeom>
                <a:avLst/>
                <a:gdLst/>
                <a:ahLst/>
                <a:cxnLst/>
                <a:rect l="l" t="t" r="r" b="b"/>
                <a:pathLst>
                  <a:path w="7282180" h="2483224">
                    <a:moveTo>
                      <a:pt x="132715" y="0"/>
                    </a:moveTo>
                    <a:lnTo>
                      <a:pt x="7149465" y="0"/>
                    </a:lnTo>
                    <a:cubicBezTo>
                      <a:pt x="7222744" y="0"/>
                      <a:pt x="7282180" y="76667"/>
                      <a:pt x="7282180" y="171294"/>
                    </a:cubicBezTo>
                    <a:lnTo>
                      <a:pt x="7282180" y="2311930"/>
                    </a:lnTo>
                    <a:cubicBezTo>
                      <a:pt x="7282180" y="2406558"/>
                      <a:pt x="7222744" y="2483224"/>
                      <a:pt x="7149465" y="2483224"/>
                    </a:cubicBezTo>
                    <a:lnTo>
                      <a:pt x="132715" y="2483224"/>
                    </a:lnTo>
                    <a:cubicBezTo>
                      <a:pt x="59436" y="2483224"/>
                      <a:pt x="0" y="2406558"/>
                      <a:pt x="0" y="2311930"/>
                    </a:cubicBezTo>
                    <a:lnTo>
                      <a:pt x="0" y="171294"/>
                    </a:lnTo>
                    <a:cubicBezTo>
                      <a:pt x="0" y="76667"/>
                      <a:pt x="59436" y="0"/>
                      <a:pt x="132715" y="0"/>
                    </a:cubicBezTo>
                    <a:close/>
                  </a:path>
                </a:pathLst>
              </a:custGeom>
              <a:solidFill>
                <a:srgbClr val="FFFFFF"/>
              </a:solidFill>
            </p:spPr>
          </p:sp>
        </p:grpSp>
        <p:grpSp>
          <p:nvGrpSpPr>
            <p:cNvPr id="160" name="Group 160"/>
            <p:cNvGrpSpPr/>
            <p:nvPr/>
          </p:nvGrpSpPr>
          <p:grpSpPr>
            <a:xfrm>
              <a:off x="8087176" y="1260691"/>
              <a:ext cx="530916" cy="530916"/>
              <a:chOff x="0" y="0"/>
              <a:chExt cx="530809" cy="530809"/>
            </a:xfrm>
          </p:grpSpPr>
          <p:sp>
            <p:nvSpPr>
              <p:cNvPr id="161" name="Freeform 161"/>
              <p:cNvSpPr/>
              <p:nvPr/>
            </p:nvSpPr>
            <p:spPr>
              <a:xfrm>
                <a:off x="0" y="0"/>
                <a:ext cx="530860" cy="530860"/>
              </a:xfrm>
              <a:custGeom>
                <a:avLst/>
                <a:gdLst/>
                <a:ahLst/>
                <a:cxnLst/>
                <a:rect l="l" t="t" r="r" b="b"/>
                <a:pathLst>
                  <a:path w="530860" h="530860">
                    <a:moveTo>
                      <a:pt x="265430" y="0"/>
                    </a:moveTo>
                    <a:cubicBezTo>
                      <a:pt x="411988" y="0"/>
                      <a:pt x="530860" y="118872"/>
                      <a:pt x="530860" y="265430"/>
                    </a:cubicBezTo>
                    <a:cubicBezTo>
                      <a:pt x="530860" y="411988"/>
                      <a:pt x="411988" y="530860"/>
                      <a:pt x="265430" y="530860"/>
                    </a:cubicBezTo>
                    <a:cubicBezTo>
                      <a:pt x="118872" y="530860"/>
                      <a:pt x="0" y="411988"/>
                      <a:pt x="0" y="265430"/>
                    </a:cubicBezTo>
                    <a:cubicBezTo>
                      <a:pt x="0" y="118872"/>
                      <a:pt x="118872" y="0"/>
                      <a:pt x="265430" y="0"/>
                    </a:cubicBezTo>
                    <a:close/>
                  </a:path>
                </a:pathLst>
              </a:custGeom>
              <a:solidFill>
                <a:srgbClr val="F3A370"/>
              </a:solidFill>
            </p:spPr>
          </p:sp>
        </p:grpSp>
        <p:grpSp>
          <p:nvGrpSpPr>
            <p:cNvPr id="162" name="Group 162"/>
            <p:cNvGrpSpPr/>
            <p:nvPr/>
          </p:nvGrpSpPr>
          <p:grpSpPr>
            <a:xfrm>
              <a:off x="8502638" y="1073924"/>
              <a:ext cx="4582161" cy="952893"/>
              <a:chOff x="-304740" y="-114277"/>
              <a:chExt cx="4581236" cy="952701"/>
            </a:xfrm>
          </p:grpSpPr>
          <p:sp>
            <p:nvSpPr>
              <p:cNvPr id="163" name="Freeform 163"/>
              <p:cNvSpPr/>
              <p:nvPr/>
            </p:nvSpPr>
            <p:spPr>
              <a:xfrm>
                <a:off x="0" y="0"/>
                <a:ext cx="3329940" cy="838424"/>
              </a:xfrm>
              <a:custGeom>
                <a:avLst/>
                <a:gdLst/>
                <a:ahLst/>
                <a:cxnLst/>
                <a:rect l="l" t="t" r="r" b="b"/>
                <a:pathLst>
                  <a:path w="3329940" h="838424">
                    <a:moveTo>
                      <a:pt x="0" y="0"/>
                    </a:moveTo>
                    <a:lnTo>
                      <a:pt x="3329940" y="0"/>
                    </a:lnTo>
                    <a:lnTo>
                      <a:pt x="3329940" y="838424"/>
                    </a:lnTo>
                    <a:lnTo>
                      <a:pt x="0" y="838424"/>
                    </a:lnTo>
                    <a:close/>
                  </a:path>
                </a:pathLst>
              </a:custGeom>
              <a:blipFill>
                <a:blip r:embed="rId5">
                  <a:alphaModFix amt="0"/>
                </a:blip>
                <a:stretch>
                  <a:fillRect t="-49743" b="-5032"/>
                </a:stretch>
              </a:blipFill>
            </p:spPr>
          </p:sp>
          <p:sp>
            <p:nvSpPr>
              <p:cNvPr id="164" name="TextBox 164"/>
              <p:cNvSpPr txBox="1"/>
              <p:nvPr/>
            </p:nvSpPr>
            <p:spPr>
              <a:xfrm>
                <a:off x="-304740" y="-114277"/>
                <a:ext cx="4581236" cy="952308"/>
              </a:xfrm>
              <a:prstGeom prst="rect">
                <a:avLst/>
              </a:prstGeom>
            </p:spPr>
            <p:txBody>
              <a:bodyPr lIns="0" tIns="0" rIns="0" bIns="0" rtlCol="0" anchor="ctr"/>
              <a:lstStyle/>
              <a:p>
                <a:pPr algn="ctr">
                  <a:lnSpc>
                    <a:spcPct val="110000"/>
                  </a:lnSpc>
                  <a:buClrTx/>
                  <a:buSzTx/>
                  <a:buFontTx/>
                </a:pPr>
                <a:r>
                  <a:rPr lang="zh-CN" altLang="en-US" sz="3200" b="1" kern="0" dirty="0">
                    <a:ln w="38100">
                      <a:noFill/>
                    </a:ln>
                    <a:gradFill>
                      <a:gsLst>
                        <a:gs pos="0">
                          <a:srgbClr val="FBAF03"/>
                        </a:gs>
                        <a:gs pos="81000">
                          <a:srgbClr val="FE6719"/>
                        </a:gs>
                        <a:gs pos="35000">
                          <a:srgbClr val="FF8C0B"/>
                        </a:gs>
                      </a:gsLst>
                      <a:lin ang="18900000" scaled="0"/>
                    </a:gradFill>
                    <a:latin typeface="演示流云楷" panose="02000600000000000000" charset="-122"/>
                    <a:ea typeface="演示流云楷" panose="02000600000000000000" charset="-122"/>
                    <a:cs typeface="演示流云楷" panose="02000600000000000000" charset="-122"/>
                    <a:sym typeface="微软雅黑" panose="020B0503020204020204" pitchFamily="34" charset="-122"/>
                  </a:rPr>
                  <a:t>政府与市场协同</a:t>
                </a:r>
                <a:endParaRPr lang="zh-CN" altLang="en-US" sz="3200" b="1" kern="0" dirty="0">
                  <a:ln w="38100">
                    <a:noFill/>
                  </a:ln>
                  <a:gradFill>
                    <a:gsLst>
                      <a:gs pos="0">
                        <a:srgbClr val="FBAF03"/>
                      </a:gs>
                      <a:gs pos="81000">
                        <a:srgbClr val="FE6719"/>
                      </a:gs>
                      <a:gs pos="35000">
                        <a:srgbClr val="FF8C0B"/>
                      </a:gs>
                    </a:gsLst>
                    <a:lin ang="18900000" scaled="0"/>
                  </a:gradFill>
                  <a:latin typeface="演示流云楷" panose="02000600000000000000" charset="-122"/>
                  <a:ea typeface="演示流云楷" panose="02000600000000000000" charset="-122"/>
                  <a:cs typeface="演示流云楷" panose="02000600000000000000" charset="-122"/>
                  <a:sym typeface="微软雅黑" panose="020B0503020204020204" pitchFamily="34" charset="-122"/>
                </a:endParaRPr>
              </a:p>
            </p:txBody>
          </p:sp>
        </p:grpSp>
        <p:grpSp>
          <p:nvGrpSpPr>
            <p:cNvPr id="165" name="Group 165"/>
            <p:cNvGrpSpPr/>
            <p:nvPr/>
          </p:nvGrpSpPr>
          <p:grpSpPr>
            <a:xfrm>
              <a:off x="8154671" y="1973951"/>
              <a:ext cx="7018039" cy="1397813"/>
              <a:chOff x="0" y="0"/>
              <a:chExt cx="7016623" cy="1397531"/>
            </a:xfrm>
          </p:grpSpPr>
          <p:sp>
            <p:nvSpPr>
              <p:cNvPr id="166" name="Freeform 166"/>
              <p:cNvSpPr/>
              <p:nvPr/>
            </p:nvSpPr>
            <p:spPr>
              <a:xfrm>
                <a:off x="0" y="0"/>
                <a:ext cx="7016620" cy="1397536"/>
              </a:xfrm>
              <a:custGeom>
                <a:avLst/>
                <a:gdLst/>
                <a:ahLst/>
                <a:cxnLst/>
                <a:rect l="l" t="t" r="r" b="b"/>
                <a:pathLst>
                  <a:path w="7016620" h="1397536">
                    <a:moveTo>
                      <a:pt x="0" y="0"/>
                    </a:moveTo>
                    <a:lnTo>
                      <a:pt x="7016620" y="0"/>
                    </a:lnTo>
                    <a:lnTo>
                      <a:pt x="7016620" y="1397536"/>
                    </a:lnTo>
                    <a:lnTo>
                      <a:pt x="0" y="1397536"/>
                    </a:lnTo>
                    <a:close/>
                  </a:path>
                </a:pathLst>
              </a:custGeom>
              <a:blipFill>
                <a:blip r:embed="rId5">
                  <a:alphaModFix amt="0"/>
                </a:blip>
                <a:stretch>
                  <a:fillRect t="-66968" b="-28688"/>
                </a:stretch>
              </a:blipFill>
            </p:spPr>
          </p:sp>
          <p:sp>
            <p:nvSpPr>
              <p:cNvPr id="167" name="TextBox 167"/>
              <p:cNvSpPr txBox="1"/>
              <p:nvPr/>
            </p:nvSpPr>
            <p:spPr>
              <a:xfrm>
                <a:off x="0" y="-133350"/>
                <a:ext cx="7016623" cy="1530881"/>
              </a:xfrm>
              <a:prstGeom prst="rect">
                <a:avLst/>
              </a:prstGeom>
            </p:spPr>
            <p:txBody>
              <a:bodyPr lIns="0" tIns="0" rIns="0" bIns="0" rtlCol="0" anchor="ctr"/>
              <a:lstStyle/>
              <a:p>
                <a:pPr algn="l">
                  <a:lnSpc>
                    <a:spcPts val="4030"/>
                  </a:lnSpc>
                </a:pPr>
                <a:r>
                  <a:rPr 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政府担保机构（如JHF）与市场机制协同兜底，吸收尾部风险</a:t>
                </a:r>
                <a:endParaRPr 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68" name="Group 168"/>
            <p:cNvGrpSpPr/>
            <p:nvPr/>
          </p:nvGrpSpPr>
          <p:grpSpPr>
            <a:xfrm>
              <a:off x="15443777" y="1061934"/>
              <a:ext cx="7283650" cy="2483726"/>
              <a:chOff x="0" y="0"/>
              <a:chExt cx="7282180" cy="2483224"/>
            </a:xfrm>
          </p:grpSpPr>
          <p:sp>
            <p:nvSpPr>
              <p:cNvPr id="169" name="Freeform 169"/>
              <p:cNvSpPr/>
              <p:nvPr/>
            </p:nvSpPr>
            <p:spPr>
              <a:xfrm>
                <a:off x="0" y="0"/>
                <a:ext cx="7282180" cy="2483224"/>
              </a:xfrm>
              <a:custGeom>
                <a:avLst/>
                <a:gdLst/>
                <a:ahLst/>
                <a:cxnLst/>
                <a:rect l="l" t="t" r="r" b="b"/>
                <a:pathLst>
                  <a:path w="7282180" h="2483224">
                    <a:moveTo>
                      <a:pt x="132715" y="0"/>
                    </a:moveTo>
                    <a:lnTo>
                      <a:pt x="7149465" y="0"/>
                    </a:lnTo>
                    <a:cubicBezTo>
                      <a:pt x="7222744" y="0"/>
                      <a:pt x="7282180" y="76667"/>
                      <a:pt x="7282180" y="171294"/>
                    </a:cubicBezTo>
                    <a:lnTo>
                      <a:pt x="7282180" y="2311930"/>
                    </a:lnTo>
                    <a:cubicBezTo>
                      <a:pt x="7282180" y="2406558"/>
                      <a:pt x="7222744" y="2483224"/>
                      <a:pt x="7149465" y="2483224"/>
                    </a:cubicBezTo>
                    <a:lnTo>
                      <a:pt x="132715" y="2483224"/>
                    </a:lnTo>
                    <a:cubicBezTo>
                      <a:pt x="59436" y="2483224"/>
                      <a:pt x="0" y="2406558"/>
                      <a:pt x="0" y="2311930"/>
                    </a:cubicBezTo>
                    <a:lnTo>
                      <a:pt x="0" y="171294"/>
                    </a:lnTo>
                    <a:cubicBezTo>
                      <a:pt x="0" y="76667"/>
                      <a:pt x="59436" y="0"/>
                      <a:pt x="132715" y="0"/>
                    </a:cubicBezTo>
                    <a:close/>
                  </a:path>
                </a:pathLst>
              </a:custGeom>
              <a:solidFill>
                <a:srgbClr val="FFFFFF"/>
              </a:solidFill>
            </p:spPr>
          </p:sp>
        </p:grpSp>
        <p:grpSp>
          <p:nvGrpSpPr>
            <p:cNvPr id="170" name="Group 170"/>
            <p:cNvGrpSpPr/>
            <p:nvPr/>
          </p:nvGrpSpPr>
          <p:grpSpPr>
            <a:xfrm>
              <a:off x="15643207" y="1260094"/>
              <a:ext cx="609723" cy="530967"/>
              <a:chOff x="0" y="0"/>
              <a:chExt cx="609600" cy="530860"/>
            </a:xfrm>
          </p:grpSpPr>
          <p:sp>
            <p:nvSpPr>
              <p:cNvPr id="171" name="Freeform 171"/>
              <p:cNvSpPr/>
              <p:nvPr/>
            </p:nvSpPr>
            <p:spPr>
              <a:xfrm>
                <a:off x="0" y="0"/>
                <a:ext cx="609600" cy="530860"/>
              </a:xfrm>
              <a:custGeom>
                <a:avLst/>
                <a:gdLst/>
                <a:ahLst/>
                <a:cxnLst/>
                <a:rect l="l" t="t" r="r" b="b"/>
                <a:pathLst>
                  <a:path w="609600" h="530860">
                    <a:moveTo>
                      <a:pt x="304800" y="0"/>
                    </a:moveTo>
                    <a:cubicBezTo>
                      <a:pt x="473075" y="0"/>
                      <a:pt x="609600" y="118872"/>
                      <a:pt x="609600" y="265430"/>
                    </a:cubicBezTo>
                    <a:cubicBezTo>
                      <a:pt x="609600" y="411988"/>
                      <a:pt x="473075" y="530860"/>
                      <a:pt x="304800" y="530860"/>
                    </a:cubicBezTo>
                    <a:cubicBezTo>
                      <a:pt x="136525" y="530860"/>
                      <a:pt x="0" y="411988"/>
                      <a:pt x="0" y="265430"/>
                    </a:cubicBezTo>
                    <a:cubicBezTo>
                      <a:pt x="0" y="118872"/>
                      <a:pt x="136525" y="0"/>
                      <a:pt x="304800" y="0"/>
                    </a:cubicBezTo>
                    <a:close/>
                  </a:path>
                </a:pathLst>
              </a:custGeom>
              <a:solidFill>
                <a:srgbClr val="FFC88E"/>
              </a:solidFill>
            </p:spPr>
          </p:sp>
        </p:grpSp>
        <p:grpSp>
          <p:nvGrpSpPr>
            <p:cNvPr id="172" name="Group 172"/>
            <p:cNvGrpSpPr/>
            <p:nvPr/>
          </p:nvGrpSpPr>
          <p:grpSpPr>
            <a:xfrm>
              <a:off x="15669617" y="1088389"/>
              <a:ext cx="4743874" cy="938428"/>
              <a:chOff x="-711053" y="-114277"/>
              <a:chExt cx="4742916" cy="938239"/>
            </a:xfrm>
          </p:grpSpPr>
          <p:sp>
            <p:nvSpPr>
              <p:cNvPr id="173" name="Freeform 173"/>
              <p:cNvSpPr/>
              <p:nvPr/>
            </p:nvSpPr>
            <p:spPr>
              <a:xfrm>
                <a:off x="0" y="0"/>
                <a:ext cx="3074670" cy="823962"/>
              </a:xfrm>
              <a:custGeom>
                <a:avLst/>
                <a:gdLst/>
                <a:ahLst/>
                <a:cxnLst/>
                <a:rect l="l" t="t" r="r" b="b"/>
                <a:pathLst>
                  <a:path w="3074670" h="823962">
                    <a:moveTo>
                      <a:pt x="0" y="0"/>
                    </a:moveTo>
                    <a:lnTo>
                      <a:pt x="3074670" y="0"/>
                    </a:lnTo>
                    <a:lnTo>
                      <a:pt x="3074670" y="823962"/>
                    </a:lnTo>
                    <a:lnTo>
                      <a:pt x="0" y="823962"/>
                    </a:lnTo>
                    <a:close/>
                  </a:path>
                </a:pathLst>
              </a:custGeom>
              <a:blipFill>
                <a:blip r:embed="rId5">
                  <a:alphaModFix amt="0"/>
                </a:blip>
                <a:stretch>
                  <a:fillRect t="-46507" b="1087"/>
                </a:stretch>
              </a:blipFill>
            </p:spPr>
          </p:sp>
          <p:sp>
            <p:nvSpPr>
              <p:cNvPr id="174" name="TextBox 174"/>
              <p:cNvSpPr txBox="1"/>
              <p:nvPr/>
            </p:nvSpPr>
            <p:spPr>
              <a:xfrm>
                <a:off x="-711053" y="-114277"/>
                <a:ext cx="4742916" cy="937918"/>
              </a:xfrm>
              <a:prstGeom prst="rect">
                <a:avLst/>
              </a:prstGeom>
            </p:spPr>
            <p:txBody>
              <a:bodyPr lIns="0" tIns="0" rIns="0" bIns="0" rtlCol="0" anchor="ctr"/>
              <a:lstStyle/>
              <a:p>
                <a:pPr algn="ctr">
                  <a:lnSpc>
                    <a:spcPct val="110000"/>
                  </a:lnSpc>
                  <a:buClrTx/>
                  <a:buSzTx/>
                  <a:buFontTx/>
                </a:pPr>
                <a:r>
                  <a:rPr lang="zh-CN" altLang="en-US" sz="3200" b="1" kern="0" dirty="0">
                    <a:ln w="38100">
                      <a:noFill/>
                    </a:ln>
                    <a:gradFill>
                      <a:gsLst>
                        <a:gs pos="0">
                          <a:srgbClr val="FBAF03"/>
                        </a:gs>
                        <a:gs pos="81000">
                          <a:srgbClr val="FE6719"/>
                        </a:gs>
                        <a:gs pos="35000">
                          <a:srgbClr val="FF8C0B"/>
                        </a:gs>
                      </a:gsLst>
                      <a:lin ang="18900000" scaled="0"/>
                    </a:gradFill>
                    <a:latin typeface="演示流云楷" panose="02000600000000000000" charset="-122"/>
                    <a:ea typeface="演示流云楷" panose="02000600000000000000" charset="-122"/>
                    <a:cs typeface="演示流云楷" panose="02000600000000000000" charset="-122"/>
                    <a:sym typeface="微软雅黑" panose="020B0503020204020204" pitchFamily="34" charset="-122"/>
                  </a:rPr>
                  <a:t>灵活设计适配</a:t>
                </a:r>
                <a:endParaRPr lang="zh-CN" altLang="en-US" sz="3200" b="1" kern="0" dirty="0">
                  <a:ln w="38100">
                    <a:noFill/>
                  </a:ln>
                  <a:gradFill>
                    <a:gsLst>
                      <a:gs pos="0">
                        <a:srgbClr val="FBAF03"/>
                      </a:gs>
                      <a:gs pos="81000">
                        <a:srgbClr val="FE6719"/>
                      </a:gs>
                      <a:gs pos="35000">
                        <a:srgbClr val="FF8C0B"/>
                      </a:gs>
                    </a:gsLst>
                    <a:lin ang="18900000" scaled="0"/>
                  </a:gradFill>
                  <a:latin typeface="演示流云楷" panose="02000600000000000000" charset="-122"/>
                  <a:ea typeface="演示流云楷" panose="02000600000000000000" charset="-122"/>
                  <a:cs typeface="演示流云楷" panose="02000600000000000000" charset="-122"/>
                  <a:sym typeface="微软雅黑" panose="020B0503020204020204" pitchFamily="34" charset="-122"/>
                </a:endParaRPr>
              </a:p>
            </p:txBody>
          </p:sp>
        </p:grpSp>
        <p:grpSp>
          <p:nvGrpSpPr>
            <p:cNvPr id="175" name="Group 175"/>
            <p:cNvGrpSpPr/>
            <p:nvPr/>
          </p:nvGrpSpPr>
          <p:grpSpPr>
            <a:xfrm>
              <a:off x="15771882" y="1624504"/>
              <a:ext cx="6784865" cy="2096706"/>
              <a:chOff x="0" y="0"/>
              <a:chExt cx="6783495" cy="2096283"/>
            </a:xfrm>
          </p:grpSpPr>
          <p:sp>
            <p:nvSpPr>
              <p:cNvPr id="176" name="Freeform 176"/>
              <p:cNvSpPr/>
              <p:nvPr/>
            </p:nvSpPr>
            <p:spPr>
              <a:xfrm>
                <a:off x="0" y="0"/>
                <a:ext cx="6783495" cy="2096283"/>
              </a:xfrm>
              <a:custGeom>
                <a:avLst/>
                <a:gdLst/>
                <a:ahLst/>
                <a:cxnLst/>
                <a:rect l="l" t="t" r="r" b="b"/>
                <a:pathLst>
                  <a:path w="6783495" h="2096283">
                    <a:moveTo>
                      <a:pt x="0" y="0"/>
                    </a:moveTo>
                    <a:lnTo>
                      <a:pt x="6783495" y="0"/>
                    </a:lnTo>
                    <a:lnTo>
                      <a:pt x="6783495" y="2096283"/>
                    </a:lnTo>
                    <a:lnTo>
                      <a:pt x="0" y="2096283"/>
                    </a:lnTo>
                    <a:close/>
                  </a:path>
                </a:pathLst>
              </a:custGeom>
              <a:blipFill>
                <a:blip r:embed="rId5">
                  <a:alphaModFix amt="0"/>
                </a:blip>
                <a:stretch>
                  <a:fillRect t="-55498" r="-5554" b="22388"/>
                </a:stretch>
              </a:blipFill>
            </p:spPr>
          </p:sp>
          <p:sp>
            <p:nvSpPr>
              <p:cNvPr id="177" name="TextBox 177"/>
              <p:cNvSpPr txBox="1"/>
              <p:nvPr/>
            </p:nvSpPr>
            <p:spPr>
              <a:xfrm>
                <a:off x="0" y="-133350"/>
                <a:ext cx="6783495" cy="2229633"/>
              </a:xfrm>
              <a:prstGeom prst="rect">
                <a:avLst/>
              </a:prstGeom>
            </p:spPr>
            <p:txBody>
              <a:bodyPr lIns="0" tIns="0" rIns="0" bIns="0" rtlCol="0" anchor="ctr"/>
              <a:lstStyle/>
              <a:p>
                <a:pPr algn="l">
                  <a:lnSpc>
                    <a:spcPts val="4030"/>
                  </a:lnSpc>
                </a:pPr>
                <a:r>
                  <a:rPr 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非追索权与优先赎回权等灵活设计适配老年群体心理特征</a:t>
                </a:r>
                <a:endParaRPr 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sp>
          <p:nvSpPr>
            <p:cNvPr id="178" name="TextBox 178"/>
            <p:cNvSpPr txBox="1"/>
            <p:nvPr/>
          </p:nvSpPr>
          <p:spPr>
            <a:xfrm>
              <a:off x="398839" y="1180004"/>
              <a:ext cx="796214" cy="520700"/>
            </a:xfrm>
            <a:prstGeom prst="rect">
              <a:avLst/>
            </a:prstGeom>
          </p:spPr>
          <p:txBody>
            <a:bodyPr lIns="0" tIns="0" rIns="0" bIns="0" rtlCol="0" anchor="t">
              <a:spAutoFit/>
            </a:bodyPr>
            <a:lstStyle/>
            <a:p>
              <a:pPr algn="ctr">
                <a:lnSpc>
                  <a:spcPts val="3600"/>
                </a:lnSpc>
                <a:spcBef>
                  <a:spcPct val="0"/>
                </a:spcBef>
              </a:pPr>
              <a:r>
                <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1</a:t>
              </a:r>
              <a:endPar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79" name="TextBox 179"/>
            <p:cNvSpPr txBox="1"/>
            <p:nvPr/>
          </p:nvSpPr>
          <p:spPr>
            <a:xfrm>
              <a:off x="7954527" y="1180004"/>
              <a:ext cx="796214" cy="520700"/>
            </a:xfrm>
            <a:prstGeom prst="rect">
              <a:avLst/>
            </a:prstGeom>
          </p:spPr>
          <p:txBody>
            <a:bodyPr lIns="0" tIns="0" rIns="0" bIns="0" rtlCol="0" anchor="t">
              <a:spAutoFit/>
            </a:bodyPr>
            <a:lstStyle/>
            <a:p>
              <a:pPr algn="ctr">
                <a:lnSpc>
                  <a:spcPts val="3600"/>
                </a:lnSpc>
                <a:spcBef>
                  <a:spcPct val="0"/>
                </a:spcBef>
              </a:pPr>
              <a:r>
                <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a:t>
              </a:r>
              <a:endPar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80" name="TextBox 180"/>
            <p:cNvSpPr txBox="1"/>
            <p:nvPr/>
          </p:nvSpPr>
          <p:spPr>
            <a:xfrm>
              <a:off x="15549962" y="1180004"/>
              <a:ext cx="796214" cy="520700"/>
            </a:xfrm>
            <a:prstGeom prst="rect">
              <a:avLst/>
            </a:prstGeom>
          </p:spPr>
          <p:txBody>
            <a:bodyPr lIns="0" tIns="0" rIns="0" bIns="0" rtlCol="0" anchor="t">
              <a:spAutoFit/>
            </a:bodyPr>
            <a:lstStyle/>
            <a:p>
              <a:pPr algn="ctr">
                <a:lnSpc>
                  <a:spcPts val="3600"/>
                </a:lnSpc>
                <a:spcBef>
                  <a:spcPct val="0"/>
                </a:spcBef>
              </a:pPr>
              <a:r>
                <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3</a:t>
              </a:r>
              <a:endPar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81" name="Group 181"/>
          <p:cNvGrpSpPr/>
          <p:nvPr/>
        </p:nvGrpSpPr>
        <p:grpSpPr>
          <a:xfrm>
            <a:off x="6674448" y="1152979"/>
            <a:ext cx="9776127" cy="807251"/>
            <a:chOff x="0" y="0"/>
            <a:chExt cx="13034836" cy="1076334"/>
          </a:xfrm>
        </p:grpSpPr>
        <p:sp>
          <p:nvSpPr>
            <p:cNvPr id="182" name="Freeform 182"/>
            <p:cNvSpPr/>
            <p:nvPr/>
          </p:nvSpPr>
          <p:spPr>
            <a:xfrm>
              <a:off x="0" y="0"/>
              <a:ext cx="13034838" cy="1076340"/>
            </a:xfrm>
            <a:custGeom>
              <a:avLst/>
              <a:gdLst/>
              <a:ahLst/>
              <a:cxnLst/>
              <a:rect l="l" t="t" r="r" b="b"/>
              <a:pathLst>
                <a:path w="13034838" h="1076340">
                  <a:moveTo>
                    <a:pt x="0" y="0"/>
                  </a:moveTo>
                  <a:lnTo>
                    <a:pt x="13034838" y="0"/>
                  </a:lnTo>
                  <a:lnTo>
                    <a:pt x="13034838" y="1076340"/>
                  </a:lnTo>
                  <a:lnTo>
                    <a:pt x="0" y="1076340"/>
                  </a:lnTo>
                  <a:close/>
                </a:path>
              </a:pathLst>
            </a:custGeom>
            <a:blipFill>
              <a:blip r:embed="rId5">
                <a:alphaModFix amt="0"/>
              </a:blip>
              <a:stretch>
                <a:fillRect t="-8453" r="87274" b="48395"/>
              </a:stretch>
            </a:blipFill>
          </p:spPr>
        </p:sp>
        <p:sp>
          <p:nvSpPr>
            <p:cNvPr id="183" name="TextBox 183"/>
            <p:cNvSpPr txBox="1"/>
            <p:nvPr/>
          </p:nvSpPr>
          <p:spPr>
            <a:xfrm>
              <a:off x="0" y="-57150"/>
              <a:ext cx="13034836" cy="1133484"/>
            </a:xfrm>
            <a:prstGeom prst="rect">
              <a:avLst/>
            </a:prstGeom>
          </p:spPr>
          <p:txBody>
            <a:bodyPr lIns="0" tIns="0" rIns="0" bIns="0" rtlCol="0" anchor="ctr"/>
            <a:lstStyle/>
            <a:p>
              <a:pPr algn="l">
                <a:lnSpc>
                  <a:spcPts val="3025"/>
                </a:lnSpc>
              </a:pPr>
              <a:endParaRPr>
                <a:ea typeface="微软雅黑" panose="020B0503020204020204" pitchFamily="34" charset="-122"/>
                <a:cs typeface="微软雅黑" panose="020B0503020204020204" pitchFamily="34" charset="-122"/>
              </a:endParaRPr>
            </a:p>
            <a:p>
              <a:pPr algn="l">
                <a:lnSpc>
                  <a:spcPts val="3025"/>
                </a:lnSpc>
              </a:pPr>
              <a:endParaRPr>
                <a:ea typeface="微软雅黑" panose="020B0503020204020204" pitchFamily="34" charset="-122"/>
                <a:cs typeface="微软雅黑" panose="020B0503020204020204" pitchFamily="34" charset="-122"/>
              </a:endParaRPr>
            </a:p>
          </p:txBody>
        </p:sp>
      </p:grpSp>
      <p:grpSp>
        <p:nvGrpSpPr>
          <p:cNvPr id="184" name="Group 184"/>
          <p:cNvGrpSpPr/>
          <p:nvPr/>
        </p:nvGrpSpPr>
        <p:grpSpPr>
          <a:xfrm>
            <a:off x="5393706" y="1081405"/>
            <a:ext cx="12738052" cy="521542"/>
            <a:chOff x="0" y="28575"/>
            <a:chExt cx="16984069" cy="695389"/>
          </a:xfrm>
        </p:grpSpPr>
        <p:sp>
          <p:nvSpPr>
            <p:cNvPr id="185" name="AutoShape 185"/>
            <p:cNvSpPr/>
            <p:nvPr/>
          </p:nvSpPr>
          <p:spPr>
            <a:xfrm>
              <a:off x="5947328" y="723964"/>
              <a:ext cx="10237678" cy="0"/>
            </a:xfrm>
            <a:prstGeom prst="line">
              <a:avLst/>
            </a:prstGeom>
            <a:ln w="25400" cap="flat">
              <a:solidFill>
                <a:srgbClr val="EE7E35"/>
              </a:solidFill>
              <a:prstDash val="solid"/>
              <a:headEnd type="none" w="sm" len="sm"/>
              <a:tailEnd type="none" w="sm" len="sm"/>
            </a:ln>
          </p:spPr>
        </p:sp>
        <p:sp>
          <p:nvSpPr>
            <p:cNvPr id="186" name="TextBox 186"/>
            <p:cNvSpPr txBox="1"/>
            <p:nvPr/>
          </p:nvSpPr>
          <p:spPr>
            <a:xfrm>
              <a:off x="0" y="28575"/>
              <a:ext cx="16984069" cy="553720"/>
            </a:xfrm>
            <a:prstGeom prst="rect">
              <a:avLst/>
            </a:prstGeom>
          </p:spPr>
          <p:txBody>
            <a:bodyPr lIns="0" tIns="0" rIns="0" bIns="0" rtlCol="0" anchor="t">
              <a:spAutoFit/>
            </a:bodyPr>
            <a:lstStyle/>
            <a:p>
              <a:pPr algn="l">
                <a:lnSpc>
                  <a:spcPts val="3240"/>
                </a:lnSpc>
              </a:pPr>
              <a:r>
                <a:rPr lang="en-US" sz="3000" b="1" spc="299">
                  <a:gradFill>
                    <a:gsLst>
                      <a:gs pos="0">
                        <a:srgbClr val="C93C00">
                          <a:alpha val="100000"/>
                        </a:srgbClr>
                      </a:gs>
                      <a:gs pos="100000">
                        <a:srgbClr val="FF7400">
                          <a:alpha val="100000"/>
                        </a:srgbClr>
                      </a:gs>
                    </a:gsLst>
                    <a:lin ang="5400000"/>
                  </a:gradFill>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rPr>
                <a:t>对我国而言，更重要的是结合本土制度与家庭文化进行适配性转化</a:t>
              </a:r>
              <a:endParaRPr lang="en-US" sz="3000" b="1" spc="299">
                <a:gradFill>
                  <a:gsLst>
                    <a:gs pos="0">
                      <a:srgbClr val="C93C00">
                        <a:alpha val="100000"/>
                      </a:srgbClr>
                    </a:gs>
                    <a:gs pos="100000">
                      <a:srgbClr val="FF7400">
                        <a:alpha val="100000"/>
                      </a:srgbClr>
                    </a:gs>
                  </a:gsLst>
                  <a:lin ang="5400000"/>
                </a:gradFill>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endParaRPr>
            </a:p>
          </p:txBody>
        </p:sp>
        <p:sp>
          <p:nvSpPr>
            <p:cNvPr id="187" name="AutoShape 187"/>
            <p:cNvSpPr/>
            <p:nvPr/>
          </p:nvSpPr>
          <p:spPr>
            <a:xfrm>
              <a:off x="3270883" y="723964"/>
              <a:ext cx="2930451" cy="0"/>
            </a:xfrm>
            <a:prstGeom prst="line">
              <a:avLst/>
            </a:prstGeom>
            <a:ln w="76200" cap="flat">
              <a:solidFill>
                <a:srgbClr val="EE7E35"/>
              </a:solidFill>
              <a:prstDash val="solid"/>
              <a:headEnd type="none" w="sm" len="sm"/>
              <a:tailEnd type="none" w="sm" len="sm"/>
            </a:ln>
          </p:spPr>
        </p:sp>
      </p:grpSp>
      <p:grpSp>
        <p:nvGrpSpPr>
          <p:cNvPr id="22" name="Group 35"/>
          <p:cNvGrpSpPr/>
          <p:nvPr/>
        </p:nvGrpSpPr>
        <p:grpSpPr>
          <a:xfrm>
            <a:off x="9534747" y="-381623"/>
            <a:ext cx="2112548" cy="1134695"/>
            <a:chOff x="0" y="-123825"/>
            <a:chExt cx="609349" cy="298849"/>
          </a:xfrm>
        </p:grpSpPr>
        <p:sp>
          <p:nvSpPr>
            <p:cNvPr id="23" name="Freeform 3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a:p>
          </p:txBody>
        </p:sp>
        <p:sp>
          <p:nvSpPr>
            <p:cNvPr id="190"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191" name="TextBox 63"/>
          <p:cNvSpPr txBox="1"/>
          <p:nvPr/>
        </p:nvSpPr>
        <p:spPr>
          <a:xfrm>
            <a:off x="7482844" y="182001"/>
            <a:ext cx="2029460"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92" name="TextBox 64"/>
          <p:cNvSpPr txBox="1"/>
          <p:nvPr/>
        </p:nvSpPr>
        <p:spPr>
          <a:xfrm>
            <a:off x="11607729" y="192268"/>
            <a:ext cx="2314575" cy="4616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93" name="TextBox 65"/>
          <p:cNvSpPr txBox="1"/>
          <p:nvPr/>
        </p:nvSpPr>
        <p:spPr>
          <a:xfrm>
            <a:off x="13617504" y="192268"/>
            <a:ext cx="2232413" cy="46164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94" name="TextBox 66"/>
          <p:cNvSpPr txBox="1"/>
          <p:nvPr/>
        </p:nvSpPr>
        <p:spPr>
          <a:xfrm>
            <a:off x="5274208" y="184126"/>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95" name="TextBox 65"/>
          <p:cNvSpPr txBox="1"/>
          <p:nvPr/>
        </p:nvSpPr>
        <p:spPr>
          <a:xfrm>
            <a:off x="15581836" y="199629"/>
            <a:ext cx="2232413"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96" name="TextBox 66"/>
          <p:cNvSpPr txBox="1"/>
          <p:nvPr/>
        </p:nvSpPr>
        <p:spPr>
          <a:xfrm>
            <a:off x="9464826" y="191117"/>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eeform 2"/>
          <p:cNvSpPr/>
          <p:nvPr/>
        </p:nvSpPr>
        <p:spPr>
          <a:xfrm>
            <a:off x="0" y="64557"/>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2"/>
            <a:stretch>
              <a:fillRect t="-883"/>
            </a:stretch>
          </a:blipFill>
        </p:spPr>
      </p:sp>
      <p:grpSp>
        <p:nvGrpSpPr>
          <p:cNvPr id="4" name="Group 4"/>
          <p:cNvGrpSpPr/>
          <p:nvPr/>
        </p:nvGrpSpPr>
        <p:grpSpPr>
          <a:xfrm>
            <a:off x="160070" y="-2829424"/>
            <a:ext cx="5133103" cy="4618309"/>
            <a:chOff x="0" y="0"/>
            <a:chExt cx="6844137" cy="6157745"/>
          </a:xfrm>
        </p:grpSpPr>
        <p:grpSp>
          <p:nvGrpSpPr>
            <p:cNvPr id="5" name="Group 5"/>
            <p:cNvGrpSpPr/>
            <p:nvPr/>
          </p:nvGrpSpPr>
          <p:grpSpPr>
            <a:xfrm rot="215490">
              <a:off x="271581" y="295285"/>
              <a:ext cx="6401327" cy="5667527"/>
              <a:chOff x="0" y="0"/>
              <a:chExt cx="2560354" cy="2266854"/>
            </a:xfrm>
          </p:grpSpPr>
          <p:sp>
            <p:nvSpPr>
              <p:cNvPr id="6" name="Freeform 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7" name="TextBox 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8" name="Group 8"/>
            <p:cNvGrpSpPr/>
            <p:nvPr/>
          </p:nvGrpSpPr>
          <p:grpSpPr>
            <a:xfrm rot="215490">
              <a:off x="171229" y="194933"/>
              <a:ext cx="6401327" cy="5667527"/>
              <a:chOff x="0" y="0"/>
              <a:chExt cx="2560354" cy="2266854"/>
            </a:xfrm>
          </p:grpSpPr>
          <p:sp>
            <p:nvSpPr>
              <p:cNvPr id="9" name="Freeform 9"/>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0" name="TextBox 10"/>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1" name="Group 11"/>
            <p:cNvGrpSpPr/>
            <p:nvPr/>
          </p:nvGrpSpPr>
          <p:grpSpPr>
            <a:xfrm>
              <a:off x="124175" y="194933"/>
              <a:ext cx="6401327" cy="5667527"/>
              <a:chOff x="0" y="0"/>
              <a:chExt cx="2560354" cy="2266854"/>
            </a:xfrm>
          </p:grpSpPr>
          <p:sp>
            <p:nvSpPr>
              <p:cNvPr id="12" name="Freeform 12"/>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3" name="TextBox 13"/>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4" name="AutoShape 14"/>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18" name="Freeform 18"/>
          <p:cNvSpPr/>
          <p:nvPr/>
        </p:nvSpPr>
        <p:spPr>
          <a:xfrm flipH="1">
            <a:off x="-46739" y="-145676"/>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3"/>
            <a:stretch>
              <a:fillRect/>
            </a:stretch>
          </a:blipFill>
        </p:spPr>
      </p:sp>
      <p:grpSp>
        <p:nvGrpSpPr>
          <p:cNvPr id="19" name="Group 19"/>
          <p:cNvGrpSpPr/>
          <p:nvPr/>
        </p:nvGrpSpPr>
        <p:grpSpPr>
          <a:xfrm>
            <a:off x="6527204" y="1271968"/>
            <a:ext cx="8728075" cy="654765"/>
            <a:chOff x="1117600" y="38100"/>
            <a:chExt cx="11637433" cy="873020"/>
          </a:xfrm>
        </p:grpSpPr>
        <p:sp>
          <p:nvSpPr>
            <p:cNvPr id="20" name="AutoShape 20"/>
            <p:cNvSpPr/>
            <p:nvPr/>
          </p:nvSpPr>
          <p:spPr>
            <a:xfrm flipV="1">
              <a:off x="2930451" y="911120"/>
              <a:ext cx="4920021" cy="0"/>
            </a:xfrm>
            <a:prstGeom prst="line">
              <a:avLst/>
            </a:prstGeom>
            <a:ln w="25400" cap="flat">
              <a:solidFill>
                <a:srgbClr val="EE7E35"/>
              </a:solidFill>
              <a:prstDash val="solid"/>
              <a:headEnd type="none" w="sm" len="sm"/>
              <a:tailEnd type="none" w="sm" len="sm"/>
            </a:ln>
          </p:spPr>
        </p:sp>
        <p:sp>
          <p:nvSpPr>
            <p:cNvPr id="21" name="TextBox 21"/>
            <p:cNvSpPr txBox="1"/>
            <p:nvPr/>
          </p:nvSpPr>
          <p:spPr>
            <a:xfrm>
              <a:off x="1117600" y="38100"/>
              <a:ext cx="11637433" cy="663787"/>
            </a:xfrm>
            <a:prstGeom prst="rect">
              <a:avLst/>
            </a:prstGeom>
          </p:spPr>
          <p:txBody>
            <a:bodyPr wrap="square" lIns="0" tIns="0" rIns="0" bIns="0" rtlCol="0" anchor="t">
              <a:spAutoFit/>
            </a:bodyPr>
            <a:lstStyle/>
            <a:p>
              <a:pPr algn="l">
                <a:lnSpc>
                  <a:spcPts val="3885"/>
                </a:lnSpc>
              </a:pPr>
              <a:r>
                <a:rPr lang="en-US" sz="3600" b="1" spc="359" dirty="0" err="1">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基</a:t>
              </a:r>
              <a:r>
                <a:rPr lang="zh-CN" altLang="en-US" sz="3600" b="1" spc="359" dirty="0">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于文本分析与情感解构洞察公众态度</a:t>
              </a:r>
              <a:endParaRPr lang="zh-CN" altLang="en-US" sz="3600" b="1" spc="359" dirty="0">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22" name="AutoShape 22"/>
            <p:cNvSpPr/>
            <p:nvPr/>
          </p:nvSpPr>
          <p:spPr>
            <a:xfrm>
              <a:off x="1285692" y="873020"/>
              <a:ext cx="3349267" cy="0"/>
            </a:xfrm>
            <a:prstGeom prst="line">
              <a:avLst/>
            </a:prstGeom>
            <a:ln w="76200" cap="flat">
              <a:solidFill>
                <a:srgbClr val="EE7E35"/>
              </a:solidFill>
              <a:prstDash val="solid"/>
              <a:headEnd type="none" w="sm" len="sm"/>
              <a:tailEnd type="none" w="sm" len="sm"/>
            </a:ln>
          </p:spPr>
        </p:sp>
      </p:grpSp>
      <p:sp>
        <p:nvSpPr>
          <p:cNvPr id="83" name="TextBox 83"/>
          <p:cNvSpPr txBox="1"/>
          <p:nvPr/>
        </p:nvSpPr>
        <p:spPr>
          <a:xfrm>
            <a:off x="294888" y="55432"/>
            <a:ext cx="4728527" cy="1435735"/>
          </a:xfrm>
          <a:prstGeom prst="rect">
            <a:avLst/>
          </a:prstGeom>
        </p:spPr>
        <p:txBody>
          <a:bodyPr lIns="0" tIns="0" rIns="0" bIns="0" rtlCol="0" anchor="t">
            <a:spAutoFit/>
          </a:bodyPr>
          <a:lstStyle/>
          <a:p>
            <a:pPr algn="ctr">
              <a:lnSpc>
                <a:spcPts val="5600"/>
              </a:lnSpc>
              <a:spcBef>
                <a:spcPct val="0"/>
              </a:spcBef>
            </a:pPr>
            <a:r>
              <a:rPr lang="zh-CN" altLang="en-US" sz="4000" b="1" spc="-11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市场洞察：传统以房养老面临的公众态度</a:t>
            </a:r>
            <a:endParaRPr lang="en-US" sz="4000" b="1" spc="-11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91" name="矩形 90"/>
          <p:cNvSpPr/>
          <p:nvPr>
            <p:custDataLst>
              <p:tags r:id="rId4"/>
            </p:custDataLst>
          </p:nvPr>
        </p:nvSpPr>
        <p:spPr>
          <a:xfrm>
            <a:off x="201930" y="2161540"/>
            <a:ext cx="7465060" cy="4859020"/>
          </a:xfrm>
          <a:prstGeom prst="rect">
            <a:avLst/>
          </a:prstGeom>
          <a:solidFill>
            <a:srgbClr val="FAB882"/>
          </a:solidFill>
        </p:spPr>
        <p:style>
          <a:lnRef idx="2">
            <a:schemeClr val="lt1"/>
          </a:lnRef>
          <a:fillRef idx="1">
            <a:schemeClr val="accent1"/>
          </a:fillRef>
          <a:effectRef idx="1">
            <a:schemeClr val="accent1"/>
          </a:effectRef>
          <a:fontRef idx="minor">
            <a:schemeClr val="dk1"/>
          </a:fontRef>
        </p:style>
        <p:txBody>
          <a:bodyPr rtlCol="0" anchor="ctr"/>
          <a:lstStyle/>
          <a:p>
            <a:pPr algn="ctr" defTabSz="1371600"/>
            <a:endParaRPr lang="zh-CN" altLang="en-US" sz="2700">
              <a:solidFill>
                <a:srgbClr val="000000"/>
              </a:solidFill>
              <a:latin typeface="微软雅黑" panose="020B0503020204020204" pitchFamily="34" charset="-122"/>
              <a:ea typeface="微软雅黑" panose="020B0503020204020204" pitchFamily="34" charset="-122"/>
            </a:endParaRPr>
          </a:p>
        </p:txBody>
      </p:sp>
      <p:grpSp>
        <p:nvGrpSpPr>
          <p:cNvPr id="92" name="组合 91"/>
          <p:cNvGrpSpPr/>
          <p:nvPr>
            <p:custDataLst>
              <p:tags r:id="rId5"/>
            </p:custDataLst>
          </p:nvPr>
        </p:nvGrpSpPr>
        <p:grpSpPr>
          <a:xfrm>
            <a:off x="388296" y="2540112"/>
            <a:ext cx="6987810" cy="4234815"/>
            <a:chOff x="233" y="2924"/>
            <a:chExt cx="7606" cy="4609"/>
          </a:xfrm>
        </p:grpSpPr>
        <p:pic>
          <p:nvPicPr>
            <p:cNvPr id="93" name="图片 92"/>
            <p:cNvPicPr>
              <a:picLocks noChangeAspect="1"/>
            </p:cNvPicPr>
            <p:nvPr>
              <p:custDataLst>
                <p:tags r:id="rId6"/>
              </p:custDataLst>
            </p:nvPr>
          </p:nvPicPr>
          <p:blipFill>
            <a:blip r:embed="rId7"/>
            <a:srcRect t="1578" b="1578"/>
            <a:stretch>
              <a:fillRect/>
            </a:stretch>
          </p:blipFill>
          <p:spPr>
            <a:xfrm>
              <a:off x="4289" y="2924"/>
              <a:ext cx="3550" cy="4609"/>
            </a:xfrm>
            <a:prstGeom prst="rect">
              <a:avLst/>
            </a:prstGeom>
          </p:spPr>
        </p:pic>
        <p:pic>
          <p:nvPicPr>
            <p:cNvPr id="94" name="图片 93"/>
            <p:cNvPicPr>
              <a:picLocks noChangeAspect="1"/>
            </p:cNvPicPr>
            <p:nvPr>
              <p:custDataLst>
                <p:tags r:id="rId8"/>
              </p:custDataLst>
            </p:nvPr>
          </p:nvPicPr>
          <p:blipFill>
            <a:blip r:embed="rId9"/>
            <a:srcRect l="50951" t="15117"/>
            <a:stretch>
              <a:fillRect/>
            </a:stretch>
          </p:blipFill>
          <p:spPr>
            <a:xfrm>
              <a:off x="233" y="2938"/>
              <a:ext cx="4130" cy="4592"/>
            </a:xfrm>
            <a:prstGeom prst="rect">
              <a:avLst/>
            </a:prstGeom>
          </p:spPr>
        </p:pic>
      </p:grpSp>
      <p:sp>
        <p:nvSpPr>
          <p:cNvPr id="95" name="文本框 94"/>
          <p:cNvSpPr txBox="1"/>
          <p:nvPr/>
        </p:nvSpPr>
        <p:spPr>
          <a:xfrm>
            <a:off x="2567940" y="7912735"/>
            <a:ext cx="7312660" cy="1497330"/>
          </a:xfrm>
          <a:prstGeom prst="rect">
            <a:avLst/>
          </a:prstGeom>
          <a:noFill/>
        </p:spPr>
        <p:txBody>
          <a:bodyPr wrap="square" rtlCol="0" anchor="t">
            <a:noAutofit/>
          </a:bodyPr>
          <a:lstStyle/>
          <a:p>
            <a:pPr marL="27940" defTabSz="1371600" eaLnBrk="0">
              <a:lnSpc>
                <a:spcPct val="93000"/>
              </a:lnSpc>
            </a:pPr>
            <a:endParaRPr lang="zh-CN" altLang="en-US" sz="3600" b="1" kern="0" spc="210" dirty="0">
              <a:solidFill>
                <a:srgbClr val="3A280C">
                  <a:lumMod val="90000"/>
                  <a:lumOff val="10000"/>
                  <a:alpha val="100000"/>
                </a:srgbClr>
              </a:solidFill>
              <a:latin typeface="微软雅黑" panose="020B0503020204020204" pitchFamily="34" charset="-122"/>
              <a:ea typeface="微软雅黑" panose="020B0503020204020204" pitchFamily="34" charset="-122"/>
              <a:cs typeface="Times New Roman" panose="02020603050405020304" charset="0"/>
            </a:endParaRPr>
          </a:p>
        </p:txBody>
      </p:sp>
      <p:grpSp>
        <p:nvGrpSpPr>
          <p:cNvPr id="102" name="组合 101"/>
          <p:cNvGrpSpPr/>
          <p:nvPr>
            <p:custDataLst>
              <p:tags r:id="rId10"/>
            </p:custDataLst>
          </p:nvPr>
        </p:nvGrpSpPr>
        <p:grpSpPr>
          <a:xfrm>
            <a:off x="7838440" y="4216400"/>
            <a:ext cx="869315" cy="1052195"/>
            <a:chOff x="7620510" y="4305116"/>
            <a:chExt cx="457348" cy="266699"/>
          </a:xfrm>
          <a:gradFill flip="none" rotWithShape="1">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tileRect/>
          </a:gradFill>
        </p:grpSpPr>
        <p:sp>
          <p:nvSpPr>
            <p:cNvPr id="103" name="任意多边形: 形状 36"/>
            <p:cNvSpPr/>
            <p:nvPr>
              <p:custDataLst>
                <p:tags r:id="rId11"/>
              </p:custDataLst>
            </p:nvPr>
          </p:nvSpPr>
          <p:spPr>
            <a:xfrm>
              <a:off x="7872055" y="4305116"/>
              <a:ext cx="205803" cy="266699"/>
            </a:xfrm>
            <a:custGeom>
              <a:avLst/>
              <a:gdLst>
                <a:gd name="connsiteX0" fmla="*/ 74308 w 205803"/>
                <a:gd name="connsiteY0" fmla="*/ 266700 h 266699"/>
                <a:gd name="connsiteX1" fmla="*/ 0 w 205803"/>
                <a:gd name="connsiteY1" fmla="*/ 266700 h 266699"/>
                <a:gd name="connsiteX2" fmla="*/ 131476 w 205803"/>
                <a:gd name="connsiteY2" fmla="*/ 138284 h 266699"/>
                <a:gd name="connsiteX3" fmla="*/ 0 w 205803"/>
                <a:gd name="connsiteY3" fmla="*/ 0 h 266699"/>
                <a:gd name="connsiteX4" fmla="*/ 74308 w 205803"/>
                <a:gd name="connsiteY4" fmla="*/ 0 h 266699"/>
                <a:gd name="connsiteX5" fmla="*/ 205803 w 205803"/>
                <a:gd name="connsiteY5" fmla="*/ 138284 h 266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803" h="266699">
                  <a:moveTo>
                    <a:pt x="74308" y="266700"/>
                  </a:moveTo>
                  <a:lnTo>
                    <a:pt x="0" y="266700"/>
                  </a:lnTo>
                  <a:lnTo>
                    <a:pt x="131476" y="138284"/>
                  </a:lnTo>
                  <a:lnTo>
                    <a:pt x="0" y="0"/>
                  </a:lnTo>
                  <a:lnTo>
                    <a:pt x="74308" y="0"/>
                  </a:lnTo>
                  <a:lnTo>
                    <a:pt x="205803" y="138284"/>
                  </a:lnTo>
                  <a:close/>
                </a:path>
              </a:pathLst>
            </a:custGeom>
            <a:grpFill/>
            <a:ln w="1861" cap="flat">
              <a:noFill/>
              <a:prstDash val="solid"/>
              <a:miter/>
            </a:ln>
          </p:spPr>
          <p:txBody>
            <a:bodyPr rtlCol="0" anchor="ctr"/>
            <a:lstStyle/>
            <a:p>
              <a:pPr defTabSz="1371600"/>
              <a:endParaRPr lang="zh-CN" altLang="en-US" sz="2700">
                <a:solidFill>
                  <a:srgbClr val="000000"/>
                </a:solidFill>
                <a:latin typeface="微软雅黑" panose="020B0503020204020204" pitchFamily="34" charset="-122"/>
                <a:ea typeface="微软雅黑" panose="020B0503020204020204" pitchFamily="34" charset="-122"/>
              </a:endParaRPr>
            </a:p>
          </p:txBody>
        </p:sp>
        <p:sp>
          <p:nvSpPr>
            <p:cNvPr id="104" name="任意多边形: 形状 37"/>
            <p:cNvSpPr/>
            <p:nvPr>
              <p:custDataLst>
                <p:tags r:id="rId12"/>
              </p:custDataLst>
            </p:nvPr>
          </p:nvSpPr>
          <p:spPr>
            <a:xfrm>
              <a:off x="7746273" y="4305116"/>
              <a:ext cx="205821" cy="266699"/>
            </a:xfrm>
            <a:custGeom>
              <a:avLst/>
              <a:gdLst>
                <a:gd name="connsiteX0" fmla="*/ 74326 w 205821"/>
                <a:gd name="connsiteY0" fmla="*/ 266700 h 266699"/>
                <a:gd name="connsiteX1" fmla="*/ 0 w 205821"/>
                <a:gd name="connsiteY1" fmla="*/ 266700 h 266699"/>
                <a:gd name="connsiteX2" fmla="*/ 131495 w 205821"/>
                <a:gd name="connsiteY2" fmla="*/ 138284 h 266699"/>
                <a:gd name="connsiteX3" fmla="*/ 0 w 205821"/>
                <a:gd name="connsiteY3" fmla="*/ 0 h 266699"/>
                <a:gd name="connsiteX4" fmla="*/ 74326 w 205821"/>
                <a:gd name="connsiteY4" fmla="*/ 0 h 266699"/>
                <a:gd name="connsiteX5" fmla="*/ 205821 w 205821"/>
                <a:gd name="connsiteY5" fmla="*/ 138284 h 266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821" h="266699">
                  <a:moveTo>
                    <a:pt x="74326" y="266700"/>
                  </a:moveTo>
                  <a:lnTo>
                    <a:pt x="0" y="266700"/>
                  </a:lnTo>
                  <a:lnTo>
                    <a:pt x="131495" y="138284"/>
                  </a:lnTo>
                  <a:lnTo>
                    <a:pt x="0" y="0"/>
                  </a:lnTo>
                  <a:lnTo>
                    <a:pt x="74326" y="0"/>
                  </a:lnTo>
                  <a:lnTo>
                    <a:pt x="205821" y="138284"/>
                  </a:lnTo>
                  <a:close/>
                </a:path>
              </a:pathLst>
            </a:custGeom>
            <a:grpFill/>
            <a:ln w="1861" cap="flat">
              <a:noFill/>
              <a:prstDash val="solid"/>
              <a:miter/>
            </a:ln>
          </p:spPr>
          <p:txBody>
            <a:bodyPr rtlCol="0" anchor="ctr"/>
            <a:lstStyle/>
            <a:p>
              <a:pPr defTabSz="1371600"/>
              <a:endParaRPr lang="zh-CN" altLang="en-US" sz="2700">
                <a:solidFill>
                  <a:srgbClr val="000000"/>
                </a:solidFill>
                <a:latin typeface="微软雅黑" panose="020B0503020204020204" pitchFamily="34" charset="-122"/>
                <a:ea typeface="微软雅黑" panose="020B0503020204020204" pitchFamily="34" charset="-122"/>
              </a:endParaRPr>
            </a:p>
          </p:txBody>
        </p:sp>
        <p:sp>
          <p:nvSpPr>
            <p:cNvPr id="105" name="任意多边形: 形状 104"/>
            <p:cNvSpPr/>
            <p:nvPr>
              <p:custDataLst>
                <p:tags r:id="rId13"/>
              </p:custDataLst>
            </p:nvPr>
          </p:nvSpPr>
          <p:spPr>
            <a:xfrm>
              <a:off x="7620510" y="4305116"/>
              <a:ext cx="205802" cy="266699"/>
            </a:xfrm>
            <a:custGeom>
              <a:avLst/>
              <a:gdLst>
                <a:gd name="connsiteX0" fmla="*/ 74326 w 205802"/>
                <a:gd name="connsiteY0" fmla="*/ 266700 h 266699"/>
                <a:gd name="connsiteX1" fmla="*/ 0 w 205802"/>
                <a:gd name="connsiteY1" fmla="*/ 266700 h 266699"/>
                <a:gd name="connsiteX2" fmla="*/ 131495 w 205802"/>
                <a:gd name="connsiteY2" fmla="*/ 138284 h 266699"/>
                <a:gd name="connsiteX3" fmla="*/ 0 w 205802"/>
                <a:gd name="connsiteY3" fmla="*/ 0 h 266699"/>
                <a:gd name="connsiteX4" fmla="*/ 74326 w 205802"/>
                <a:gd name="connsiteY4" fmla="*/ 0 h 266699"/>
                <a:gd name="connsiteX5" fmla="*/ 205803 w 205802"/>
                <a:gd name="connsiteY5" fmla="*/ 138284 h 266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802" h="266699">
                  <a:moveTo>
                    <a:pt x="74326" y="266700"/>
                  </a:moveTo>
                  <a:lnTo>
                    <a:pt x="0" y="266700"/>
                  </a:lnTo>
                  <a:lnTo>
                    <a:pt x="131495" y="138284"/>
                  </a:lnTo>
                  <a:lnTo>
                    <a:pt x="0" y="0"/>
                  </a:lnTo>
                  <a:lnTo>
                    <a:pt x="74326" y="0"/>
                  </a:lnTo>
                  <a:lnTo>
                    <a:pt x="205803" y="138284"/>
                  </a:lnTo>
                  <a:close/>
                </a:path>
              </a:pathLst>
            </a:custGeom>
            <a:grpFill/>
            <a:ln w="1861" cap="flat">
              <a:noFill/>
              <a:prstDash val="solid"/>
              <a:miter/>
            </a:ln>
          </p:spPr>
          <p:txBody>
            <a:bodyPr rtlCol="0" anchor="ctr"/>
            <a:lstStyle/>
            <a:p>
              <a:pPr defTabSz="1371600"/>
              <a:endParaRPr lang="zh-CN" altLang="en-US" sz="2700">
                <a:solidFill>
                  <a:srgbClr val="000000"/>
                </a:solidFill>
                <a:latin typeface="微软雅黑" panose="020B0503020204020204" pitchFamily="34" charset="-122"/>
                <a:ea typeface="微软雅黑" panose="020B0503020204020204" pitchFamily="34" charset="-122"/>
              </a:endParaRPr>
            </a:p>
          </p:txBody>
        </p:sp>
      </p:grpSp>
      <p:grpSp>
        <p:nvGrpSpPr>
          <p:cNvPr id="24" name="组合 23"/>
          <p:cNvGrpSpPr/>
          <p:nvPr>
            <p:custDataLst>
              <p:tags r:id="rId14"/>
            </p:custDataLst>
          </p:nvPr>
        </p:nvGrpSpPr>
        <p:grpSpPr>
          <a:xfrm>
            <a:off x="602615" y="2082800"/>
            <a:ext cx="2896870" cy="609600"/>
            <a:chOff x="2160" y="13980"/>
            <a:chExt cx="4562" cy="960"/>
          </a:xfrm>
        </p:grpSpPr>
        <p:sp>
          <p:nvSpPr>
            <p:cNvPr id="23" name="圆角矩形 22"/>
            <p:cNvSpPr/>
            <p:nvPr>
              <p:custDataLst>
                <p:tags r:id="rId15"/>
              </p:custDataLst>
            </p:nvPr>
          </p:nvSpPr>
          <p:spPr>
            <a:xfrm>
              <a:off x="2160" y="13980"/>
              <a:ext cx="4560" cy="960"/>
            </a:xfrm>
            <a:prstGeom prst="roundRect">
              <a:avLst/>
            </a:prstGeom>
            <a:solidFill>
              <a:schemeClr val="bg1"/>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0" name="矩形 99"/>
            <p:cNvSpPr/>
            <p:nvPr>
              <p:custDataLst>
                <p:tags r:id="rId16"/>
              </p:custDataLst>
            </p:nvPr>
          </p:nvSpPr>
          <p:spPr>
            <a:xfrm>
              <a:off x="2160" y="14000"/>
              <a:ext cx="4562" cy="729"/>
            </a:xfrm>
            <a:prstGeom prst="rect">
              <a:avLst/>
            </a:prstGeom>
            <a:noFill/>
          </p:spPr>
          <p:txBody>
            <a:bodyPr wrap="square" lIns="0" tIns="0" rIns="0" bIns="0" rtlCol="0" anchor="t" anchorCtr="0">
              <a:noAutofit/>
            </a:bodyPr>
            <a:lstStyle/>
            <a:p>
              <a:pPr algn="ctr" defTabSz="1371600">
                <a:lnSpc>
                  <a:spcPct val="150000"/>
                </a:lnSpc>
                <a:spcBef>
                  <a:spcPct val="0"/>
                </a:spcBef>
                <a:spcAft>
                  <a:spcPct val="0"/>
                </a:spcAft>
              </a:pPr>
              <a:r>
                <a:rPr lang="en-US" altLang="zh-CN" sz="2000" b="1" dirty="0">
                  <a:solidFill>
                    <a:srgbClr val="000000">
                      <a:lumMod val="85000"/>
                      <a:lumOff val="15000"/>
                    </a:srgbClr>
                  </a:solidFill>
                  <a:latin typeface="微软雅黑" panose="020B0503020204020204" pitchFamily="34" charset="-122"/>
                  <a:ea typeface="微软雅黑" panose="020B0503020204020204" pitchFamily="34" charset="-122"/>
                  <a:cs typeface="+mn-ea"/>
                </a:rPr>
                <a:t>b</a:t>
              </a:r>
              <a:r>
                <a:rPr lang="zh-CN" altLang="en-US" sz="2000" b="1" dirty="0">
                  <a:solidFill>
                    <a:srgbClr val="000000">
                      <a:lumMod val="85000"/>
                      <a:lumOff val="15000"/>
                    </a:srgbClr>
                  </a:solidFill>
                  <a:latin typeface="微软雅黑" panose="020B0503020204020204" pitchFamily="34" charset="-122"/>
                  <a:ea typeface="微软雅黑" panose="020B0503020204020204" pitchFamily="34" charset="-122"/>
                  <a:cs typeface="+mn-ea"/>
                </a:rPr>
                <a:t>站视频内容词云图</a:t>
              </a:r>
              <a:endParaRPr lang="zh-CN" altLang="en-US" sz="2000" b="1" dirty="0">
                <a:solidFill>
                  <a:srgbClr val="000000">
                    <a:lumMod val="85000"/>
                    <a:lumOff val="15000"/>
                  </a:srgbClr>
                </a:solidFill>
                <a:latin typeface="微软雅黑" panose="020B0503020204020204" pitchFamily="34" charset="-122"/>
                <a:ea typeface="微软雅黑" panose="020B0503020204020204" pitchFamily="34" charset="-122"/>
                <a:cs typeface="+mn-ea"/>
              </a:endParaRPr>
            </a:p>
          </p:txBody>
        </p:sp>
      </p:grpSp>
      <p:grpSp>
        <p:nvGrpSpPr>
          <p:cNvPr id="25" name="组合 24"/>
          <p:cNvGrpSpPr/>
          <p:nvPr>
            <p:custDataLst>
              <p:tags r:id="rId17"/>
            </p:custDataLst>
          </p:nvPr>
        </p:nvGrpSpPr>
        <p:grpSpPr>
          <a:xfrm>
            <a:off x="4191000" y="2082800"/>
            <a:ext cx="2896870" cy="609600"/>
            <a:chOff x="2160" y="13980"/>
            <a:chExt cx="4562" cy="960"/>
          </a:xfrm>
        </p:grpSpPr>
        <p:sp>
          <p:nvSpPr>
            <p:cNvPr id="26" name="圆角矩形 25"/>
            <p:cNvSpPr/>
            <p:nvPr>
              <p:custDataLst>
                <p:tags r:id="rId18"/>
              </p:custDataLst>
            </p:nvPr>
          </p:nvSpPr>
          <p:spPr>
            <a:xfrm>
              <a:off x="2160" y="13980"/>
              <a:ext cx="4560" cy="960"/>
            </a:xfrm>
            <a:prstGeom prst="roundRect">
              <a:avLst/>
            </a:prstGeom>
            <a:solidFill>
              <a:schemeClr val="bg1"/>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7" name="矩形 26"/>
            <p:cNvSpPr/>
            <p:nvPr>
              <p:custDataLst>
                <p:tags r:id="rId19"/>
              </p:custDataLst>
            </p:nvPr>
          </p:nvSpPr>
          <p:spPr>
            <a:xfrm>
              <a:off x="2160" y="14000"/>
              <a:ext cx="4562" cy="729"/>
            </a:xfrm>
            <a:prstGeom prst="rect">
              <a:avLst/>
            </a:prstGeom>
            <a:noFill/>
          </p:spPr>
          <p:txBody>
            <a:bodyPr wrap="square" lIns="0" tIns="0" rIns="0" bIns="0" rtlCol="0" anchor="t" anchorCtr="0">
              <a:noAutofit/>
            </a:bodyPr>
            <a:lstStyle/>
            <a:p>
              <a:pPr algn="ctr" defTabSz="1371600">
                <a:lnSpc>
                  <a:spcPct val="150000"/>
                </a:lnSpc>
                <a:spcBef>
                  <a:spcPct val="0"/>
                </a:spcBef>
                <a:spcAft>
                  <a:spcPct val="0"/>
                </a:spcAft>
              </a:pPr>
              <a:r>
                <a:rPr lang="zh-CN" altLang="en-US" sz="2000" b="1" dirty="0">
                  <a:solidFill>
                    <a:srgbClr val="000000">
                      <a:lumMod val="85000"/>
                      <a:lumOff val="15000"/>
                    </a:srgbClr>
                  </a:solidFill>
                  <a:latin typeface="微软雅黑" panose="020B0503020204020204" pitchFamily="34" charset="-122"/>
                  <a:ea typeface="微软雅黑" panose="020B0503020204020204" pitchFamily="34" charset="-122"/>
                  <a:cs typeface="+mn-ea"/>
                </a:rPr>
                <a:t>小红书评论词云图</a:t>
              </a:r>
              <a:endParaRPr lang="zh-CN" altLang="en-US" sz="2000" b="1" dirty="0">
                <a:solidFill>
                  <a:srgbClr val="000000">
                    <a:lumMod val="85000"/>
                    <a:lumOff val="15000"/>
                  </a:srgbClr>
                </a:solidFill>
                <a:latin typeface="微软雅黑" panose="020B0503020204020204" pitchFamily="34" charset="-122"/>
                <a:ea typeface="微软雅黑" panose="020B0503020204020204" pitchFamily="34" charset="-122"/>
                <a:cs typeface="+mn-ea"/>
              </a:endParaRPr>
            </a:p>
          </p:txBody>
        </p:sp>
      </p:grpSp>
      <p:grpSp>
        <p:nvGrpSpPr>
          <p:cNvPr id="32" name="组合 31"/>
          <p:cNvGrpSpPr/>
          <p:nvPr/>
        </p:nvGrpSpPr>
        <p:grpSpPr>
          <a:xfrm>
            <a:off x="7924800" y="2476500"/>
            <a:ext cx="6574790" cy="4460240"/>
            <a:chOff x="14280" y="3900"/>
            <a:chExt cx="10354" cy="7024"/>
          </a:xfrm>
        </p:grpSpPr>
        <p:pic>
          <p:nvPicPr>
            <p:cNvPr id="28" name="图片 27"/>
            <p:cNvPicPr>
              <a:picLocks noChangeAspect="1"/>
            </p:cNvPicPr>
            <p:nvPr>
              <p:custDataLst>
                <p:tags r:id="rId20"/>
              </p:custDataLst>
            </p:nvPr>
          </p:nvPicPr>
          <p:blipFill>
            <a:blip r:embed="rId21"/>
            <a:srcRect l="748" r="1100"/>
            <a:stretch>
              <a:fillRect/>
            </a:stretch>
          </p:blipFill>
          <p:spPr>
            <a:xfrm>
              <a:off x="15360" y="4346"/>
              <a:ext cx="8090" cy="6578"/>
            </a:xfrm>
            <a:prstGeom prst="roundRect">
              <a:avLst>
                <a:gd name="adj" fmla="val 9939"/>
              </a:avLst>
            </a:prstGeom>
            <a:noFill/>
            <a:ln w="38100">
              <a:gradFill>
                <a:gsLst>
                  <a:gs pos="50000">
                    <a:schemeClr val="accent4"/>
                  </a:gs>
                  <a:gs pos="0">
                    <a:schemeClr val="accent4">
                      <a:lumMod val="25000"/>
                      <a:lumOff val="75000"/>
                    </a:schemeClr>
                  </a:gs>
                  <a:gs pos="100000">
                    <a:schemeClr val="accent4">
                      <a:lumMod val="85000"/>
                    </a:schemeClr>
                  </a:gs>
                </a:gsLst>
                <a:lin ang="5400000" scaled="0"/>
              </a:gradFill>
            </a:ln>
            <a:scene3d>
              <a:camera prst="perspectiveLeft"/>
              <a:lightRig rig="threePt" dir="t"/>
            </a:scene3d>
          </p:spPr>
        </p:pic>
        <p:sp>
          <p:nvSpPr>
            <p:cNvPr id="96" name="文本框 95"/>
            <p:cNvSpPr txBox="1"/>
            <p:nvPr/>
          </p:nvSpPr>
          <p:spPr>
            <a:xfrm>
              <a:off x="14641" y="9780"/>
              <a:ext cx="4084" cy="853"/>
            </a:xfrm>
            <a:prstGeom prst="roundRect">
              <a:avLst/>
            </a:prstGeom>
            <a:solidFill>
              <a:schemeClr val="bg1"/>
            </a:solidFill>
            <a:ln w="28575">
              <a:solidFill>
                <a:schemeClr val="accent6">
                  <a:lumMod val="60000"/>
                  <a:lumOff val="40000"/>
                </a:schemeClr>
              </a:solidFill>
            </a:ln>
            <a:scene3d>
              <a:camera prst="perspectiveLeft"/>
              <a:lightRig rig="threePt" dir="t"/>
            </a:scene3d>
          </p:spPr>
          <p:txBody>
            <a:bodyPr wrap="none" lIns="0" tIns="0" rIns="0" bIns="0" rtlCol="0">
              <a:noAutofit/>
            </a:bodyPr>
            <a:lstStyle/>
            <a:p>
              <a:pPr algn="ctr" defTabSz="1371600"/>
              <a:r>
                <a:rPr lang="zh-CN" altLang="en-US" sz="3200" b="1" dirty="0">
                  <a:gradFill>
                    <a:gsLst>
                      <a:gs pos="50000">
                        <a:schemeClr val="accent6">
                          <a:lumMod val="75000"/>
                        </a:schemeClr>
                      </a:gs>
                      <a:gs pos="0">
                        <a:srgbClr val="ECCEA1">
                          <a:lumMod val="25000"/>
                          <a:lumOff val="75000"/>
                        </a:srgbClr>
                      </a:gs>
                      <a:gs pos="100000">
                        <a:schemeClr val="accent6">
                          <a:lumMod val="60000"/>
                          <a:lumOff val="40000"/>
                        </a:schemeClr>
                      </a:gs>
                    </a:gsLst>
                    <a:lin ang="5400000" scaled="1"/>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rPr>
                <a:t>养老金保障</a:t>
              </a:r>
              <a:endParaRPr lang="zh-CN" altLang="en-US" sz="3200" b="1" dirty="0">
                <a:gradFill>
                  <a:gsLst>
                    <a:gs pos="50000">
                      <a:schemeClr val="accent6">
                        <a:lumMod val="75000"/>
                      </a:schemeClr>
                    </a:gs>
                    <a:gs pos="0">
                      <a:srgbClr val="ECCEA1">
                        <a:lumMod val="25000"/>
                        <a:lumOff val="75000"/>
                      </a:srgbClr>
                    </a:gs>
                    <a:gs pos="100000">
                      <a:schemeClr val="accent6">
                        <a:lumMod val="60000"/>
                        <a:lumOff val="40000"/>
                      </a:schemeClr>
                    </a:gs>
                  </a:gsLst>
                  <a:lin ang="5400000" scaled="1"/>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endParaRPr>
            </a:p>
          </p:txBody>
        </p:sp>
        <p:sp>
          <p:nvSpPr>
            <p:cNvPr id="97" name="文本框 96"/>
            <p:cNvSpPr txBox="1"/>
            <p:nvPr/>
          </p:nvSpPr>
          <p:spPr>
            <a:xfrm>
              <a:off x="21000" y="5700"/>
              <a:ext cx="3634" cy="954"/>
            </a:xfrm>
            <a:prstGeom prst="roundRect">
              <a:avLst/>
            </a:prstGeom>
            <a:solidFill>
              <a:schemeClr val="bg1"/>
            </a:solidFill>
            <a:ln w="28575">
              <a:solidFill>
                <a:schemeClr val="accent6">
                  <a:lumMod val="60000"/>
                  <a:lumOff val="40000"/>
                </a:schemeClr>
              </a:solidFill>
            </a:ln>
            <a:scene3d>
              <a:camera prst="perspectiveLeft"/>
              <a:lightRig rig="threePt" dir="t"/>
            </a:scene3d>
          </p:spPr>
          <p:txBody>
            <a:bodyPr wrap="none" lIns="0" tIns="0" rIns="0" bIns="0" rtlCol="0">
              <a:noAutofit/>
            </a:bodyPr>
            <a:lstStyle/>
            <a:p>
              <a:pPr lvl="0" algn="ctr" defTabSz="1371600"/>
              <a:r>
                <a:rPr lang="zh-CN" altLang="en-US" sz="3200" b="1" dirty="0">
                  <a:gradFill>
                    <a:gsLst>
                      <a:gs pos="50000">
                        <a:schemeClr val="accent6">
                          <a:lumMod val="75000"/>
                        </a:schemeClr>
                      </a:gs>
                      <a:gs pos="0">
                        <a:srgbClr val="ECCEA1">
                          <a:lumMod val="25000"/>
                          <a:lumOff val="75000"/>
                        </a:srgbClr>
                      </a:gs>
                      <a:gs pos="100000">
                        <a:srgbClr val="FAB882"/>
                      </a:gs>
                    </a:gsLst>
                    <a:lin ang="5400000" scaled="1"/>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rPr>
                <a:t>政策支持</a:t>
              </a:r>
              <a:endParaRPr lang="zh-CN" altLang="en-US" sz="3200" b="1" dirty="0">
                <a:gradFill>
                  <a:gsLst>
                    <a:gs pos="50000">
                      <a:schemeClr val="accent6">
                        <a:lumMod val="75000"/>
                      </a:schemeClr>
                    </a:gs>
                    <a:gs pos="0">
                      <a:srgbClr val="ECCEA1">
                        <a:lumMod val="25000"/>
                        <a:lumOff val="75000"/>
                      </a:srgbClr>
                    </a:gs>
                    <a:gs pos="100000">
                      <a:srgbClr val="FAB882"/>
                    </a:gs>
                  </a:gsLst>
                  <a:lin ang="5400000" scaled="1"/>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endParaRPr>
            </a:p>
          </p:txBody>
        </p:sp>
        <p:sp>
          <p:nvSpPr>
            <p:cNvPr id="98" name="文本框 97"/>
            <p:cNvSpPr txBox="1"/>
            <p:nvPr/>
          </p:nvSpPr>
          <p:spPr>
            <a:xfrm>
              <a:off x="14280" y="3900"/>
              <a:ext cx="3923" cy="984"/>
            </a:xfrm>
            <a:prstGeom prst="roundRect">
              <a:avLst/>
            </a:prstGeom>
            <a:solidFill>
              <a:schemeClr val="bg1"/>
            </a:solidFill>
            <a:ln w="28575">
              <a:solidFill>
                <a:schemeClr val="accent6">
                  <a:lumMod val="60000"/>
                  <a:lumOff val="40000"/>
                </a:schemeClr>
              </a:solidFill>
            </a:ln>
            <a:scene3d>
              <a:camera prst="perspectiveLeft"/>
              <a:lightRig rig="threePt" dir="t"/>
            </a:scene3d>
          </p:spPr>
          <p:txBody>
            <a:bodyPr wrap="none" lIns="0" tIns="0" rIns="0" bIns="0" rtlCol="0">
              <a:noAutofit/>
            </a:bodyPr>
            <a:lstStyle/>
            <a:p>
              <a:pPr algn="ctr" defTabSz="1371600"/>
              <a:r>
                <a:rPr lang="zh-CN" altLang="en-US" sz="3200" b="1" dirty="0">
                  <a:gradFill flip="none" rotWithShape="1">
                    <a:gsLst>
                      <a:gs pos="0">
                        <a:schemeClr val="accent6">
                          <a:lumMod val="75000"/>
                          <a:tint val="66000"/>
                          <a:satMod val="160000"/>
                        </a:schemeClr>
                      </a:gs>
                      <a:gs pos="50000">
                        <a:schemeClr val="accent6">
                          <a:lumMod val="75000"/>
                        </a:schemeClr>
                      </a:gs>
                      <a:gs pos="100000">
                        <a:schemeClr val="accent6">
                          <a:lumMod val="75000"/>
                          <a:tint val="23500"/>
                          <a:satMod val="160000"/>
                        </a:schemeClr>
                      </a:gs>
                    </a:gsLst>
                    <a:lin ang="16200000" scaled="1"/>
                    <a:tileRect/>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rPr>
                <a:t>诈骗风险</a:t>
              </a:r>
              <a:endParaRPr lang="zh-CN" altLang="en-US" sz="3200" b="1" dirty="0">
                <a:gradFill flip="none" rotWithShape="1">
                  <a:gsLst>
                    <a:gs pos="0">
                      <a:schemeClr val="accent6">
                        <a:lumMod val="75000"/>
                        <a:tint val="66000"/>
                        <a:satMod val="160000"/>
                      </a:schemeClr>
                    </a:gs>
                    <a:gs pos="50000">
                      <a:schemeClr val="accent6">
                        <a:lumMod val="75000"/>
                      </a:schemeClr>
                    </a:gs>
                    <a:gs pos="100000">
                      <a:schemeClr val="accent6">
                        <a:lumMod val="75000"/>
                        <a:tint val="23500"/>
                        <a:satMod val="160000"/>
                      </a:schemeClr>
                    </a:gs>
                  </a:gsLst>
                  <a:lin ang="16200000" scaled="1"/>
                  <a:tileRect/>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endParaRPr>
            </a:p>
          </p:txBody>
        </p:sp>
      </p:grpSp>
      <p:grpSp>
        <p:nvGrpSpPr>
          <p:cNvPr id="30" name="组合 29"/>
          <p:cNvGrpSpPr/>
          <p:nvPr/>
        </p:nvGrpSpPr>
        <p:grpSpPr>
          <a:xfrm>
            <a:off x="159385" y="7429500"/>
            <a:ext cx="7414260" cy="2663825"/>
            <a:chOff x="9288" y="7244"/>
            <a:chExt cx="9476" cy="3147"/>
          </a:xfrm>
        </p:grpSpPr>
        <p:pic>
          <p:nvPicPr>
            <p:cNvPr id="29" name="图片 28"/>
            <p:cNvPicPr>
              <a:picLocks noChangeAspect="1"/>
            </p:cNvPicPr>
            <p:nvPr/>
          </p:nvPicPr>
          <p:blipFill>
            <a:blip r:embed="rId22"/>
            <a:stretch>
              <a:fillRect/>
            </a:stretch>
          </p:blipFill>
          <p:spPr>
            <a:xfrm>
              <a:off x="9288" y="7582"/>
              <a:ext cx="9476" cy="2463"/>
            </a:xfrm>
            <a:prstGeom prst="rect">
              <a:avLst/>
            </a:prstGeom>
          </p:spPr>
        </p:pic>
        <p:sp>
          <p:nvSpPr>
            <p:cNvPr id="45" name="文本框 44"/>
            <p:cNvSpPr txBox="1"/>
            <p:nvPr/>
          </p:nvSpPr>
          <p:spPr>
            <a:xfrm>
              <a:off x="15638" y="9530"/>
              <a:ext cx="2691" cy="700"/>
            </a:xfrm>
            <a:prstGeom prst="roundRect">
              <a:avLst/>
            </a:prstGeom>
            <a:solidFill>
              <a:schemeClr val="bg1"/>
            </a:solidFill>
            <a:ln w="28575">
              <a:solidFill>
                <a:srgbClr val="B03600"/>
              </a:solidFill>
            </a:ln>
            <a:scene3d>
              <a:camera prst="perspectiveLeft"/>
              <a:lightRig rig="threePt" dir="t"/>
            </a:scene3d>
          </p:spPr>
          <p:txBody>
            <a:bodyPr wrap="none" lIns="0" tIns="0" rIns="0" bIns="0" rtlCol="0">
              <a:noAutofit/>
            </a:bodyPr>
            <a:lstStyle/>
            <a:p>
              <a:pPr algn="ctr"/>
              <a:r>
                <a:rPr lang="zh-CN" altLang="en-US" sz="3200" b="1" dirty="0">
                  <a:gradFill flip="none" rotWithShape="1">
                    <a:gsLst>
                      <a:gs pos="0">
                        <a:schemeClr val="accent6">
                          <a:lumMod val="75000"/>
                          <a:tint val="66000"/>
                          <a:satMod val="160000"/>
                        </a:schemeClr>
                      </a:gs>
                      <a:gs pos="50000">
                        <a:schemeClr val="accent6">
                          <a:lumMod val="75000"/>
                        </a:schemeClr>
                      </a:gs>
                      <a:gs pos="100000">
                        <a:schemeClr val="accent6">
                          <a:lumMod val="75000"/>
                          <a:tint val="23500"/>
                          <a:satMod val="160000"/>
                        </a:schemeClr>
                      </a:gs>
                    </a:gsLst>
                    <a:lin ang="16200000" scaled="1"/>
                    <a:tileRect/>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rPr>
                <a:t>投资风险</a:t>
              </a:r>
              <a:endParaRPr lang="zh-CN" altLang="en-US" sz="3200" b="1" noProof="0" dirty="0">
                <a:ln>
                  <a:noFill/>
                </a:ln>
                <a:gradFill flip="none" rotWithShape="1">
                  <a:gsLst>
                    <a:gs pos="0">
                      <a:schemeClr val="accent6">
                        <a:lumMod val="75000"/>
                        <a:tint val="66000"/>
                        <a:satMod val="160000"/>
                      </a:schemeClr>
                    </a:gs>
                    <a:gs pos="50000">
                      <a:schemeClr val="accent6">
                        <a:lumMod val="75000"/>
                      </a:schemeClr>
                    </a:gs>
                    <a:gs pos="100000">
                      <a:schemeClr val="accent6">
                        <a:lumMod val="75000"/>
                        <a:tint val="23500"/>
                        <a:satMod val="160000"/>
                      </a:schemeClr>
                    </a:gs>
                  </a:gsLst>
                  <a:lin ang="16200000" scaled="1"/>
                  <a:tileRect/>
                </a:gra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endParaRPr>
            </a:p>
          </p:txBody>
        </p:sp>
        <p:sp>
          <p:nvSpPr>
            <p:cNvPr id="46" name="文本框 45"/>
            <p:cNvSpPr txBox="1"/>
            <p:nvPr/>
          </p:nvSpPr>
          <p:spPr>
            <a:xfrm>
              <a:off x="15348" y="7244"/>
              <a:ext cx="2796" cy="674"/>
            </a:xfrm>
            <a:prstGeom prst="roundRect">
              <a:avLst/>
            </a:prstGeom>
            <a:solidFill>
              <a:schemeClr val="bg1"/>
            </a:solidFill>
            <a:ln w="28575">
              <a:solidFill>
                <a:srgbClr val="B03600"/>
              </a:solidFill>
            </a:ln>
            <a:scene3d>
              <a:camera prst="perspectiveLeft"/>
              <a:lightRig rig="threePt" dir="t"/>
            </a:scene3d>
          </p:spPr>
          <p:txBody>
            <a:bodyPr wrap="none" lIns="0" tIns="0" rIns="0" bIns="0" rtlCol="0">
              <a:noAutofit/>
            </a:bodyPr>
            <a:lstStyle/>
            <a:p>
              <a:pPr algn="ctr"/>
              <a:r>
                <a:rPr lang="zh-CN" altLang="en-US" sz="3200" b="1" dirty="0">
                  <a:gradFill flip="none" rotWithShape="1">
                    <a:gsLst>
                      <a:gs pos="0">
                        <a:schemeClr val="accent6">
                          <a:lumMod val="75000"/>
                          <a:tint val="66000"/>
                          <a:satMod val="160000"/>
                        </a:schemeClr>
                      </a:gs>
                      <a:gs pos="50000">
                        <a:schemeClr val="accent6">
                          <a:lumMod val="75000"/>
                        </a:schemeClr>
                      </a:gs>
                      <a:gs pos="100000">
                        <a:schemeClr val="accent6">
                          <a:lumMod val="75000"/>
                          <a:tint val="23500"/>
                          <a:satMod val="160000"/>
                        </a:schemeClr>
                      </a:gs>
                    </a:gsLst>
                    <a:lin ang="16200000" scaled="1"/>
                    <a:tileRect/>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rPr>
                <a:t>居住权保障</a:t>
              </a:r>
              <a:endParaRPr lang="zh-CN" altLang="en-US" sz="3200" b="1" noProof="0" dirty="0">
                <a:ln>
                  <a:noFill/>
                </a:ln>
                <a:gradFill flip="none" rotWithShape="1">
                  <a:gsLst>
                    <a:gs pos="0">
                      <a:schemeClr val="accent6">
                        <a:lumMod val="75000"/>
                        <a:tint val="66000"/>
                        <a:satMod val="160000"/>
                      </a:schemeClr>
                    </a:gs>
                    <a:gs pos="50000">
                      <a:schemeClr val="accent6">
                        <a:lumMod val="75000"/>
                      </a:schemeClr>
                    </a:gs>
                    <a:gs pos="100000">
                      <a:schemeClr val="accent6">
                        <a:lumMod val="75000"/>
                        <a:tint val="23500"/>
                        <a:satMod val="160000"/>
                      </a:schemeClr>
                    </a:gs>
                  </a:gsLst>
                  <a:lin ang="16200000" scaled="1"/>
                  <a:tileRect/>
                </a:gra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endParaRPr>
            </a:p>
          </p:txBody>
        </p:sp>
        <p:sp>
          <p:nvSpPr>
            <p:cNvPr id="47" name="文本框 46"/>
            <p:cNvSpPr txBox="1"/>
            <p:nvPr/>
          </p:nvSpPr>
          <p:spPr>
            <a:xfrm>
              <a:off x="9480" y="9765"/>
              <a:ext cx="2595" cy="626"/>
            </a:xfrm>
            <a:prstGeom prst="roundRect">
              <a:avLst/>
            </a:prstGeom>
            <a:solidFill>
              <a:schemeClr val="bg1"/>
            </a:solidFill>
            <a:ln w="28575">
              <a:solidFill>
                <a:srgbClr val="B03600"/>
              </a:solidFill>
            </a:ln>
            <a:scene3d>
              <a:camera prst="perspectiveLeft"/>
              <a:lightRig rig="threePt" dir="t"/>
            </a:scene3d>
          </p:spPr>
          <p:txBody>
            <a:bodyPr wrap="none" lIns="0" tIns="0" rIns="0" bIns="0" rtlCol="0">
              <a:noAutofit/>
            </a:bodyPr>
            <a:lstStyle/>
            <a:p>
              <a:pPr algn="ctr"/>
              <a:r>
                <a:rPr lang="zh-CN" altLang="en-US" sz="3200" b="1" dirty="0">
                  <a:gradFill flip="none" rotWithShape="1">
                    <a:gsLst>
                      <a:gs pos="0">
                        <a:schemeClr val="accent6">
                          <a:lumMod val="75000"/>
                          <a:tint val="66000"/>
                          <a:satMod val="160000"/>
                        </a:schemeClr>
                      </a:gs>
                      <a:gs pos="50000">
                        <a:schemeClr val="accent6">
                          <a:lumMod val="75000"/>
                        </a:schemeClr>
                      </a:gs>
                      <a:gs pos="100000">
                        <a:schemeClr val="accent6">
                          <a:lumMod val="75000"/>
                          <a:tint val="23500"/>
                          <a:satMod val="160000"/>
                        </a:schemeClr>
                      </a:gs>
                    </a:gsLst>
                    <a:lin ang="16200000" scaled="1"/>
                    <a:tileRect/>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rPr>
                <a:t>反诈防骗</a:t>
              </a:r>
              <a:endParaRPr lang="zh-CN" altLang="en-US" sz="3200" b="1" noProof="0" dirty="0">
                <a:ln>
                  <a:noFill/>
                </a:ln>
                <a:gradFill>
                  <a:gsLst>
                    <a:gs pos="50000">
                      <a:schemeClr val="accent1"/>
                    </a:gs>
                    <a:gs pos="0">
                      <a:schemeClr val="accent1">
                        <a:lumMod val="25000"/>
                        <a:lumOff val="75000"/>
                      </a:schemeClr>
                    </a:gs>
                    <a:gs pos="100000">
                      <a:schemeClr val="accent1">
                        <a:lumMod val="85000"/>
                      </a:schemeClr>
                    </a:gs>
                  </a:gsLst>
                  <a:lin ang="5400000" scaled="1"/>
                </a:gradFill>
                <a:effectLst>
                  <a:outerShdw blurRad="50800" dist="38100" dir="2700000" algn="tl" rotWithShape="0">
                    <a:prstClr val="black">
                      <a:alpha val="40000"/>
                    </a:prstClr>
                  </a:outerShdw>
                </a:effectLst>
                <a:uLnTx/>
                <a:uFillTx/>
                <a:latin typeface="华文中宋" panose="02010600040101010101" charset="-122"/>
                <a:ea typeface="华文中宋" panose="02010600040101010101" charset="-122"/>
              </a:endParaRPr>
            </a:p>
          </p:txBody>
        </p:sp>
      </p:grpSp>
      <p:pic>
        <p:nvPicPr>
          <p:cNvPr id="31" name="图片 22" descr="output (6)"/>
          <p:cNvPicPr>
            <a:picLocks noChangeAspect="1"/>
          </p:cNvPicPr>
          <p:nvPr/>
        </p:nvPicPr>
        <p:blipFill>
          <a:blip r:embed="rId23"/>
          <a:srcRect b="6482"/>
          <a:stretch>
            <a:fillRect/>
          </a:stretch>
        </p:blipFill>
        <p:spPr>
          <a:xfrm>
            <a:off x="8763000" y="7658100"/>
            <a:ext cx="5654675" cy="2498090"/>
          </a:xfrm>
          <a:prstGeom prst="rect">
            <a:avLst/>
          </a:prstGeom>
        </p:spPr>
      </p:pic>
      <p:grpSp>
        <p:nvGrpSpPr>
          <p:cNvPr id="33" name="组合 32"/>
          <p:cNvGrpSpPr/>
          <p:nvPr>
            <p:custDataLst>
              <p:tags r:id="rId24"/>
            </p:custDataLst>
          </p:nvPr>
        </p:nvGrpSpPr>
        <p:grpSpPr>
          <a:xfrm>
            <a:off x="337185" y="7303135"/>
            <a:ext cx="2896870" cy="609600"/>
            <a:chOff x="2160" y="13980"/>
            <a:chExt cx="4562" cy="960"/>
          </a:xfrm>
        </p:grpSpPr>
        <p:sp>
          <p:nvSpPr>
            <p:cNvPr id="34" name="圆角矩形 33"/>
            <p:cNvSpPr/>
            <p:nvPr>
              <p:custDataLst>
                <p:tags r:id="rId25"/>
              </p:custDataLst>
            </p:nvPr>
          </p:nvSpPr>
          <p:spPr>
            <a:xfrm>
              <a:off x="2160" y="13980"/>
              <a:ext cx="4560" cy="960"/>
            </a:xfrm>
            <a:prstGeom prst="roundRect">
              <a:avLst/>
            </a:prstGeom>
            <a:solidFill>
              <a:schemeClr val="bg1"/>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5" name="矩形 34"/>
            <p:cNvSpPr/>
            <p:nvPr>
              <p:custDataLst>
                <p:tags r:id="rId26"/>
              </p:custDataLst>
            </p:nvPr>
          </p:nvSpPr>
          <p:spPr>
            <a:xfrm>
              <a:off x="2160" y="14000"/>
              <a:ext cx="4562" cy="729"/>
            </a:xfrm>
            <a:prstGeom prst="rect">
              <a:avLst/>
            </a:prstGeom>
            <a:noFill/>
          </p:spPr>
          <p:txBody>
            <a:bodyPr wrap="square" lIns="0" tIns="0" rIns="0" bIns="0" rtlCol="0" anchor="t" anchorCtr="0">
              <a:noAutofit/>
            </a:bodyPr>
            <a:lstStyle/>
            <a:p>
              <a:pPr algn="ctr" defTabSz="1371600">
                <a:lnSpc>
                  <a:spcPct val="150000"/>
                </a:lnSpc>
                <a:spcBef>
                  <a:spcPct val="0"/>
                </a:spcBef>
                <a:spcAft>
                  <a:spcPct val="0"/>
                </a:spcAft>
              </a:pPr>
              <a:r>
                <a:rPr lang="en-US" altLang="zh-CN" sz="2000" b="1" dirty="0">
                  <a:solidFill>
                    <a:srgbClr val="000000">
                      <a:lumMod val="85000"/>
                      <a:lumOff val="15000"/>
                    </a:srgbClr>
                  </a:solidFill>
                  <a:latin typeface="微软雅黑" panose="020B0503020204020204" pitchFamily="34" charset="-122"/>
                  <a:ea typeface="微软雅黑" panose="020B0503020204020204" pitchFamily="34" charset="-122"/>
                  <a:cs typeface="+mn-ea"/>
                </a:rPr>
                <a:t>LDA</a:t>
              </a:r>
              <a:r>
                <a:rPr lang="zh-CN" altLang="en-US" sz="2000" b="1" dirty="0">
                  <a:solidFill>
                    <a:srgbClr val="000000">
                      <a:lumMod val="85000"/>
                      <a:lumOff val="15000"/>
                    </a:srgbClr>
                  </a:solidFill>
                  <a:latin typeface="微软雅黑" panose="020B0503020204020204" pitchFamily="34" charset="-122"/>
                  <a:ea typeface="微软雅黑" panose="020B0503020204020204" pitchFamily="34" charset="-122"/>
                  <a:cs typeface="+mn-ea"/>
                </a:rPr>
                <a:t>主题建模</a:t>
              </a:r>
              <a:endParaRPr lang="zh-CN" altLang="en-US" sz="2000" b="1" dirty="0">
                <a:solidFill>
                  <a:srgbClr val="000000">
                    <a:lumMod val="85000"/>
                    <a:lumOff val="15000"/>
                  </a:srgbClr>
                </a:solidFill>
                <a:latin typeface="微软雅黑" panose="020B0503020204020204" pitchFamily="34" charset="-122"/>
                <a:ea typeface="微软雅黑" panose="020B0503020204020204" pitchFamily="34" charset="-122"/>
                <a:cs typeface="+mn-ea"/>
              </a:endParaRPr>
            </a:p>
          </p:txBody>
        </p:sp>
      </p:grpSp>
      <p:grpSp>
        <p:nvGrpSpPr>
          <p:cNvPr id="37" name="组合 36"/>
          <p:cNvGrpSpPr/>
          <p:nvPr>
            <p:custDataLst>
              <p:tags r:id="rId27"/>
            </p:custDataLst>
          </p:nvPr>
        </p:nvGrpSpPr>
        <p:grpSpPr>
          <a:xfrm>
            <a:off x="8686800" y="7200900"/>
            <a:ext cx="2896870" cy="609600"/>
            <a:chOff x="2160" y="13980"/>
            <a:chExt cx="4562" cy="960"/>
          </a:xfrm>
        </p:grpSpPr>
        <p:sp>
          <p:nvSpPr>
            <p:cNvPr id="38" name="圆角矩形 37"/>
            <p:cNvSpPr/>
            <p:nvPr>
              <p:custDataLst>
                <p:tags r:id="rId28"/>
              </p:custDataLst>
            </p:nvPr>
          </p:nvSpPr>
          <p:spPr>
            <a:xfrm>
              <a:off x="2160" y="13980"/>
              <a:ext cx="4560" cy="960"/>
            </a:xfrm>
            <a:prstGeom prst="roundRect">
              <a:avLst/>
            </a:prstGeom>
            <a:solidFill>
              <a:schemeClr val="bg1"/>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9" name="矩形 38"/>
            <p:cNvSpPr/>
            <p:nvPr>
              <p:custDataLst>
                <p:tags r:id="rId29"/>
              </p:custDataLst>
            </p:nvPr>
          </p:nvSpPr>
          <p:spPr>
            <a:xfrm>
              <a:off x="2160" y="14000"/>
              <a:ext cx="4562" cy="729"/>
            </a:xfrm>
            <a:prstGeom prst="rect">
              <a:avLst/>
            </a:prstGeom>
            <a:noFill/>
          </p:spPr>
          <p:txBody>
            <a:bodyPr wrap="square" lIns="0" tIns="0" rIns="0" bIns="0" rtlCol="0" anchor="t" anchorCtr="0">
              <a:noAutofit/>
            </a:bodyPr>
            <a:lstStyle/>
            <a:p>
              <a:pPr algn="ctr" defTabSz="1371600">
                <a:lnSpc>
                  <a:spcPct val="150000"/>
                </a:lnSpc>
                <a:buClrTx/>
                <a:buSzTx/>
                <a:buFontTx/>
              </a:pPr>
              <a:r>
                <a:rPr lang="zh-CN" altLang="en-US" sz="2000" b="1" dirty="0">
                  <a:solidFill>
                    <a:srgbClr val="000000">
                      <a:lumMod val="85000"/>
                      <a:lumOff val="15000"/>
                    </a:srgbClr>
                  </a:solidFill>
                  <a:latin typeface="微软雅黑" panose="020B0503020204020204" pitchFamily="34" charset="-122"/>
                  <a:ea typeface="微软雅黑" panose="020B0503020204020204" pitchFamily="34" charset="-122"/>
                  <a:cs typeface="+mn-ea"/>
                  <a:sym typeface="+mn-ea"/>
                </a:rPr>
                <a:t>基于百度AI的情感分析</a:t>
              </a:r>
              <a:endParaRPr lang="zh-CN" altLang="en-US" sz="2000" b="1" dirty="0">
                <a:solidFill>
                  <a:srgbClr val="000000">
                    <a:lumMod val="85000"/>
                    <a:lumOff val="15000"/>
                  </a:srgbClr>
                </a:solidFill>
                <a:latin typeface="微软雅黑" panose="020B0503020204020204" pitchFamily="34" charset="-122"/>
                <a:ea typeface="微软雅黑" panose="020B0503020204020204" pitchFamily="34" charset="-122"/>
                <a:cs typeface="+mn-ea"/>
              </a:endParaRPr>
            </a:p>
          </p:txBody>
        </p:sp>
      </p:grpSp>
      <p:sp>
        <p:nvSpPr>
          <p:cNvPr id="40" name="文本框 39"/>
          <p:cNvSpPr txBox="1"/>
          <p:nvPr/>
        </p:nvSpPr>
        <p:spPr>
          <a:xfrm>
            <a:off x="14591030" y="3238500"/>
            <a:ext cx="3571240" cy="1749425"/>
          </a:xfrm>
          <a:prstGeom prst="rect">
            <a:avLst/>
          </a:prstGeom>
          <a:ln w="12700">
            <a:prstDash val="solid"/>
          </a:ln>
          <a:effectLst>
            <a:outerShdw blurRad="50800" dist="12700" dir="2700000" algn="tl" rotWithShape="0">
              <a:prstClr val="black">
                <a:alpha val="34000"/>
              </a:prstClr>
            </a:outerShdw>
          </a:effectLst>
        </p:spPr>
        <p:txBody>
          <a:bodyPr wrap="square">
            <a:noAutofit/>
          </a:bodyPr>
          <a:lstStyle/>
          <a:p>
            <a:pPr defTabSz="1371600">
              <a:lnSpc>
                <a:spcPct val="130000"/>
              </a:lnSpc>
              <a:defRPr/>
            </a:pPr>
            <a:r>
              <a:rPr lang="zh-CN" altLang="en-US" sz="4200" b="1" dirty="0">
                <a:solidFill>
                  <a:srgbClr val="F6882E"/>
                </a:solidFill>
                <a:latin typeface="微软雅黑" panose="020B0503020204020204" pitchFamily="34" charset="-122"/>
                <a:ea typeface="微软雅黑" panose="020B0503020204020204" pitchFamily="34" charset="-122"/>
                <a:cs typeface="+mn-ea"/>
                <a:sym typeface="HarmonyOS Sans SC" panose="00000500000000000000" charset="-122"/>
              </a:rPr>
              <a:t>对房产抵押持</a:t>
            </a:r>
            <a:r>
              <a:rPr lang="en-US" altLang="zh-CN" sz="4800" b="1" dirty="0">
                <a:solidFill>
                  <a:srgbClr val="B03600"/>
                </a:solidFill>
                <a:latin typeface="微软雅黑" panose="020B0503020204020204" pitchFamily="34" charset="-122"/>
                <a:ea typeface="微软雅黑" panose="020B0503020204020204" pitchFamily="34" charset="-122"/>
                <a:sym typeface="HarmonyOS Sans SC" panose="00000500000000000000" charset="-122"/>
              </a:rPr>
              <a:t>保守</a:t>
            </a:r>
            <a:r>
              <a:rPr lang="zh-CN" altLang="en-US" sz="4200" b="1" dirty="0">
                <a:solidFill>
                  <a:srgbClr val="F6882E"/>
                </a:solidFill>
                <a:latin typeface="微软雅黑" panose="020B0503020204020204" pitchFamily="34" charset="-122"/>
                <a:ea typeface="微软雅黑" panose="020B0503020204020204" pitchFamily="34" charset="-122"/>
                <a:cs typeface="+mn-ea"/>
                <a:sym typeface="HarmonyOS Sans SC" panose="00000500000000000000" charset="-122"/>
              </a:rPr>
              <a:t>态度</a:t>
            </a:r>
            <a:endParaRPr lang="zh-CN" altLang="en-US" sz="4200" b="1" dirty="0">
              <a:solidFill>
                <a:srgbClr val="F6882E"/>
              </a:solidFill>
              <a:latin typeface="微软雅黑" panose="020B0503020204020204" pitchFamily="34" charset="-122"/>
              <a:ea typeface="微软雅黑" panose="020B0503020204020204" pitchFamily="34" charset="-122"/>
              <a:cs typeface="+mn-ea"/>
              <a:sym typeface="HarmonyOS Sans SC" panose="00000500000000000000" charset="-122"/>
            </a:endParaRPr>
          </a:p>
          <a:p>
            <a:pPr defTabSz="1371600">
              <a:lnSpc>
                <a:spcPct val="130000"/>
              </a:lnSpc>
              <a:defRPr/>
            </a:pPr>
            <a:endParaRPr lang="zh-CN" altLang="en-US" sz="4200" b="1" dirty="0">
              <a:solidFill>
                <a:srgbClr val="F6882E"/>
              </a:solidFill>
              <a:latin typeface="微软雅黑" panose="020B0503020204020204" pitchFamily="34" charset="-122"/>
              <a:ea typeface="微软雅黑" panose="020B0503020204020204" pitchFamily="34" charset="-122"/>
              <a:cs typeface="+mn-ea"/>
              <a:sym typeface="HarmonyOS Sans SC" panose="00000500000000000000" charset="-122"/>
            </a:endParaRPr>
          </a:p>
          <a:p>
            <a:pPr defTabSz="1371600">
              <a:lnSpc>
                <a:spcPct val="130000"/>
              </a:lnSpc>
              <a:defRPr/>
            </a:pPr>
            <a:r>
              <a:rPr lang="zh-CN" altLang="en-US" sz="4200" b="1" dirty="0">
                <a:solidFill>
                  <a:srgbClr val="F6882E"/>
                </a:solidFill>
                <a:latin typeface="微软雅黑" panose="020B0503020204020204" pitchFamily="34" charset="-122"/>
                <a:ea typeface="微软雅黑" panose="020B0503020204020204" pitchFamily="34" charset="-122"/>
                <a:cs typeface="+mn-ea"/>
                <a:sym typeface="HarmonyOS Sans SC" panose="00000500000000000000" charset="-122"/>
              </a:rPr>
              <a:t>对养老骗局的</a:t>
            </a:r>
            <a:r>
              <a:rPr lang="en-US" altLang="zh-CN" sz="4800" b="1" dirty="0">
                <a:solidFill>
                  <a:srgbClr val="B03600"/>
                </a:solidFill>
                <a:latin typeface="微软雅黑" panose="020B0503020204020204" pitchFamily="34" charset="-122"/>
                <a:ea typeface="微软雅黑" panose="020B0503020204020204" pitchFamily="34" charset="-122"/>
                <a:sym typeface="HarmonyOS Sans SC" panose="00000500000000000000" charset="-122"/>
              </a:rPr>
              <a:t>提防</a:t>
            </a:r>
            <a:r>
              <a:rPr lang="zh-CN" altLang="en-US" sz="4200" b="1" dirty="0">
                <a:solidFill>
                  <a:srgbClr val="F6882E"/>
                </a:solidFill>
                <a:latin typeface="微软雅黑" panose="020B0503020204020204" pitchFamily="34" charset="-122"/>
                <a:ea typeface="微软雅黑" panose="020B0503020204020204" pitchFamily="34" charset="-122"/>
                <a:cs typeface="+mn-ea"/>
                <a:sym typeface="HarmonyOS Sans SC" panose="00000500000000000000" charset="-122"/>
              </a:rPr>
              <a:t>意识较强</a:t>
            </a:r>
            <a:endParaRPr lang="zh-CN" altLang="en-US" sz="4200" b="1" dirty="0">
              <a:solidFill>
                <a:srgbClr val="F6882E"/>
              </a:solidFill>
              <a:latin typeface="微软雅黑" panose="020B0503020204020204" pitchFamily="34" charset="-122"/>
              <a:ea typeface="微软雅黑" panose="020B0503020204020204" pitchFamily="34" charset="-122"/>
              <a:cs typeface="+mn-ea"/>
              <a:sym typeface="HarmonyOS Sans SC" panose="00000500000000000000" charset="-122"/>
            </a:endParaRPr>
          </a:p>
        </p:txBody>
      </p:sp>
      <p:grpSp>
        <p:nvGrpSpPr>
          <p:cNvPr id="36" name="Group 35"/>
          <p:cNvGrpSpPr/>
          <p:nvPr/>
        </p:nvGrpSpPr>
        <p:grpSpPr>
          <a:xfrm>
            <a:off x="9534747" y="-381623"/>
            <a:ext cx="2112548" cy="1134695"/>
            <a:chOff x="0" y="-123825"/>
            <a:chExt cx="609349" cy="298849"/>
          </a:xfrm>
        </p:grpSpPr>
        <p:sp>
          <p:nvSpPr>
            <p:cNvPr id="41" name="Freeform 3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a:p>
          </p:txBody>
        </p:sp>
        <p:sp>
          <p:nvSpPr>
            <p:cNvPr id="42"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43" name="TextBox 63"/>
          <p:cNvSpPr txBox="1"/>
          <p:nvPr/>
        </p:nvSpPr>
        <p:spPr>
          <a:xfrm>
            <a:off x="7482844" y="182001"/>
            <a:ext cx="2029460"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4" name="TextBox 64"/>
          <p:cNvSpPr txBox="1"/>
          <p:nvPr/>
        </p:nvSpPr>
        <p:spPr>
          <a:xfrm>
            <a:off x="11607729" y="192268"/>
            <a:ext cx="2314575" cy="4616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8" name="TextBox 65"/>
          <p:cNvSpPr txBox="1"/>
          <p:nvPr/>
        </p:nvSpPr>
        <p:spPr>
          <a:xfrm>
            <a:off x="13617504" y="192268"/>
            <a:ext cx="2232413" cy="46164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9" name="TextBox 66"/>
          <p:cNvSpPr txBox="1"/>
          <p:nvPr/>
        </p:nvSpPr>
        <p:spPr>
          <a:xfrm>
            <a:off x="5274208" y="184126"/>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0" name="TextBox 65"/>
          <p:cNvSpPr txBox="1"/>
          <p:nvPr/>
        </p:nvSpPr>
        <p:spPr>
          <a:xfrm>
            <a:off x="15581836" y="199629"/>
            <a:ext cx="2232413"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1" name="TextBox 66"/>
          <p:cNvSpPr txBox="1"/>
          <p:nvPr/>
        </p:nvSpPr>
        <p:spPr>
          <a:xfrm>
            <a:off x="9464826" y="191117"/>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2"/>
            <a:stretch>
              <a:fillRect t="-883"/>
            </a:stretch>
          </a:blipFill>
        </p:spPr>
      </p:sp>
      <p:grpSp>
        <p:nvGrpSpPr>
          <p:cNvPr id="4" name="Group 4"/>
          <p:cNvGrpSpPr/>
          <p:nvPr/>
        </p:nvGrpSpPr>
        <p:grpSpPr>
          <a:xfrm>
            <a:off x="160070" y="-2829424"/>
            <a:ext cx="5133103" cy="4618309"/>
            <a:chOff x="0" y="0"/>
            <a:chExt cx="6844137" cy="6157745"/>
          </a:xfrm>
        </p:grpSpPr>
        <p:grpSp>
          <p:nvGrpSpPr>
            <p:cNvPr id="5" name="Group 5"/>
            <p:cNvGrpSpPr/>
            <p:nvPr/>
          </p:nvGrpSpPr>
          <p:grpSpPr>
            <a:xfrm rot="215490">
              <a:off x="271581" y="295285"/>
              <a:ext cx="6401327" cy="5667527"/>
              <a:chOff x="0" y="0"/>
              <a:chExt cx="2560354" cy="2266854"/>
            </a:xfrm>
          </p:grpSpPr>
          <p:sp>
            <p:nvSpPr>
              <p:cNvPr id="6" name="Freeform 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7" name="TextBox 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8" name="Group 8"/>
            <p:cNvGrpSpPr/>
            <p:nvPr/>
          </p:nvGrpSpPr>
          <p:grpSpPr>
            <a:xfrm rot="215490">
              <a:off x="171229" y="194933"/>
              <a:ext cx="6401327" cy="5667527"/>
              <a:chOff x="0" y="0"/>
              <a:chExt cx="2560354" cy="2266854"/>
            </a:xfrm>
          </p:grpSpPr>
          <p:sp>
            <p:nvSpPr>
              <p:cNvPr id="9" name="Freeform 9"/>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0" name="TextBox 10"/>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1" name="Group 11"/>
            <p:cNvGrpSpPr/>
            <p:nvPr/>
          </p:nvGrpSpPr>
          <p:grpSpPr>
            <a:xfrm>
              <a:off x="124175" y="194933"/>
              <a:ext cx="6401327" cy="5667527"/>
              <a:chOff x="0" y="0"/>
              <a:chExt cx="2560354" cy="2266854"/>
            </a:xfrm>
          </p:grpSpPr>
          <p:sp>
            <p:nvSpPr>
              <p:cNvPr id="12" name="Freeform 12"/>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3" name="TextBox 13"/>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4" name="AutoShape 14"/>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18" name="Freeform 18"/>
          <p:cNvSpPr/>
          <p:nvPr/>
        </p:nvSpPr>
        <p:spPr>
          <a:xfrm>
            <a:off x="7055501"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3">
              <a:alphaModFix amt="6999"/>
            </a:blip>
            <a:stretch>
              <a:fillRect r="-20235"/>
            </a:stretch>
          </a:blipFill>
          <a:ln w="19050" cap="sq">
            <a:solidFill>
              <a:srgbClr val="FCFBF9">
                <a:alpha val="6667"/>
              </a:srgbClr>
            </a:solidFill>
            <a:prstDash val="solid"/>
            <a:miter/>
          </a:ln>
        </p:spPr>
      </p:sp>
      <p:sp>
        <p:nvSpPr>
          <p:cNvPr id="19" name="Freeform 19"/>
          <p:cNvSpPr/>
          <p:nvPr/>
        </p:nvSpPr>
        <p:spPr>
          <a:xfrm flipH="1">
            <a:off x="0" y="-157544"/>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4"/>
            <a:stretch>
              <a:fillRect/>
            </a:stretch>
          </a:blipFill>
        </p:spPr>
      </p:sp>
      <p:sp>
        <p:nvSpPr>
          <p:cNvPr id="20" name="TextBox 20"/>
          <p:cNvSpPr txBox="1"/>
          <p:nvPr/>
        </p:nvSpPr>
        <p:spPr>
          <a:xfrm>
            <a:off x="294888" y="55432"/>
            <a:ext cx="4728527" cy="1435735"/>
          </a:xfrm>
          <a:prstGeom prst="rect">
            <a:avLst/>
          </a:prstGeom>
        </p:spPr>
        <p:txBody>
          <a:bodyPr lIns="0" tIns="0" rIns="0" bIns="0" rtlCol="0" anchor="t">
            <a:spAutoFit/>
          </a:bodyPr>
          <a:lstStyle/>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市场洞察：传统以房养老面临的公众态度</a:t>
            </a:r>
            <a:endParaRPr 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nvGrpSpPr>
          <p:cNvPr id="105" name="组合 104"/>
          <p:cNvGrpSpPr/>
          <p:nvPr/>
        </p:nvGrpSpPr>
        <p:grpSpPr>
          <a:xfrm>
            <a:off x="7224873" y="1193040"/>
            <a:ext cx="9492889" cy="681515"/>
            <a:chOff x="12226862" y="2183772"/>
            <a:chExt cx="6952438" cy="499131"/>
          </a:xfrm>
        </p:grpSpPr>
        <p:sp>
          <p:nvSpPr>
            <p:cNvPr id="60" name="AutoShape 20"/>
            <p:cNvSpPr/>
            <p:nvPr/>
          </p:nvSpPr>
          <p:spPr>
            <a:xfrm flipV="1">
              <a:off x="13504853" y="2682903"/>
              <a:ext cx="3690016" cy="0"/>
            </a:xfrm>
            <a:prstGeom prst="line">
              <a:avLst/>
            </a:prstGeom>
            <a:ln w="25400" cap="flat">
              <a:solidFill>
                <a:srgbClr val="EE7E35"/>
              </a:solidFill>
              <a:prstDash val="solid"/>
              <a:headEnd type="none" w="sm" len="sm"/>
              <a:tailEnd type="none" w="sm" len="sm"/>
            </a:ln>
          </p:spPr>
        </p:sp>
        <p:sp>
          <p:nvSpPr>
            <p:cNvPr id="62" name="TextBox 21"/>
            <p:cNvSpPr txBox="1"/>
            <p:nvPr/>
          </p:nvSpPr>
          <p:spPr>
            <a:xfrm>
              <a:off x="12226862" y="2183772"/>
              <a:ext cx="6952438" cy="364610"/>
            </a:xfrm>
            <a:prstGeom prst="rect">
              <a:avLst/>
            </a:prstGeom>
          </p:spPr>
          <p:txBody>
            <a:bodyPr wrap="square" lIns="0" tIns="0" rIns="0" bIns="0" rtlCol="0" anchor="t">
              <a:spAutoFit/>
            </a:bodyPr>
            <a:lstStyle/>
            <a:p>
              <a:pPr>
                <a:lnSpc>
                  <a:spcPts val="3885"/>
                </a:lnSpc>
              </a:pPr>
              <a:r>
                <a:rPr lang="zh-CN" altLang="en-US" sz="3600" b="1" spc="359" dirty="0">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基于访谈探究两代人的态度与认知偏差</a:t>
              </a:r>
              <a:endParaRPr lang="zh-CN" altLang="en-US" sz="3600" b="1" spc="359" dirty="0">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63" name="AutoShape 22"/>
            <p:cNvSpPr/>
            <p:nvPr/>
          </p:nvSpPr>
          <p:spPr>
            <a:xfrm>
              <a:off x="12248877" y="2682903"/>
              <a:ext cx="2511950" cy="0"/>
            </a:xfrm>
            <a:prstGeom prst="line">
              <a:avLst/>
            </a:prstGeom>
            <a:ln w="76200" cap="flat">
              <a:solidFill>
                <a:srgbClr val="EE7E35"/>
              </a:solidFill>
              <a:prstDash val="solid"/>
              <a:headEnd type="none" w="sm" len="sm"/>
              <a:tailEnd type="none" w="sm" len="sm"/>
            </a:ln>
          </p:spPr>
        </p:sp>
      </p:grpSp>
      <p:grpSp>
        <p:nvGrpSpPr>
          <p:cNvPr id="104" name="组合 103"/>
          <p:cNvGrpSpPr/>
          <p:nvPr/>
        </p:nvGrpSpPr>
        <p:grpSpPr>
          <a:xfrm>
            <a:off x="692796" y="1841457"/>
            <a:ext cx="17359869" cy="8305757"/>
            <a:chOff x="419100" y="2451735"/>
            <a:chExt cx="17519333" cy="7917181"/>
          </a:xfrm>
        </p:grpSpPr>
        <p:sp>
          <p:nvSpPr>
            <p:cNvPr id="64" name="文本框 63"/>
            <p:cNvSpPr txBox="1"/>
            <p:nvPr/>
          </p:nvSpPr>
          <p:spPr>
            <a:xfrm>
              <a:off x="2624138" y="8364855"/>
              <a:ext cx="7580948" cy="1552575"/>
            </a:xfrm>
            <a:prstGeom prst="rect">
              <a:avLst/>
            </a:prstGeom>
            <a:noFill/>
          </p:spPr>
          <p:txBody>
            <a:bodyPr wrap="square" rtlCol="0" anchor="t">
              <a:noAutofit/>
            </a:bodyPr>
            <a:lstStyle/>
            <a:p>
              <a:pPr marL="18415" algn="l" rtl="0" eaLnBrk="0">
                <a:lnSpc>
                  <a:spcPct val="93000"/>
                </a:lnSpc>
              </a:pPr>
              <a:endParaRPr lang="zh-CN" altLang="en-US" sz="3600" kern="0" spc="140" dirty="0">
                <a:solidFill>
                  <a:schemeClr val="tx2">
                    <a:lumMod val="90000"/>
                    <a:lumOff val="10000"/>
                    <a:alpha val="100000"/>
                  </a:schemeClr>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65" name="矩形: 圆角 146"/>
            <p:cNvSpPr/>
            <p:nvPr>
              <p:custDataLst>
                <p:tags r:id="rId5"/>
              </p:custDataLst>
            </p:nvPr>
          </p:nvSpPr>
          <p:spPr>
            <a:xfrm>
              <a:off x="456248" y="6106478"/>
              <a:ext cx="5154930" cy="3656648"/>
            </a:xfrm>
            <a:prstGeom prst="roundRect">
              <a:avLst>
                <a:gd name="adj" fmla="val 1342"/>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a:no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2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42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9" name="矩形: 圆角 25"/>
            <p:cNvSpPr/>
            <p:nvPr>
              <p:custDataLst>
                <p:tags r:id="rId6"/>
              </p:custDataLst>
            </p:nvPr>
          </p:nvSpPr>
          <p:spPr>
            <a:xfrm>
              <a:off x="6887528" y="3054668"/>
              <a:ext cx="4404360" cy="5948363"/>
            </a:xfrm>
            <a:prstGeom prst="roundRect">
              <a:avLst>
                <a:gd name="adj" fmla="val 9287"/>
              </a:avLst>
            </a:prstGeom>
            <a:gradFill>
              <a:gsLst>
                <a:gs pos="0">
                  <a:srgbClr val="FCD8BA"/>
                </a:gs>
                <a:gs pos="90000">
                  <a:srgbClr val="FAB882"/>
                </a:gs>
              </a:gsLst>
              <a:lin ang="5400000" scaled="0"/>
            </a:gradFill>
            <a:ln w="0">
              <a:solidFill>
                <a:srgbClr val="F79B4F"/>
              </a:solidFill>
            </a:ln>
            <a:effectLst>
              <a:outerShdw blurRad="317500" dist="558800" dir="2700000" sx="92000" sy="92000" algn="tl" rotWithShape="0">
                <a:srgbClr val="B03600">
                  <a:alpha val="33000"/>
                </a:srgbClr>
              </a:outerShdw>
            </a:effectLst>
            <a:scene3d>
              <a:camera prst="perspectiveHeroicExtremeLeftFacing">
                <a:rot lat="20111725" lon="1553802" rev="20044050"/>
              </a:camera>
              <a:lightRig rig="contrasting" dir="t"/>
            </a:scene3d>
            <a:sp3d extrusionH="381000" prstMaterial="softEdge">
              <a:bevelB w="57150" h="0"/>
              <a:extrusionClr>
                <a:srgbClr val="B03600"/>
              </a:extrusionClr>
              <a:contourClr>
                <a:srgbClr val="F6F8F8"/>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70" name="组合 69"/>
            <p:cNvGrpSpPr/>
            <p:nvPr>
              <p:custDataLst>
                <p:tags r:id="rId7"/>
              </p:custDataLst>
            </p:nvPr>
          </p:nvGrpSpPr>
          <p:grpSpPr>
            <a:xfrm>
              <a:off x="6832283" y="6136005"/>
              <a:ext cx="3451860" cy="2355533"/>
              <a:chOff x="-6335" y="3345902"/>
              <a:chExt cx="2301284" cy="1570373"/>
            </a:xfrm>
            <a:scene3d>
              <a:camera prst="perspectiveHeroicExtremeLeftFacing">
                <a:rot lat="19966770" lon="1020000" rev="19928197"/>
              </a:camera>
              <a:lightRig rig="threePt" dir="t"/>
            </a:scene3d>
          </p:grpSpPr>
          <p:sp>
            <p:nvSpPr>
              <p:cNvPr id="71" name="矩形 70"/>
              <p:cNvSpPr/>
              <p:nvPr>
                <p:custDataLst>
                  <p:tags r:id="rId8"/>
                </p:custDataLst>
              </p:nvPr>
            </p:nvSpPr>
            <p:spPr>
              <a:xfrm>
                <a:off x="-6335" y="4446263"/>
                <a:ext cx="2301284" cy="470012"/>
              </a:xfrm>
              <a:prstGeom prst="rect">
                <a:avLst/>
              </a:prstGeom>
              <a:solidFill>
                <a:srgbClr val="FAB882"/>
              </a:solidFill>
            </p:spPr>
            <p:style>
              <a:lnRef idx="0">
                <a:srgbClr val="FFFFFF"/>
              </a:lnRef>
              <a:fillRef idx="1">
                <a:schemeClr val="accent4"/>
              </a:fillRef>
              <a:effectRef idx="1">
                <a:schemeClr val="accent4"/>
              </a:effectRef>
              <a:fontRef idx="minor">
                <a:schemeClr val="lt1"/>
              </a:fontRef>
            </p:style>
            <p:txBody>
              <a:bodyPr rtlCol="0" anchor="ctr"/>
              <a:lstStyle/>
              <a:p>
                <a:pPr algn="ct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2" name="矩形 71"/>
              <p:cNvSpPr/>
              <p:nvPr>
                <p:custDataLst>
                  <p:tags r:id="rId9"/>
                </p:custDataLst>
              </p:nvPr>
            </p:nvSpPr>
            <p:spPr>
              <a:xfrm>
                <a:off x="-6335" y="3896083"/>
                <a:ext cx="2301284" cy="470012"/>
              </a:xfrm>
              <a:prstGeom prst="rect">
                <a:avLst/>
              </a:prstGeom>
              <a:solidFill>
                <a:srgbClr val="FAB882"/>
              </a:solidFill>
            </p:spPr>
            <p:style>
              <a:lnRef idx="0">
                <a:srgbClr val="FFFFFF"/>
              </a:lnRef>
              <a:fillRef idx="1">
                <a:schemeClr val="accent4"/>
              </a:fillRef>
              <a:effectRef idx="1">
                <a:schemeClr val="accent4"/>
              </a:effectRef>
              <a:fontRef idx="minor">
                <a:schemeClr val="lt1"/>
              </a:fontRef>
            </p:style>
            <p:txBody>
              <a:bodyPr rtlCol="0" anchor="ctr"/>
              <a:lstStyle/>
              <a:p>
                <a:pPr algn="ct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3" name="矩形 72"/>
              <p:cNvSpPr/>
              <p:nvPr>
                <p:custDataLst>
                  <p:tags r:id="rId10"/>
                </p:custDataLst>
              </p:nvPr>
            </p:nvSpPr>
            <p:spPr>
              <a:xfrm>
                <a:off x="-6335" y="3345902"/>
                <a:ext cx="2301284" cy="470012"/>
              </a:xfrm>
              <a:prstGeom prst="rect">
                <a:avLst/>
              </a:prstGeom>
              <a:solidFill>
                <a:srgbClr val="FAB882"/>
              </a:solidFill>
            </p:spPr>
            <p:style>
              <a:lnRef idx="0">
                <a:srgbClr val="FFFFFF"/>
              </a:lnRef>
              <a:fillRef idx="1">
                <a:schemeClr val="accent4"/>
              </a:fillRef>
              <a:effectRef idx="1">
                <a:schemeClr val="accent4"/>
              </a:effectRef>
              <a:fontRef idx="minor">
                <a:schemeClr val="lt1"/>
              </a:fontRef>
            </p:style>
            <p:txBody>
              <a:bodyPr rtlCol="0" anchor="ctr"/>
              <a:lstStyle/>
              <a:p>
                <a:pPr algn="ct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74" name="矩形: 圆角 30"/>
            <p:cNvSpPr/>
            <p:nvPr>
              <p:custDataLst>
                <p:tags r:id="rId11"/>
              </p:custDataLst>
            </p:nvPr>
          </p:nvSpPr>
          <p:spPr>
            <a:xfrm>
              <a:off x="7017068" y="3927158"/>
              <a:ext cx="2950845" cy="822960"/>
            </a:xfrm>
            <a:prstGeom prst="roundRect">
              <a:avLst>
                <a:gd name="adj" fmla="val 9287"/>
              </a:avLst>
            </a:prstGeom>
            <a:solidFill>
              <a:schemeClr val="bg1"/>
            </a:solidFill>
            <a:ln w="0">
              <a:noFill/>
            </a:ln>
            <a:effectLst>
              <a:outerShdw blurRad="317500" dist="165100" dir="2700000" sx="92000" sy="92000" algn="tl" rotWithShape="0">
                <a:srgbClr val="B03600">
                  <a:alpha val="33000"/>
                </a:srgbClr>
              </a:outerShdw>
            </a:effectLst>
            <a:scene3d>
              <a:camera prst="perspectiveHeroicExtremeLeftFacing">
                <a:rot lat="20111725" lon="1553802" rev="20280000"/>
              </a:camera>
              <a:lightRig rig="contrasting" dir="t">
                <a:rot lat="0" lon="0" rev="5400000"/>
              </a:lightRig>
            </a:scene3d>
            <a:sp3d extrusionH="101600" prstMaterial="softEdge">
              <a:bevelB w="38100" h="0"/>
              <a:extrusionClr>
                <a:srgbClr val="B03600"/>
              </a:extrusionClr>
              <a:contourClr>
                <a:srgbClr val="F6F8F8"/>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5" name="矩形: 圆角 31"/>
            <p:cNvSpPr/>
            <p:nvPr>
              <p:custDataLst>
                <p:tags r:id="rId12"/>
              </p:custDataLst>
            </p:nvPr>
          </p:nvSpPr>
          <p:spPr>
            <a:xfrm>
              <a:off x="6067425" y="5810250"/>
              <a:ext cx="2906078" cy="979170"/>
            </a:xfrm>
            <a:prstGeom prst="roundRect">
              <a:avLst>
                <a:gd name="adj" fmla="val 9287"/>
              </a:avLst>
            </a:prstGeom>
            <a:solidFill>
              <a:schemeClr val="bg1"/>
            </a:solidFill>
            <a:ln w="0">
              <a:noFill/>
            </a:ln>
            <a:effectLst>
              <a:outerShdw blurRad="317500" dist="165100" dir="2700000" sx="92000" sy="92000" algn="tl" rotWithShape="0">
                <a:srgbClr val="B03600">
                  <a:alpha val="33000"/>
                </a:srgbClr>
              </a:outerShdw>
            </a:effectLst>
            <a:scene3d>
              <a:camera prst="perspectiveHeroicExtremeLeftFacing">
                <a:rot lat="20380163" lon="1408697" rev="20340000"/>
              </a:camera>
              <a:lightRig rig="contrasting" dir="t">
                <a:rot lat="0" lon="0" rev="5400000"/>
              </a:lightRig>
            </a:scene3d>
            <a:sp3d extrusionH="101600" prstMaterial="softEdge">
              <a:bevelB w="38100" h="0"/>
              <a:extrusionClr>
                <a:srgbClr val="B03600"/>
              </a:extrusionClr>
              <a:contourClr>
                <a:srgbClr val="F6F8F8"/>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6" name="矩形: 圆角 32"/>
            <p:cNvSpPr/>
            <p:nvPr>
              <p:custDataLst>
                <p:tags r:id="rId13"/>
              </p:custDataLst>
            </p:nvPr>
          </p:nvSpPr>
          <p:spPr>
            <a:xfrm>
              <a:off x="9270683" y="5306378"/>
              <a:ext cx="2691765" cy="940118"/>
            </a:xfrm>
            <a:prstGeom prst="roundRect">
              <a:avLst>
                <a:gd name="adj" fmla="val 9287"/>
              </a:avLst>
            </a:prstGeom>
            <a:solidFill>
              <a:schemeClr val="bg1"/>
            </a:solidFill>
            <a:ln w="0">
              <a:noFill/>
            </a:ln>
            <a:effectLst>
              <a:outerShdw blurRad="317500" dist="165100" dir="2700000" sx="92000" sy="92000" algn="tl" rotWithShape="0">
                <a:srgbClr val="B03600">
                  <a:alpha val="33000"/>
                </a:srgbClr>
              </a:outerShdw>
            </a:effectLst>
            <a:scene3d>
              <a:camera prst="perspectiveHeroicExtremeLeftFacing">
                <a:rot lat="20380163" lon="1408697" rev="20340000"/>
              </a:camera>
              <a:lightRig rig="contrasting" dir="t">
                <a:rot lat="0" lon="0" rev="5400000"/>
              </a:lightRig>
            </a:scene3d>
            <a:sp3d extrusionH="101600" prstMaterial="softEdge">
              <a:bevelB w="38100" h="0"/>
              <a:extrusionClr>
                <a:srgbClr val="B03600"/>
              </a:extrusionClr>
              <a:contourClr>
                <a:srgbClr val="F6F8F8"/>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7" name="文本框 76"/>
            <p:cNvSpPr txBox="1"/>
            <p:nvPr>
              <p:custDataLst>
                <p:tags r:id="rId14"/>
              </p:custDataLst>
            </p:nvPr>
          </p:nvSpPr>
          <p:spPr>
            <a:xfrm>
              <a:off x="9059228" y="5493069"/>
              <a:ext cx="3094673" cy="528080"/>
            </a:xfrm>
            <a:prstGeom prst="rect">
              <a:avLst/>
            </a:prstGeom>
            <a:noFill/>
            <a:scene3d>
              <a:camera prst="perspectiveContrastingRightFacing" fov="4800000">
                <a:rot lat="20382000" lon="1410000" rev="20340000"/>
              </a:camera>
              <a:lightRig rig="threePt" dir="t"/>
            </a:scene3d>
          </p:spPr>
          <p:txBody>
            <a:bodyPr wrap="square" rtlCol="0">
              <a:spAutoFit/>
            </a:bodyPr>
            <a:lstStyle>
              <a:defPPr>
                <a:defRPr lang="zh-CN"/>
              </a:defPPr>
              <a:lvl1pPr algn="ctr">
                <a:defRPr>
                  <a:gradFill>
                    <a:gsLst>
                      <a:gs pos="0">
                        <a:schemeClr val="accent1"/>
                      </a:gs>
                      <a:gs pos="100000">
                        <a:schemeClr val="accent1">
                          <a:lumMod val="75000"/>
                        </a:schemeClr>
                      </a:gs>
                    </a:gsLst>
                    <a:lin ang="5400000" scaled="1"/>
                  </a:gradFill>
                  <a:latin typeface="+mj-ea"/>
                  <a:ea typeface="+mj-ea"/>
                </a:defRPr>
              </a:lvl1pPr>
            </a:lstStyle>
            <a:p>
              <a:pPr>
                <a:defRPr/>
              </a:pPr>
              <a:r>
                <a:rPr lang="zh-CN" altLang="en-US" sz="3000" b="1" kern="100" spc="75" dirty="0">
                  <a:gradFill>
                    <a:gsLst>
                      <a:gs pos="0">
                        <a:schemeClr val="accent6">
                          <a:lumMod val="75000"/>
                        </a:schemeClr>
                      </a:gs>
                      <a:gs pos="100000">
                        <a:srgbClr val="B03600"/>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sym typeface="+mn-ea"/>
                </a:rPr>
                <a:t>接受障碍</a:t>
              </a:r>
              <a:endParaRPr lang="zh-CN" altLang="en-US" sz="3000" b="1" kern="100" spc="75" dirty="0">
                <a:gradFill>
                  <a:gsLst>
                    <a:gs pos="0">
                      <a:schemeClr val="accent6">
                        <a:lumMod val="75000"/>
                      </a:schemeClr>
                    </a:gs>
                    <a:gs pos="100000">
                      <a:srgbClr val="B03600"/>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8" name="文本框 77"/>
            <p:cNvSpPr txBox="1"/>
            <p:nvPr>
              <p:custDataLst>
                <p:tags r:id="rId15"/>
              </p:custDataLst>
            </p:nvPr>
          </p:nvSpPr>
          <p:spPr>
            <a:xfrm>
              <a:off x="5935028" y="5986463"/>
              <a:ext cx="3024188" cy="528080"/>
            </a:xfrm>
            <a:prstGeom prst="rect">
              <a:avLst/>
            </a:prstGeom>
            <a:noFill/>
            <a:scene3d>
              <a:camera prst="perspectiveContrastingRightFacing" fov="4800000">
                <a:rot lat="20382000" lon="1554000" rev="20340000"/>
              </a:camera>
              <a:lightRig rig="threePt" dir="t"/>
            </a:scene3d>
          </p:spPr>
          <p:txBody>
            <a:bodyPr wrap="square" rtlCol="0">
              <a:spAutoFit/>
            </a:bodyPr>
            <a:lstStyle>
              <a:defPPr>
                <a:defRPr lang="zh-CN"/>
              </a:defPPr>
              <a:lvl1pPr algn="ctr">
                <a:defRPr>
                  <a:gradFill>
                    <a:gsLst>
                      <a:gs pos="0">
                        <a:schemeClr val="accent1"/>
                      </a:gs>
                      <a:gs pos="100000">
                        <a:schemeClr val="accent1">
                          <a:lumMod val="75000"/>
                        </a:schemeClr>
                      </a:gs>
                    </a:gsLst>
                    <a:lin ang="5400000" scaled="1"/>
                  </a:gradFill>
                  <a:latin typeface="+mj-ea"/>
                  <a:ea typeface="+mj-ea"/>
                </a:defRPr>
              </a:lvl1pPr>
            </a:lstStyle>
            <a:p>
              <a:pPr>
                <a:defRPr/>
              </a:pPr>
              <a:r>
                <a:rPr lang="zh-CN" altLang="en-US" sz="3000" b="1" kern="100" spc="75" dirty="0">
                  <a:gradFill>
                    <a:gsLst>
                      <a:gs pos="0">
                        <a:schemeClr val="accent6">
                          <a:lumMod val="75000"/>
                        </a:schemeClr>
                      </a:gs>
                      <a:gs pos="100000">
                        <a:srgbClr val="B03600"/>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rPr>
                <a:t>优化诉求</a:t>
              </a:r>
              <a:endParaRPr lang="zh-CN" altLang="en-US" sz="3000" b="1" kern="100" spc="75" dirty="0">
                <a:gradFill>
                  <a:gsLst>
                    <a:gs pos="0">
                      <a:schemeClr val="accent6">
                        <a:lumMod val="75000"/>
                      </a:schemeClr>
                    </a:gs>
                    <a:gs pos="100000">
                      <a:srgbClr val="B03600"/>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9" name="文本框 78"/>
            <p:cNvSpPr txBox="1"/>
            <p:nvPr>
              <p:custDataLst>
                <p:tags r:id="rId16"/>
              </p:custDataLst>
            </p:nvPr>
          </p:nvSpPr>
          <p:spPr>
            <a:xfrm>
              <a:off x="6709410" y="4058603"/>
              <a:ext cx="3749993" cy="528080"/>
            </a:xfrm>
            <a:prstGeom prst="rect">
              <a:avLst/>
            </a:prstGeom>
            <a:noFill/>
            <a:scene3d>
              <a:camera prst="perspectiveContrastingRightFacing" fov="4800000">
                <a:rot lat="20112000" lon="1554000" rev="20280000"/>
              </a:camera>
              <a:lightRig rig="threePt" dir="t"/>
            </a:scene3d>
          </p:spPr>
          <p:txBody>
            <a:bodyPr wrap="square" rtlCol="0">
              <a:spAutoFit/>
            </a:bodyPr>
            <a:lstStyle/>
            <a:p>
              <a:pPr marR="0" lvl="0" indent="0" algn="ctr" fontAlgn="auto">
                <a:lnSpc>
                  <a:spcPct val="100000"/>
                </a:lnSpc>
                <a:spcBef>
                  <a:spcPts val="0"/>
                </a:spcBef>
                <a:spcAft>
                  <a:spcPts val="0"/>
                </a:spcAft>
                <a:buClrTx/>
                <a:buSzTx/>
                <a:buFontTx/>
                <a:buNone/>
                <a:defRPr/>
              </a:pPr>
              <a:r>
                <a:rPr lang="zh-CN" altLang="en-US" sz="3000" b="1" kern="100" spc="75" dirty="0">
                  <a:gradFill>
                    <a:gsLst>
                      <a:gs pos="0">
                        <a:schemeClr val="accent6">
                          <a:lumMod val="75000"/>
                        </a:schemeClr>
                      </a:gs>
                      <a:gs pos="100000">
                        <a:srgbClr val="B03600"/>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rPr>
                <a:t>认知鸿沟</a:t>
              </a:r>
              <a:endParaRPr lang="zh-CN" altLang="en-US" sz="3000" b="1" kern="100" spc="75" dirty="0">
                <a:gradFill>
                  <a:gsLst>
                    <a:gs pos="0">
                      <a:schemeClr val="accent6">
                        <a:lumMod val="75000"/>
                      </a:schemeClr>
                    </a:gs>
                    <a:gs pos="100000">
                      <a:srgbClr val="B03600"/>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80" name="组合 79"/>
            <p:cNvGrpSpPr/>
            <p:nvPr>
              <p:custDataLst>
                <p:tags r:id="rId17"/>
              </p:custDataLst>
            </p:nvPr>
          </p:nvGrpSpPr>
          <p:grpSpPr>
            <a:xfrm flipV="1">
              <a:off x="1198245" y="2727008"/>
              <a:ext cx="6000750" cy="1277303"/>
              <a:chOff x="1569214" y="2207694"/>
              <a:chExt cx="3207471" cy="466713"/>
            </a:xfrm>
          </p:grpSpPr>
          <p:cxnSp>
            <p:nvCxnSpPr>
              <p:cNvPr id="81" name="直接连接符 80"/>
              <p:cNvCxnSpPr/>
              <p:nvPr>
                <p:custDataLst>
                  <p:tags r:id="rId18"/>
                </p:custDataLst>
              </p:nvPr>
            </p:nvCxnSpPr>
            <p:spPr>
              <a:xfrm>
                <a:off x="1569214" y="2674407"/>
                <a:ext cx="2505333"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82" name="直接连接符 81"/>
              <p:cNvCxnSpPr/>
              <p:nvPr>
                <p:custDataLst>
                  <p:tags r:id="rId19"/>
                </p:custDataLst>
              </p:nvPr>
            </p:nvCxnSpPr>
            <p:spPr>
              <a:xfrm flipV="1">
                <a:off x="4074547" y="2207694"/>
                <a:ext cx="702138" cy="466713"/>
              </a:xfrm>
              <a:prstGeom prst="line">
                <a:avLst/>
              </a:prstGeom>
              <a:ln>
                <a:tailEnd type="oval" w="sm" len="sm"/>
              </a:ln>
            </p:spPr>
            <p:style>
              <a:lnRef idx="2">
                <a:schemeClr val="accent4"/>
              </a:lnRef>
              <a:fillRef idx="0">
                <a:schemeClr val="accent4"/>
              </a:fillRef>
              <a:effectRef idx="1">
                <a:schemeClr val="accent4"/>
              </a:effectRef>
              <a:fontRef idx="minor">
                <a:schemeClr val="tx1"/>
              </a:fontRef>
            </p:style>
          </p:cxnSp>
        </p:grpSp>
        <p:grpSp>
          <p:nvGrpSpPr>
            <p:cNvPr id="83" name="组合 82"/>
            <p:cNvGrpSpPr/>
            <p:nvPr>
              <p:custDataLst>
                <p:tags r:id="rId20"/>
              </p:custDataLst>
            </p:nvPr>
          </p:nvGrpSpPr>
          <p:grpSpPr>
            <a:xfrm flipV="1">
              <a:off x="1464945" y="5735003"/>
              <a:ext cx="4814888" cy="586740"/>
              <a:chOff x="984540" y="4863117"/>
              <a:chExt cx="3209677" cy="201723"/>
            </a:xfrm>
          </p:grpSpPr>
          <p:cxnSp>
            <p:nvCxnSpPr>
              <p:cNvPr id="84" name="直接连接符 83"/>
              <p:cNvCxnSpPr/>
              <p:nvPr>
                <p:custDataLst>
                  <p:tags r:id="rId21"/>
                </p:custDataLst>
              </p:nvPr>
            </p:nvCxnSpPr>
            <p:spPr>
              <a:xfrm flipV="1">
                <a:off x="984540" y="5061447"/>
                <a:ext cx="2718187" cy="3393"/>
              </a:xfrm>
              <a:prstGeom prst="line">
                <a:avLst/>
              </a:prstGeom>
            </p:spPr>
            <p:style>
              <a:lnRef idx="2">
                <a:schemeClr val="accent4"/>
              </a:lnRef>
              <a:fillRef idx="0">
                <a:schemeClr val="accent4"/>
              </a:fillRef>
              <a:effectRef idx="1">
                <a:schemeClr val="accent4"/>
              </a:effectRef>
              <a:fontRef idx="minor">
                <a:schemeClr val="tx1"/>
              </a:fontRef>
            </p:style>
          </p:cxnSp>
          <p:cxnSp>
            <p:nvCxnSpPr>
              <p:cNvPr id="85" name="直接连接符 84"/>
              <p:cNvCxnSpPr/>
              <p:nvPr>
                <p:custDataLst>
                  <p:tags r:id="rId22"/>
                </p:custDataLst>
              </p:nvPr>
            </p:nvCxnSpPr>
            <p:spPr>
              <a:xfrm flipV="1">
                <a:off x="3702727" y="4863117"/>
                <a:ext cx="491490" cy="201723"/>
              </a:xfrm>
              <a:prstGeom prst="line">
                <a:avLst/>
              </a:prstGeom>
              <a:ln>
                <a:tailEnd type="oval" w="sm" len="sm"/>
              </a:ln>
            </p:spPr>
            <p:style>
              <a:lnRef idx="2">
                <a:schemeClr val="accent4"/>
              </a:lnRef>
              <a:fillRef idx="0">
                <a:schemeClr val="accent4"/>
              </a:fillRef>
              <a:effectRef idx="1">
                <a:schemeClr val="accent4"/>
              </a:effectRef>
              <a:fontRef idx="minor">
                <a:schemeClr val="tx1"/>
              </a:fontRef>
            </p:style>
          </p:cxnSp>
        </p:grpSp>
        <p:grpSp>
          <p:nvGrpSpPr>
            <p:cNvPr id="86" name="组合 85"/>
            <p:cNvGrpSpPr/>
            <p:nvPr>
              <p:custDataLst>
                <p:tags r:id="rId23"/>
              </p:custDataLst>
            </p:nvPr>
          </p:nvGrpSpPr>
          <p:grpSpPr>
            <a:xfrm flipH="1">
              <a:off x="11971973" y="5812155"/>
              <a:ext cx="4658678" cy="484823"/>
              <a:chOff x="1643432" y="2207694"/>
              <a:chExt cx="3133253" cy="597119"/>
            </a:xfrm>
          </p:grpSpPr>
          <p:cxnSp>
            <p:nvCxnSpPr>
              <p:cNvPr id="87" name="直接连接符 86"/>
              <p:cNvCxnSpPr/>
              <p:nvPr>
                <p:custDataLst>
                  <p:tags r:id="rId24"/>
                </p:custDataLst>
              </p:nvPr>
            </p:nvCxnSpPr>
            <p:spPr>
              <a:xfrm>
                <a:off x="1643432" y="2804813"/>
                <a:ext cx="2570526"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88" name="直接连接符 87"/>
              <p:cNvCxnSpPr/>
              <p:nvPr>
                <p:custDataLst>
                  <p:tags r:id="rId25"/>
                </p:custDataLst>
              </p:nvPr>
            </p:nvCxnSpPr>
            <p:spPr>
              <a:xfrm flipV="1">
                <a:off x="4213958" y="2207694"/>
                <a:ext cx="562727" cy="597119"/>
              </a:xfrm>
              <a:prstGeom prst="line">
                <a:avLst/>
              </a:prstGeom>
              <a:ln>
                <a:tailEnd type="oval" w="sm" len="sm"/>
              </a:ln>
            </p:spPr>
            <p:style>
              <a:lnRef idx="2">
                <a:schemeClr val="accent4"/>
              </a:lnRef>
              <a:fillRef idx="0">
                <a:schemeClr val="accent4"/>
              </a:fillRef>
              <a:effectRef idx="1">
                <a:schemeClr val="accent4"/>
              </a:effectRef>
              <a:fontRef idx="minor">
                <a:schemeClr val="tx1"/>
              </a:fontRef>
            </p:style>
          </p:cxnSp>
        </p:grpSp>
        <p:sp>
          <p:nvSpPr>
            <p:cNvPr id="89" name="矩形: 圆角 104"/>
            <p:cNvSpPr/>
            <p:nvPr>
              <p:custDataLst>
                <p:tags r:id="rId26"/>
              </p:custDataLst>
            </p:nvPr>
          </p:nvSpPr>
          <p:spPr>
            <a:xfrm>
              <a:off x="16481108" y="8853488"/>
              <a:ext cx="1187768" cy="1515428"/>
            </a:xfrm>
            <a:prstGeom prst="roundRect">
              <a:avLst>
                <a:gd name="adj" fmla="val 9287"/>
              </a:avLst>
            </a:prstGeom>
            <a:gradFill>
              <a:gsLst>
                <a:gs pos="0">
                  <a:schemeClr val="accent1">
                    <a:lumMod val="60000"/>
                    <a:lumOff val="40000"/>
                    <a:alpha val="38000"/>
                  </a:schemeClr>
                </a:gs>
                <a:gs pos="100000">
                  <a:schemeClr val="accent1">
                    <a:alpha val="9000"/>
                  </a:schemeClr>
                </a:gs>
              </a:gsLst>
              <a:lin ang="5400000" scaled="0"/>
            </a:gradFill>
            <a:ln w="0">
              <a:gradFill>
                <a:gsLst>
                  <a:gs pos="0">
                    <a:schemeClr val="accent1">
                      <a:lumMod val="20000"/>
                      <a:lumOff val="80000"/>
                    </a:schemeClr>
                  </a:gs>
                  <a:gs pos="100000">
                    <a:schemeClr val="accent1">
                      <a:lumMod val="60000"/>
                      <a:lumOff val="40000"/>
                    </a:schemeClr>
                  </a:gs>
                </a:gsLst>
                <a:lin ang="5400000" scaled="1"/>
              </a:gradFill>
            </a:ln>
            <a:effectLst>
              <a:outerShdw blurRad="317500" dist="292100" dir="2700000" sx="92000" sy="92000" algn="tl" rotWithShape="0">
                <a:schemeClr val="accent1">
                  <a:alpha val="33000"/>
                </a:schemeClr>
              </a:outerShdw>
              <a:softEdge rad="165100"/>
            </a:effectLst>
            <a:scene3d>
              <a:camera prst="perspectiveHeroicExtremeLeftFacing">
                <a:rot lat="20111725" lon="1553802" rev="20044050"/>
              </a:camera>
              <a:lightRig rig="contrasting" dir="t"/>
            </a:scene3d>
            <a:sp3d prstMaterial="softEdge">
              <a:bevelB w="0" h="0"/>
              <a:extrusionClr>
                <a:schemeClr val="accent1"/>
              </a:extrusionClr>
              <a:contourClr>
                <a:srgbClr val="F6F8F8"/>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0" name="矩形: 圆角 129"/>
            <p:cNvSpPr/>
            <p:nvPr>
              <p:custDataLst>
                <p:tags r:id="rId27"/>
              </p:custDataLst>
            </p:nvPr>
          </p:nvSpPr>
          <p:spPr>
            <a:xfrm>
              <a:off x="7822883" y="7404735"/>
              <a:ext cx="3161348" cy="1059180"/>
            </a:xfrm>
            <a:prstGeom prst="roundRect">
              <a:avLst>
                <a:gd name="adj" fmla="val 9287"/>
              </a:avLst>
            </a:prstGeom>
            <a:solidFill>
              <a:schemeClr val="bg1"/>
            </a:solidFill>
            <a:ln w="0">
              <a:noFill/>
            </a:ln>
            <a:effectLst>
              <a:outerShdw blurRad="317500" dist="165100" dir="2700000" sx="92000" sy="92000" algn="tl" rotWithShape="0">
                <a:srgbClr val="B03600">
                  <a:alpha val="33000"/>
                </a:srgbClr>
              </a:outerShdw>
            </a:effectLst>
            <a:scene3d>
              <a:camera prst="perspectiveHeroicExtremeLeftFacing">
                <a:rot lat="20380163" lon="1408697" rev="20340000"/>
              </a:camera>
              <a:lightRig rig="contrasting" dir="t">
                <a:rot lat="0" lon="0" rev="5400000"/>
              </a:lightRig>
            </a:scene3d>
            <a:sp3d extrusionH="101600" prstMaterial="softEdge">
              <a:bevelB w="38100" h="0"/>
              <a:extrusionClr>
                <a:srgbClr val="B03600"/>
              </a:extrusionClr>
              <a:contourClr>
                <a:srgbClr val="F6F8F8"/>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1" name="文本框 90"/>
            <p:cNvSpPr txBox="1"/>
            <p:nvPr>
              <p:custDataLst>
                <p:tags r:id="rId28"/>
              </p:custDataLst>
            </p:nvPr>
          </p:nvSpPr>
          <p:spPr>
            <a:xfrm>
              <a:off x="8263890" y="7404735"/>
              <a:ext cx="2362200" cy="968146"/>
            </a:xfrm>
            <a:prstGeom prst="rect">
              <a:avLst/>
            </a:prstGeom>
            <a:noFill/>
            <a:scene3d>
              <a:camera prst="perspectiveContrastingRightFacing" fov="4800000">
                <a:rot lat="20382000" lon="1410000" rev="20340000"/>
              </a:camera>
              <a:lightRig rig="threePt" dir="t"/>
            </a:scene3d>
          </p:spPr>
          <p:txBody>
            <a:bodyPr wrap="square" rtlCol="0">
              <a:spAutoFit/>
            </a:bodyPr>
            <a:lstStyle>
              <a:defPPr>
                <a:defRPr lang="zh-CN"/>
              </a:defPPr>
              <a:lvl1pPr algn="ctr">
                <a:defRPr>
                  <a:gradFill>
                    <a:gsLst>
                      <a:gs pos="0">
                        <a:schemeClr val="accent1"/>
                      </a:gs>
                      <a:gs pos="100000">
                        <a:schemeClr val="accent1">
                          <a:lumMod val="75000"/>
                        </a:schemeClr>
                      </a:gs>
                    </a:gsLst>
                    <a:lin ang="5400000" scaled="1"/>
                  </a:gradFill>
                  <a:latin typeface="+mj-ea"/>
                  <a:ea typeface="+mj-ea"/>
                </a:defRPr>
              </a:lvl1pPr>
            </a:lstStyle>
            <a:p>
              <a:pPr>
                <a:defRPr/>
              </a:pPr>
              <a:r>
                <a:rPr lang="zh-CN" altLang="en-US" sz="3000" b="1" kern="100" spc="75" dirty="0">
                  <a:gradFill>
                    <a:gsLst>
                      <a:gs pos="0">
                        <a:schemeClr val="accent6">
                          <a:lumMod val="75000"/>
                        </a:schemeClr>
                      </a:gs>
                      <a:gs pos="100000">
                        <a:srgbClr val="B03600"/>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rPr>
                <a:t>子女是核心决策参与者</a:t>
              </a:r>
              <a:endParaRPr lang="zh-CN" altLang="en-US" sz="3000" b="1" kern="100" spc="75" dirty="0">
                <a:gradFill>
                  <a:gsLst>
                    <a:gs pos="0">
                      <a:schemeClr val="accent6">
                        <a:lumMod val="75000"/>
                      </a:schemeClr>
                    </a:gs>
                    <a:gs pos="100000">
                      <a:srgbClr val="B03600"/>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92" name="组合 91"/>
            <p:cNvGrpSpPr/>
            <p:nvPr>
              <p:custDataLst>
                <p:tags r:id="rId29"/>
              </p:custDataLst>
            </p:nvPr>
          </p:nvGrpSpPr>
          <p:grpSpPr>
            <a:xfrm flipH="1">
              <a:off x="10879455" y="8579168"/>
              <a:ext cx="5817870" cy="1285875"/>
              <a:chOff x="1571918" y="2207694"/>
              <a:chExt cx="3204767" cy="466713"/>
            </a:xfrm>
          </p:grpSpPr>
          <p:cxnSp>
            <p:nvCxnSpPr>
              <p:cNvPr id="93" name="直接连接符 92"/>
              <p:cNvCxnSpPr/>
              <p:nvPr>
                <p:custDataLst>
                  <p:tags r:id="rId30"/>
                </p:custDataLst>
              </p:nvPr>
            </p:nvCxnSpPr>
            <p:spPr>
              <a:xfrm>
                <a:off x="1571918" y="2674407"/>
                <a:ext cx="2502628"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94" name="直接连接符 93"/>
              <p:cNvCxnSpPr/>
              <p:nvPr>
                <p:custDataLst>
                  <p:tags r:id="rId31"/>
                </p:custDataLst>
              </p:nvPr>
            </p:nvCxnSpPr>
            <p:spPr>
              <a:xfrm flipV="1">
                <a:off x="4074547" y="2207694"/>
                <a:ext cx="702138" cy="466713"/>
              </a:xfrm>
              <a:prstGeom prst="line">
                <a:avLst/>
              </a:prstGeom>
              <a:ln>
                <a:tailEnd type="oval" w="sm" len="sm"/>
              </a:ln>
            </p:spPr>
            <p:style>
              <a:lnRef idx="2">
                <a:schemeClr val="accent4"/>
              </a:lnRef>
              <a:fillRef idx="0">
                <a:schemeClr val="accent4"/>
              </a:fillRef>
              <a:effectRef idx="1">
                <a:schemeClr val="accent4"/>
              </a:effectRef>
              <a:fontRef idx="minor">
                <a:schemeClr val="tx1"/>
              </a:fontRef>
            </p:style>
          </p:cxnSp>
        </p:grpSp>
        <p:sp>
          <p:nvSpPr>
            <p:cNvPr id="95" name="矩形: 圆角 146"/>
            <p:cNvSpPr/>
            <p:nvPr>
              <p:custDataLst>
                <p:tags r:id="rId32"/>
              </p:custDataLst>
            </p:nvPr>
          </p:nvSpPr>
          <p:spPr>
            <a:xfrm>
              <a:off x="419100" y="3082290"/>
              <a:ext cx="5467350" cy="1961198"/>
            </a:xfrm>
            <a:prstGeom prst="roundRect">
              <a:avLst>
                <a:gd name="adj" fmla="val 1342"/>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a:no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2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42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6" name="文本框 95"/>
            <p:cNvSpPr txBox="1"/>
            <p:nvPr>
              <p:custDataLst>
                <p:tags r:id="rId33"/>
              </p:custDataLst>
            </p:nvPr>
          </p:nvSpPr>
          <p:spPr>
            <a:xfrm>
              <a:off x="419100" y="3032917"/>
              <a:ext cx="5394960" cy="1935119"/>
            </a:xfrm>
            <a:prstGeom prst="rect">
              <a:avLst/>
            </a:prstGeom>
            <a:noFill/>
          </p:spPr>
          <p:txBody>
            <a:bodyPr wrap="square" rtlCol="0" anchor="t">
              <a:spAutoFit/>
            </a:bodyPr>
            <a:lstStyle/>
            <a:p>
              <a:pPr marL="342900" indent="-342900" algn="just">
                <a:lnSpc>
                  <a:spcPct val="150000"/>
                </a:lnSpc>
                <a:buFont typeface="微软雅黑" panose="020B0503020204020204" pitchFamily="34" charset="-122"/>
                <a:buChar char="•"/>
              </a:pPr>
              <a:r>
                <a:rPr lang="zh-CN" altLang="en-US" sz="2800"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认知渠道的</a:t>
              </a:r>
              <a:r>
                <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单一、非官方</a:t>
              </a:r>
              <a:endPar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endParaRPr>
            </a:p>
            <a:p>
              <a:pPr marL="342900" indent="-342900" algn="just">
                <a:lnSpc>
                  <a:spcPct val="150000"/>
                </a:lnSpc>
                <a:buFont typeface="微软雅黑" panose="020B0503020204020204" pitchFamily="34" charset="-122"/>
                <a:buChar char="•"/>
              </a:pPr>
              <a:r>
                <a:rPr lang="zh-CN" altLang="en-US" sz="2800"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将保留居住权的</a:t>
              </a:r>
              <a:r>
                <a:rPr lang="en-US" altLang="zh-CN"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a:t>
              </a:r>
              <a:r>
                <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以房养老</a:t>
              </a:r>
              <a:r>
                <a:rPr lang="en-US" altLang="zh-CN"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   </a:t>
              </a:r>
              <a:r>
                <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误解等同于</a:t>
              </a:r>
              <a:r>
                <a:rPr lang="en-US" altLang="zh-CN"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a:t>
              </a:r>
              <a:r>
                <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卖房养老</a:t>
              </a:r>
              <a:r>
                <a:rPr lang="en-US" altLang="zh-CN"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a:t>
              </a:r>
              <a:endPar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endParaRPr>
            </a:p>
          </p:txBody>
        </p:sp>
        <p:sp>
          <p:nvSpPr>
            <p:cNvPr id="97" name="矩形: 圆角 146"/>
            <p:cNvSpPr/>
            <p:nvPr>
              <p:custDataLst>
                <p:tags r:id="rId34"/>
              </p:custDataLst>
            </p:nvPr>
          </p:nvSpPr>
          <p:spPr>
            <a:xfrm>
              <a:off x="12212955" y="6717983"/>
              <a:ext cx="5256848" cy="2767013"/>
            </a:xfrm>
            <a:prstGeom prst="roundRect">
              <a:avLst>
                <a:gd name="adj" fmla="val 1342"/>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a:no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2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42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8" name="六边形 97"/>
            <p:cNvSpPr/>
            <p:nvPr>
              <p:custDataLst>
                <p:tags r:id="rId35"/>
              </p:custDataLst>
            </p:nvPr>
          </p:nvSpPr>
          <p:spPr>
            <a:xfrm>
              <a:off x="493395" y="2451735"/>
              <a:ext cx="2274570" cy="515303"/>
            </a:xfrm>
            <a:prstGeom prst="hexagon">
              <a:avLst>
                <a:gd name="adj" fmla="val 47927"/>
                <a:gd name="vf" fmla="val 115470"/>
              </a:avLst>
            </a:prstGeom>
            <a:solidFill>
              <a:srgbClr val="FAB882"/>
            </a:solidFill>
            <a:ln w="17716" cap="flat" cmpd="sng" algn="ctr">
              <a:solidFill>
                <a:schemeClr val="accent6">
                  <a:lumMod val="75000"/>
                </a:schemeClr>
              </a:solidFill>
              <a:prstDash val="solid"/>
              <a:miter lim="800000"/>
            </a:ln>
            <a:effectLst>
              <a:outerShdw blurRad="47244" dist="35433" dir="2700000" algn="tl" rotWithShape="0">
                <a:srgbClr val="0048BF">
                  <a:alpha val="40000"/>
                </a:srgbClr>
              </a:outerShdw>
            </a:effectLst>
          </p:spPr>
          <p:txBody>
            <a:bodyPr lIns="127558" tIns="63780" rIns="127558" bIns="63780" rtlCol="0" anchor="ctr"/>
            <a:lstStyle/>
            <a:p>
              <a:pPr marL="0" marR="0" lvl="0" indent="0" algn="ctr" defTabSz="914400" eaLnBrk="1" fontAlgn="auto" latinLnBrk="0" hangingPunct="1">
                <a:lnSpc>
                  <a:spcPct val="100000"/>
                </a:lnSpc>
                <a:spcBef>
                  <a:spcPts val="0"/>
                </a:spcBef>
                <a:buClrTx/>
                <a:buSzTx/>
                <a:buFontTx/>
                <a:buNone/>
                <a:defRPr/>
              </a:pPr>
              <a:r>
                <a:rPr kumimoji="0" lang="en-US" altLang="zh-CN" sz="300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charset="0"/>
                </a:rPr>
                <a:t>01</a:t>
              </a:r>
              <a:endParaRPr kumimoji="0" lang="en-US" altLang="zh-CN" sz="300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charset="0"/>
              </a:endParaRPr>
            </a:p>
          </p:txBody>
        </p:sp>
        <p:sp>
          <p:nvSpPr>
            <p:cNvPr id="99" name="六边形 98"/>
            <p:cNvSpPr/>
            <p:nvPr>
              <p:custDataLst>
                <p:tags r:id="rId36"/>
              </p:custDataLst>
            </p:nvPr>
          </p:nvSpPr>
          <p:spPr>
            <a:xfrm>
              <a:off x="493395" y="5471160"/>
              <a:ext cx="2274570" cy="515303"/>
            </a:xfrm>
            <a:prstGeom prst="hexagon">
              <a:avLst>
                <a:gd name="adj" fmla="val 47927"/>
                <a:gd name="vf" fmla="val 115470"/>
              </a:avLst>
            </a:prstGeom>
            <a:solidFill>
              <a:srgbClr val="FFC000"/>
            </a:solidFill>
          </p:spPr>
          <p:style>
            <a:lnRef idx="2">
              <a:schemeClr val="lt1"/>
            </a:lnRef>
            <a:fillRef idx="1">
              <a:schemeClr val="accent4"/>
            </a:fillRef>
            <a:effectRef idx="1">
              <a:schemeClr val="accent4"/>
            </a:effectRef>
            <a:fontRef idx="minor">
              <a:schemeClr val="lt1"/>
            </a:fontRef>
          </p:style>
          <p:txBody>
            <a:bodyPr lIns="127558" tIns="63780" rIns="127558" bIns="63780" rtlCol="0" anchor="ctr"/>
            <a:lstStyle/>
            <a:p>
              <a:pPr marL="0" marR="0" lvl="0" algn="ctr" defTabSz="914400" eaLnBrk="1" fontAlgn="auto" latinLnBrk="0" hangingPunct="1">
                <a:lnSpc>
                  <a:spcPct val="100000"/>
                </a:lnSpc>
                <a:spcBef>
                  <a:spcPts val="0"/>
                </a:spcBef>
                <a:buClrTx/>
                <a:buSzTx/>
                <a:buFontTx/>
                <a:buNone/>
                <a:defRPr/>
              </a:pPr>
              <a:r>
                <a:rPr kumimoji="0" lang="en-US" altLang="zh-CN" sz="300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charset="0"/>
                </a:rPr>
                <a:t>02</a:t>
              </a:r>
              <a:endParaRPr kumimoji="0" lang="en-US" altLang="zh-CN" sz="300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charset="0"/>
              </a:endParaRPr>
            </a:p>
          </p:txBody>
        </p:sp>
        <p:sp>
          <p:nvSpPr>
            <p:cNvPr id="100" name="六边形 99"/>
            <p:cNvSpPr/>
            <p:nvPr>
              <p:custDataLst>
                <p:tags r:id="rId37"/>
              </p:custDataLst>
            </p:nvPr>
          </p:nvSpPr>
          <p:spPr>
            <a:xfrm>
              <a:off x="15645765" y="6024563"/>
              <a:ext cx="2274570" cy="515303"/>
            </a:xfrm>
            <a:prstGeom prst="hexagon">
              <a:avLst>
                <a:gd name="adj" fmla="val 47927"/>
                <a:gd name="vf" fmla="val 115470"/>
              </a:avLst>
            </a:prstGeom>
            <a:solidFill>
              <a:srgbClr val="FAB882"/>
            </a:solidFill>
            <a:ln w="17716" cap="flat" cmpd="sng" algn="ctr">
              <a:solidFill>
                <a:schemeClr val="accent6">
                  <a:lumMod val="75000"/>
                </a:schemeClr>
              </a:solidFill>
              <a:prstDash val="solid"/>
              <a:miter lim="800000"/>
            </a:ln>
            <a:effectLst>
              <a:outerShdw blurRad="47244" dist="35433" dir="2700000" algn="tl" rotWithShape="0">
                <a:srgbClr val="0048BF">
                  <a:alpha val="40000"/>
                </a:srgbClr>
              </a:outerShdw>
            </a:effectLst>
          </p:spPr>
          <p:txBody>
            <a:bodyPr lIns="127558" tIns="63780" rIns="127558" bIns="63780" rtlCol="0" anchor="ctr">
              <a:noAutofit/>
            </a:bodyPr>
            <a:lstStyle/>
            <a:p>
              <a:pPr lvl="0" algn="ctr">
                <a:spcBef>
                  <a:spcPts val="0"/>
                </a:spcBef>
                <a:buClrTx/>
                <a:buSzTx/>
                <a:buFontTx/>
                <a:defRPr/>
              </a:pPr>
              <a:r>
                <a:rPr lang="en-US" altLang="zh-CN" sz="3000" kern="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charset="0"/>
                  <a:sym typeface="+mn-ea"/>
                </a:rPr>
                <a:t>03</a:t>
              </a:r>
              <a:endParaRPr lang="en-US" altLang="zh-CN" sz="3000" kern="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charset="0"/>
                <a:sym typeface="+mn-ea"/>
              </a:endParaRPr>
            </a:p>
          </p:txBody>
        </p:sp>
        <p:sp>
          <p:nvSpPr>
            <p:cNvPr id="101" name="六边形 100"/>
            <p:cNvSpPr/>
            <p:nvPr>
              <p:custDataLst>
                <p:tags r:id="rId38"/>
              </p:custDataLst>
            </p:nvPr>
          </p:nvSpPr>
          <p:spPr>
            <a:xfrm>
              <a:off x="15663863" y="9599295"/>
              <a:ext cx="2274570" cy="515303"/>
            </a:xfrm>
            <a:prstGeom prst="hexagon">
              <a:avLst>
                <a:gd name="adj" fmla="val 47927"/>
                <a:gd name="vf" fmla="val 115470"/>
              </a:avLst>
            </a:prstGeom>
            <a:solidFill>
              <a:srgbClr val="FFC000"/>
            </a:solidFill>
          </p:spPr>
          <p:style>
            <a:lnRef idx="2">
              <a:schemeClr val="lt1"/>
            </a:lnRef>
            <a:fillRef idx="1">
              <a:schemeClr val="accent4"/>
            </a:fillRef>
            <a:effectRef idx="1">
              <a:schemeClr val="accent4"/>
            </a:effectRef>
            <a:fontRef idx="minor">
              <a:schemeClr val="lt1"/>
            </a:fontRef>
          </p:style>
          <p:txBody>
            <a:bodyPr vertOverflow="overflow" horzOverflow="overflow" vert="horz" wrap="square" lIns="127558" tIns="63780" rIns="127558" bIns="63780" numCol="1" spcCol="0" rtlCol="0" fromWordArt="0" anchor="ctr" anchorCtr="0" forceAA="0" compatLnSpc="1">
              <a:noAutofit/>
            </a:bodyPr>
            <a:lstStyle/>
            <a:p>
              <a:pPr lvl="0" algn="ctr">
                <a:spcBef>
                  <a:spcPts val="0"/>
                </a:spcBef>
                <a:buClrTx/>
                <a:buSzTx/>
                <a:buFontTx/>
                <a:defRPr/>
              </a:pPr>
              <a:r>
                <a:rPr lang="en-US" altLang="zh-CN" sz="3000" kern="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charset="0"/>
                  <a:sym typeface="+mn-ea"/>
                </a:rPr>
                <a:t>04</a:t>
              </a:r>
              <a:endParaRPr lang="en-US" altLang="zh-CN" sz="3000" kern="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charset="0"/>
                <a:sym typeface="+mn-ea"/>
              </a:endParaRPr>
            </a:p>
          </p:txBody>
        </p:sp>
        <p:sp>
          <p:nvSpPr>
            <p:cNvPr id="102" name="文本框 101"/>
            <p:cNvSpPr txBox="1"/>
            <p:nvPr>
              <p:custDataLst>
                <p:tags r:id="rId39"/>
              </p:custDataLst>
            </p:nvPr>
          </p:nvSpPr>
          <p:spPr>
            <a:xfrm>
              <a:off x="12398893" y="6817982"/>
              <a:ext cx="5112442" cy="2551307"/>
            </a:xfrm>
            <a:prstGeom prst="rect">
              <a:avLst/>
            </a:prstGeom>
            <a:noFill/>
          </p:spPr>
          <p:txBody>
            <a:bodyPr wrap="square" rtlCol="0" anchor="t">
              <a:spAutoFit/>
            </a:bodyPr>
            <a:lstStyle/>
            <a:p>
              <a:pPr marL="457200" indent="-457200">
                <a:lnSpc>
                  <a:spcPct val="150000"/>
                </a:lnSpc>
                <a:buFont typeface="Arial" panose="020B0604020202020204" pitchFamily="34" charset="0"/>
                <a:buChar char="•"/>
              </a:pPr>
              <a:r>
                <a:rPr lang="zh-CN" altLang="en-US" sz="2800"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重视将房产</a:t>
              </a:r>
              <a:r>
                <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留给子女</a:t>
              </a:r>
              <a:r>
                <a:rPr lang="zh-CN" altLang="en-US" sz="2800"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的受访者更倾向于反对以房养老</a:t>
              </a:r>
              <a:endParaRPr lang="zh-CN" altLang="en-US" sz="2800"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endParaRPr>
            </a:p>
            <a:p>
              <a:pPr marL="457200" indent="-457200">
                <a:lnSpc>
                  <a:spcPct val="150000"/>
                </a:lnSpc>
                <a:buFont typeface="Arial" panose="020B0604020202020204" pitchFamily="34" charset="0"/>
                <a:buChar char="•"/>
              </a:pPr>
              <a:r>
                <a:rPr lang="zh-CN" altLang="en-US" sz="2800"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而不依赖遗产的</a:t>
              </a:r>
              <a:r>
                <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年轻受访者更支持以房养老</a:t>
              </a:r>
              <a:endPar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endParaRPr>
            </a:p>
          </p:txBody>
        </p:sp>
        <p:sp>
          <p:nvSpPr>
            <p:cNvPr id="103" name="文本框 102"/>
            <p:cNvSpPr txBox="1"/>
            <p:nvPr>
              <p:custDataLst>
                <p:tags r:id="rId40"/>
              </p:custDataLst>
            </p:nvPr>
          </p:nvSpPr>
          <p:spPr>
            <a:xfrm>
              <a:off x="457200" y="6304105"/>
              <a:ext cx="5122545" cy="3167494"/>
            </a:xfrm>
            <a:prstGeom prst="rect">
              <a:avLst/>
            </a:prstGeom>
            <a:noFill/>
          </p:spPr>
          <p:txBody>
            <a:bodyPr wrap="square" rtlCol="0" anchor="t">
              <a:spAutoFit/>
            </a:bodyPr>
            <a:lstStyle/>
            <a:p>
              <a:pPr marL="342900" indent="-342900">
                <a:lnSpc>
                  <a:spcPct val="150000"/>
                </a:lnSpc>
                <a:buFont typeface="微软雅黑" panose="020B0503020204020204" pitchFamily="34" charset="-122"/>
                <a:buChar char="•"/>
              </a:pPr>
              <a:r>
                <a:rPr lang="zh-CN" altLang="en-US" sz="2800" dirty="0">
                  <a:effectLst/>
                  <a:latin typeface="微软雅黑" panose="020B0503020204020204" pitchFamily="34" charset="-122"/>
                  <a:ea typeface="微软雅黑" panose="020B0503020204020204" pitchFamily="34" charset="-122"/>
                  <a:cs typeface="华文楷体" panose="02010600040101010101" charset="-122"/>
                  <a:sym typeface="+mn-ea"/>
                </a:rPr>
                <a:t>简化合同、房产可赎回、抗通胀、对接</a:t>
              </a:r>
              <a:r>
                <a:rPr lang="zh-CN" altLang="en-US" sz="2800" b="1" dirty="0">
                  <a:effectLst/>
                  <a:latin typeface="微软雅黑" panose="020B0503020204020204" pitchFamily="34" charset="-122"/>
                  <a:ea typeface="微软雅黑" panose="020B0503020204020204" pitchFamily="34" charset="-122"/>
                  <a:cs typeface="华文楷体" panose="02010600040101010101" charset="-122"/>
                  <a:sym typeface="+mn-ea"/>
                </a:rPr>
                <a:t>养老服务</a:t>
              </a:r>
              <a:endParaRPr lang="zh-CN" altLang="en-US" sz="2800" b="1" dirty="0">
                <a:effectLst/>
                <a:latin typeface="微软雅黑" panose="020B0503020204020204" pitchFamily="34" charset="-122"/>
                <a:ea typeface="微软雅黑" panose="020B0503020204020204" pitchFamily="34" charset="-122"/>
                <a:cs typeface="华文楷体" panose="02010600040101010101" charset="-122"/>
                <a:sym typeface="+mn-ea"/>
              </a:endParaRPr>
            </a:p>
            <a:p>
              <a:pPr marL="342900" indent="-342900">
                <a:lnSpc>
                  <a:spcPct val="150000"/>
                </a:lnSpc>
                <a:buFont typeface="微软雅黑" panose="020B0503020204020204" pitchFamily="34" charset="-122"/>
                <a:buChar char="•"/>
              </a:pPr>
              <a:r>
                <a:rPr lang="zh-CN" altLang="en-US" sz="2800" dirty="0">
                  <a:effectLst/>
                  <a:latin typeface="微软雅黑" panose="020B0503020204020204" pitchFamily="34" charset="-122"/>
                  <a:ea typeface="微软雅黑" panose="020B0503020204020204" pitchFamily="34" charset="-122"/>
                  <a:cs typeface="华文楷体" panose="02010600040101010101" charset="-122"/>
                  <a:sym typeface="+mn-ea"/>
                </a:rPr>
                <a:t>引入</a:t>
              </a:r>
              <a:r>
                <a:rPr lang="zh-CN" altLang="en-US" sz="2800" b="1" dirty="0">
                  <a:effectLst/>
                  <a:latin typeface="微软雅黑" panose="020B0503020204020204" pitchFamily="34" charset="-122"/>
                  <a:ea typeface="微软雅黑" panose="020B0503020204020204" pitchFamily="34" charset="-122"/>
                  <a:cs typeface="华文楷体" panose="02010600040101010101" charset="-122"/>
                  <a:sym typeface="+mn-ea"/>
                </a:rPr>
                <a:t>第三方评估机构</a:t>
              </a:r>
              <a:r>
                <a:rPr lang="zh-CN" altLang="en-US" sz="2800" dirty="0">
                  <a:effectLst/>
                  <a:latin typeface="微软雅黑" panose="020B0503020204020204" pitchFamily="34" charset="-122"/>
                  <a:ea typeface="微软雅黑" panose="020B0503020204020204" pitchFamily="34" charset="-122"/>
                  <a:cs typeface="华文楷体" panose="02010600040101010101" charset="-122"/>
                  <a:sym typeface="+mn-ea"/>
                </a:rPr>
                <a:t>，避免金融机构单方面推销</a:t>
              </a:r>
              <a:endParaRPr lang="zh-CN" altLang="en-US" sz="2800" dirty="0">
                <a:effectLst/>
                <a:latin typeface="微软雅黑" panose="020B0503020204020204" pitchFamily="34" charset="-122"/>
                <a:ea typeface="微软雅黑" panose="020B0503020204020204" pitchFamily="34" charset="-122"/>
                <a:cs typeface="华文楷体" panose="02010600040101010101" charset="-122"/>
                <a:sym typeface="+mn-ea"/>
              </a:endParaRPr>
            </a:p>
            <a:p>
              <a:pPr marL="342900" indent="-342900">
                <a:lnSpc>
                  <a:spcPct val="150000"/>
                </a:lnSpc>
                <a:buFont typeface="微软雅黑" panose="020B0503020204020204" pitchFamily="34" charset="-122"/>
                <a:buChar char="•"/>
              </a:pPr>
              <a:r>
                <a:rPr lang="zh-CN" altLang="en-US" sz="2800" b="1" dirty="0">
                  <a:effectLst/>
                  <a:latin typeface="微软雅黑" panose="020B0503020204020204" pitchFamily="34" charset="-122"/>
                  <a:ea typeface="微软雅黑" panose="020B0503020204020204" pitchFamily="34" charset="-122"/>
                  <a:cs typeface="华文楷体" panose="02010600040101010101" charset="-122"/>
                  <a:sym typeface="+mn-ea"/>
                </a:rPr>
                <a:t>政府兜底</a:t>
              </a:r>
              <a:endParaRPr lang="zh-CN" altLang="en-US" sz="2800" b="1" dirty="0">
                <a:effectLst/>
                <a:latin typeface="微软雅黑" panose="020B0503020204020204" pitchFamily="34" charset="-122"/>
                <a:ea typeface="微软雅黑" panose="020B0503020204020204" pitchFamily="34" charset="-122"/>
                <a:cs typeface="华文楷体" panose="02010600040101010101" charset="-122"/>
                <a:sym typeface="+mn-ea"/>
              </a:endParaRPr>
            </a:p>
          </p:txBody>
        </p:sp>
      </p:grpSp>
      <p:sp>
        <p:nvSpPr>
          <p:cNvPr id="107" name="矩形: 圆角 146"/>
          <p:cNvSpPr/>
          <p:nvPr>
            <p:custDataLst>
              <p:tags r:id="rId41"/>
            </p:custDataLst>
          </p:nvPr>
        </p:nvSpPr>
        <p:spPr>
          <a:xfrm>
            <a:off x="12722858" y="2001070"/>
            <a:ext cx="4875296" cy="3445678"/>
          </a:xfrm>
          <a:prstGeom prst="roundRect">
            <a:avLst>
              <a:gd name="adj" fmla="val 1342"/>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a:no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2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42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文本框 107"/>
          <p:cNvSpPr txBox="1"/>
          <p:nvPr>
            <p:custDataLst>
              <p:tags r:id="rId42"/>
            </p:custDataLst>
          </p:nvPr>
        </p:nvSpPr>
        <p:spPr>
          <a:xfrm>
            <a:off x="12871463" y="2116540"/>
            <a:ext cx="4487905" cy="3322955"/>
          </a:xfrm>
          <a:prstGeom prst="rect">
            <a:avLst/>
          </a:prstGeom>
          <a:noFill/>
        </p:spPr>
        <p:txBody>
          <a:bodyPr wrap="square" rtlCol="0" anchor="t">
            <a:spAutoFit/>
          </a:bodyPr>
          <a:lstStyle/>
          <a:p>
            <a:pPr marL="342900" indent="-342900">
              <a:lnSpc>
                <a:spcPct val="150000"/>
              </a:lnSpc>
              <a:buFont typeface="微软雅黑" panose="020B0503020204020204" pitchFamily="34" charset="-122"/>
              <a:buChar char="•"/>
            </a:pPr>
            <a:r>
              <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担忧</a:t>
            </a:r>
            <a:r>
              <a:rPr lang="zh-CN" altLang="en-US" sz="2800"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机构倒闭跑路、合同条款暗藏陷阱</a:t>
            </a:r>
            <a:endParaRPr lang="zh-CN" altLang="en-US" sz="2800"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endParaRPr>
          </a:p>
          <a:p>
            <a:pPr marL="342900" indent="-342900">
              <a:lnSpc>
                <a:spcPct val="150000"/>
              </a:lnSpc>
              <a:buFont typeface="微软雅黑" panose="020B0503020204020204" pitchFamily="34" charset="-122"/>
              <a:buChar char="•"/>
            </a:pPr>
            <a:r>
              <a:rPr lang="zh-CN" altLang="en-US" sz="2800"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政府监管、兜底</a:t>
            </a:r>
            <a:r>
              <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机制缺失</a:t>
            </a:r>
            <a:endPar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endParaRPr>
          </a:p>
          <a:p>
            <a:pPr marL="342900" indent="-342900">
              <a:lnSpc>
                <a:spcPct val="150000"/>
              </a:lnSpc>
              <a:buFont typeface="微软雅黑" panose="020B0503020204020204" pitchFamily="34" charset="-122"/>
              <a:buChar char="•"/>
            </a:pPr>
            <a:r>
              <a:rPr lang="zh-CN" altLang="en-US" sz="2800"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担忧房屋评估</a:t>
            </a:r>
            <a:r>
              <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不透明与房价波动</a:t>
            </a:r>
            <a:endPar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endParaRPr>
          </a:p>
        </p:txBody>
      </p:sp>
      <p:grpSp>
        <p:nvGrpSpPr>
          <p:cNvPr id="22" name="Group 35"/>
          <p:cNvGrpSpPr/>
          <p:nvPr/>
        </p:nvGrpSpPr>
        <p:grpSpPr>
          <a:xfrm>
            <a:off x="9534747" y="-381623"/>
            <a:ext cx="2112548" cy="1134695"/>
            <a:chOff x="0" y="-123825"/>
            <a:chExt cx="609349" cy="298849"/>
          </a:xfrm>
        </p:grpSpPr>
        <p:sp>
          <p:nvSpPr>
            <p:cNvPr id="23" name="Freeform 3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a:p>
          </p:txBody>
        </p:sp>
        <p:sp>
          <p:nvSpPr>
            <p:cNvPr id="28"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29" name="TextBox 63"/>
          <p:cNvSpPr txBox="1"/>
          <p:nvPr/>
        </p:nvSpPr>
        <p:spPr>
          <a:xfrm>
            <a:off x="7482844" y="182001"/>
            <a:ext cx="2029460"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0" name="TextBox 64"/>
          <p:cNvSpPr txBox="1"/>
          <p:nvPr/>
        </p:nvSpPr>
        <p:spPr>
          <a:xfrm>
            <a:off x="11607729" y="192268"/>
            <a:ext cx="2314575" cy="4616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1" name="TextBox 65"/>
          <p:cNvSpPr txBox="1"/>
          <p:nvPr/>
        </p:nvSpPr>
        <p:spPr>
          <a:xfrm>
            <a:off x="13617504" y="192268"/>
            <a:ext cx="2232413" cy="46164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2" name="TextBox 66"/>
          <p:cNvSpPr txBox="1"/>
          <p:nvPr/>
        </p:nvSpPr>
        <p:spPr>
          <a:xfrm>
            <a:off x="5274208" y="184126"/>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3" name="TextBox 65"/>
          <p:cNvSpPr txBox="1"/>
          <p:nvPr/>
        </p:nvSpPr>
        <p:spPr>
          <a:xfrm>
            <a:off x="15581836" y="199629"/>
            <a:ext cx="2232413"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4" name="TextBox 66"/>
          <p:cNvSpPr txBox="1"/>
          <p:nvPr/>
        </p:nvSpPr>
        <p:spPr>
          <a:xfrm>
            <a:off x="9464826" y="191117"/>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2"/>
            <a:stretch>
              <a:fillRect t="-883"/>
            </a:stretch>
          </a:blipFill>
        </p:spPr>
      </p:sp>
      <p:grpSp>
        <p:nvGrpSpPr>
          <p:cNvPr id="4" name="Group 4"/>
          <p:cNvGrpSpPr/>
          <p:nvPr/>
        </p:nvGrpSpPr>
        <p:grpSpPr>
          <a:xfrm>
            <a:off x="160070" y="-2829424"/>
            <a:ext cx="5133103" cy="4618309"/>
            <a:chOff x="0" y="0"/>
            <a:chExt cx="6844137" cy="6157745"/>
          </a:xfrm>
        </p:grpSpPr>
        <p:grpSp>
          <p:nvGrpSpPr>
            <p:cNvPr id="5" name="Group 5"/>
            <p:cNvGrpSpPr/>
            <p:nvPr/>
          </p:nvGrpSpPr>
          <p:grpSpPr>
            <a:xfrm rot="215490">
              <a:off x="271581" y="295285"/>
              <a:ext cx="6401327" cy="5667527"/>
              <a:chOff x="0" y="0"/>
              <a:chExt cx="2560354" cy="2266854"/>
            </a:xfrm>
          </p:grpSpPr>
          <p:sp>
            <p:nvSpPr>
              <p:cNvPr id="6" name="Freeform 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7" name="TextBox 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8" name="Group 8"/>
            <p:cNvGrpSpPr/>
            <p:nvPr/>
          </p:nvGrpSpPr>
          <p:grpSpPr>
            <a:xfrm rot="215490">
              <a:off x="171229" y="194933"/>
              <a:ext cx="6401327" cy="5667527"/>
              <a:chOff x="0" y="0"/>
              <a:chExt cx="2560354" cy="2266854"/>
            </a:xfrm>
          </p:grpSpPr>
          <p:sp>
            <p:nvSpPr>
              <p:cNvPr id="9" name="Freeform 9"/>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0" name="TextBox 10"/>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1" name="Group 11"/>
            <p:cNvGrpSpPr/>
            <p:nvPr/>
          </p:nvGrpSpPr>
          <p:grpSpPr>
            <a:xfrm>
              <a:off x="124175" y="194933"/>
              <a:ext cx="6401327" cy="5667527"/>
              <a:chOff x="0" y="0"/>
              <a:chExt cx="2560354" cy="2266854"/>
            </a:xfrm>
          </p:grpSpPr>
          <p:sp>
            <p:nvSpPr>
              <p:cNvPr id="12" name="Freeform 12"/>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3" name="TextBox 13"/>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4" name="AutoShape 14"/>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18" name="Freeform 18"/>
          <p:cNvSpPr/>
          <p:nvPr/>
        </p:nvSpPr>
        <p:spPr>
          <a:xfrm>
            <a:off x="7055501"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3">
              <a:alphaModFix amt="6999"/>
            </a:blip>
            <a:stretch>
              <a:fillRect r="-20235"/>
            </a:stretch>
          </a:blipFill>
          <a:ln w="19050" cap="sq">
            <a:solidFill>
              <a:srgbClr val="FCFBF9">
                <a:alpha val="6667"/>
              </a:srgbClr>
            </a:solidFill>
            <a:prstDash val="solid"/>
            <a:miter/>
          </a:ln>
        </p:spPr>
      </p:sp>
      <p:sp>
        <p:nvSpPr>
          <p:cNvPr id="19" name="Freeform 19"/>
          <p:cNvSpPr/>
          <p:nvPr/>
        </p:nvSpPr>
        <p:spPr>
          <a:xfrm flipH="1">
            <a:off x="0" y="-157544"/>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4"/>
            <a:stretch>
              <a:fillRect/>
            </a:stretch>
          </a:blipFill>
        </p:spPr>
      </p:sp>
      <p:sp>
        <p:nvSpPr>
          <p:cNvPr id="20" name="TextBox 20"/>
          <p:cNvSpPr txBox="1"/>
          <p:nvPr/>
        </p:nvSpPr>
        <p:spPr>
          <a:xfrm>
            <a:off x="294888" y="55432"/>
            <a:ext cx="4728527" cy="1435735"/>
          </a:xfrm>
          <a:prstGeom prst="rect">
            <a:avLst/>
          </a:prstGeom>
        </p:spPr>
        <p:txBody>
          <a:bodyPr lIns="0" tIns="0" rIns="0" bIns="0" rtlCol="0" anchor="t">
            <a:spAutoFit/>
          </a:bodyPr>
          <a:lstStyle/>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已发放</a:t>
            </a:r>
            <a:endPar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第一轮问卷</a:t>
            </a:r>
            <a:endPar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nvGrpSpPr>
          <p:cNvPr id="22" name="Group 20"/>
          <p:cNvGrpSpPr/>
          <p:nvPr/>
        </p:nvGrpSpPr>
        <p:grpSpPr>
          <a:xfrm>
            <a:off x="-157101" y="1028700"/>
            <a:ext cx="14008603" cy="8662808"/>
            <a:chOff x="0" y="0"/>
            <a:chExt cx="18678137" cy="11550411"/>
          </a:xfrm>
        </p:grpSpPr>
        <p:sp>
          <p:nvSpPr>
            <p:cNvPr id="23" name="Freeform 21"/>
            <p:cNvSpPr/>
            <p:nvPr/>
          </p:nvSpPr>
          <p:spPr>
            <a:xfrm>
              <a:off x="12644575" y="9088855"/>
              <a:ext cx="5490933" cy="837955"/>
            </a:xfrm>
            <a:custGeom>
              <a:avLst/>
              <a:gdLst/>
              <a:ahLst/>
              <a:cxnLst/>
              <a:rect l="l" t="t" r="r" b="b"/>
              <a:pathLst>
                <a:path w="5490933" h="837955">
                  <a:moveTo>
                    <a:pt x="0" y="0"/>
                  </a:moveTo>
                  <a:lnTo>
                    <a:pt x="5490932" y="0"/>
                  </a:lnTo>
                  <a:lnTo>
                    <a:pt x="5490932" y="837954"/>
                  </a:lnTo>
                  <a:lnTo>
                    <a:pt x="0" y="837954"/>
                  </a:lnTo>
                  <a:lnTo>
                    <a:pt x="0" y="0"/>
                  </a:lnTo>
                  <a:close/>
                </a:path>
              </a:pathLst>
            </a:custGeom>
            <a:blipFill>
              <a:blip r:embed="rId5">
                <a:extLst>
                  <a:ext uri="{96DAC541-7B7A-43D3-8B79-37D633B846F1}">
                    <asvg:svgBlip xmlns:asvg="http://schemas.microsoft.com/office/drawing/2016/SVG/main" r:embed="rId6"/>
                  </a:ext>
                </a:extLst>
              </a:blip>
              <a:stretch>
                <a:fillRect l="-6537" r="-6537"/>
              </a:stretch>
            </a:blipFill>
          </p:spPr>
        </p:sp>
        <p:grpSp>
          <p:nvGrpSpPr>
            <p:cNvPr id="28" name="Group 22"/>
            <p:cNvGrpSpPr/>
            <p:nvPr/>
          </p:nvGrpSpPr>
          <p:grpSpPr>
            <a:xfrm>
              <a:off x="7182493" y="1612929"/>
              <a:ext cx="4208144" cy="8604847"/>
              <a:chOff x="0" y="0"/>
              <a:chExt cx="4208144" cy="8604847"/>
            </a:xfrm>
          </p:grpSpPr>
          <p:sp>
            <p:nvSpPr>
              <p:cNvPr id="29" name="Freeform 23"/>
              <p:cNvSpPr/>
              <p:nvPr/>
            </p:nvSpPr>
            <p:spPr>
              <a:xfrm>
                <a:off x="0" y="0"/>
                <a:ext cx="4208106" cy="8604854"/>
              </a:xfrm>
              <a:custGeom>
                <a:avLst/>
                <a:gdLst/>
                <a:ahLst/>
                <a:cxnLst/>
                <a:rect l="l" t="t" r="r" b="b"/>
                <a:pathLst>
                  <a:path w="4208106" h="8604854">
                    <a:moveTo>
                      <a:pt x="0" y="0"/>
                    </a:moveTo>
                    <a:lnTo>
                      <a:pt x="4208106" y="0"/>
                    </a:lnTo>
                    <a:lnTo>
                      <a:pt x="4208106" y="8604854"/>
                    </a:lnTo>
                    <a:lnTo>
                      <a:pt x="0" y="8604854"/>
                    </a:lnTo>
                    <a:lnTo>
                      <a:pt x="0" y="0"/>
                    </a:lnTo>
                    <a:close/>
                  </a:path>
                </a:pathLst>
              </a:custGeom>
              <a:blipFill>
                <a:blip r:embed="rId7"/>
                <a:stretch>
                  <a:fillRect l="-42257" r="-42259"/>
                </a:stretch>
              </a:blipFill>
            </p:spPr>
          </p:sp>
        </p:grpSp>
        <p:sp>
          <p:nvSpPr>
            <p:cNvPr id="30" name="Freeform 24"/>
            <p:cNvSpPr/>
            <p:nvPr/>
          </p:nvSpPr>
          <p:spPr>
            <a:xfrm>
              <a:off x="12644575" y="10193419"/>
              <a:ext cx="4718547" cy="720083"/>
            </a:xfrm>
            <a:custGeom>
              <a:avLst/>
              <a:gdLst/>
              <a:ahLst/>
              <a:cxnLst/>
              <a:rect l="l" t="t" r="r" b="b"/>
              <a:pathLst>
                <a:path w="4718547" h="720083">
                  <a:moveTo>
                    <a:pt x="0" y="0"/>
                  </a:moveTo>
                  <a:lnTo>
                    <a:pt x="4718547" y="0"/>
                  </a:lnTo>
                  <a:lnTo>
                    <a:pt x="4718547" y="720083"/>
                  </a:lnTo>
                  <a:lnTo>
                    <a:pt x="0" y="720083"/>
                  </a:lnTo>
                  <a:lnTo>
                    <a:pt x="0" y="0"/>
                  </a:lnTo>
                  <a:close/>
                </a:path>
              </a:pathLst>
            </a:custGeom>
            <a:blipFill>
              <a:blip r:embed="rId5">
                <a:extLst>
                  <a:ext uri="{96DAC541-7B7A-43D3-8B79-37D633B846F1}">
                    <asvg:svgBlip xmlns:asvg="http://schemas.microsoft.com/office/drawing/2016/SVG/main" r:embed="rId6"/>
                  </a:ext>
                </a:extLst>
              </a:blip>
              <a:stretch>
                <a:fillRect l="-6537" r="-6537"/>
              </a:stretch>
            </a:blipFill>
          </p:spPr>
        </p:sp>
        <p:sp>
          <p:nvSpPr>
            <p:cNvPr id="31" name="TextBox 25"/>
            <p:cNvSpPr txBox="1"/>
            <p:nvPr/>
          </p:nvSpPr>
          <p:spPr>
            <a:xfrm>
              <a:off x="10417649" y="9226858"/>
              <a:ext cx="2829469" cy="550749"/>
            </a:xfrm>
            <a:prstGeom prst="rect">
              <a:avLst/>
            </a:prstGeom>
          </p:spPr>
          <p:txBody>
            <a:bodyPr lIns="0" tIns="0" rIns="0" bIns="0" rtlCol="0" anchor="t">
              <a:spAutoFit/>
            </a:bodyPr>
            <a:lstStyle/>
            <a:p>
              <a:pPr algn="l">
                <a:lnSpc>
                  <a:spcPts val="3385"/>
                </a:lnSpc>
              </a:pPr>
              <a:r>
                <a:rPr lang="en-US" sz="282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信度检验:</a:t>
              </a:r>
              <a:endParaRPr lang="en-US" sz="282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nvGrpSpPr>
            <p:cNvPr id="32" name="Group 26"/>
            <p:cNvGrpSpPr/>
            <p:nvPr/>
          </p:nvGrpSpPr>
          <p:grpSpPr>
            <a:xfrm>
              <a:off x="12644575" y="8935521"/>
              <a:ext cx="5490933" cy="1144623"/>
              <a:chOff x="0" y="0"/>
              <a:chExt cx="5449212" cy="1135926"/>
            </a:xfrm>
          </p:grpSpPr>
          <p:sp>
            <p:nvSpPr>
              <p:cNvPr id="33" name="Freeform 27"/>
              <p:cNvSpPr/>
              <p:nvPr/>
            </p:nvSpPr>
            <p:spPr>
              <a:xfrm>
                <a:off x="0" y="0"/>
                <a:ext cx="5449212" cy="1135926"/>
              </a:xfrm>
              <a:custGeom>
                <a:avLst/>
                <a:gdLst/>
                <a:ahLst/>
                <a:cxnLst/>
                <a:rect l="l" t="t" r="r" b="b"/>
                <a:pathLst>
                  <a:path w="5449212" h="1135926">
                    <a:moveTo>
                      <a:pt x="0" y="0"/>
                    </a:moveTo>
                    <a:lnTo>
                      <a:pt x="5449212" y="0"/>
                    </a:lnTo>
                    <a:lnTo>
                      <a:pt x="5449212" y="1135926"/>
                    </a:lnTo>
                    <a:lnTo>
                      <a:pt x="0" y="1135926"/>
                    </a:lnTo>
                    <a:close/>
                  </a:path>
                </a:pathLst>
              </a:custGeom>
              <a:blipFill>
                <a:blip r:embed="rId8">
                  <a:alphaModFix amt="0"/>
                </a:blip>
                <a:stretch>
                  <a:fillRect t="-83463" r="-36597" b="-71899"/>
                </a:stretch>
              </a:blipFill>
            </p:spPr>
          </p:sp>
          <p:sp>
            <p:nvSpPr>
              <p:cNvPr id="34" name="TextBox 28"/>
              <p:cNvSpPr txBox="1"/>
              <p:nvPr/>
            </p:nvSpPr>
            <p:spPr>
              <a:xfrm>
                <a:off x="0" y="0"/>
                <a:ext cx="5449212" cy="1135926"/>
              </a:xfrm>
              <a:prstGeom prst="rect">
                <a:avLst/>
              </a:prstGeom>
            </p:spPr>
            <p:txBody>
              <a:bodyPr lIns="0" tIns="0" rIns="0" bIns="0" rtlCol="0" anchor="ctr"/>
              <a:lstStyle/>
              <a:p>
                <a:pPr algn="ctr">
                  <a:lnSpc>
                    <a:spcPts val="2640"/>
                  </a:lnSpc>
                </a:pPr>
                <a:r>
                  <a:rPr lang="en-US" sz="22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克隆巴赫系数Alpha——0.869</a:t>
                </a:r>
                <a:endParaRPr lang="en-US" sz="22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35" name="Group 29"/>
            <p:cNvGrpSpPr/>
            <p:nvPr/>
          </p:nvGrpSpPr>
          <p:grpSpPr>
            <a:xfrm>
              <a:off x="12979932" y="9981149"/>
              <a:ext cx="4047834" cy="1144623"/>
              <a:chOff x="0" y="0"/>
              <a:chExt cx="4017078" cy="1135926"/>
            </a:xfrm>
          </p:grpSpPr>
          <p:sp>
            <p:nvSpPr>
              <p:cNvPr id="36" name="Freeform 30"/>
              <p:cNvSpPr/>
              <p:nvPr/>
            </p:nvSpPr>
            <p:spPr>
              <a:xfrm>
                <a:off x="0" y="0"/>
                <a:ext cx="4017078" cy="1135926"/>
              </a:xfrm>
              <a:custGeom>
                <a:avLst/>
                <a:gdLst/>
                <a:ahLst/>
                <a:cxnLst/>
                <a:rect l="l" t="t" r="r" b="b"/>
                <a:pathLst>
                  <a:path w="4017078" h="1135926">
                    <a:moveTo>
                      <a:pt x="0" y="0"/>
                    </a:moveTo>
                    <a:lnTo>
                      <a:pt x="4017078" y="0"/>
                    </a:lnTo>
                    <a:lnTo>
                      <a:pt x="4017078" y="1135926"/>
                    </a:lnTo>
                    <a:lnTo>
                      <a:pt x="0" y="1135926"/>
                    </a:lnTo>
                    <a:close/>
                  </a:path>
                </a:pathLst>
              </a:custGeom>
              <a:blipFill>
                <a:blip r:embed="rId8">
                  <a:alphaModFix amt="0"/>
                </a:blip>
                <a:stretch>
                  <a:fillRect t="-43076" r="-24088" b="-27934"/>
                </a:stretch>
              </a:blipFill>
            </p:spPr>
          </p:sp>
          <p:sp>
            <p:nvSpPr>
              <p:cNvPr id="37" name="TextBox 31"/>
              <p:cNvSpPr txBox="1"/>
              <p:nvPr/>
            </p:nvSpPr>
            <p:spPr>
              <a:xfrm>
                <a:off x="0" y="0"/>
                <a:ext cx="4017078" cy="1135926"/>
              </a:xfrm>
              <a:prstGeom prst="rect">
                <a:avLst/>
              </a:prstGeom>
            </p:spPr>
            <p:txBody>
              <a:bodyPr lIns="0" tIns="0" rIns="0" bIns="0" rtlCol="0" anchor="ctr"/>
              <a:lstStyle/>
              <a:p>
                <a:pPr algn="ctr">
                  <a:lnSpc>
                    <a:spcPts val="2640"/>
                  </a:lnSpc>
                </a:pPr>
                <a:r>
                  <a:rPr lang="en-US" sz="22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KMO值——0.801</a:t>
                </a:r>
                <a:endParaRPr lang="en-US" sz="22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sp>
          <p:nvSpPr>
            <p:cNvPr id="38" name="TextBox 32"/>
            <p:cNvSpPr txBox="1"/>
            <p:nvPr/>
          </p:nvSpPr>
          <p:spPr>
            <a:xfrm>
              <a:off x="10470658" y="10331422"/>
              <a:ext cx="2829469" cy="550749"/>
            </a:xfrm>
            <a:prstGeom prst="rect">
              <a:avLst/>
            </a:prstGeom>
          </p:spPr>
          <p:txBody>
            <a:bodyPr lIns="0" tIns="0" rIns="0" bIns="0" rtlCol="0" anchor="t">
              <a:spAutoFit/>
            </a:bodyPr>
            <a:lstStyle/>
            <a:p>
              <a:pPr algn="l">
                <a:lnSpc>
                  <a:spcPts val="3385"/>
                </a:lnSpc>
              </a:pPr>
              <a:r>
                <a:rPr lang="en-US" sz="282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效度检验:</a:t>
              </a:r>
              <a:endParaRPr lang="en-US" sz="282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nvGrpSpPr>
            <p:cNvPr id="39" name="Group 33"/>
            <p:cNvGrpSpPr/>
            <p:nvPr/>
          </p:nvGrpSpPr>
          <p:grpSpPr>
            <a:xfrm>
              <a:off x="9066911" y="9300363"/>
              <a:ext cx="1173327" cy="1173327"/>
              <a:chOff x="0" y="0"/>
              <a:chExt cx="1489152" cy="1489152"/>
            </a:xfrm>
          </p:grpSpPr>
          <p:sp>
            <p:nvSpPr>
              <p:cNvPr id="40" name="Freeform 34"/>
              <p:cNvSpPr/>
              <p:nvPr/>
            </p:nvSpPr>
            <p:spPr>
              <a:xfrm>
                <a:off x="63500" y="63500"/>
                <a:ext cx="1362202" cy="1362202"/>
              </a:xfrm>
              <a:custGeom>
                <a:avLst/>
                <a:gdLst/>
                <a:ahLst/>
                <a:cxnLst/>
                <a:rect l="l" t="t" r="r" b="b"/>
                <a:pathLst>
                  <a:path w="1362202" h="1362202">
                    <a:moveTo>
                      <a:pt x="0" y="681101"/>
                    </a:moveTo>
                    <a:cubicBezTo>
                      <a:pt x="0" y="304927"/>
                      <a:pt x="304927" y="0"/>
                      <a:pt x="681101" y="0"/>
                    </a:cubicBezTo>
                    <a:cubicBezTo>
                      <a:pt x="1057275" y="0"/>
                      <a:pt x="1362202" y="304927"/>
                      <a:pt x="1362202" y="681101"/>
                    </a:cubicBezTo>
                    <a:cubicBezTo>
                      <a:pt x="1362202" y="1057275"/>
                      <a:pt x="1057275" y="1362202"/>
                      <a:pt x="681101" y="1362202"/>
                    </a:cubicBezTo>
                    <a:cubicBezTo>
                      <a:pt x="304927" y="1362202"/>
                      <a:pt x="0" y="1057275"/>
                      <a:pt x="0" y="681101"/>
                    </a:cubicBezTo>
                    <a:close/>
                  </a:path>
                </a:pathLst>
              </a:custGeom>
              <a:solidFill>
                <a:srgbClr val="FFFFFF"/>
              </a:solidFill>
            </p:spPr>
          </p:sp>
          <p:sp>
            <p:nvSpPr>
              <p:cNvPr id="41" name="Freeform 35"/>
              <p:cNvSpPr/>
              <p:nvPr/>
            </p:nvSpPr>
            <p:spPr>
              <a:xfrm>
                <a:off x="0" y="0"/>
                <a:ext cx="1489202" cy="1489202"/>
              </a:xfrm>
              <a:custGeom>
                <a:avLst/>
                <a:gdLst/>
                <a:ahLst/>
                <a:cxnLst/>
                <a:rect l="l" t="t" r="r" b="b"/>
                <a:pathLst>
                  <a:path w="1489202" h="1489202">
                    <a:moveTo>
                      <a:pt x="0" y="744601"/>
                    </a:moveTo>
                    <a:cubicBezTo>
                      <a:pt x="0" y="333375"/>
                      <a:pt x="333375" y="0"/>
                      <a:pt x="744601" y="0"/>
                    </a:cubicBezTo>
                    <a:lnTo>
                      <a:pt x="744601" y="63500"/>
                    </a:lnTo>
                    <a:lnTo>
                      <a:pt x="744601" y="0"/>
                    </a:lnTo>
                    <a:cubicBezTo>
                      <a:pt x="1155827" y="0"/>
                      <a:pt x="1489202" y="333375"/>
                      <a:pt x="1489202" y="744601"/>
                    </a:cubicBezTo>
                    <a:lnTo>
                      <a:pt x="1425702" y="744601"/>
                    </a:lnTo>
                    <a:lnTo>
                      <a:pt x="1489202" y="744601"/>
                    </a:lnTo>
                    <a:cubicBezTo>
                      <a:pt x="1489202" y="1155827"/>
                      <a:pt x="1155827" y="1489202"/>
                      <a:pt x="744601" y="1489202"/>
                    </a:cubicBezTo>
                    <a:lnTo>
                      <a:pt x="744601" y="1425702"/>
                    </a:lnTo>
                    <a:lnTo>
                      <a:pt x="744601" y="1489202"/>
                    </a:lnTo>
                    <a:cubicBezTo>
                      <a:pt x="333375" y="1489202"/>
                      <a:pt x="0" y="1155827"/>
                      <a:pt x="0" y="744601"/>
                    </a:cubicBezTo>
                    <a:lnTo>
                      <a:pt x="63500" y="744601"/>
                    </a:lnTo>
                    <a:lnTo>
                      <a:pt x="127000" y="744601"/>
                    </a:lnTo>
                    <a:lnTo>
                      <a:pt x="63500" y="744601"/>
                    </a:lnTo>
                    <a:lnTo>
                      <a:pt x="0" y="744601"/>
                    </a:lnTo>
                    <a:moveTo>
                      <a:pt x="127000" y="744601"/>
                    </a:moveTo>
                    <a:cubicBezTo>
                      <a:pt x="127000" y="779653"/>
                      <a:pt x="98552" y="808101"/>
                      <a:pt x="63500" y="808101"/>
                    </a:cubicBezTo>
                    <a:cubicBezTo>
                      <a:pt x="28448" y="808101"/>
                      <a:pt x="0" y="779653"/>
                      <a:pt x="0" y="744601"/>
                    </a:cubicBezTo>
                    <a:cubicBezTo>
                      <a:pt x="0" y="709549"/>
                      <a:pt x="28448" y="681101"/>
                      <a:pt x="63500" y="681101"/>
                    </a:cubicBezTo>
                    <a:cubicBezTo>
                      <a:pt x="98552" y="681101"/>
                      <a:pt x="127000" y="709549"/>
                      <a:pt x="127000" y="744601"/>
                    </a:cubicBezTo>
                    <a:cubicBezTo>
                      <a:pt x="127000" y="1085723"/>
                      <a:pt x="403479" y="1362202"/>
                      <a:pt x="744601" y="1362202"/>
                    </a:cubicBezTo>
                    <a:cubicBezTo>
                      <a:pt x="1085723" y="1362202"/>
                      <a:pt x="1362202" y="1085723"/>
                      <a:pt x="1362202" y="744601"/>
                    </a:cubicBezTo>
                    <a:cubicBezTo>
                      <a:pt x="1362202" y="403479"/>
                      <a:pt x="1085596" y="127000"/>
                      <a:pt x="744601" y="127000"/>
                    </a:cubicBezTo>
                    <a:lnTo>
                      <a:pt x="744601" y="63500"/>
                    </a:lnTo>
                    <a:lnTo>
                      <a:pt x="744601" y="127000"/>
                    </a:lnTo>
                    <a:cubicBezTo>
                      <a:pt x="403479" y="127000"/>
                      <a:pt x="127000" y="403479"/>
                      <a:pt x="127000" y="744601"/>
                    </a:cubicBezTo>
                    <a:close/>
                  </a:path>
                </a:pathLst>
              </a:custGeom>
              <a:solidFill>
                <a:srgbClr val="FF944E"/>
              </a:solidFill>
            </p:spPr>
          </p:sp>
        </p:grpSp>
        <p:sp>
          <p:nvSpPr>
            <p:cNvPr id="42" name="Freeform 36"/>
            <p:cNvSpPr/>
            <p:nvPr/>
          </p:nvSpPr>
          <p:spPr>
            <a:xfrm>
              <a:off x="0" y="0"/>
              <a:ext cx="8662808" cy="11550411"/>
            </a:xfrm>
            <a:custGeom>
              <a:avLst/>
              <a:gdLst/>
              <a:ahLst/>
              <a:cxnLst/>
              <a:rect l="l" t="t" r="r" b="b"/>
              <a:pathLst>
                <a:path w="8662808" h="11550411">
                  <a:moveTo>
                    <a:pt x="0" y="0"/>
                  </a:moveTo>
                  <a:lnTo>
                    <a:pt x="8662808" y="0"/>
                  </a:lnTo>
                  <a:lnTo>
                    <a:pt x="8662808" y="11550411"/>
                  </a:lnTo>
                  <a:lnTo>
                    <a:pt x="0" y="11550411"/>
                  </a:lnTo>
                  <a:lnTo>
                    <a:pt x="0" y="0"/>
                  </a:lnTo>
                  <a:close/>
                </a:path>
              </a:pathLst>
            </a:custGeom>
            <a:blipFill>
              <a:blip r:embed="rId9"/>
              <a:stretch>
                <a:fillRect b="-100000"/>
              </a:stretch>
            </a:blipFill>
          </p:spPr>
        </p:sp>
        <p:grpSp>
          <p:nvGrpSpPr>
            <p:cNvPr id="43" name="Group 37"/>
            <p:cNvGrpSpPr/>
            <p:nvPr/>
          </p:nvGrpSpPr>
          <p:grpSpPr>
            <a:xfrm>
              <a:off x="10655627" y="3616181"/>
              <a:ext cx="1173327" cy="1173327"/>
              <a:chOff x="0" y="0"/>
              <a:chExt cx="1489152" cy="1489152"/>
            </a:xfrm>
          </p:grpSpPr>
          <p:sp>
            <p:nvSpPr>
              <p:cNvPr id="44" name="Freeform 38"/>
              <p:cNvSpPr/>
              <p:nvPr/>
            </p:nvSpPr>
            <p:spPr>
              <a:xfrm>
                <a:off x="63500" y="63500"/>
                <a:ext cx="1362202" cy="1362202"/>
              </a:xfrm>
              <a:custGeom>
                <a:avLst/>
                <a:gdLst/>
                <a:ahLst/>
                <a:cxnLst/>
                <a:rect l="l" t="t" r="r" b="b"/>
                <a:pathLst>
                  <a:path w="1362202" h="1362202">
                    <a:moveTo>
                      <a:pt x="0" y="681101"/>
                    </a:moveTo>
                    <a:cubicBezTo>
                      <a:pt x="0" y="304927"/>
                      <a:pt x="304927" y="0"/>
                      <a:pt x="681101" y="0"/>
                    </a:cubicBezTo>
                    <a:cubicBezTo>
                      <a:pt x="1057275" y="0"/>
                      <a:pt x="1362202" y="304927"/>
                      <a:pt x="1362202" y="681101"/>
                    </a:cubicBezTo>
                    <a:cubicBezTo>
                      <a:pt x="1362202" y="1057275"/>
                      <a:pt x="1057275" y="1362202"/>
                      <a:pt x="681101" y="1362202"/>
                    </a:cubicBezTo>
                    <a:cubicBezTo>
                      <a:pt x="304927" y="1362202"/>
                      <a:pt x="0" y="1057275"/>
                      <a:pt x="0" y="681101"/>
                    </a:cubicBezTo>
                    <a:close/>
                  </a:path>
                </a:pathLst>
              </a:custGeom>
              <a:solidFill>
                <a:srgbClr val="FFFFFF"/>
              </a:solidFill>
            </p:spPr>
          </p:sp>
          <p:sp>
            <p:nvSpPr>
              <p:cNvPr id="48" name="Freeform 39"/>
              <p:cNvSpPr/>
              <p:nvPr/>
            </p:nvSpPr>
            <p:spPr>
              <a:xfrm>
                <a:off x="0" y="0"/>
                <a:ext cx="1489202" cy="1489202"/>
              </a:xfrm>
              <a:custGeom>
                <a:avLst/>
                <a:gdLst/>
                <a:ahLst/>
                <a:cxnLst/>
                <a:rect l="l" t="t" r="r" b="b"/>
                <a:pathLst>
                  <a:path w="1489202" h="1489202">
                    <a:moveTo>
                      <a:pt x="0" y="744601"/>
                    </a:moveTo>
                    <a:cubicBezTo>
                      <a:pt x="0" y="333375"/>
                      <a:pt x="333375" y="0"/>
                      <a:pt x="744601" y="0"/>
                    </a:cubicBezTo>
                    <a:lnTo>
                      <a:pt x="744601" y="63500"/>
                    </a:lnTo>
                    <a:lnTo>
                      <a:pt x="744601" y="0"/>
                    </a:lnTo>
                    <a:cubicBezTo>
                      <a:pt x="1155827" y="0"/>
                      <a:pt x="1489202" y="333375"/>
                      <a:pt x="1489202" y="744601"/>
                    </a:cubicBezTo>
                    <a:lnTo>
                      <a:pt x="1425702" y="744601"/>
                    </a:lnTo>
                    <a:lnTo>
                      <a:pt x="1489202" y="744601"/>
                    </a:lnTo>
                    <a:cubicBezTo>
                      <a:pt x="1489202" y="1155827"/>
                      <a:pt x="1155827" y="1489202"/>
                      <a:pt x="744601" y="1489202"/>
                    </a:cubicBezTo>
                    <a:lnTo>
                      <a:pt x="744601" y="1425702"/>
                    </a:lnTo>
                    <a:lnTo>
                      <a:pt x="744601" y="1489202"/>
                    </a:lnTo>
                    <a:cubicBezTo>
                      <a:pt x="333375" y="1489202"/>
                      <a:pt x="0" y="1155827"/>
                      <a:pt x="0" y="744601"/>
                    </a:cubicBezTo>
                    <a:lnTo>
                      <a:pt x="63500" y="744601"/>
                    </a:lnTo>
                    <a:lnTo>
                      <a:pt x="127000" y="744601"/>
                    </a:lnTo>
                    <a:lnTo>
                      <a:pt x="63500" y="744601"/>
                    </a:lnTo>
                    <a:lnTo>
                      <a:pt x="0" y="744601"/>
                    </a:lnTo>
                    <a:moveTo>
                      <a:pt x="127000" y="744601"/>
                    </a:moveTo>
                    <a:cubicBezTo>
                      <a:pt x="127000" y="779653"/>
                      <a:pt x="98552" y="808101"/>
                      <a:pt x="63500" y="808101"/>
                    </a:cubicBezTo>
                    <a:cubicBezTo>
                      <a:pt x="28448" y="808101"/>
                      <a:pt x="0" y="779653"/>
                      <a:pt x="0" y="744601"/>
                    </a:cubicBezTo>
                    <a:cubicBezTo>
                      <a:pt x="0" y="709549"/>
                      <a:pt x="28448" y="681101"/>
                      <a:pt x="63500" y="681101"/>
                    </a:cubicBezTo>
                    <a:cubicBezTo>
                      <a:pt x="98552" y="681101"/>
                      <a:pt x="127000" y="709549"/>
                      <a:pt x="127000" y="744601"/>
                    </a:cubicBezTo>
                    <a:cubicBezTo>
                      <a:pt x="127000" y="1085723"/>
                      <a:pt x="403479" y="1362202"/>
                      <a:pt x="744601" y="1362202"/>
                    </a:cubicBezTo>
                    <a:cubicBezTo>
                      <a:pt x="1085723" y="1362202"/>
                      <a:pt x="1362202" y="1085723"/>
                      <a:pt x="1362202" y="744601"/>
                    </a:cubicBezTo>
                    <a:cubicBezTo>
                      <a:pt x="1362202" y="403479"/>
                      <a:pt x="1085596" y="127000"/>
                      <a:pt x="744601" y="127000"/>
                    </a:cubicBezTo>
                    <a:lnTo>
                      <a:pt x="744601" y="63500"/>
                    </a:lnTo>
                    <a:lnTo>
                      <a:pt x="744601" y="127000"/>
                    </a:lnTo>
                    <a:cubicBezTo>
                      <a:pt x="403479" y="127000"/>
                      <a:pt x="127000" y="403479"/>
                      <a:pt x="127000" y="744601"/>
                    </a:cubicBezTo>
                    <a:close/>
                  </a:path>
                </a:pathLst>
              </a:custGeom>
              <a:solidFill>
                <a:srgbClr val="FF944E"/>
              </a:solidFill>
            </p:spPr>
          </p:sp>
        </p:grpSp>
        <p:sp>
          <p:nvSpPr>
            <p:cNvPr id="49" name="Freeform 40"/>
            <p:cNvSpPr/>
            <p:nvPr/>
          </p:nvSpPr>
          <p:spPr>
            <a:xfrm>
              <a:off x="11004093" y="3855320"/>
              <a:ext cx="573035" cy="655238"/>
            </a:xfrm>
            <a:custGeom>
              <a:avLst/>
              <a:gdLst/>
              <a:ahLst/>
              <a:cxnLst/>
              <a:rect l="l" t="t" r="r" b="b"/>
              <a:pathLst>
                <a:path w="573035" h="655238">
                  <a:moveTo>
                    <a:pt x="0" y="0"/>
                  </a:moveTo>
                  <a:lnTo>
                    <a:pt x="573035" y="0"/>
                  </a:lnTo>
                  <a:lnTo>
                    <a:pt x="573035" y="655238"/>
                  </a:lnTo>
                  <a:lnTo>
                    <a:pt x="0" y="65523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50" name="Group 41"/>
            <p:cNvGrpSpPr/>
            <p:nvPr/>
          </p:nvGrpSpPr>
          <p:grpSpPr>
            <a:xfrm>
              <a:off x="10249830" y="6770708"/>
              <a:ext cx="1173327" cy="1173327"/>
              <a:chOff x="0" y="0"/>
              <a:chExt cx="1489152" cy="1489152"/>
            </a:xfrm>
          </p:grpSpPr>
          <p:sp>
            <p:nvSpPr>
              <p:cNvPr id="51" name="Freeform 42"/>
              <p:cNvSpPr/>
              <p:nvPr/>
            </p:nvSpPr>
            <p:spPr>
              <a:xfrm>
                <a:off x="63500" y="63500"/>
                <a:ext cx="1362202" cy="1362202"/>
              </a:xfrm>
              <a:custGeom>
                <a:avLst/>
                <a:gdLst/>
                <a:ahLst/>
                <a:cxnLst/>
                <a:rect l="l" t="t" r="r" b="b"/>
                <a:pathLst>
                  <a:path w="1362202" h="1362202">
                    <a:moveTo>
                      <a:pt x="0" y="681101"/>
                    </a:moveTo>
                    <a:cubicBezTo>
                      <a:pt x="0" y="304927"/>
                      <a:pt x="304927" y="0"/>
                      <a:pt x="681101" y="0"/>
                    </a:cubicBezTo>
                    <a:cubicBezTo>
                      <a:pt x="1057275" y="0"/>
                      <a:pt x="1362202" y="304927"/>
                      <a:pt x="1362202" y="681101"/>
                    </a:cubicBezTo>
                    <a:cubicBezTo>
                      <a:pt x="1362202" y="1057275"/>
                      <a:pt x="1057275" y="1362202"/>
                      <a:pt x="681101" y="1362202"/>
                    </a:cubicBezTo>
                    <a:cubicBezTo>
                      <a:pt x="304927" y="1362202"/>
                      <a:pt x="0" y="1057275"/>
                      <a:pt x="0" y="681101"/>
                    </a:cubicBezTo>
                    <a:close/>
                  </a:path>
                </a:pathLst>
              </a:custGeom>
              <a:solidFill>
                <a:srgbClr val="FFFFFF"/>
              </a:solidFill>
            </p:spPr>
          </p:sp>
          <p:sp>
            <p:nvSpPr>
              <p:cNvPr id="52" name="Freeform 43"/>
              <p:cNvSpPr/>
              <p:nvPr/>
            </p:nvSpPr>
            <p:spPr>
              <a:xfrm>
                <a:off x="0" y="0"/>
                <a:ext cx="1489202" cy="1489202"/>
              </a:xfrm>
              <a:custGeom>
                <a:avLst/>
                <a:gdLst/>
                <a:ahLst/>
                <a:cxnLst/>
                <a:rect l="l" t="t" r="r" b="b"/>
                <a:pathLst>
                  <a:path w="1489202" h="1489202">
                    <a:moveTo>
                      <a:pt x="0" y="744601"/>
                    </a:moveTo>
                    <a:cubicBezTo>
                      <a:pt x="0" y="333375"/>
                      <a:pt x="333375" y="0"/>
                      <a:pt x="744601" y="0"/>
                    </a:cubicBezTo>
                    <a:lnTo>
                      <a:pt x="744601" y="63500"/>
                    </a:lnTo>
                    <a:lnTo>
                      <a:pt x="744601" y="0"/>
                    </a:lnTo>
                    <a:cubicBezTo>
                      <a:pt x="1155827" y="0"/>
                      <a:pt x="1489202" y="333375"/>
                      <a:pt x="1489202" y="744601"/>
                    </a:cubicBezTo>
                    <a:lnTo>
                      <a:pt x="1425702" y="744601"/>
                    </a:lnTo>
                    <a:lnTo>
                      <a:pt x="1489202" y="744601"/>
                    </a:lnTo>
                    <a:cubicBezTo>
                      <a:pt x="1489202" y="1155827"/>
                      <a:pt x="1155827" y="1489202"/>
                      <a:pt x="744601" y="1489202"/>
                    </a:cubicBezTo>
                    <a:lnTo>
                      <a:pt x="744601" y="1425702"/>
                    </a:lnTo>
                    <a:lnTo>
                      <a:pt x="744601" y="1489202"/>
                    </a:lnTo>
                    <a:cubicBezTo>
                      <a:pt x="333375" y="1489202"/>
                      <a:pt x="0" y="1155827"/>
                      <a:pt x="0" y="744601"/>
                    </a:cubicBezTo>
                    <a:lnTo>
                      <a:pt x="63500" y="744601"/>
                    </a:lnTo>
                    <a:lnTo>
                      <a:pt x="127000" y="744601"/>
                    </a:lnTo>
                    <a:lnTo>
                      <a:pt x="63500" y="744601"/>
                    </a:lnTo>
                    <a:lnTo>
                      <a:pt x="0" y="744601"/>
                    </a:lnTo>
                    <a:moveTo>
                      <a:pt x="127000" y="744601"/>
                    </a:moveTo>
                    <a:cubicBezTo>
                      <a:pt x="127000" y="779653"/>
                      <a:pt x="98552" y="808101"/>
                      <a:pt x="63500" y="808101"/>
                    </a:cubicBezTo>
                    <a:cubicBezTo>
                      <a:pt x="28448" y="808101"/>
                      <a:pt x="0" y="779653"/>
                      <a:pt x="0" y="744601"/>
                    </a:cubicBezTo>
                    <a:cubicBezTo>
                      <a:pt x="0" y="709549"/>
                      <a:pt x="28448" y="681101"/>
                      <a:pt x="63500" y="681101"/>
                    </a:cubicBezTo>
                    <a:cubicBezTo>
                      <a:pt x="98552" y="681101"/>
                      <a:pt x="127000" y="709549"/>
                      <a:pt x="127000" y="744601"/>
                    </a:cubicBezTo>
                    <a:cubicBezTo>
                      <a:pt x="127000" y="1085723"/>
                      <a:pt x="403479" y="1362202"/>
                      <a:pt x="744601" y="1362202"/>
                    </a:cubicBezTo>
                    <a:cubicBezTo>
                      <a:pt x="1085723" y="1362202"/>
                      <a:pt x="1362202" y="1085723"/>
                      <a:pt x="1362202" y="744601"/>
                    </a:cubicBezTo>
                    <a:cubicBezTo>
                      <a:pt x="1362202" y="403479"/>
                      <a:pt x="1085596" y="127000"/>
                      <a:pt x="744601" y="127000"/>
                    </a:cubicBezTo>
                    <a:lnTo>
                      <a:pt x="744601" y="63500"/>
                    </a:lnTo>
                    <a:lnTo>
                      <a:pt x="744601" y="127000"/>
                    </a:lnTo>
                    <a:cubicBezTo>
                      <a:pt x="403479" y="127000"/>
                      <a:pt x="127000" y="403479"/>
                      <a:pt x="127000" y="744601"/>
                    </a:cubicBezTo>
                    <a:close/>
                  </a:path>
                </a:pathLst>
              </a:custGeom>
              <a:solidFill>
                <a:srgbClr val="FF944E"/>
              </a:solidFill>
            </p:spPr>
          </p:sp>
        </p:grpSp>
        <p:sp>
          <p:nvSpPr>
            <p:cNvPr id="53" name="Freeform 44"/>
            <p:cNvSpPr/>
            <p:nvPr/>
          </p:nvSpPr>
          <p:spPr>
            <a:xfrm>
              <a:off x="10521077" y="7041956"/>
              <a:ext cx="630832" cy="630832"/>
            </a:xfrm>
            <a:custGeom>
              <a:avLst/>
              <a:gdLst/>
              <a:ahLst/>
              <a:cxnLst/>
              <a:rect l="l" t="t" r="r" b="b"/>
              <a:pathLst>
                <a:path w="630832" h="630832">
                  <a:moveTo>
                    <a:pt x="0" y="0"/>
                  </a:moveTo>
                  <a:lnTo>
                    <a:pt x="630833" y="0"/>
                  </a:lnTo>
                  <a:lnTo>
                    <a:pt x="630833" y="630832"/>
                  </a:lnTo>
                  <a:lnTo>
                    <a:pt x="0" y="63083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54" name="TextBox 45"/>
            <p:cNvSpPr txBox="1"/>
            <p:nvPr/>
          </p:nvSpPr>
          <p:spPr>
            <a:xfrm>
              <a:off x="11423157" y="1445253"/>
              <a:ext cx="6921636" cy="1192549"/>
            </a:xfrm>
            <a:prstGeom prst="rect">
              <a:avLst/>
            </a:prstGeom>
          </p:spPr>
          <p:txBody>
            <a:bodyPr lIns="0" tIns="0" rIns="0" bIns="0" rtlCol="0" anchor="t">
              <a:spAutoFit/>
            </a:bodyPr>
            <a:lstStyle/>
            <a:p>
              <a:pPr algn="l">
                <a:lnSpc>
                  <a:spcPts val="3655"/>
                </a:lnSpc>
              </a:pPr>
              <a:r>
                <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问卷主要分为</a:t>
              </a:r>
              <a:r>
                <a:rPr lang="en-US" sz="21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四个部分：</a:t>
              </a:r>
              <a:endParaRPr lang="en-US" sz="21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655"/>
                </a:lnSpc>
              </a:pPr>
              <a:r>
                <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认知现状、参与障碍、影响机制、个人信息</a:t>
              </a:r>
              <a:endPar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5" name="TextBox 46"/>
            <p:cNvSpPr txBox="1"/>
            <p:nvPr/>
          </p:nvSpPr>
          <p:spPr>
            <a:xfrm>
              <a:off x="11390637" y="658131"/>
              <a:ext cx="3396876" cy="656167"/>
            </a:xfrm>
            <a:prstGeom prst="rect">
              <a:avLst/>
            </a:prstGeom>
          </p:spPr>
          <p:txBody>
            <a:bodyPr lIns="0" tIns="0" rIns="0" bIns="0" rtlCol="0" anchor="t">
              <a:spAutoFit/>
            </a:bodyPr>
            <a:lstStyle/>
            <a:p>
              <a:pPr algn="l">
                <a:lnSpc>
                  <a:spcPts val="3840"/>
                </a:lnSpc>
              </a:pPr>
              <a:r>
                <a:rPr lang="en-US" sz="3200" b="1" spc="228">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1、确定思路</a:t>
              </a:r>
              <a:endParaRPr lang="en-US" sz="3200" b="1" spc="228">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6" name="TextBox 47"/>
            <p:cNvSpPr txBox="1"/>
            <p:nvPr/>
          </p:nvSpPr>
          <p:spPr>
            <a:xfrm>
              <a:off x="11885392" y="3747279"/>
              <a:ext cx="5498547" cy="3090505"/>
            </a:xfrm>
            <a:prstGeom prst="rect">
              <a:avLst/>
            </a:prstGeom>
          </p:spPr>
          <p:txBody>
            <a:bodyPr lIns="0" tIns="0" rIns="0" bIns="0" rtlCol="0" anchor="t">
              <a:spAutoFit/>
            </a:bodyPr>
            <a:lstStyle/>
            <a:p>
              <a:pPr marL="453390" lvl="1" indent="-226695" algn="l">
                <a:lnSpc>
                  <a:spcPts val="3655"/>
                </a:lnSpc>
                <a:buFont typeface="微软雅黑" panose="020B0503020204020204" pitchFamily="34" charset="-122"/>
                <a:buChar char="•"/>
              </a:pPr>
              <a:r>
                <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参考文献与成熟问卷量表</a:t>
              </a:r>
              <a:endPar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453390" lvl="1" indent="-226695" algn="l">
                <a:lnSpc>
                  <a:spcPts val="3655"/>
                </a:lnSpc>
                <a:buFont typeface="微软雅黑" panose="020B0503020204020204" pitchFamily="34" charset="-122"/>
                <a:buChar char="•"/>
              </a:pPr>
              <a:r>
                <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制度信任与风险感知理论</a:t>
              </a:r>
              <a:endPar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453390" lvl="1" indent="-226695" algn="l">
                <a:lnSpc>
                  <a:spcPts val="3655"/>
                </a:lnSpc>
                <a:buFont typeface="微软雅黑" panose="020B0503020204020204" pitchFamily="34" charset="-122"/>
                <a:buChar char="•"/>
              </a:pPr>
              <a:r>
                <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养老金融与以房养老相关研究</a:t>
              </a:r>
              <a:endPar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453390" lvl="1" indent="-226695" algn="l">
                <a:lnSpc>
                  <a:spcPts val="3655"/>
                </a:lnSpc>
                <a:buFont typeface="微软雅黑" panose="020B0503020204020204" pitchFamily="34" charset="-122"/>
                <a:buChar char="•"/>
              </a:pPr>
              <a:r>
                <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深度访谈与舆情分析结果</a:t>
              </a:r>
              <a:endPar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655"/>
                </a:lnSpc>
              </a:pPr>
              <a:endPar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7" name="TextBox 48"/>
            <p:cNvSpPr txBox="1"/>
            <p:nvPr/>
          </p:nvSpPr>
          <p:spPr>
            <a:xfrm>
              <a:off x="12093839" y="3075699"/>
              <a:ext cx="4028399" cy="656167"/>
            </a:xfrm>
            <a:prstGeom prst="rect">
              <a:avLst/>
            </a:prstGeom>
          </p:spPr>
          <p:txBody>
            <a:bodyPr lIns="0" tIns="0" rIns="0" bIns="0" rtlCol="0" anchor="t">
              <a:spAutoFit/>
            </a:bodyPr>
            <a:lstStyle/>
            <a:p>
              <a:pPr algn="l">
                <a:lnSpc>
                  <a:spcPts val="3840"/>
                </a:lnSpc>
              </a:pPr>
              <a:r>
                <a:rPr lang="en-US" sz="3200" b="1" spc="228">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2、问卷设计</a:t>
              </a:r>
              <a:endParaRPr lang="en-US" sz="3200" b="1" spc="228">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8" name="TextBox 49"/>
            <p:cNvSpPr txBox="1"/>
            <p:nvPr/>
          </p:nvSpPr>
          <p:spPr>
            <a:xfrm>
              <a:off x="11561644" y="7494671"/>
              <a:ext cx="7116493" cy="559897"/>
            </a:xfrm>
            <a:prstGeom prst="rect">
              <a:avLst/>
            </a:prstGeom>
          </p:spPr>
          <p:txBody>
            <a:bodyPr lIns="0" tIns="0" rIns="0" bIns="0" rtlCol="0" anchor="t">
              <a:spAutoFit/>
            </a:bodyPr>
            <a:lstStyle/>
            <a:p>
              <a:pPr algn="l">
                <a:lnSpc>
                  <a:spcPts val="3655"/>
                </a:lnSpc>
              </a:pPr>
              <a:r>
                <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检验问卷合理性，并对问卷进行进一步修改</a:t>
              </a:r>
              <a:endPar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9" name="TextBox 50"/>
            <p:cNvSpPr txBox="1"/>
            <p:nvPr/>
          </p:nvSpPr>
          <p:spPr>
            <a:xfrm>
              <a:off x="11561644" y="6707223"/>
              <a:ext cx="4302686" cy="656167"/>
            </a:xfrm>
            <a:prstGeom prst="rect">
              <a:avLst/>
            </a:prstGeom>
          </p:spPr>
          <p:txBody>
            <a:bodyPr lIns="0" tIns="0" rIns="0" bIns="0" rtlCol="0" anchor="t">
              <a:spAutoFit/>
            </a:bodyPr>
            <a:lstStyle/>
            <a:p>
              <a:pPr algn="l">
                <a:lnSpc>
                  <a:spcPts val="3840"/>
                </a:lnSpc>
              </a:pPr>
              <a:r>
                <a:rPr lang="en-US" sz="3200" b="1" spc="228">
                  <a:solidFill>
                    <a:srgbClr val="E162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3、预调研</a:t>
              </a:r>
              <a:endParaRPr lang="en-US" sz="3200" b="1" spc="228">
                <a:solidFill>
                  <a:srgbClr val="E162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nvGrpSpPr>
            <p:cNvPr id="45" name="Group 51"/>
            <p:cNvGrpSpPr/>
            <p:nvPr/>
          </p:nvGrpSpPr>
          <p:grpSpPr>
            <a:xfrm>
              <a:off x="9946062" y="1081570"/>
              <a:ext cx="1173327" cy="1173327"/>
              <a:chOff x="0" y="0"/>
              <a:chExt cx="1489152" cy="1489152"/>
            </a:xfrm>
          </p:grpSpPr>
          <p:sp>
            <p:nvSpPr>
              <p:cNvPr id="61" name="Freeform 52"/>
              <p:cNvSpPr/>
              <p:nvPr/>
            </p:nvSpPr>
            <p:spPr>
              <a:xfrm>
                <a:off x="63500" y="63500"/>
                <a:ext cx="1362202" cy="1362202"/>
              </a:xfrm>
              <a:custGeom>
                <a:avLst/>
                <a:gdLst/>
                <a:ahLst/>
                <a:cxnLst/>
                <a:rect l="l" t="t" r="r" b="b"/>
                <a:pathLst>
                  <a:path w="1362202" h="1362202">
                    <a:moveTo>
                      <a:pt x="0" y="681101"/>
                    </a:moveTo>
                    <a:cubicBezTo>
                      <a:pt x="0" y="304927"/>
                      <a:pt x="304927" y="0"/>
                      <a:pt x="681101" y="0"/>
                    </a:cubicBezTo>
                    <a:cubicBezTo>
                      <a:pt x="1057275" y="0"/>
                      <a:pt x="1362202" y="304927"/>
                      <a:pt x="1362202" y="681101"/>
                    </a:cubicBezTo>
                    <a:cubicBezTo>
                      <a:pt x="1362202" y="1057275"/>
                      <a:pt x="1057275" y="1362202"/>
                      <a:pt x="681101" y="1362202"/>
                    </a:cubicBezTo>
                    <a:cubicBezTo>
                      <a:pt x="304927" y="1362202"/>
                      <a:pt x="0" y="1057275"/>
                      <a:pt x="0" y="681101"/>
                    </a:cubicBezTo>
                    <a:close/>
                  </a:path>
                </a:pathLst>
              </a:custGeom>
              <a:solidFill>
                <a:srgbClr val="FFFFFF"/>
              </a:solidFill>
            </p:spPr>
          </p:sp>
          <p:sp>
            <p:nvSpPr>
              <p:cNvPr id="46" name="Freeform 53"/>
              <p:cNvSpPr/>
              <p:nvPr/>
            </p:nvSpPr>
            <p:spPr>
              <a:xfrm>
                <a:off x="0" y="0"/>
                <a:ext cx="1489202" cy="1489202"/>
              </a:xfrm>
              <a:custGeom>
                <a:avLst/>
                <a:gdLst/>
                <a:ahLst/>
                <a:cxnLst/>
                <a:rect l="l" t="t" r="r" b="b"/>
                <a:pathLst>
                  <a:path w="1489202" h="1489202">
                    <a:moveTo>
                      <a:pt x="0" y="744601"/>
                    </a:moveTo>
                    <a:cubicBezTo>
                      <a:pt x="0" y="333375"/>
                      <a:pt x="333375" y="0"/>
                      <a:pt x="744601" y="0"/>
                    </a:cubicBezTo>
                    <a:lnTo>
                      <a:pt x="744601" y="63500"/>
                    </a:lnTo>
                    <a:lnTo>
                      <a:pt x="744601" y="0"/>
                    </a:lnTo>
                    <a:cubicBezTo>
                      <a:pt x="1155827" y="0"/>
                      <a:pt x="1489202" y="333375"/>
                      <a:pt x="1489202" y="744601"/>
                    </a:cubicBezTo>
                    <a:lnTo>
                      <a:pt x="1425702" y="744601"/>
                    </a:lnTo>
                    <a:lnTo>
                      <a:pt x="1489202" y="744601"/>
                    </a:lnTo>
                    <a:cubicBezTo>
                      <a:pt x="1489202" y="1155827"/>
                      <a:pt x="1155827" y="1489202"/>
                      <a:pt x="744601" y="1489202"/>
                    </a:cubicBezTo>
                    <a:lnTo>
                      <a:pt x="744601" y="1425702"/>
                    </a:lnTo>
                    <a:lnTo>
                      <a:pt x="744601" y="1489202"/>
                    </a:lnTo>
                    <a:cubicBezTo>
                      <a:pt x="333375" y="1489202"/>
                      <a:pt x="0" y="1155827"/>
                      <a:pt x="0" y="744601"/>
                    </a:cubicBezTo>
                    <a:lnTo>
                      <a:pt x="63500" y="744601"/>
                    </a:lnTo>
                    <a:lnTo>
                      <a:pt x="127000" y="744601"/>
                    </a:lnTo>
                    <a:lnTo>
                      <a:pt x="63500" y="744601"/>
                    </a:lnTo>
                    <a:lnTo>
                      <a:pt x="0" y="744601"/>
                    </a:lnTo>
                    <a:moveTo>
                      <a:pt x="127000" y="744601"/>
                    </a:moveTo>
                    <a:cubicBezTo>
                      <a:pt x="127000" y="779653"/>
                      <a:pt x="98552" y="808101"/>
                      <a:pt x="63500" y="808101"/>
                    </a:cubicBezTo>
                    <a:cubicBezTo>
                      <a:pt x="28448" y="808101"/>
                      <a:pt x="0" y="779653"/>
                      <a:pt x="0" y="744601"/>
                    </a:cubicBezTo>
                    <a:cubicBezTo>
                      <a:pt x="0" y="709549"/>
                      <a:pt x="28448" y="681101"/>
                      <a:pt x="63500" y="681101"/>
                    </a:cubicBezTo>
                    <a:cubicBezTo>
                      <a:pt x="98552" y="681101"/>
                      <a:pt x="127000" y="709549"/>
                      <a:pt x="127000" y="744601"/>
                    </a:cubicBezTo>
                    <a:cubicBezTo>
                      <a:pt x="127000" y="1085723"/>
                      <a:pt x="403479" y="1362202"/>
                      <a:pt x="744601" y="1362202"/>
                    </a:cubicBezTo>
                    <a:cubicBezTo>
                      <a:pt x="1085723" y="1362202"/>
                      <a:pt x="1362202" y="1085723"/>
                      <a:pt x="1362202" y="744601"/>
                    </a:cubicBezTo>
                    <a:cubicBezTo>
                      <a:pt x="1362202" y="403479"/>
                      <a:pt x="1085596" y="127000"/>
                      <a:pt x="744601" y="127000"/>
                    </a:cubicBezTo>
                    <a:lnTo>
                      <a:pt x="744601" y="63500"/>
                    </a:lnTo>
                    <a:lnTo>
                      <a:pt x="744601" y="127000"/>
                    </a:lnTo>
                    <a:cubicBezTo>
                      <a:pt x="403479" y="127000"/>
                      <a:pt x="127000" y="403479"/>
                      <a:pt x="127000" y="744601"/>
                    </a:cubicBezTo>
                    <a:close/>
                  </a:path>
                </a:pathLst>
              </a:custGeom>
              <a:solidFill>
                <a:srgbClr val="FF944E"/>
              </a:solidFill>
            </p:spPr>
          </p:sp>
        </p:grpSp>
        <p:sp>
          <p:nvSpPr>
            <p:cNvPr id="47" name="Freeform 54"/>
            <p:cNvSpPr/>
            <p:nvPr/>
          </p:nvSpPr>
          <p:spPr>
            <a:xfrm>
              <a:off x="10211537" y="1355503"/>
              <a:ext cx="629360" cy="629416"/>
            </a:xfrm>
            <a:custGeom>
              <a:avLst/>
              <a:gdLst/>
              <a:ahLst/>
              <a:cxnLst/>
              <a:rect l="l" t="t" r="r" b="b"/>
              <a:pathLst>
                <a:path w="629360" h="629416">
                  <a:moveTo>
                    <a:pt x="0" y="0"/>
                  </a:moveTo>
                  <a:lnTo>
                    <a:pt x="629360" y="0"/>
                  </a:lnTo>
                  <a:lnTo>
                    <a:pt x="629360" y="629416"/>
                  </a:lnTo>
                  <a:lnTo>
                    <a:pt x="0" y="629416"/>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66" name="Freeform 55"/>
            <p:cNvSpPr/>
            <p:nvPr/>
          </p:nvSpPr>
          <p:spPr>
            <a:xfrm>
              <a:off x="9337333" y="9574342"/>
              <a:ext cx="632484" cy="625368"/>
            </a:xfrm>
            <a:custGeom>
              <a:avLst/>
              <a:gdLst/>
              <a:ahLst/>
              <a:cxnLst/>
              <a:rect l="l" t="t" r="r" b="b"/>
              <a:pathLst>
                <a:path w="632484" h="625368">
                  <a:moveTo>
                    <a:pt x="0" y="0"/>
                  </a:moveTo>
                  <a:lnTo>
                    <a:pt x="632483" y="0"/>
                  </a:lnTo>
                  <a:lnTo>
                    <a:pt x="632483" y="625369"/>
                  </a:lnTo>
                  <a:lnTo>
                    <a:pt x="0" y="625369"/>
                  </a:lnTo>
                  <a:lnTo>
                    <a:pt x="0" y="0"/>
                  </a:lnTo>
                  <a:close/>
                </a:path>
              </a:pathLst>
            </a:custGeom>
            <a:blipFill>
              <a:blip r:embed="rId16">
                <a:extLst>
                  <a:ext uri="{96DAC541-7B7A-43D3-8B79-37D633B846F1}">
                    <asvg:svgBlip xmlns:asvg="http://schemas.microsoft.com/office/drawing/2016/SVG/main" r:embed="rId17"/>
                  </a:ext>
                </a:extLst>
              </a:blip>
              <a:stretch>
                <a:fillRect/>
              </a:stretch>
            </a:blipFill>
            <a:ln cap="sq">
              <a:noFill/>
              <a:prstDash val="solid"/>
              <a:miter/>
            </a:ln>
          </p:spPr>
        </p:sp>
      </p:grpSp>
      <p:grpSp>
        <p:nvGrpSpPr>
          <p:cNvPr id="67" name="Group 56"/>
          <p:cNvGrpSpPr/>
          <p:nvPr/>
        </p:nvGrpSpPr>
        <p:grpSpPr>
          <a:xfrm>
            <a:off x="13929457" y="1384968"/>
            <a:ext cx="3966324" cy="8064573"/>
            <a:chOff x="0" y="0"/>
            <a:chExt cx="5288433" cy="10752764"/>
          </a:xfrm>
        </p:grpSpPr>
        <p:grpSp>
          <p:nvGrpSpPr>
            <p:cNvPr id="68" name="Group 57"/>
            <p:cNvGrpSpPr/>
            <p:nvPr/>
          </p:nvGrpSpPr>
          <p:grpSpPr>
            <a:xfrm>
              <a:off x="0" y="2652870"/>
              <a:ext cx="5288433" cy="8099894"/>
              <a:chOff x="0" y="0"/>
              <a:chExt cx="1031853" cy="1580412"/>
            </a:xfrm>
          </p:grpSpPr>
          <p:sp>
            <p:nvSpPr>
              <p:cNvPr id="106" name="Freeform 58"/>
              <p:cNvSpPr/>
              <p:nvPr/>
            </p:nvSpPr>
            <p:spPr>
              <a:xfrm>
                <a:off x="0" y="0"/>
                <a:ext cx="1031853" cy="1580412"/>
              </a:xfrm>
              <a:custGeom>
                <a:avLst/>
                <a:gdLst/>
                <a:ahLst/>
                <a:cxnLst/>
                <a:rect l="l" t="t" r="r" b="b"/>
                <a:pathLst>
                  <a:path w="1031853" h="1580412">
                    <a:moveTo>
                      <a:pt x="58557" y="0"/>
                    </a:moveTo>
                    <a:lnTo>
                      <a:pt x="973296" y="0"/>
                    </a:lnTo>
                    <a:cubicBezTo>
                      <a:pt x="988826" y="0"/>
                      <a:pt x="1003721" y="6169"/>
                      <a:pt x="1014702" y="17151"/>
                    </a:cubicBezTo>
                    <a:cubicBezTo>
                      <a:pt x="1025684" y="28133"/>
                      <a:pt x="1031853" y="43027"/>
                      <a:pt x="1031853" y="58557"/>
                    </a:cubicBezTo>
                    <a:lnTo>
                      <a:pt x="1031853" y="1521855"/>
                    </a:lnTo>
                    <a:cubicBezTo>
                      <a:pt x="1031853" y="1554195"/>
                      <a:pt x="1005636" y="1580412"/>
                      <a:pt x="973296" y="1580412"/>
                    </a:cubicBezTo>
                    <a:lnTo>
                      <a:pt x="58557" y="1580412"/>
                    </a:lnTo>
                    <a:cubicBezTo>
                      <a:pt x="26217" y="1580412"/>
                      <a:pt x="0" y="1554195"/>
                      <a:pt x="0" y="1521855"/>
                    </a:cubicBezTo>
                    <a:lnTo>
                      <a:pt x="0" y="58557"/>
                    </a:lnTo>
                    <a:cubicBezTo>
                      <a:pt x="0" y="26217"/>
                      <a:pt x="26217" y="0"/>
                      <a:pt x="58557" y="0"/>
                    </a:cubicBezTo>
                    <a:close/>
                  </a:path>
                </a:pathLst>
              </a:custGeom>
              <a:gradFill rotWithShape="1">
                <a:gsLst>
                  <a:gs pos="0">
                    <a:srgbClr val="EE7E35">
                      <a:alpha val="100000"/>
                    </a:srgbClr>
                  </a:gs>
                  <a:gs pos="100000">
                    <a:srgbClr val="FFA65C">
                      <a:alpha val="100000"/>
                    </a:srgbClr>
                  </a:gs>
                </a:gsLst>
                <a:lin ang="5400000"/>
              </a:gradFill>
            </p:spPr>
          </p:sp>
          <p:sp>
            <p:nvSpPr>
              <p:cNvPr id="109" name="TextBox 59"/>
              <p:cNvSpPr txBox="1"/>
              <p:nvPr/>
            </p:nvSpPr>
            <p:spPr>
              <a:xfrm>
                <a:off x="0" y="-114300"/>
                <a:ext cx="1031853" cy="1694712"/>
              </a:xfrm>
              <a:prstGeom prst="rect">
                <a:avLst/>
              </a:prstGeom>
            </p:spPr>
            <p:txBody>
              <a:bodyPr lIns="51429" tIns="51429" rIns="51429" bIns="51429" rtlCol="0" anchor="ctr"/>
              <a:lstStyle/>
              <a:p>
                <a:pPr algn="ctr">
                  <a:lnSpc>
                    <a:spcPts val="378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110" name="Group 60"/>
            <p:cNvGrpSpPr/>
            <p:nvPr/>
          </p:nvGrpSpPr>
          <p:grpSpPr>
            <a:xfrm>
              <a:off x="167167" y="3713403"/>
              <a:ext cx="4954062" cy="6842163"/>
              <a:chOff x="0" y="0"/>
              <a:chExt cx="966613" cy="1335010"/>
            </a:xfrm>
          </p:grpSpPr>
          <p:sp>
            <p:nvSpPr>
              <p:cNvPr id="111" name="Freeform 61"/>
              <p:cNvSpPr/>
              <p:nvPr/>
            </p:nvSpPr>
            <p:spPr>
              <a:xfrm>
                <a:off x="0" y="0"/>
                <a:ext cx="966613" cy="1335010"/>
              </a:xfrm>
              <a:custGeom>
                <a:avLst/>
                <a:gdLst/>
                <a:ahLst/>
                <a:cxnLst/>
                <a:rect l="l" t="t" r="r" b="b"/>
                <a:pathLst>
                  <a:path w="966613" h="1335010">
                    <a:moveTo>
                      <a:pt x="52091" y="0"/>
                    </a:moveTo>
                    <a:lnTo>
                      <a:pt x="914521" y="0"/>
                    </a:lnTo>
                    <a:cubicBezTo>
                      <a:pt x="928337" y="0"/>
                      <a:pt x="941586" y="5488"/>
                      <a:pt x="951355" y="15257"/>
                    </a:cubicBezTo>
                    <a:cubicBezTo>
                      <a:pt x="961124" y="25026"/>
                      <a:pt x="966613" y="38276"/>
                      <a:pt x="966613" y="52091"/>
                    </a:cubicBezTo>
                    <a:lnTo>
                      <a:pt x="966613" y="1282918"/>
                    </a:lnTo>
                    <a:cubicBezTo>
                      <a:pt x="966613" y="1296734"/>
                      <a:pt x="961124" y="1309984"/>
                      <a:pt x="951355" y="1319752"/>
                    </a:cubicBezTo>
                    <a:cubicBezTo>
                      <a:pt x="941586" y="1329522"/>
                      <a:pt x="928337" y="1335010"/>
                      <a:pt x="914521" y="1335010"/>
                    </a:cubicBezTo>
                    <a:lnTo>
                      <a:pt x="52091" y="1335010"/>
                    </a:lnTo>
                    <a:cubicBezTo>
                      <a:pt x="38276" y="1335010"/>
                      <a:pt x="25026" y="1329522"/>
                      <a:pt x="15257" y="1319752"/>
                    </a:cubicBezTo>
                    <a:cubicBezTo>
                      <a:pt x="5488" y="1309984"/>
                      <a:pt x="0" y="1296734"/>
                      <a:pt x="0" y="1282918"/>
                    </a:cubicBezTo>
                    <a:lnTo>
                      <a:pt x="0" y="52091"/>
                    </a:lnTo>
                    <a:cubicBezTo>
                      <a:pt x="0" y="38276"/>
                      <a:pt x="5488" y="25026"/>
                      <a:pt x="15257" y="15257"/>
                    </a:cubicBezTo>
                    <a:cubicBezTo>
                      <a:pt x="25026" y="5488"/>
                      <a:pt x="38276" y="0"/>
                      <a:pt x="52091" y="0"/>
                    </a:cubicBezTo>
                    <a:close/>
                  </a:path>
                </a:pathLst>
              </a:custGeom>
              <a:solidFill>
                <a:srgbClr val="FCFBF9"/>
              </a:solidFill>
            </p:spPr>
          </p:sp>
          <p:sp>
            <p:nvSpPr>
              <p:cNvPr id="112" name="TextBox 62"/>
              <p:cNvSpPr txBox="1"/>
              <p:nvPr/>
            </p:nvSpPr>
            <p:spPr>
              <a:xfrm>
                <a:off x="0" y="-114300"/>
                <a:ext cx="966613" cy="1449310"/>
              </a:xfrm>
              <a:prstGeom prst="rect">
                <a:avLst/>
              </a:prstGeom>
            </p:spPr>
            <p:txBody>
              <a:bodyPr lIns="51429" tIns="51429" rIns="51429" bIns="51429" rtlCol="0" anchor="ctr"/>
              <a:lstStyle/>
              <a:p>
                <a:pPr algn="ctr">
                  <a:lnSpc>
                    <a:spcPts val="378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13" name="TextBox 63"/>
            <p:cNvSpPr txBox="1"/>
            <p:nvPr/>
          </p:nvSpPr>
          <p:spPr>
            <a:xfrm>
              <a:off x="98539" y="2709076"/>
              <a:ext cx="5022690" cy="874000"/>
            </a:xfrm>
            <a:prstGeom prst="rect">
              <a:avLst/>
            </a:prstGeom>
          </p:spPr>
          <p:txBody>
            <a:bodyPr lIns="0" tIns="0" rIns="0" bIns="0" rtlCol="0" anchor="t">
              <a:spAutoFit/>
            </a:bodyPr>
            <a:lstStyle/>
            <a:p>
              <a:pPr algn="ctr">
                <a:lnSpc>
                  <a:spcPts val="5760"/>
                </a:lnSpc>
                <a:spcBef>
                  <a:spcPct val="0"/>
                </a:spcBef>
              </a:pPr>
              <a:r>
                <a:rPr lang="en-US" sz="3200" b="1" spc="29">
                  <a:solidFill>
                    <a:srgbClr val="FFFFFF"/>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调研地点：上海市</a:t>
              </a:r>
              <a:endParaRPr lang="en-US" sz="3200" b="1" spc="29">
                <a:solidFill>
                  <a:srgbClr val="FFFFFF"/>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114" name="TextBox 64"/>
            <p:cNvSpPr txBox="1"/>
            <p:nvPr/>
          </p:nvSpPr>
          <p:spPr>
            <a:xfrm>
              <a:off x="121080" y="4154109"/>
              <a:ext cx="4877696" cy="6132407"/>
            </a:xfrm>
            <a:prstGeom prst="rect">
              <a:avLst/>
            </a:prstGeom>
          </p:spPr>
          <p:txBody>
            <a:bodyPr wrap="square" lIns="0" tIns="0" rIns="0" bIns="0" rtlCol="0" anchor="t">
              <a:spAutoFit/>
            </a:bodyPr>
            <a:lstStyle/>
            <a:p>
              <a:pPr marL="518160" lvl="1" indent="-259080" algn="l">
                <a:lnSpc>
                  <a:spcPts val="3505"/>
                </a:lnSpc>
                <a:buFont typeface="微软雅黑" panose="020B0503020204020204" pitchFamily="34" charset="-122"/>
                <a:buChar char="•"/>
              </a:pPr>
              <a:r>
                <a:rPr lang="en-US" sz="2400" spc="-136" dirty="0" err="1">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rPr>
                <a:t>已进入</a:t>
              </a:r>
              <a:r>
                <a:rPr lang="en-US" sz="2400" b="1" spc="-136" dirty="0" err="1">
                  <a:solidFill>
                    <a:srgbClr val="0000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深度老龄化社会</a:t>
              </a:r>
              <a:endParaRPr lang="en-US" sz="2400" b="1" spc="-136" dirty="0">
                <a:solidFill>
                  <a:srgbClr val="0000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algn="l">
                <a:lnSpc>
                  <a:spcPts val="1370"/>
                </a:lnSpc>
              </a:pPr>
              <a:endParaRPr lang="en-US" sz="2400" b="1" spc="-136" dirty="0">
                <a:solidFill>
                  <a:srgbClr val="0000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marL="518160" lvl="1" indent="-259080" algn="l">
                <a:lnSpc>
                  <a:spcPts val="3505"/>
                </a:lnSpc>
                <a:buFont typeface="微软雅黑" panose="020B0503020204020204" pitchFamily="34" charset="-122"/>
                <a:buChar char="•"/>
              </a:pPr>
              <a:r>
                <a:rPr lang="en-US" sz="2400" b="1" spc="-136" dirty="0">
                  <a:solidFill>
                    <a:srgbClr val="0000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a:t>
              </a:r>
              <a:r>
                <a:rPr lang="en-US" sz="2400" b="1" spc="-136" dirty="0" err="1">
                  <a:solidFill>
                    <a:srgbClr val="0000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住房富有、现金贫穷”</a:t>
              </a:r>
              <a:r>
                <a:rPr lang="en-US" sz="2400" spc="-136" dirty="0" err="1">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rPr>
                <a:t>的结构性矛盾突出</a:t>
              </a:r>
              <a:endParaRPr lang="en-US" sz="2400" spc="-136" dirty="0">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endParaRPr>
            </a:p>
            <a:p>
              <a:pPr algn="l">
                <a:lnSpc>
                  <a:spcPts val="1415"/>
                </a:lnSpc>
              </a:pPr>
              <a:endParaRPr lang="en-US" sz="2400" spc="-136" dirty="0">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endParaRPr>
            </a:p>
            <a:p>
              <a:pPr marL="518160" lvl="1" indent="-259080" algn="l">
                <a:lnSpc>
                  <a:spcPts val="3505"/>
                </a:lnSpc>
                <a:buFont typeface="微软雅黑" panose="020B0503020204020204" pitchFamily="34" charset="-122"/>
                <a:buChar char="•"/>
              </a:pPr>
              <a:r>
                <a:rPr lang="en-US" sz="2400" spc="-136" dirty="0">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rPr>
                <a:t>作为2014年以房养老</a:t>
              </a:r>
              <a:r>
                <a:rPr lang="en-US" sz="2400" b="1" spc="-136" dirty="0">
                  <a:solidFill>
                    <a:srgbClr val="0000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首批试点城市</a:t>
              </a:r>
              <a:endParaRPr lang="en-US" sz="2400" b="1" spc="-136" dirty="0">
                <a:solidFill>
                  <a:srgbClr val="0000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algn="l">
                <a:lnSpc>
                  <a:spcPts val="1535"/>
                </a:lnSpc>
              </a:pPr>
              <a:endParaRPr lang="en-US" sz="2400" b="1" spc="-136" dirty="0">
                <a:solidFill>
                  <a:srgbClr val="0000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marL="518160" lvl="1" indent="-259080" algn="l">
                <a:lnSpc>
                  <a:spcPts val="3505"/>
                </a:lnSpc>
                <a:buFont typeface="微软雅黑" panose="020B0503020204020204" pitchFamily="34" charset="-122"/>
                <a:buChar char="•"/>
              </a:pPr>
              <a:r>
                <a:rPr lang="en-US" sz="2400" spc="-136" dirty="0" err="1">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rPr>
                <a:t>幸福人寿、上海信托、中信银行等各类参与机构在上海均有相关业务布局</a:t>
              </a:r>
              <a:endParaRPr lang="en-US" sz="2400" spc="-136" dirty="0">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endParaRPr>
            </a:p>
          </p:txBody>
        </p:sp>
        <p:sp>
          <p:nvSpPr>
            <p:cNvPr id="115" name="Freeform 65"/>
            <p:cNvSpPr/>
            <p:nvPr/>
          </p:nvSpPr>
          <p:spPr>
            <a:xfrm>
              <a:off x="2361235" y="0"/>
              <a:ext cx="2914498" cy="2914498"/>
            </a:xfrm>
            <a:custGeom>
              <a:avLst/>
              <a:gdLst/>
              <a:ahLst/>
              <a:cxnLst/>
              <a:rect l="l" t="t" r="r" b="b"/>
              <a:pathLst>
                <a:path w="2914498" h="2914498">
                  <a:moveTo>
                    <a:pt x="0" y="0"/>
                  </a:moveTo>
                  <a:lnTo>
                    <a:pt x="2914498" y="0"/>
                  </a:lnTo>
                  <a:lnTo>
                    <a:pt x="2914498" y="2914498"/>
                  </a:lnTo>
                  <a:lnTo>
                    <a:pt x="0" y="2914498"/>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grpSp>
      <p:grpSp>
        <p:nvGrpSpPr>
          <p:cNvPr id="60" name="Group 35"/>
          <p:cNvGrpSpPr/>
          <p:nvPr/>
        </p:nvGrpSpPr>
        <p:grpSpPr>
          <a:xfrm>
            <a:off x="9534747" y="-381623"/>
            <a:ext cx="2112548" cy="1134695"/>
            <a:chOff x="0" y="-123825"/>
            <a:chExt cx="609349" cy="298849"/>
          </a:xfrm>
        </p:grpSpPr>
        <p:sp>
          <p:nvSpPr>
            <p:cNvPr id="62" name="Freeform 3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a:p>
          </p:txBody>
        </p:sp>
        <p:sp>
          <p:nvSpPr>
            <p:cNvPr id="63"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64" name="TextBox 63"/>
          <p:cNvSpPr txBox="1"/>
          <p:nvPr/>
        </p:nvSpPr>
        <p:spPr>
          <a:xfrm>
            <a:off x="7482844" y="182001"/>
            <a:ext cx="2029460"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5" name="TextBox 64"/>
          <p:cNvSpPr txBox="1"/>
          <p:nvPr/>
        </p:nvSpPr>
        <p:spPr>
          <a:xfrm>
            <a:off x="11607729" y="192268"/>
            <a:ext cx="2314575" cy="4616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9" name="TextBox 65"/>
          <p:cNvSpPr txBox="1"/>
          <p:nvPr/>
        </p:nvSpPr>
        <p:spPr>
          <a:xfrm>
            <a:off x="13617504" y="192268"/>
            <a:ext cx="2232413" cy="46164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70" name="TextBox 66"/>
          <p:cNvSpPr txBox="1"/>
          <p:nvPr/>
        </p:nvSpPr>
        <p:spPr>
          <a:xfrm>
            <a:off x="5274208" y="184126"/>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71" name="TextBox 65"/>
          <p:cNvSpPr txBox="1"/>
          <p:nvPr/>
        </p:nvSpPr>
        <p:spPr>
          <a:xfrm>
            <a:off x="15581836" y="199629"/>
            <a:ext cx="2232413"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72" name="TextBox 66"/>
          <p:cNvSpPr txBox="1"/>
          <p:nvPr/>
        </p:nvSpPr>
        <p:spPr>
          <a:xfrm>
            <a:off x="9464826" y="191117"/>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2"/>
            <a:stretch>
              <a:fillRect t="-883"/>
            </a:stretch>
          </a:blipFill>
        </p:spPr>
      </p:sp>
      <p:grpSp>
        <p:nvGrpSpPr>
          <p:cNvPr id="4" name="Group 4"/>
          <p:cNvGrpSpPr/>
          <p:nvPr/>
        </p:nvGrpSpPr>
        <p:grpSpPr>
          <a:xfrm>
            <a:off x="160070" y="-2829424"/>
            <a:ext cx="5133103" cy="4618309"/>
            <a:chOff x="0" y="0"/>
            <a:chExt cx="6844137" cy="6157745"/>
          </a:xfrm>
        </p:grpSpPr>
        <p:grpSp>
          <p:nvGrpSpPr>
            <p:cNvPr id="5" name="Group 5"/>
            <p:cNvGrpSpPr/>
            <p:nvPr/>
          </p:nvGrpSpPr>
          <p:grpSpPr>
            <a:xfrm rot="215490">
              <a:off x="271581" y="295285"/>
              <a:ext cx="6401327" cy="5667527"/>
              <a:chOff x="0" y="0"/>
              <a:chExt cx="2560354" cy="2266854"/>
            </a:xfrm>
          </p:grpSpPr>
          <p:sp>
            <p:nvSpPr>
              <p:cNvPr id="6" name="Freeform 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7" name="TextBox 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8" name="Group 8"/>
            <p:cNvGrpSpPr/>
            <p:nvPr/>
          </p:nvGrpSpPr>
          <p:grpSpPr>
            <a:xfrm rot="215490">
              <a:off x="171229" y="194933"/>
              <a:ext cx="6401327" cy="5667527"/>
              <a:chOff x="0" y="0"/>
              <a:chExt cx="2560354" cy="2266854"/>
            </a:xfrm>
          </p:grpSpPr>
          <p:sp>
            <p:nvSpPr>
              <p:cNvPr id="9" name="Freeform 9"/>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0" name="TextBox 10"/>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1" name="Group 11"/>
            <p:cNvGrpSpPr/>
            <p:nvPr/>
          </p:nvGrpSpPr>
          <p:grpSpPr>
            <a:xfrm>
              <a:off x="124175" y="194933"/>
              <a:ext cx="6401327" cy="5667527"/>
              <a:chOff x="0" y="0"/>
              <a:chExt cx="2560354" cy="2266854"/>
            </a:xfrm>
          </p:grpSpPr>
          <p:sp>
            <p:nvSpPr>
              <p:cNvPr id="12" name="Freeform 12"/>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3" name="TextBox 13"/>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4" name="AutoShape 14"/>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18" name="Freeform 18"/>
          <p:cNvSpPr/>
          <p:nvPr/>
        </p:nvSpPr>
        <p:spPr>
          <a:xfrm>
            <a:off x="7055501"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3">
              <a:alphaModFix amt="6999"/>
            </a:blip>
            <a:stretch>
              <a:fillRect r="-20235"/>
            </a:stretch>
          </a:blipFill>
          <a:ln w="19050" cap="sq">
            <a:solidFill>
              <a:srgbClr val="FCFBF9">
                <a:alpha val="6667"/>
              </a:srgbClr>
            </a:solidFill>
            <a:prstDash val="solid"/>
            <a:miter/>
          </a:ln>
        </p:spPr>
      </p:sp>
      <p:sp>
        <p:nvSpPr>
          <p:cNvPr id="19" name="Freeform 19"/>
          <p:cNvSpPr/>
          <p:nvPr/>
        </p:nvSpPr>
        <p:spPr>
          <a:xfrm flipH="1">
            <a:off x="0" y="-157544"/>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4"/>
            <a:stretch>
              <a:fillRect/>
            </a:stretch>
          </a:blipFill>
        </p:spPr>
      </p:sp>
      <p:sp>
        <p:nvSpPr>
          <p:cNvPr id="60" name="TextBox 26"/>
          <p:cNvSpPr txBox="1"/>
          <p:nvPr/>
        </p:nvSpPr>
        <p:spPr>
          <a:xfrm>
            <a:off x="294888" y="360232"/>
            <a:ext cx="4728527" cy="717550"/>
          </a:xfrm>
          <a:prstGeom prst="rect">
            <a:avLst/>
          </a:prstGeom>
        </p:spPr>
        <p:txBody>
          <a:bodyPr lIns="0" tIns="0" rIns="0" bIns="0" rtlCol="0" anchor="t">
            <a:spAutoFit/>
          </a:bodyPr>
          <a:lstStyle/>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数据分析</a:t>
            </a:r>
            <a:endPar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nvGrpSpPr>
          <p:cNvPr id="62" name="Group 19"/>
          <p:cNvGrpSpPr/>
          <p:nvPr/>
        </p:nvGrpSpPr>
        <p:grpSpPr>
          <a:xfrm>
            <a:off x="4524828" y="2124036"/>
            <a:ext cx="9400847" cy="8468078"/>
            <a:chOff x="0" y="0"/>
            <a:chExt cx="12534462" cy="11290770"/>
          </a:xfrm>
        </p:grpSpPr>
        <p:sp>
          <p:nvSpPr>
            <p:cNvPr id="63" name="Freeform 20"/>
            <p:cNvSpPr/>
            <p:nvPr/>
          </p:nvSpPr>
          <p:spPr>
            <a:xfrm>
              <a:off x="0" y="0"/>
              <a:ext cx="12534519" cy="11290808"/>
            </a:xfrm>
            <a:custGeom>
              <a:avLst/>
              <a:gdLst/>
              <a:ahLst/>
              <a:cxnLst/>
              <a:rect l="l" t="t" r="r" b="b"/>
              <a:pathLst>
                <a:path w="12534519" h="11290808">
                  <a:moveTo>
                    <a:pt x="0" y="0"/>
                  </a:moveTo>
                  <a:lnTo>
                    <a:pt x="12534519" y="0"/>
                  </a:lnTo>
                  <a:lnTo>
                    <a:pt x="12534519" y="11290808"/>
                  </a:lnTo>
                  <a:lnTo>
                    <a:pt x="0" y="11290808"/>
                  </a:lnTo>
                  <a:lnTo>
                    <a:pt x="0" y="0"/>
                  </a:lnTo>
                  <a:close/>
                </a:path>
              </a:pathLst>
            </a:custGeom>
            <a:blipFill>
              <a:blip r:embed="rId5"/>
              <a:stretch>
                <a:fillRect/>
              </a:stretch>
            </a:blipFill>
          </p:spPr>
        </p:sp>
      </p:grpSp>
      <p:grpSp>
        <p:nvGrpSpPr>
          <p:cNvPr id="64" name="Group 21"/>
          <p:cNvGrpSpPr/>
          <p:nvPr/>
        </p:nvGrpSpPr>
        <p:grpSpPr>
          <a:xfrm>
            <a:off x="7004118" y="3160685"/>
            <a:ext cx="4279762" cy="6081286"/>
            <a:chOff x="0" y="0"/>
            <a:chExt cx="5706350" cy="8108382"/>
          </a:xfrm>
        </p:grpSpPr>
        <p:sp>
          <p:nvSpPr>
            <p:cNvPr id="65" name="Freeform 22"/>
            <p:cNvSpPr/>
            <p:nvPr/>
          </p:nvSpPr>
          <p:spPr>
            <a:xfrm>
              <a:off x="0" y="0"/>
              <a:ext cx="5706364" cy="8108442"/>
            </a:xfrm>
            <a:custGeom>
              <a:avLst/>
              <a:gdLst/>
              <a:ahLst/>
              <a:cxnLst/>
              <a:rect l="l" t="t" r="r" b="b"/>
              <a:pathLst>
                <a:path w="5706364" h="8108442">
                  <a:moveTo>
                    <a:pt x="0" y="0"/>
                  </a:moveTo>
                  <a:lnTo>
                    <a:pt x="5706364" y="0"/>
                  </a:lnTo>
                  <a:lnTo>
                    <a:pt x="5706364" y="8108442"/>
                  </a:lnTo>
                  <a:lnTo>
                    <a:pt x="0" y="8108442"/>
                  </a:lnTo>
                  <a:lnTo>
                    <a:pt x="0" y="0"/>
                  </a:lnTo>
                  <a:close/>
                </a:path>
              </a:pathLst>
            </a:custGeom>
            <a:blipFill>
              <a:blip r:embed="rId6"/>
              <a:stretch>
                <a:fillRect/>
              </a:stretch>
            </a:blipFill>
          </p:spPr>
        </p:sp>
      </p:grpSp>
      <p:graphicFrame>
        <p:nvGraphicFramePr>
          <p:cNvPr id="69" name="Table 23"/>
          <p:cNvGraphicFramePr>
            <a:graphicFrameLocks noGrp="1"/>
          </p:cNvGraphicFramePr>
          <p:nvPr/>
        </p:nvGraphicFramePr>
        <p:xfrm>
          <a:off x="305208" y="3104433"/>
          <a:ext cx="7064723" cy="2276474"/>
        </p:xfrm>
        <a:graphic>
          <a:graphicData uri="http://schemas.openxmlformats.org/drawingml/2006/table">
            <a:tbl>
              <a:tblPr/>
              <a:tblGrid>
                <a:gridCol w="1243019"/>
                <a:gridCol w="852354"/>
                <a:gridCol w="756382"/>
                <a:gridCol w="797048"/>
                <a:gridCol w="853980"/>
                <a:gridCol w="853980"/>
                <a:gridCol w="853980"/>
                <a:gridCol w="853980"/>
              </a:tblGrid>
              <a:tr h="975632">
                <a:tc>
                  <a:txBody>
                    <a:bodyPr/>
                    <a:lstStyle/>
                    <a:p>
                      <a:pPr algn="ctr">
                        <a:lnSpc>
                          <a:spcPts val="2160"/>
                        </a:lnSpc>
                        <a:defRPr/>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变量名称</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lstStyle/>
                    <a:p>
                      <a:pPr algn="ctr">
                        <a:lnSpc>
                          <a:spcPts val="2160"/>
                        </a:lnSpc>
                        <a:defRPr/>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性别</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lstStyle/>
                    <a:p>
                      <a:pPr algn="ctr">
                        <a:lnSpc>
                          <a:spcPts val="2160"/>
                        </a:lnSpc>
                        <a:defRPr/>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教育</a:t>
                      </a:r>
                      <a:endParaRPr lang="en-US" sz="1100">
                        <a:ea typeface="微软雅黑" panose="020B0503020204020204" pitchFamily="34" charset="-122"/>
                        <a:cs typeface="微软雅黑" panose="020B0503020204020204" pitchFamily="34" charset="-122"/>
                      </a:endParaRPr>
                    </a:p>
                    <a:p>
                      <a:pPr algn="ctr">
                        <a:lnSpc>
                          <a:spcPts val="2160"/>
                        </a:lnSpc>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程度</a:t>
                      </a:r>
                      <a:endPar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lstStyle/>
                    <a:p>
                      <a:pPr algn="ctr">
                        <a:lnSpc>
                          <a:spcPts val="2160"/>
                        </a:lnSpc>
                        <a:defRPr/>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月收入</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lstStyle/>
                    <a:p>
                      <a:pPr algn="ctr">
                        <a:lnSpc>
                          <a:spcPts val="2160"/>
                        </a:lnSpc>
                        <a:defRPr/>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婚姻</a:t>
                      </a:r>
                      <a:endParaRPr lang="en-US" sz="1100">
                        <a:ea typeface="微软雅黑" panose="020B0503020204020204" pitchFamily="34" charset="-122"/>
                        <a:cs typeface="微软雅黑" panose="020B0503020204020204" pitchFamily="34" charset="-122"/>
                      </a:endParaRPr>
                    </a:p>
                    <a:p>
                      <a:pPr algn="ctr">
                        <a:lnSpc>
                          <a:spcPts val="2160"/>
                        </a:lnSpc>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状况</a:t>
                      </a:r>
                      <a:endPar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lstStyle/>
                    <a:p>
                      <a:pPr algn="ctr">
                        <a:lnSpc>
                          <a:spcPts val="2160"/>
                        </a:lnSpc>
                        <a:defRPr/>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住房</a:t>
                      </a:r>
                      <a:endParaRPr lang="en-US" sz="1100">
                        <a:ea typeface="微软雅黑" panose="020B0503020204020204" pitchFamily="34" charset="-122"/>
                        <a:cs typeface="微软雅黑" panose="020B0503020204020204" pitchFamily="34" charset="-122"/>
                      </a:endParaRPr>
                    </a:p>
                    <a:p>
                      <a:pPr algn="ctr">
                        <a:lnSpc>
                          <a:spcPts val="2160"/>
                        </a:lnSpc>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套数</a:t>
                      </a:r>
                      <a:endPar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lstStyle/>
                    <a:p>
                      <a:pPr algn="ctr">
                        <a:lnSpc>
                          <a:spcPts val="2160"/>
                        </a:lnSpc>
                        <a:defRPr/>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养老</a:t>
                      </a:r>
                      <a:endParaRPr lang="en-US" sz="1100">
                        <a:ea typeface="微软雅黑" panose="020B0503020204020204" pitchFamily="34" charset="-122"/>
                        <a:cs typeface="微软雅黑" panose="020B0503020204020204" pitchFamily="34" charset="-122"/>
                      </a:endParaRPr>
                    </a:p>
                    <a:p>
                      <a:pPr algn="ctr">
                        <a:lnSpc>
                          <a:spcPts val="2160"/>
                        </a:lnSpc>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方式</a:t>
                      </a:r>
                      <a:endPar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lstStyle/>
                    <a:p>
                      <a:pPr algn="ctr">
                        <a:lnSpc>
                          <a:spcPts val="2160"/>
                        </a:lnSpc>
                        <a:defRPr/>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了解</a:t>
                      </a:r>
                      <a:endParaRPr lang="en-US" sz="1100">
                        <a:ea typeface="微软雅黑" panose="020B0503020204020204" pitchFamily="34" charset="-122"/>
                        <a:cs typeface="微软雅黑" panose="020B0503020204020204" pitchFamily="34" charset="-122"/>
                      </a:endParaRPr>
                    </a:p>
                    <a:p>
                      <a:pPr algn="ctr">
                        <a:lnSpc>
                          <a:spcPts val="2160"/>
                        </a:lnSpc>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程度</a:t>
                      </a:r>
                      <a:endPar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r>
              <a:tr h="650421">
                <a:tc>
                  <a:txBody>
                    <a:bodyPr/>
                    <a:lstStyle/>
                    <a:p>
                      <a:pPr algn="ctr">
                        <a:lnSpc>
                          <a:spcPts val="1980"/>
                        </a:lnSpc>
                        <a:defRPr/>
                      </a:pPr>
                      <a:r>
                        <a:rPr lang="en-US" sz="165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老年人</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0.786</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0.732</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0.753</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0.762</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0.753</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0.76</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0.762</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r>
              <a:tr h="650421">
                <a:tc>
                  <a:txBody>
                    <a:bodyPr/>
                    <a:lstStyle/>
                    <a:p>
                      <a:pPr algn="ctr">
                        <a:lnSpc>
                          <a:spcPts val="1980"/>
                        </a:lnSpc>
                        <a:defRPr/>
                      </a:pPr>
                      <a:r>
                        <a:rPr lang="zh-CN" altLang="en-US" sz="165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中青年人</a:t>
                      </a:r>
                      <a:endParaRPr lang="zh-CN" altLang="en-US" sz="165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4762" cap="flat" cmpd="sng" algn="ctr">
                      <a:solidFill>
                        <a:srgbClr val="000000"/>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lstStyle/>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0.747</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4762" cap="flat" cmpd="sng" algn="ctr">
                      <a:solidFill>
                        <a:srgbClr val="000000"/>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lstStyle/>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0.779</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4762" cap="flat" cmpd="sng" algn="ctr">
                      <a:solidFill>
                        <a:srgbClr val="000000"/>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lstStyle/>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0.763</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4762" cap="flat" cmpd="sng" algn="ctr">
                      <a:solidFill>
                        <a:srgbClr val="000000"/>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lstStyle/>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0.823</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4762" cap="flat" cmpd="sng" algn="ctr">
                      <a:solidFill>
                        <a:srgbClr val="000000"/>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lstStyle/>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0.652</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4762" cap="flat" cmpd="sng" algn="ctr">
                      <a:solidFill>
                        <a:srgbClr val="000000"/>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lstStyle/>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0.659</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4762" cap="flat" cmpd="sng" algn="ctr">
                      <a:solidFill>
                        <a:srgbClr val="000000"/>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lstStyle/>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0.847</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4762" cap="flat" cmpd="sng" algn="ctr">
                      <a:solidFill>
                        <a:srgbClr val="000000"/>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r>
            </a:tbl>
          </a:graphicData>
        </a:graphic>
      </p:graphicFrame>
      <p:grpSp>
        <p:nvGrpSpPr>
          <p:cNvPr id="70" name="Group 24"/>
          <p:cNvGrpSpPr/>
          <p:nvPr/>
        </p:nvGrpSpPr>
        <p:grpSpPr>
          <a:xfrm>
            <a:off x="214734" y="5552358"/>
            <a:ext cx="4062444" cy="3705942"/>
            <a:chOff x="0" y="0"/>
            <a:chExt cx="4906010" cy="4475480"/>
          </a:xfrm>
        </p:grpSpPr>
        <p:sp>
          <p:nvSpPr>
            <p:cNvPr id="71" name="Freeform 25" descr="灰色关联度"/>
            <p:cNvSpPr/>
            <p:nvPr/>
          </p:nvSpPr>
          <p:spPr>
            <a:xfrm>
              <a:off x="0" y="0"/>
              <a:ext cx="4906010" cy="4475480"/>
            </a:xfrm>
            <a:custGeom>
              <a:avLst/>
              <a:gdLst/>
              <a:ahLst/>
              <a:cxnLst/>
              <a:rect l="l" t="t" r="r" b="b"/>
              <a:pathLst>
                <a:path w="4906010" h="4475480">
                  <a:moveTo>
                    <a:pt x="0" y="0"/>
                  </a:moveTo>
                  <a:lnTo>
                    <a:pt x="4906010" y="0"/>
                  </a:lnTo>
                  <a:lnTo>
                    <a:pt x="4906010" y="4475480"/>
                  </a:lnTo>
                  <a:lnTo>
                    <a:pt x="0" y="4475480"/>
                  </a:lnTo>
                  <a:lnTo>
                    <a:pt x="0" y="0"/>
                  </a:lnTo>
                  <a:close/>
                </a:path>
              </a:pathLst>
            </a:custGeom>
            <a:blipFill>
              <a:blip r:embed="rId7"/>
              <a:stretch>
                <a:fillRect t="-5176" r="-167"/>
              </a:stretch>
            </a:blipFill>
          </p:spPr>
        </p:sp>
      </p:grpSp>
      <p:grpSp>
        <p:nvGrpSpPr>
          <p:cNvPr id="72" name="Group 26"/>
          <p:cNvGrpSpPr/>
          <p:nvPr/>
        </p:nvGrpSpPr>
        <p:grpSpPr>
          <a:xfrm>
            <a:off x="9472629" y="5908476"/>
            <a:ext cx="8815371" cy="4225985"/>
            <a:chOff x="0" y="0"/>
            <a:chExt cx="703826" cy="1008993"/>
          </a:xfrm>
        </p:grpSpPr>
        <p:sp>
          <p:nvSpPr>
            <p:cNvPr id="73" name="Freeform 27"/>
            <p:cNvSpPr/>
            <p:nvPr/>
          </p:nvSpPr>
          <p:spPr>
            <a:xfrm>
              <a:off x="0" y="0"/>
              <a:ext cx="703826" cy="1008993"/>
            </a:xfrm>
            <a:custGeom>
              <a:avLst/>
              <a:gdLst/>
              <a:ahLst/>
              <a:cxnLst/>
              <a:rect l="l" t="t" r="r" b="b"/>
              <a:pathLst>
                <a:path w="703826" h="1008993">
                  <a:moveTo>
                    <a:pt x="0" y="0"/>
                  </a:moveTo>
                  <a:lnTo>
                    <a:pt x="703826" y="0"/>
                  </a:lnTo>
                  <a:lnTo>
                    <a:pt x="703826" y="1008993"/>
                  </a:lnTo>
                  <a:lnTo>
                    <a:pt x="0" y="1008993"/>
                  </a:lnTo>
                  <a:close/>
                </a:path>
              </a:pathLst>
            </a:custGeom>
            <a:solidFill>
              <a:srgbClr val="FFFFFF"/>
            </a:solidFill>
          </p:spPr>
        </p:sp>
        <p:sp>
          <p:nvSpPr>
            <p:cNvPr id="74" name="TextBox 28"/>
            <p:cNvSpPr txBox="1"/>
            <p:nvPr/>
          </p:nvSpPr>
          <p:spPr>
            <a:xfrm>
              <a:off x="0" y="0"/>
              <a:ext cx="703826" cy="1008993"/>
            </a:xfrm>
            <a:prstGeom prst="rect">
              <a:avLst/>
            </a:prstGeom>
          </p:spPr>
          <p:txBody>
            <a:bodyPr lIns="50800" tIns="50800" rIns="50800" bIns="50800" rtlCol="0" anchor="ctr"/>
            <a:lstStyle/>
            <a:p>
              <a:pPr algn="ctr">
                <a:lnSpc>
                  <a:spcPts val="312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75" name="Group 29"/>
          <p:cNvGrpSpPr/>
          <p:nvPr/>
        </p:nvGrpSpPr>
        <p:grpSpPr>
          <a:xfrm>
            <a:off x="12228633" y="5940749"/>
            <a:ext cx="3212458" cy="3831022"/>
            <a:chOff x="0" y="0"/>
            <a:chExt cx="846080" cy="1008993"/>
          </a:xfrm>
        </p:grpSpPr>
        <p:sp>
          <p:nvSpPr>
            <p:cNvPr id="76" name="Freeform 30"/>
            <p:cNvSpPr/>
            <p:nvPr/>
          </p:nvSpPr>
          <p:spPr>
            <a:xfrm>
              <a:off x="0" y="0"/>
              <a:ext cx="846080" cy="1008993"/>
            </a:xfrm>
            <a:custGeom>
              <a:avLst/>
              <a:gdLst/>
              <a:ahLst/>
              <a:cxnLst/>
              <a:rect l="l" t="t" r="r" b="b"/>
              <a:pathLst>
                <a:path w="846080" h="1008993">
                  <a:moveTo>
                    <a:pt x="0" y="0"/>
                  </a:moveTo>
                  <a:lnTo>
                    <a:pt x="846080" y="0"/>
                  </a:lnTo>
                  <a:lnTo>
                    <a:pt x="846080" y="1008993"/>
                  </a:lnTo>
                  <a:lnTo>
                    <a:pt x="0" y="1008993"/>
                  </a:lnTo>
                  <a:close/>
                </a:path>
              </a:pathLst>
            </a:custGeom>
            <a:solidFill>
              <a:srgbClr val="FFFFFF"/>
            </a:solidFill>
          </p:spPr>
        </p:sp>
        <p:sp>
          <p:nvSpPr>
            <p:cNvPr id="77" name="TextBox 31"/>
            <p:cNvSpPr txBox="1"/>
            <p:nvPr/>
          </p:nvSpPr>
          <p:spPr>
            <a:xfrm>
              <a:off x="0" y="0"/>
              <a:ext cx="846080" cy="1008993"/>
            </a:xfrm>
            <a:prstGeom prst="rect">
              <a:avLst/>
            </a:prstGeom>
          </p:spPr>
          <p:txBody>
            <a:bodyPr lIns="50800" tIns="50800" rIns="50800" bIns="50800" rtlCol="0" anchor="ctr"/>
            <a:lstStyle/>
            <a:p>
              <a:pPr algn="ctr">
                <a:lnSpc>
                  <a:spcPts val="312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78" name="Group 32"/>
          <p:cNvGrpSpPr/>
          <p:nvPr/>
        </p:nvGrpSpPr>
        <p:grpSpPr>
          <a:xfrm>
            <a:off x="15511605" y="5942045"/>
            <a:ext cx="2776395" cy="3831022"/>
            <a:chOff x="0" y="0"/>
            <a:chExt cx="842073" cy="1008993"/>
          </a:xfrm>
        </p:grpSpPr>
        <p:sp>
          <p:nvSpPr>
            <p:cNvPr id="79" name="Freeform 33"/>
            <p:cNvSpPr/>
            <p:nvPr/>
          </p:nvSpPr>
          <p:spPr>
            <a:xfrm>
              <a:off x="0" y="0"/>
              <a:ext cx="842073" cy="1008993"/>
            </a:xfrm>
            <a:custGeom>
              <a:avLst/>
              <a:gdLst/>
              <a:ahLst/>
              <a:cxnLst/>
              <a:rect l="l" t="t" r="r" b="b"/>
              <a:pathLst>
                <a:path w="842073" h="1008993">
                  <a:moveTo>
                    <a:pt x="0" y="0"/>
                  </a:moveTo>
                  <a:lnTo>
                    <a:pt x="842073" y="0"/>
                  </a:lnTo>
                  <a:lnTo>
                    <a:pt x="842073" y="1008993"/>
                  </a:lnTo>
                  <a:lnTo>
                    <a:pt x="0" y="1008993"/>
                  </a:lnTo>
                  <a:close/>
                </a:path>
              </a:pathLst>
            </a:custGeom>
            <a:solidFill>
              <a:srgbClr val="FFFFFF"/>
            </a:solidFill>
          </p:spPr>
        </p:sp>
        <p:sp>
          <p:nvSpPr>
            <p:cNvPr id="80" name="TextBox 34"/>
            <p:cNvSpPr txBox="1"/>
            <p:nvPr/>
          </p:nvSpPr>
          <p:spPr>
            <a:xfrm>
              <a:off x="0" y="0"/>
              <a:ext cx="842073" cy="1008993"/>
            </a:xfrm>
            <a:prstGeom prst="rect">
              <a:avLst/>
            </a:prstGeom>
          </p:spPr>
          <p:txBody>
            <a:bodyPr lIns="50800" tIns="50800" rIns="50800" bIns="50800" rtlCol="0" anchor="ctr"/>
            <a:lstStyle/>
            <a:p>
              <a:pPr algn="ctr">
                <a:lnSpc>
                  <a:spcPts val="312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81" name="Group 43"/>
          <p:cNvGrpSpPr/>
          <p:nvPr/>
        </p:nvGrpSpPr>
        <p:grpSpPr>
          <a:xfrm>
            <a:off x="4277178" y="6325149"/>
            <a:ext cx="3261701" cy="3447918"/>
            <a:chOff x="0" y="0"/>
            <a:chExt cx="4348934" cy="4597224"/>
          </a:xfrm>
        </p:grpSpPr>
        <p:grpSp>
          <p:nvGrpSpPr>
            <p:cNvPr id="82" name="Group 44"/>
            <p:cNvGrpSpPr/>
            <p:nvPr/>
          </p:nvGrpSpPr>
          <p:grpSpPr>
            <a:xfrm>
              <a:off x="0" y="0"/>
              <a:ext cx="4348934" cy="4597224"/>
              <a:chOff x="0" y="0"/>
              <a:chExt cx="4946046" cy="5228426"/>
            </a:xfrm>
          </p:grpSpPr>
          <p:sp>
            <p:nvSpPr>
              <p:cNvPr id="83" name="Freeform 45"/>
              <p:cNvSpPr/>
              <p:nvPr/>
            </p:nvSpPr>
            <p:spPr>
              <a:xfrm>
                <a:off x="13949" y="19042"/>
                <a:ext cx="4918224" cy="5190316"/>
              </a:xfrm>
              <a:custGeom>
                <a:avLst/>
                <a:gdLst/>
                <a:ahLst/>
                <a:cxnLst/>
                <a:rect l="l" t="t" r="r" b="b"/>
                <a:pathLst>
                  <a:path w="4918224" h="5190316">
                    <a:moveTo>
                      <a:pt x="0" y="610110"/>
                    </a:moveTo>
                    <a:cubicBezTo>
                      <a:pt x="0" y="273255"/>
                      <a:pt x="200445" y="0"/>
                      <a:pt x="447758" y="0"/>
                    </a:cubicBezTo>
                    <a:lnTo>
                      <a:pt x="4470466" y="0"/>
                    </a:lnTo>
                    <a:cubicBezTo>
                      <a:pt x="4717779" y="0"/>
                      <a:pt x="4918224" y="273255"/>
                      <a:pt x="4918224" y="610110"/>
                    </a:cubicBezTo>
                    <a:lnTo>
                      <a:pt x="4918224" y="4580206"/>
                    </a:lnTo>
                    <a:cubicBezTo>
                      <a:pt x="4918224" y="4917252"/>
                      <a:pt x="4717779" y="5190316"/>
                      <a:pt x="4470466" y="5190316"/>
                    </a:cubicBezTo>
                    <a:lnTo>
                      <a:pt x="447758" y="5190316"/>
                    </a:lnTo>
                    <a:cubicBezTo>
                      <a:pt x="200445" y="5190316"/>
                      <a:pt x="0" y="4917062"/>
                      <a:pt x="0" y="4580206"/>
                    </a:cubicBezTo>
                    <a:close/>
                  </a:path>
                </a:pathLst>
              </a:custGeom>
              <a:gradFill rotWithShape="1">
                <a:gsLst>
                  <a:gs pos="0">
                    <a:srgbClr val="FFFFFF">
                      <a:alpha val="100000"/>
                    </a:srgbClr>
                  </a:gs>
                  <a:gs pos="100000">
                    <a:srgbClr val="FFE7BF">
                      <a:alpha val="100000"/>
                    </a:srgbClr>
                  </a:gs>
                </a:gsLst>
                <a:path path="circle">
                  <a:fillToRect r="100000" b="100000"/>
                </a:path>
                <a:tileRect l="-100000" t="-100000"/>
              </a:gradFill>
            </p:spPr>
          </p:sp>
          <p:sp>
            <p:nvSpPr>
              <p:cNvPr id="84" name="Freeform 46"/>
              <p:cNvSpPr/>
              <p:nvPr/>
            </p:nvSpPr>
            <p:spPr>
              <a:xfrm>
                <a:off x="0" y="0"/>
                <a:ext cx="4946115" cy="5228401"/>
              </a:xfrm>
              <a:custGeom>
                <a:avLst/>
                <a:gdLst/>
                <a:ahLst/>
                <a:cxnLst/>
                <a:rect l="l" t="t" r="r" b="b"/>
                <a:pathLst>
                  <a:path w="4946115" h="5228401">
                    <a:moveTo>
                      <a:pt x="0" y="629152"/>
                    </a:moveTo>
                    <a:cubicBezTo>
                      <a:pt x="0" y="281633"/>
                      <a:pt x="206722" y="0"/>
                      <a:pt x="461707" y="0"/>
                    </a:cubicBezTo>
                    <a:lnTo>
                      <a:pt x="4484415" y="0"/>
                    </a:lnTo>
                    <a:lnTo>
                      <a:pt x="4484415" y="19042"/>
                    </a:lnTo>
                    <a:lnTo>
                      <a:pt x="4484415" y="0"/>
                    </a:lnTo>
                    <a:cubicBezTo>
                      <a:pt x="4739400" y="0"/>
                      <a:pt x="4946115" y="281633"/>
                      <a:pt x="4946115" y="629152"/>
                    </a:cubicBezTo>
                    <a:lnTo>
                      <a:pt x="4932173" y="629152"/>
                    </a:lnTo>
                    <a:lnTo>
                      <a:pt x="4946115" y="629152"/>
                    </a:lnTo>
                    <a:lnTo>
                      <a:pt x="4946115" y="4599248"/>
                    </a:lnTo>
                    <a:lnTo>
                      <a:pt x="4932173" y="4599248"/>
                    </a:lnTo>
                    <a:lnTo>
                      <a:pt x="4946115" y="4599248"/>
                    </a:lnTo>
                    <a:cubicBezTo>
                      <a:pt x="4946115" y="4946767"/>
                      <a:pt x="4739400" y="5228401"/>
                      <a:pt x="4484415" y="5228401"/>
                    </a:cubicBezTo>
                    <a:lnTo>
                      <a:pt x="4484415" y="5209358"/>
                    </a:lnTo>
                    <a:lnTo>
                      <a:pt x="4484415" y="5228401"/>
                    </a:lnTo>
                    <a:lnTo>
                      <a:pt x="461707" y="5228401"/>
                    </a:lnTo>
                    <a:lnTo>
                      <a:pt x="461707" y="5209358"/>
                    </a:lnTo>
                    <a:lnTo>
                      <a:pt x="461707" y="5228401"/>
                    </a:lnTo>
                    <a:cubicBezTo>
                      <a:pt x="206722" y="5228401"/>
                      <a:pt x="0" y="4946767"/>
                      <a:pt x="0" y="4599248"/>
                    </a:cubicBezTo>
                    <a:lnTo>
                      <a:pt x="0" y="629152"/>
                    </a:lnTo>
                    <a:lnTo>
                      <a:pt x="13949" y="629152"/>
                    </a:lnTo>
                    <a:lnTo>
                      <a:pt x="0" y="629152"/>
                    </a:lnTo>
                    <a:moveTo>
                      <a:pt x="27898" y="629152"/>
                    </a:moveTo>
                    <a:lnTo>
                      <a:pt x="27898" y="4599248"/>
                    </a:lnTo>
                    <a:lnTo>
                      <a:pt x="13949" y="4599248"/>
                    </a:lnTo>
                    <a:lnTo>
                      <a:pt x="27898" y="4599248"/>
                    </a:lnTo>
                    <a:cubicBezTo>
                      <a:pt x="27898" y="4925631"/>
                      <a:pt x="222066" y="5190317"/>
                      <a:pt x="461707" y="5190317"/>
                    </a:cubicBezTo>
                    <a:lnTo>
                      <a:pt x="4484415" y="5190317"/>
                    </a:lnTo>
                    <a:cubicBezTo>
                      <a:pt x="4724056" y="5190317"/>
                      <a:pt x="4918224" y="4925631"/>
                      <a:pt x="4918224" y="4599248"/>
                    </a:cubicBezTo>
                    <a:lnTo>
                      <a:pt x="4918224" y="629152"/>
                    </a:lnTo>
                    <a:cubicBezTo>
                      <a:pt x="4918084" y="302770"/>
                      <a:pt x="4723917" y="38084"/>
                      <a:pt x="4484415" y="38084"/>
                    </a:cubicBezTo>
                    <a:lnTo>
                      <a:pt x="461707" y="38084"/>
                    </a:lnTo>
                    <a:lnTo>
                      <a:pt x="461707" y="19042"/>
                    </a:lnTo>
                    <a:lnTo>
                      <a:pt x="461707" y="38084"/>
                    </a:lnTo>
                    <a:cubicBezTo>
                      <a:pt x="222066" y="38084"/>
                      <a:pt x="27898" y="302770"/>
                      <a:pt x="27898" y="629152"/>
                    </a:cubicBezTo>
                    <a:close/>
                  </a:path>
                </a:pathLst>
              </a:custGeom>
              <a:solidFill>
                <a:srgbClr val="DC5400"/>
              </a:solidFill>
            </p:spPr>
          </p:sp>
        </p:grpSp>
        <p:sp>
          <p:nvSpPr>
            <p:cNvPr id="85" name="TextBox 47"/>
            <p:cNvSpPr txBox="1"/>
            <p:nvPr/>
          </p:nvSpPr>
          <p:spPr>
            <a:xfrm>
              <a:off x="290337" y="92262"/>
              <a:ext cx="3869895" cy="4390813"/>
            </a:xfrm>
            <a:prstGeom prst="rect">
              <a:avLst/>
            </a:prstGeom>
          </p:spPr>
          <p:txBody>
            <a:bodyPr lIns="0" tIns="0" rIns="0" bIns="0" rtlCol="0" anchor="t">
              <a:spAutoFit/>
            </a:bodyPr>
            <a:lstStyle/>
            <a:p>
              <a:pPr algn="l">
                <a:lnSpc>
                  <a:spcPts val="3210"/>
                </a:lnSpc>
              </a:pPr>
              <a:r>
                <a:rPr lang="en-US" sz="18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两类群体的共同关键影响因素是</a:t>
              </a:r>
              <a:r>
                <a:rPr lang="en-US" sz="1845" b="1"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对信托以房养老的了解程度</a:t>
              </a:r>
              <a:r>
                <a:rPr lang="en-US" sz="18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，其认知水平对参与意愿影响最显著</a:t>
              </a:r>
              <a:endParaRPr lang="en-US" sz="1845"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210"/>
                </a:lnSpc>
              </a:pPr>
              <a:r>
                <a:rPr lang="zh-CN" altLang="en-US" sz="18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中青年群体</a:t>
              </a:r>
              <a:r>
                <a:rPr lang="en-US" sz="18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更受</a:t>
              </a:r>
              <a:r>
                <a:rPr lang="en-US" sz="1845" b="1"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教育程度和婚姻状况</a:t>
              </a:r>
              <a:r>
                <a:rPr lang="en-US" sz="18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影响</a:t>
              </a:r>
              <a:endParaRPr lang="en-US" sz="18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210"/>
                </a:lnSpc>
              </a:pPr>
              <a:r>
                <a:rPr lang="en-US" sz="18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老年</a:t>
              </a:r>
              <a:r>
                <a:rPr lang="zh-CN" altLang="en-US" sz="18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群体</a:t>
              </a:r>
              <a:r>
                <a:rPr lang="en-US" sz="18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则更多受</a:t>
              </a:r>
              <a:r>
                <a:rPr lang="en-US" sz="1845" b="1"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住房情况和养老规划</a:t>
              </a:r>
              <a:r>
                <a:rPr lang="en-US" sz="18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等现实条件影响</a:t>
              </a:r>
              <a:endParaRPr lang="en-US" sz="1845"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sp>
        <p:nvSpPr>
          <p:cNvPr id="86" name="TextBox 49"/>
          <p:cNvSpPr txBox="1"/>
          <p:nvPr/>
        </p:nvSpPr>
        <p:spPr>
          <a:xfrm>
            <a:off x="8103568" y="2341334"/>
            <a:ext cx="9337205" cy="514314"/>
          </a:xfrm>
          <a:prstGeom prst="rect">
            <a:avLst/>
          </a:prstGeom>
        </p:spPr>
        <p:txBody>
          <a:bodyPr lIns="0" tIns="0" rIns="0" bIns="0" rtlCol="0" anchor="t">
            <a:spAutoFit/>
          </a:bodyPr>
          <a:lstStyle/>
          <a:p>
            <a:pPr algn="r">
              <a:lnSpc>
                <a:spcPts val="4080"/>
              </a:lnSpc>
            </a:pPr>
            <a:r>
              <a:rPr lang="en-US" sz="3400" b="1" spc="242">
                <a:solidFill>
                  <a:srgbClr val="FD6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分组回归揭示影响因素的异质性</a:t>
            </a:r>
            <a:endParaRPr lang="en-US" sz="3400" b="1" spc="242">
              <a:solidFill>
                <a:srgbClr val="FD6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nvGrpSpPr>
          <p:cNvPr id="87" name="Group 51"/>
          <p:cNvGrpSpPr/>
          <p:nvPr/>
        </p:nvGrpSpPr>
        <p:grpSpPr>
          <a:xfrm>
            <a:off x="11039060" y="2952849"/>
            <a:ext cx="7170170" cy="2790914"/>
            <a:chOff x="0" y="0"/>
            <a:chExt cx="9560228" cy="3721219"/>
          </a:xfrm>
        </p:grpSpPr>
        <p:grpSp>
          <p:nvGrpSpPr>
            <p:cNvPr id="88" name="Group 52"/>
            <p:cNvGrpSpPr/>
            <p:nvPr/>
          </p:nvGrpSpPr>
          <p:grpSpPr>
            <a:xfrm>
              <a:off x="0" y="0"/>
              <a:ext cx="9039886" cy="3721219"/>
              <a:chOff x="0" y="0"/>
              <a:chExt cx="9676726" cy="3983370"/>
            </a:xfrm>
          </p:grpSpPr>
          <p:sp>
            <p:nvSpPr>
              <p:cNvPr id="89" name="Freeform 53"/>
              <p:cNvSpPr/>
              <p:nvPr/>
            </p:nvSpPr>
            <p:spPr>
              <a:xfrm>
                <a:off x="27290" y="14508"/>
                <a:ext cx="9622294" cy="3954336"/>
              </a:xfrm>
              <a:custGeom>
                <a:avLst/>
                <a:gdLst/>
                <a:ahLst/>
                <a:cxnLst/>
                <a:rect l="l" t="t" r="r" b="b"/>
                <a:pathLst>
                  <a:path w="9622294" h="3954336">
                    <a:moveTo>
                      <a:pt x="0" y="464823"/>
                    </a:moveTo>
                    <a:cubicBezTo>
                      <a:pt x="0" y="208184"/>
                      <a:pt x="392162" y="0"/>
                      <a:pt x="876019" y="0"/>
                    </a:cubicBezTo>
                    <a:lnTo>
                      <a:pt x="8746274" y="0"/>
                    </a:lnTo>
                    <a:cubicBezTo>
                      <a:pt x="9230132" y="0"/>
                      <a:pt x="9622294" y="208184"/>
                      <a:pt x="9622294" y="464823"/>
                    </a:cubicBezTo>
                    <a:lnTo>
                      <a:pt x="9622294" y="3489512"/>
                    </a:lnTo>
                    <a:cubicBezTo>
                      <a:pt x="9622294" y="3746297"/>
                      <a:pt x="9230132" y="3954335"/>
                      <a:pt x="8746274" y="3954335"/>
                    </a:cubicBezTo>
                    <a:lnTo>
                      <a:pt x="876019" y="3954335"/>
                    </a:lnTo>
                    <a:cubicBezTo>
                      <a:pt x="392162" y="3954335"/>
                      <a:pt x="0" y="3746151"/>
                      <a:pt x="0" y="3489512"/>
                    </a:cubicBezTo>
                    <a:close/>
                  </a:path>
                </a:pathLst>
              </a:custGeom>
              <a:gradFill rotWithShape="1">
                <a:gsLst>
                  <a:gs pos="0">
                    <a:srgbClr val="FFFFFF">
                      <a:alpha val="100000"/>
                    </a:srgbClr>
                  </a:gs>
                  <a:gs pos="100000">
                    <a:srgbClr val="FFE7BF">
                      <a:alpha val="100000"/>
                    </a:srgbClr>
                  </a:gs>
                </a:gsLst>
                <a:path path="circle">
                  <a:fillToRect r="100000" b="100000"/>
                </a:path>
                <a:tileRect l="-100000" t="-100000"/>
              </a:gradFill>
            </p:spPr>
          </p:sp>
          <p:sp>
            <p:nvSpPr>
              <p:cNvPr id="90" name="Freeform 54"/>
              <p:cNvSpPr/>
              <p:nvPr/>
            </p:nvSpPr>
            <p:spPr>
              <a:xfrm>
                <a:off x="0" y="0"/>
                <a:ext cx="9676795" cy="3983351"/>
              </a:xfrm>
              <a:custGeom>
                <a:avLst/>
                <a:gdLst/>
                <a:ahLst/>
                <a:cxnLst/>
                <a:rect l="l" t="t" r="r" b="b"/>
                <a:pathLst>
                  <a:path w="9676795" h="3983351">
                    <a:moveTo>
                      <a:pt x="0" y="479331"/>
                    </a:moveTo>
                    <a:cubicBezTo>
                      <a:pt x="0" y="214567"/>
                      <a:pt x="404443" y="0"/>
                      <a:pt x="903309" y="0"/>
                    </a:cubicBezTo>
                    <a:lnTo>
                      <a:pt x="8773564" y="0"/>
                    </a:lnTo>
                    <a:lnTo>
                      <a:pt x="8773564" y="14508"/>
                    </a:lnTo>
                    <a:lnTo>
                      <a:pt x="8773564" y="0"/>
                    </a:lnTo>
                    <a:cubicBezTo>
                      <a:pt x="9272432" y="0"/>
                      <a:pt x="9676795" y="214567"/>
                      <a:pt x="9676795" y="479331"/>
                    </a:cubicBezTo>
                    <a:lnTo>
                      <a:pt x="9649584" y="479331"/>
                    </a:lnTo>
                    <a:lnTo>
                      <a:pt x="9676795" y="479331"/>
                    </a:lnTo>
                    <a:lnTo>
                      <a:pt x="9676795" y="3504020"/>
                    </a:lnTo>
                    <a:lnTo>
                      <a:pt x="9649584" y="3504020"/>
                    </a:lnTo>
                    <a:lnTo>
                      <a:pt x="9676795" y="3504020"/>
                    </a:lnTo>
                    <a:cubicBezTo>
                      <a:pt x="9676795" y="3768784"/>
                      <a:pt x="9272432" y="3983351"/>
                      <a:pt x="8773564" y="3983351"/>
                    </a:cubicBezTo>
                    <a:lnTo>
                      <a:pt x="8773564" y="3968843"/>
                    </a:lnTo>
                    <a:lnTo>
                      <a:pt x="8773564" y="3983351"/>
                    </a:lnTo>
                    <a:lnTo>
                      <a:pt x="903309" y="3983351"/>
                    </a:lnTo>
                    <a:lnTo>
                      <a:pt x="903309" y="3968843"/>
                    </a:lnTo>
                    <a:lnTo>
                      <a:pt x="903309" y="3983351"/>
                    </a:lnTo>
                    <a:cubicBezTo>
                      <a:pt x="404443" y="3983351"/>
                      <a:pt x="0" y="3768784"/>
                      <a:pt x="0" y="3504020"/>
                    </a:cubicBezTo>
                    <a:lnTo>
                      <a:pt x="0" y="479331"/>
                    </a:lnTo>
                    <a:lnTo>
                      <a:pt x="27290" y="479331"/>
                    </a:lnTo>
                    <a:lnTo>
                      <a:pt x="0" y="479331"/>
                    </a:lnTo>
                    <a:moveTo>
                      <a:pt x="54581" y="479331"/>
                    </a:moveTo>
                    <a:lnTo>
                      <a:pt x="54581" y="3504020"/>
                    </a:lnTo>
                    <a:lnTo>
                      <a:pt x="27290" y="3504020"/>
                    </a:lnTo>
                    <a:lnTo>
                      <a:pt x="54581" y="3504020"/>
                    </a:lnTo>
                    <a:cubicBezTo>
                      <a:pt x="54581" y="3752680"/>
                      <a:pt x="434462" y="3954336"/>
                      <a:pt x="903310" y="3954336"/>
                    </a:cubicBezTo>
                    <a:lnTo>
                      <a:pt x="8773564" y="3954336"/>
                    </a:lnTo>
                    <a:cubicBezTo>
                      <a:pt x="9242412" y="3954336"/>
                      <a:pt x="9622293" y="3752680"/>
                      <a:pt x="9622293" y="3504020"/>
                    </a:cubicBezTo>
                    <a:lnTo>
                      <a:pt x="9622293" y="479331"/>
                    </a:lnTo>
                    <a:cubicBezTo>
                      <a:pt x="9622020" y="230671"/>
                      <a:pt x="9242140" y="29015"/>
                      <a:pt x="8773564" y="29015"/>
                    </a:cubicBezTo>
                    <a:lnTo>
                      <a:pt x="903309" y="29015"/>
                    </a:lnTo>
                    <a:lnTo>
                      <a:pt x="903309" y="14508"/>
                    </a:lnTo>
                    <a:lnTo>
                      <a:pt x="903309" y="29015"/>
                    </a:lnTo>
                    <a:cubicBezTo>
                      <a:pt x="434462" y="29015"/>
                      <a:pt x="54581" y="230671"/>
                      <a:pt x="54581" y="479331"/>
                    </a:cubicBezTo>
                    <a:close/>
                  </a:path>
                </a:pathLst>
              </a:custGeom>
              <a:solidFill>
                <a:srgbClr val="DC5400"/>
              </a:solidFill>
            </p:spPr>
          </p:sp>
        </p:grpSp>
        <p:sp>
          <p:nvSpPr>
            <p:cNvPr id="91" name="TextBox 55"/>
            <p:cNvSpPr txBox="1"/>
            <p:nvPr/>
          </p:nvSpPr>
          <p:spPr>
            <a:xfrm>
              <a:off x="329766" y="94448"/>
              <a:ext cx="9230462" cy="3487420"/>
            </a:xfrm>
            <a:prstGeom prst="rect">
              <a:avLst/>
            </a:prstGeom>
          </p:spPr>
          <p:txBody>
            <a:bodyPr lIns="0" tIns="0" rIns="0" bIns="0" rtlCol="0" anchor="t">
              <a:spAutoFit/>
            </a:bodyPr>
            <a:lstStyle/>
            <a:p>
              <a:pPr algn="l">
                <a:lnSpc>
                  <a:spcPts val="3400"/>
                </a:lnSpc>
              </a:pPr>
              <a:r>
                <a:rPr lang="en-US" sz="1955"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a:t>
              </a:r>
              <a:r>
                <a:rPr lang="en-US" sz="1955"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制度信任是普遍且最强的正向驱动力</a:t>
              </a:r>
              <a:endParaRPr lang="en-US" sz="1955"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400"/>
                </a:lnSpc>
              </a:pPr>
              <a:r>
                <a:rPr lang="en-US" sz="1955"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代际支持具有强烈的负向抑制作用</a:t>
              </a:r>
              <a:endPar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400"/>
                </a:lnSpc>
              </a:pPr>
              <a:r>
                <a:rPr lang="en-US" sz="1955"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金融素养的作用呈现群体分化</a:t>
              </a:r>
              <a:endPar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400"/>
                </a:lnSpc>
              </a:pPr>
              <a:r>
                <a:rPr lang="en-US" sz="1955"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文化观念对非老年人自身意愿的正向驱动作用尤为突出</a:t>
              </a:r>
              <a:endPar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400"/>
                </a:lnSpc>
              </a:pPr>
              <a:r>
                <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住房套数和教育程度则表现出群体内部的复杂异质性</a:t>
              </a:r>
              <a:endPar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400"/>
                </a:lnSpc>
              </a:pPr>
              <a:r>
                <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收入水平的正向激励在两代人中具有一致性</a:t>
              </a:r>
              <a:endPar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aphicFrame>
        <p:nvGraphicFramePr>
          <p:cNvPr id="92" name="表格 91"/>
          <p:cNvGraphicFramePr/>
          <p:nvPr/>
        </p:nvGraphicFramePr>
        <p:xfrm>
          <a:off x="9472629" y="5908475"/>
          <a:ext cx="8815371" cy="4225983"/>
        </p:xfrm>
        <a:graphic>
          <a:graphicData uri="http://schemas.openxmlformats.org/drawingml/2006/table">
            <a:tbl>
              <a:tblPr/>
              <a:tblGrid>
                <a:gridCol w="664730"/>
                <a:gridCol w="1121166"/>
                <a:gridCol w="1113921"/>
                <a:gridCol w="604053"/>
                <a:gridCol w="1145619"/>
                <a:gridCol w="1165541"/>
                <a:gridCol w="625788"/>
                <a:gridCol w="1205389"/>
                <a:gridCol w="1169164"/>
              </a:tblGrid>
              <a:tr h="478747">
                <a:tc>
                  <a:txBody>
                    <a:bodyPr/>
                    <a:lstStyle/>
                    <a:p>
                      <a:pPr marL="0" indent="0" algn="ctr">
                        <a:spcBef>
                          <a:spcPts val="300"/>
                        </a:spcBef>
                        <a:spcAft>
                          <a:spcPct val="0"/>
                        </a:spcAft>
                      </a:pPr>
                      <a:r>
                        <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rPr>
                        <a:t>变量</a:t>
                      </a:r>
                      <a:endPar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a:noFill/>
                    </a:lnL>
                    <a:lnR>
                      <a:noFill/>
                    </a:lnR>
                    <a:lnT>
                      <a:noFill/>
                    </a:lnT>
                    <a:lnB w="12700" cap="flat" cmpd="sng">
                      <a:solidFill>
                        <a:srgbClr val="EE822F"/>
                      </a:solidFill>
                      <a:prstDash val="solid"/>
                      <a:headEnd type="none" w="med" len="med"/>
                      <a:tailEnd type="none" w="med" len="med"/>
                    </a:lnB>
                    <a:solidFill>
                      <a:schemeClr val="accent6">
                        <a:lumMod val="60000"/>
                        <a:lumOff val="40000"/>
                      </a:schemeClr>
                    </a:solidFill>
                  </a:tcPr>
                </a:tc>
                <a:tc>
                  <a:txBody>
                    <a:bodyPr/>
                    <a:lstStyle/>
                    <a:p>
                      <a:pPr marL="0" indent="0" algn="ctr">
                        <a:spcBef>
                          <a:spcPts val="300"/>
                        </a:spcBef>
                        <a:spcAft>
                          <a:spcPct val="0"/>
                        </a:spcAft>
                      </a:pPr>
                      <a:r>
                        <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rPr>
                        <a:t>最小二乘</a:t>
                      </a:r>
                      <a:endPar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endParaRPr>
                    </a:p>
                    <a:p>
                      <a:pPr marL="0" indent="0" algn="ctr">
                        <a:spcBef>
                          <a:spcPts val="300"/>
                        </a:spcBef>
                        <a:spcAft>
                          <a:spcPct val="0"/>
                        </a:spcAft>
                      </a:pPr>
                      <a:r>
                        <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rPr>
                        <a:t>估计</a:t>
                      </a:r>
                      <a:endPar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a:noFill/>
                    </a:lnL>
                    <a:lnR>
                      <a:noFill/>
                    </a:lnR>
                    <a:lnT>
                      <a:noFill/>
                    </a:lnT>
                    <a:lnB w="12700" cap="flat" cmpd="sng">
                      <a:solidFill>
                        <a:srgbClr val="EE822F"/>
                      </a:solidFill>
                      <a:prstDash val="solid"/>
                      <a:headEnd type="none" w="med" len="med"/>
                      <a:tailEnd type="none" w="med" len="med"/>
                    </a:lnB>
                    <a:solidFill>
                      <a:schemeClr val="accent6">
                        <a:lumMod val="60000"/>
                        <a:lumOff val="40000"/>
                      </a:schemeClr>
                    </a:solidFill>
                  </a:tcPr>
                </a:tc>
                <a:tc>
                  <a:txBody>
                    <a:bodyPr/>
                    <a:lstStyle/>
                    <a:p>
                      <a:pPr marL="0" indent="0" algn="ctr">
                        <a:spcBef>
                          <a:spcPts val="300"/>
                        </a:spcBef>
                        <a:spcAft>
                          <a:spcPct val="0"/>
                        </a:spcAft>
                      </a:pPr>
                      <a:r>
                        <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rPr>
                        <a:t>极大似然</a:t>
                      </a:r>
                      <a:endPar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endParaRPr>
                    </a:p>
                    <a:p>
                      <a:pPr marL="0" indent="0" algn="ctr">
                        <a:spcBef>
                          <a:spcPts val="300"/>
                        </a:spcBef>
                        <a:spcAft>
                          <a:spcPct val="0"/>
                        </a:spcAft>
                      </a:pPr>
                      <a:r>
                        <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rPr>
                        <a:t>估计</a:t>
                      </a:r>
                      <a:endPar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a:noFill/>
                    </a:lnL>
                    <a:lnR>
                      <a:noFill/>
                    </a:lnR>
                    <a:lnT>
                      <a:noFill/>
                    </a:lnT>
                    <a:lnB w="12700" cap="flat" cmpd="sng">
                      <a:solidFill>
                        <a:srgbClr val="EE822F"/>
                      </a:solidFill>
                      <a:prstDash val="solid"/>
                      <a:headEnd type="none" w="med" len="med"/>
                      <a:tailEnd type="none" w="med" len="med"/>
                    </a:lnB>
                    <a:solidFill>
                      <a:schemeClr val="accent6">
                        <a:lumMod val="60000"/>
                        <a:lumOff val="40000"/>
                      </a:schemeClr>
                    </a:solidFill>
                  </a:tcPr>
                </a:tc>
                <a:tc>
                  <a:txBody>
                    <a:bodyPr/>
                    <a:lstStyle/>
                    <a:p>
                      <a:pPr marL="0" indent="0" algn="ctr">
                        <a:spcBef>
                          <a:spcPts val="300"/>
                        </a:spcBef>
                        <a:spcAft>
                          <a:spcPct val="0"/>
                        </a:spcAft>
                      </a:pPr>
                      <a:r>
                        <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rPr>
                        <a:t>变量</a:t>
                      </a:r>
                      <a:endPar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a:noFill/>
                    </a:lnL>
                    <a:lnR>
                      <a:noFill/>
                    </a:lnR>
                    <a:lnT>
                      <a:noFill/>
                    </a:lnT>
                    <a:lnB w="12700" cap="flat" cmpd="sng">
                      <a:solidFill>
                        <a:srgbClr val="EE822F"/>
                      </a:solidFill>
                      <a:prstDash val="solid"/>
                      <a:headEnd type="none" w="med" len="med"/>
                      <a:tailEnd type="none" w="med" len="med"/>
                    </a:lnB>
                    <a:solidFill>
                      <a:schemeClr val="accent6">
                        <a:lumMod val="60000"/>
                        <a:lumOff val="40000"/>
                      </a:schemeClr>
                    </a:solidFill>
                  </a:tcPr>
                </a:tc>
                <a:tc>
                  <a:txBody>
                    <a:bodyPr/>
                    <a:lstStyle/>
                    <a:p>
                      <a:pPr marL="0" indent="0" algn="ctr">
                        <a:spcBef>
                          <a:spcPts val="300"/>
                        </a:spcBef>
                        <a:spcAft>
                          <a:spcPct val="0"/>
                        </a:spcAft>
                      </a:pPr>
                      <a:r>
                        <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rPr>
                        <a:t>最小二乘估计</a:t>
                      </a:r>
                      <a:endPar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a:noFill/>
                    </a:lnL>
                    <a:lnR>
                      <a:noFill/>
                    </a:lnR>
                    <a:lnT>
                      <a:noFill/>
                    </a:lnT>
                    <a:lnB w="12700" cap="flat" cmpd="sng">
                      <a:solidFill>
                        <a:srgbClr val="EE822F"/>
                      </a:solidFill>
                      <a:prstDash val="solid"/>
                      <a:headEnd type="none" w="med" len="med"/>
                      <a:tailEnd type="none" w="med" len="med"/>
                    </a:lnB>
                    <a:solidFill>
                      <a:schemeClr val="accent6">
                        <a:lumMod val="60000"/>
                        <a:lumOff val="40000"/>
                      </a:schemeClr>
                    </a:solidFill>
                  </a:tcPr>
                </a:tc>
                <a:tc>
                  <a:txBody>
                    <a:bodyPr/>
                    <a:lstStyle/>
                    <a:p>
                      <a:pPr marL="0" indent="0" algn="ctr">
                        <a:spcBef>
                          <a:spcPts val="300"/>
                        </a:spcBef>
                        <a:spcAft>
                          <a:spcPct val="0"/>
                        </a:spcAft>
                      </a:pPr>
                      <a:r>
                        <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rPr>
                        <a:t>极大似然</a:t>
                      </a:r>
                      <a:endPar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endParaRPr>
                    </a:p>
                    <a:p>
                      <a:pPr marL="0" indent="0" algn="ctr">
                        <a:spcBef>
                          <a:spcPts val="300"/>
                        </a:spcBef>
                        <a:spcAft>
                          <a:spcPct val="0"/>
                        </a:spcAft>
                      </a:pPr>
                      <a:r>
                        <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rPr>
                        <a:t>估计</a:t>
                      </a:r>
                      <a:endPar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a:noFill/>
                    </a:lnL>
                    <a:lnR>
                      <a:noFill/>
                    </a:lnR>
                    <a:lnT>
                      <a:noFill/>
                    </a:lnT>
                    <a:lnB w="12700" cap="flat" cmpd="sng">
                      <a:solidFill>
                        <a:srgbClr val="EE822F"/>
                      </a:solidFill>
                      <a:prstDash val="solid"/>
                      <a:headEnd type="none" w="med" len="med"/>
                      <a:tailEnd type="none" w="med" len="med"/>
                    </a:lnB>
                    <a:solidFill>
                      <a:schemeClr val="accent6">
                        <a:lumMod val="60000"/>
                        <a:lumOff val="40000"/>
                      </a:schemeClr>
                    </a:solidFill>
                  </a:tcPr>
                </a:tc>
                <a:tc>
                  <a:txBody>
                    <a:bodyPr/>
                    <a:lstStyle/>
                    <a:p>
                      <a:pPr marL="0" indent="0" algn="ctr">
                        <a:spcBef>
                          <a:spcPts val="300"/>
                        </a:spcBef>
                        <a:spcAft>
                          <a:spcPct val="0"/>
                        </a:spcAft>
                      </a:pPr>
                      <a:r>
                        <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rPr>
                        <a:t>变量</a:t>
                      </a:r>
                      <a:endPar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a:noFill/>
                    </a:lnL>
                    <a:lnR>
                      <a:noFill/>
                    </a:lnR>
                    <a:lnT>
                      <a:noFill/>
                    </a:lnT>
                    <a:lnB w="12700" cap="flat" cmpd="sng">
                      <a:solidFill>
                        <a:srgbClr val="EE822F"/>
                      </a:solidFill>
                      <a:prstDash val="solid"/>
                      <a:headEnd type="none" w="med" len="med"/>
                      <a:tailEnd type="none" w="med" len="med"/>
                    </a:lnB>
                    <a:solidFill>
                      <a:schemeClr val="accent6">
                        <a:lumMod val="60000"/>
                        <a:lumOff val="40000"/>
                      </a:schemeClr>
                    </a:solidFill>
                  </a:tcPr>
                </a:tc>
                <a:tc>
                  <a:txBody>
                    <a:bodyPr/>
                    <a:lstStyle/>
                    <a:p>
                      <a:pPr marL="0" indent="0" algn="ctr">
                        <a:spcBef>
                          <a:spcPts val="300"/>
                        </a:spcBef>
                        <a:spcAft>
                          <a:spcPct val="0"/>
                        </a:spcAft>
                      </a:pPr>
                      <a:r>
                        <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rPr>
                        <a:t>最小二乘估计</a:t>
                      </a:r>
                      <a:endPar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a:noFill/>
                    </a:lnL>
                    <a:lnR>
                      <a:noFill/>
                    </a:lnR>
                    <a:lnT>
                      <a:noFill/>
                    </a:lnT>
                    <a:lnB w="12700" cap="flat" cmpd="sng">
                      <a:solidFill>
                        <a:srgbClr val="EE822F"/>
                      </a:solidFill>
                      <a:prstDash val="solid"/>
                      <a:headEnd type="none" w="med" len="med"/>
                      <a:tailEnd type="none" w="med" len="med"/>
                    </a:lnB>
                    <a:solidFill>
                      <a:schemeClr val="accent6">
                        <a:lumMod val="60000"/>
                        <a:lumOff val="40000"/>
                      </a:schemeClr>
                    </a:solidFill>
                  </a:tcPr>
                </a:tc>
                <a:tc>
                  <a:txBody>
                    <a:bodyPr/>
                    <a:lstStyle/>
                    <a:p>
                      <a:pPr marL="0" indent="0" algn="ctr">
                        <a:spcBef>
                          <a:spcPts val="300"/>
                        </a:spcBef>
                        <a:spcAft>
                          <a:spcPct val="0"/>
                        </a:spcAft>
                      </a:pPr>
                      <a:r>
                        <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rPr>
                        <a:t>极大似然</a:t>
                      </a:r>
                      <a:endPar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endParaRPr>
                    </a:p>
                    <a:p>
                      <a:pPr marL="0" indent="0" algn="ctr">
                        <a:spcBef>
                          <a:spcPts val="300"/>
                        </a:spcBef>
                        <a:spcAft>
                          <a:spcPct val="0"/>
                        </a:spcAft>
                      </a:pPr>
                      <a:r>
                        <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rPr>
                        <a:t>估计</a:t>
                      </a:r>
                      <a:endPar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a:noFill/>
                    </a:lnL>
                    <a:lnR>
                      <a:noFill/>
                    </a:lnR>
                    <a:lnT>
                      <a:noFill/>
                    </a:lnT>
                    <a:lnB w="12700" cap="flat" cmpd="sng">
                      <a:solidFill>
                        <a:srgbClr val="EE822F"/>
                      </a:solidFill>
                      <a:prstDash val="solid"/>
                      <a:headEnd type="none" w="med" len="med"/>
                      <a:tailEnd type="none" w="med" len="med"/>
                    </a:lnB>
                    <a:solidFill>
                      <a:schemeClr val="accent6">
                        <a:lumMod val="60000"/>
                        <a:lumOff val="40000"/>
                      </a:schemeClr>
                    </a:solidFill>
                  </a:tcPr>
                </a:tc>
              </a:tr>
              <a:tr h="352628">
                <a:tc gridSpan="3">
                  <a:txBody>
                    <a:bodyPr/>
                    <a:lstStyle/>
                    <a:p>
                      <a:pPr marL="0" indent="0" algn="ctr">
                        <a:spcBef>
                          <a:spcPts val="300"/>
                        </a:spcBef>
                        <a:spcAft>
                          <a:spcPct val="0"/>
                        </a:spcAft>
                      </a:pPr>
                      <a:r>
                        <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rPr>
                        <a:t>老年人（自身意愿）</a:t>
                      </a:r>
                      <a:endPar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129010" marR="129010" marT="64505" marB="64505" anchor="ctr">
                    <a:lnL w="12700" cap="flat" cmpd="sng">
                      <a:solidFill>
                        <a:srgbClr val="EE822F"/>
                      </a:solidFill>
                      <a:prstDash val="solid"/>
                      <a:headEnd type="none" w="med" len="med"/>
                      <a:tailEnd type="none" w="med" len="med"/>
                    </a:lnL>
                    <a:lnR>
                      <a:noFill/>
                    </a:lnR>
                    <a:lnT w="12700" cap="flat" cmpd="sng">
                      <a:solidFill>
                        <a:srgbClr val="EE822F"/>
                      </a:solidFill>
                      <a:prstDash val="solid"/>
                      <a:headEnd type="none" w="med" len="med"/>
                      <a:tailEnd type="none" w="med" len="med"/>
                    </a:lnT>
                    <a:lnB w="12700" cap="flat" cmpd="sng">
                      <a:solidFill>
                        <a:schemeClr val="accent6">
                          <a:lumMod val="60000"/>
                          <a:lumOff val="40000"/>
                        </a:schemeClr>
                      </a:solidFill>
                      <a:prstDash val="solid"/>
                      <a:headEnd type="none" w="med" len="med"/>
                      <a:tailEnd type="none" w="med" len="med"/>
                    </a:lnB>
                    <a:solidFill>
                      <a:schemeClr val="accent6">
                        <a:lumMod val="60000"/>
                        <a:lumOff val="40000"/>
                      </a:schemeClr>
                    </a:solidFill>
                  </a:tcPr>
                </a:tc>
                <a:tc hMerge="1">
                  <a:tcPr>
                    <a:lnT w="12700" cap="flat" cmpd="sng">
                      <a:solidFill>
                        <a:srgbClr val="EE822F"/>
                      </a:solidFill>
                      <a:prstDash val="solid"/>
                      <a:headEnd type="none" w="med" len="med"/>
                      <a:tailEnd type="none" w="med" len="med"/>
                    </a:lnT>
                    <a:lnB w="12700" cap="flat" cmpd="sng">
                      <a:solidFill>
                        <a:schemeClr val="accent6">
                          <a:lumMod val="60000"/>
                          <a:lumOff val="40000"/>
                        </a:schemeClr>
                      </a:solidFill>
                      <a:prstDash val="solid"/>
                      <a:headEnd type="none" w="med" len="med"/>
                      <a:tailEnd type="none" w="med" len="med"/>
                    </a:lnB>
                  </a:tcPr>
                </a:tc>
                <a:tc hMerge="1">
                  <a:tcPr>
                    <a:lnR>
                      <a:noFill/>
                    </a:lnR>
                    <a:lnT w="12700" cap="flat" cmpd="sng">
                      <a:solidFill>
                        <a:srgbClr val="EE822F"/>
                      </a:solidFill>
                      <a:prstDash val="solid"/>
                      <a:headEnd type="none" w="med" len="med"/>
                      <a:tailEnd type="none" w="med" len="med"/>
                    </a:lnT>
                    <a:lnB w="12700" cap="flat" cmpd="sng">
                      <a:solidFill>
                        <a:schemeClr val="accent6">
                          <a:lumMod val="60000"/>
                          <a:lumOff val="40000"/>
                        </a:schemeClr>
                      </a:solidFill>
                      <a:prstDash val="solid"/>
                      <a:headEnd type="none" w="med" len="med"/>
                      <a:tailEnd type="none" w="med" len="med"/>
                    </a:lnB>
                  </a:tcPr>
                </a:tc>
                <a:tc gridSpan="3">
                  <a:txBody>
                    <a:bodyPr/>
                    <a:lstStyle/>
                    <a:p>
                      <a:pPr marL="0" indent="0" algn="ctr">
                        <a:spcBef>
                          <a:spcPts val="300"/>
                        </a:spcBef>
                        <a:spcAft>
                          <a:spcPct val="0"/>
                        </a:spcAft>
                      </a:pPr>
                      <a:r>
                        <a:rPr lang="zh-CN" sz="1400" b="1">
                          <a:solidFill>
                            <a:srgbClr val="B03600"/>
                          </a:solidFill>
                          <a:latin typeface="Times New Roman" panose="02020603050405020304"/>
                          <a:ea typeface="宋体" panose="02010600030101010101" pitchFamily="2" charset="-122"/>
                          <a:cs typeface="微软雅黑" panose="020B0503020204020204" pitchFamily="34" charset="-122"/>
                        </a:rPr>
                        <a:t>中青年群体</a:t>
                      </a:r>
                      <a:r>
                        <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rPr>
                        <a:t>（对父母意愿）</a:t>
                      </a:r>
                      <a:endPar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129010" marR="129010" marT="64505" marB="64505" anchor="ctr">
                    <a:lnL>
                      <a:noFill/>
                    </a:lnL>
                    <a:lnR>
                      <a:noFill/>
                    </a:lnR>
                    <a:lnT w="12700" cap="flat" cmpd="sng">
                      <a:solidFill>
                        <a:srgbClr val="EE822F"/>
                      </a:solidFill>
                      <a:prstDash val="solid"/>
                      <a:headEnd type="none" w="med" len="med"/>
                      <a:tailEnd type="none" w="med" len="med"/>
                    </a:lnT>
                    <a:lnB w="12700" cap="flat" cmpd="sng">
                      <a:solidFill>
                        <a:schemeClr val="accent6">
                          <a:lumMod val="60000"/>
                          <a:lumOff val="40000"/>
                        </a:schemeClr>
                      </a:solidFill>
                      <a:prstDash val="solid"/>
                      <a:headEnd type="none" w="med" len="med"/>
                      <a:tailEnd type="none" w="med" len="med"/>
                    </a:lnB>
                    <a:solidFill>
                      <a:schemeClr val="accent6">
                        <a:lumMod val="60000"/>
                        <a:lumOff val="40000"/>
                      </a:schemeClr>
                    </a:solidFill>
                  </a:tcPr>
                </a:tc>
                <a:tc hMerge="1">
                  <a:tcPr>
                    <a:lnT w="12700" cap="flat" cmpd="sng">
                      <a:solidFill>
                        <a:srgbClr val="EE822F"/>
                      </a:solidFill>
                      <a:prstDash val="solid"/>
                      <a:headEnd type="none" w="med" len="med"/>
                      <a:tailEnd type="none" w="med" len="med"/>
                    </a:lnT>
                    <a:lnB w="12700" cap="flat" cmpd="sng">
                      <a:solidFill>
                        <a:schemeClr val="accent6">
                          <a:lumMod val="60000"/>
                          <a:lumOff val="40000"/>
                        </a:schemeClr>
                      </a:solidFill>
                      <a:prstDash val="solid"/>
                      <a:headEnd type="none" w="med" len="med"/>
                      <a:tailEnd type="none" w="med" len="med"/>
                    </a:lnB>
                  </a:tcPr>
                </a:tc>
                <a:tc hMerge="1">
                  <a:tcPr>
                    <a:lnR>
                      <a:noFill/>
                    </a:lnR>
                    <a:lnT w="12700" cap="flat" cmpd="sng">
                      <a:solidFill>
                        <a:srgbClr val="EE822F"/>
                      </a:solidFill>
                      <a:prstDash val="solid"/>
                      <a:headEnd type="none" w="med" len="med"/>
                      <a:tailEnd type="none" w="med" len="med"/>
                    </a:lnT>
                    <a:lnB w="12700" cap="flat" cmpd="sng">
                      <a:solidFill>
                        <a:schemeClr val="accent6">
                          <a:lumMod val="60000"/>
                          <a:lumOff val="40000"/>
                        </a:schemeClr>
                      </a:solidFill>
                      <a:prstDash val="solid"/>
                      <a:headEnd type="none" w="med" len="med"/>
                      <a:tailEnd type="none" w="med" len="med"/>
                    </a:lnB>
                  </a:tcPr>
                </a:tc>
                <a:tc gridSpan="3">
                  <a:txBody>
                    <a:bodyPr/>
                    <a:lstStyle/>
                    <a:p>
                      <a:pPr marL="0" indent="0" algn="ctr">
                        <a:spcBef>
                          <a:spcPts val="300"/>
                        </a:spcBef>
                        <a:spcAft>
                          <a:spcPct val="0"/>
                        </a:spcAft>
                      </a:pPr>
                      <a:r>
                        <a:rPr lang="zh-CN" sz="1400" b="1" dirty="0">
                          <a:solidFill>
                            <a:srgbClr val="B03600"/>
                          </a:solidFill>
                          <a:latin typeface="Times New Roman" panose="02020603050405020304"/>
                          <a:ea typeface="宋体" panose="02010600030101010101" pitchFamily="2" charset="-122"/>
                          <a:cs typeface="微软雅黑" panose="020B0503020204020204" pitchFamily="34" charset="-122"/>
                        </a:rPr>
                        <a:t>中青年群体</a:t>
                      </a:r>
                      <a:r>
                        <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rPr>
                        <a:t>（自身意愿）</a:t>
                      </a:r>
                      <a:endPar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129010" marR="129010" marT="64505" marB="64505" anchor="ctr">
                    <a:lnL>
                      <a:noFill/>
                    </a:lnL>
                    <a:lnR>
                      <a:noFill/>
                    </a:lnR>
                    <a:lnT w="12700" cap="flat" cmpd="sng">
                      <a:solidFill>
                        <a:srgbClr val="EE822F"/>
                      </a:solidFill>
                      <a:prstDash val="solid"/>
                      <a:headEnd type="none" w="med" len="med"/>
                      <a:tailEnd type="none" w="med" len="med"/>
                    </a:lnT>
                    <a:lnB w="12700" cap="flat" cmpd="sng">
                      <a:solidFill>
                        <a:schemeClr val="accent6">
                          <a:lumMod val="60000"/>
                          <a:lumOff val="40000"/>
                        </a:schemeClr>
                      </a:solidFill>
                      <a:prstDash val="solid"/>
                      <a:headEnd type="none" w="med" len="med"/>
                      <a:tailEnd type="none" w="med" len="med"/>
                    </a:lnB>
                    <a:solidFill>
                      <a:schemeClr val="accent6">
                        <a:lumMod val="60000"/>
                        <a:lumOff val="40000"/>
                      </a:schemeClr>
                    </a:solidFill>
                  </a:tcPr>
                </a:tc>
                <a:tc hMerge="1">
                  <a:tcPr>
                    <a:lnT w="12700" cap="flat" cmpd="sng">
                      <a:solidFill>
                        <a:srgbClr val="EE822F"/>
                      </a:solidFill>
                      <a:prstDash val="solid"/>
                      <a:headEnd type="none" w="med" len="med"/>
                      <a:tailEnd type="none" w="med" len="med"/>
                    </a:lnT>
                    <a:lnB w="12700" cap="flat" cmpd="sng">
                      <a:solidFill>
                        <a:schemeClr val="accent6">
                          <a:lumMod val="60000"/>
                          <a:lumOff val="40000"/>
                        </a:schemeClr>
                      </a:solidFill>
                      <a:prstDash val="solid"/>
                      <a:headEnd type="none" w="med" len="med"/>
                      <a:tailEnd type="none" w="med" len="med"/>
                    </a:lnB>
                  </a:tcPr>
                </a:tc>
                <a:tc hMerge="1">
                  <a:tcPr>
                    <a:lnR>
                      <a:noFill/>
                    </a:lnR>
                    <a:lnT w="12700" cap="flat" cmpd="sng">
                      <a:solidFill>
                        <a:srgbClr val="EE822F"/>
                      </a:solidFill>
                      <a:prstDash val="solid"/>
                      <a:headEnd type="none" w="med" len="med"/>
                      <a:tailEnd type="none" w="med" len="med"/>
                    </a:lnT>
                    <a:lnB w="12700" cap="flat" cmpd="sng">
                      <a:solidFill>
                        <a:schemeClr val="accent6">
                          <a:lumMod val="60000"/>
                          <a:lumOff val="40000"/>
                        </a:schemeClr>
                      </a:solidFill>
                      <a:prstDash val="solid"/>
                      <a:headEnd type="none" w="med" len="med"/>
                      <a:tailEnd type="none" w="med" len="med"/>
                    </a:lnB>
                  </a:tcPr>
                </a:tc>
              </a:tr>
              <a:tr h="565768">
                <a:tc>
                  <a:txBody>
                    <a:bodyPr/>
                    <a:lstStyle/>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制度信任</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cap="flat" cmpd="sng">
                      <a:solidFill>
                        <a:schemeClr val="accent6">
                          <a:lumMod val="60000"/>
                          <a:lumOff val="40000"/>
                        </a:schemeClr>
                      </a:solidFill>
                      <a:prstDash val="solid"/>
                      <a:headEnd type="none" w="med" len="med"/>
                      <a:tailEnd type="none" w="med" len="med"/>
                    </a:lnL>
                    <a:lnR w="12700">
                      <a:solidFill>
                        <a:schemeClr val="accent6">
                          <a:lumMod val="60000"/>
                          <a:lumOff val="40000"/>
                        </a:schemeClr>
                      </a:solidFill>
                      <a:prstDash val="solid"/>
                    </a:lnR>
                    <a:lnT w="12700" cap="flat" cmpd="sng">
                      <a:solidFill>
                        <a:schemeClr val="accent6">
                          <a:lumMod val="60000"/>
                          <a:lumOff val="40000"/>
                        </a:schemeClr>
                      </a:solidFill>
                      <a:prstDash val="solid"/>
                      <a:headEnd type="none" w="med" len="med"/>
                      <a:tailEnd type="none" w="med" len="me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0.7266***</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(0.0402)</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cap="flat" cmpd="sng">
                      <a:solidFill>
                        <a:schemeClr val="accent6">
                          <a:lumMod val="60000"/>
                          <a:lumOff val="40000"/>
                        </a:schemeClr>
                      </a:solidFill>
                      <a:prstDash val="solid"/>
                      <a:headEnd type="none" w="med" len="med"/>
                      <a:tailEnd type="none" w="med" len="med"/>
                    </a:lnT>
                    <a:lnB w="12700">
                      <a:solidFill>
                        <a:schemeClr val="accent6">
                          <a:lumMod val="60000"/>
                          <a:lumOff val="40000"/>
                        </a:schemeClr>
                      </a:solidFill>
                      <a:prstDash val="solid"/>
                    </a:lnB>
                    <a:solidFill>
                      <a:srgbClr val="FFEBB9"/>
                    </a:solidFill>
                  </a:tcPr>
                </a:tc>
                <a:tc>
                  <a:txBody>
                    <a:bodyPr/>
                    <a:lstStyle/>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4.1650***</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(0.3752)</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cap="flat" cmpd="sng">
                      <a:solidFill>
                        <a:schemeClr val="accent6">
                          <a:lumMod val="60000"/>
                          <a:lumOff val="40000"/>
                        </a:schemeClr>
                      </a:solidFill>
                      <a:prstDash val="solid"/>
                      <a:headEnd type="none" w="med" len="med"/>
                      <a:tailEnd type="none" w="med" len="med"/>
                    </a:lnT>
                    <a:lnB w="12700">
                      <a:solidFill>
                        <a:schemeClr val="accent6">
                          <a:lumMod val="60000"/>
                          <a:lumOff val="40000"/>
                        </a:schemeClr>
                      </a:solidFill>
                      <a:prstDash val="solid"/>
                    </a:lnB>
                    <a:solidFill>
                      <a:srgbClr val="FFEBB9"/>
                    </a:solidFill>
                  </a:tcPr>
                </a:tc>
                <a:tc>
                  <a:txBody>
                    <a:bodyPr/>
                    <a:lstStyle/>
                    <a:p>
                      <a:pPr marL="0" indent="0" algn="ctr">
                        <a:spcBef>
                          <a:spcPts val="300"/>
                        </a:spcBef>
                        <a:spcAft>
                          <a:spcPct val="0"/>
                        </a:spcAft>
                      </a:pPr>
                      <a:r>
                        <a:rPr lang="zh-CN" sz="1400" dirty="0">
                          <a:solidFill>
                            <a:srgbClr val="000000"/>
                          </a:solidFill>
                          <a:latin typeface="宋体" panose="02010600030101010101" pitchFamily="2" charset="-122"/>
                          <a:ea typeface="宋体" panose="02010600030101010101" pitchFamily="2" charset="-122"/>
                          <a:cs typeface="微软雅黑" panose="020B0503020204020204" pitchFamily="34" charset="-122"/>
                        </a:rPr>
                        <a:t>制度信任</a:t>
                      </a:r>
                      <a:endParaRPr lang="zh-CN" sz="1400" dirty="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cap="flat" cmpd="sng">
                      <a:solidFill>
                        <a:schemeClr val="accent6">
                          <a:lumMod val="60000"/>
                          <a:lumOff val="40000"/>
                        </a:schemeClr>
                      </a:solidFill>
                      <a:prstDash val="solid"/>
                      <a:headEnd type="none" w="med" len="med"/>
                      <a:tailEnd type="none" w="med" len="me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0.7886***</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(0.0437)</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cap="flat" cmpd="sng">
                      <a:solidFill>
                        <a:schemeClr val="accent6">
                          <a:lumMod val="60000"/>
                          <a:lumOff val="40000"/>
                        </a:schemeClr>
                      </a:solidFill>
                      <a:prstDash val="solid"/>
                      <a:headEnd type="none" w="med" len="med"/>
                      <a:tailEnd type="none" w="med" len="med"/>
                    </a:lnT>
                    <a:lnB w="12700">
                      <a:solidFill>
                        <a:schemeClr val="accent6">
                          <a:lumMod val="60000"/>
                          <a:lumOff val="40000"/>
                        </a:schemeClr>
                      </a:solidFill>
                      <a:prstDash val="solid"/>
                    </a:lnB>
                    <a:solidFill>
                      <a:srgbClr val="FFEBB9"/>
                    </a:solidFill>
                  </a:tcPr>
                </a:tc>
                <a:tc>
                  <a:txBody>
                    <a:bodyPr/>
                    <a:lstStyle/>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3.7640***</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(0.3096)</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cap="flat" cmpd="sng">
                      <a:solidFill>
                        <a:schemeClr val="accent6">
                          <a:lumMod val="60000"/>
                          <a:lumOff val="40000"/>
                        </a:schemeClr>
                      </a:solidFill>
                      <a:prstDash val="solid"/>
                      <a:headEnd type="none" w="med" len="med"/>
                      <a:tailEnd type="none" w="med" len="med"/>
                    </a:lnT>
                    <a:lnB w="12700">
                      <a:solidFill>
                        <a:schemeClr val="accent6">
                          <a:lumMod val="60000"/>
                          <a:lumOff val="40000"/>
                        </a:schemeClr>
                      </a:solidFill>
                      <a:prstDash val="solid"/>
                    </a:lnB>
                    <a:solidFill>
                      <a:srgbClr val="FFEBB9"/>
                    </a:solidFill>
                  </a:tcPr>
                </a:tc>
                <a:tc>
                  <a:txBody>
                    <a:bodyPr/>
                    <a:lstStyle/>
                    <a:p>
                      <a:pPr marL="0" indent="0" algn="ctr">
                        <a:spcBef>
                          <a:spcPts val="300"/>
                        </a:spcBef>
                        <a:spcAft>
                          <a:spcPct val="0"/>
                        </a:spcAft>
                      </a:pPr>
                      <a:r>
                        <a:rPr lang="zh-CN" sz="1400" dirty="0">
                          <a:solidFill>
                            <a:srgbClr val="000000"/>
                          </a:solidFill>
                          <a:latin typeface="宋体" panose="02010600030101010101" pitchFamily="2" charset="-122"/>
                          <a:ea typeface="宋体" panose="02010600030101010101" pitchFamily="2" charset="-122"/>
                          <a:cs typeface="微软雅黑" panose="020B0503020204020204" pitchFamily="34" charset="-122"/>
                        </a:rPr>
                        <a:t>制度信任</a:t>
                      </a:r>
                      <a:endParaRPr lang="zh-CN" sz="1400" dirty="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cap="flat" cmpd="sng">
                      <a:solidFill>
                        <a:schemeClr val="accent6">
                          <a:lumMod val="60000"/>
                          <a:lumOff val="40000"/>
                        </a:schemeClr>
                      </a:solidFill>
                      <a:prstDash val="solid"/>
                      <a:headEnd type="none" w="med" len="med"/>
                      <a:tailEnd type="none" w="med" len="me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0.3245***</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(0.0386)</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cap="flat" cmpd="sng">
                      <a:solidFill>
                        <a:schemeClr val="accent6">
                          <a:lumMod val="60000"/>
                          <a:lumOff val="40000"/>
                        </a:schemeClr>
                      </a:solidFill>
                      <a:prstDash val="solid"/>
                      <a:headEnd type="none" w="med" len="med"/>
                      <a:tailEnd type="none" w="med" len="med"/>
                    </a:lnT>
                    <a:lnB w="12700">
                      <a:solidFill>
                        <a:schemeClr val="accent6">
                          <a:lumMod val="60000"/>
                          <a:lumOff val="40000"/>
                        </a:schemeClr>
                      </a:solidFill>
                      <a:prstDash val="solid"/>
                    </a:lnB>
                    <a:solidFill>
                      <a:srgbClr val="FFEBB9"/>
                    </a:solidFill>
                  </a:tcPr>
                </a:tc>
                <a:tc>
                  <a:txBody>
                    <a:bodyPr/>
                    <a:lstStyle/>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1.1160***</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(0.1670)</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cap="flat" cmpd="sng">
                      <a:solidFill>
                        <a:schemeClr val="accent6">
                          <a:lumMod val="60000"/>
                          <a:lumOff val="40000"/>
                        </a:schemeClr>
                      </a:solidFill>
                      <a:prstDash val="solid"/>
                      <a:headEnd type="none" w="med" len="med"/>
                      <a:tailEnd type="none" w="med" len="med"/>
                    </a:lnR>
                    <a:lnT w="12700" cap="flat" cmpd="sng">
                      <a:solidFill>
                        <a:schemeClr val="accent6">
                          <a:lumMod val="60000"/>
                          <a:lumOff val="40000"/>
                        </a:schemeClr>
                      </a:solidFill>
                      <a:prstDash val="solid"/>
                      <a:headEnd type="none" w="med" len="med"/>
                      <a:tailEnd type="none" w="med" len="med"/>
                    </a:lnT>
                    <a:lnB w="12700">
                      <a:solidFill>
                        <a:schemeClr val="accent6">
                          <a:lumMod val="60000"/>
                          <a:lumOff val="40000"/>
                        </a:schemeClr>
                      </a:solidFill>
                      <a:prstDash val="solid"/>
                    </a:lnB>
                    <a:solidFill>
                      <a:srgbClr val="FFEBB9"/>
                    </a:solidFill>
                  </a:tcPr>
                </a:tc>
              </a:tr>
              <a:tr h="565768">
                <a:tc>
                  <a:txBody>
                    <a:bodyPr/>
                    <a:lstStyle/>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代际支持</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cap="flat" cmpd="sng">
                      <a:solidFill>
                        <a:schemeClr val="accent6">
                          <a:lumMod val="60000"/>
                          <a:lumOff val="40000"/>
                        </a:schemeClr>
                      </a:solidFill>
                      <a:prstDash val="solid"/>
                      <a:headEnd type="none" w="med" len="med"/>
                      <a:tailEnd type="none" w="med" len="me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-0.3026***</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(0.0330)</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solidFill>
                      <a:srgbClr val="FFEBB9"/>
                    </a:solidFill>
                  </a:tcPr>
                </a:tc>
                <a:tc>
                  <a:txBody>
                    <a:bodyPr/>
                    <a:lstStyle/>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-2.6712***</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(0.3748)</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solidFill>
                      <a:srgbClr val="FFEBB9"/>
                    </a:solidFill>
                  </a:tcPr>
                </a:tc>
                <a:tc>
                  <a:txBody>
                    <a:bodyPr/>
                    <a:lstStyle/>
                    <a:p>
                      <a:pPr marL="0" indent="0" algn="ctr">
                        <a:spcBef>
                          <a:spcPts val="300"/>
                        </a:spcBef>
                        <a:spcAft>
                          <a:spcPct val="0"/>
                        </a:spcAft>
                      </a:pPr>
                      <a:r>
                        <a:rPr lang="zh-CN" sz="1400" dirty="0">
                          <a:solidFill>
                            <a:srgbClr val="000000"/>
                          </a:solidFill>
                          <a:latin typeface="宋体" panose="02010600030101010101" pitchFamily="2" charset="-122"/>
                          <a:ea typeface="宋体" panose="02010600030101010101" pitchFamily="2" charset="-122"/>
                          <a:cs typeface="微软雅黑" panose="020B0503020204020204" pitchFamily="34" charset="-122"/>
                        </a:rPr>
                        <a:t>代际支持</a:t>
                      </a:r>
                      <a:endParaRPr lang="zh-CN" sz="1400" dirty="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-0.1594***</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(0.0414)</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solidFill>
                      <a:srgbClr val="FFEBB9"/>
                    </a:solidFill>
                  </a:tcPr>
                </a:tc>
                <a:tc>
                  <a:txBody>
                    <a:bodyPr/>
                    <a:lstStyle/>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-0.8802***</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(0.1910)</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solidFill>
                      <a:srgbClr val="FFEBB9"/>
                    </a:solidFill>
                  </a:tcPr>
                </a:tc>
                <a:tc>
                  <a:txBody>
                    <a:bodyPr/>
                    <a:lstStyle/>
                    <a:p>
                      <a:pPr marL="0" indent="0" algn="ctr">
                        <a:spcBef>
                          <a:spcPts val="300"/>
                        </a:spcBef>
                        <a:spcAft>
                          <a:spcPct val="0"/>
                        </a:spcAft>
                      </a:pPr>
                      <a:r>
                        <a:rPr lang="zh-CN" sz="1400" dirty="0">
                          <a:solidFill>
                            <a:srgbClr val="000000"/>
                          </a:solidFill>
                          <a:latin typeface="宋体" panose="02010600030101010101" pitchFamily="2" charset="-122"/>
                          <a:ea typeface="宋体" panose="02010600030101010101" pitchFamily="2" charset="-122"/>
                          <a:cs typeface="微软雅黑" panose="020B0503020204020204" pitchFamily="34" charset="-122"/>
                        </a:rPr>
                        <a:t>代际支持</a:t>
                      </a:r>
                      <a:endParaRPr lang="zh-CN" sz="1400" dirty="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-0.2904***</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(0.0371)</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solidFill>
                      <a:srgbClr val="FFEBB9"/>
                    </a:solidFill>
                  </a:tcPr>
                </a:tc>
                <a:tc>
                  <a:txBody>
                    <a:bodyPr/>
                    <a:lstStyle/>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-1.3547***</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(0.1976)</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cap="flat" cmpd="sng">
                      <a:solidFill>
                        <a:schemeClr val="accent6">
                          <a:lumMod val="60000"/>
                          <a:lumOff val="40000"/>
                        </a:schemeClr>
                      </a:solidFill>
                      <a:prstDash val="solid"/>
                      <a:headEnd type="none" w="med" len="med"/>
                      <a:tailEnd type="none" w="med" len="med"/>
                    </a:lnR>
                    <a:lnT w="12700">
                      <a:solidFill>
                        <a:schemeClr val="accent6">
                          <a:lumMod val="60000"/>
                          <a:lumOff val="40000"/>
                        </a:schemeClr>
                      </a:solidFill>
                      <a:prstDash val="solid"/>
                    </a:lnT>
                    <a:lnB w="12700">
                      <a:solidFill>
                        <a:schemeClr val="accent6">
                          <a:lumMod val="60000"/>
                          <a:lumOff val="40000"/>
                        </a:schemeClr>
                      </a:solidFill>
                      <a:prstDash val="solid"/>
                    </a:lnB>
                    <a:solidFill>
                      <a:srgbClr val="FFEBB9"/>
                    </a:solidFill>
                  </a:tcPr>
                </a:tc>
              </a:tr>
              <a:tr h="565768">
                <a:tc>
                  <a:txBody>
                    <a:bodyPr/>
                    <a:lstStyle/>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风险感知</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cap="flat" cmpd="sng">
                      <a:solidFill>
                        <a:schemeClr val="accent6">
                          <a:lumMod val="60000"/>
                          <a:lumOff val="40000"/>
                        </a:schemeClr>
                      </a:solidFill>
                      <a:prstDash val="solid"/>
                      <a:headEnd type="none" w="med" len="med"/>
                      <a:tailEnd type="none" w="med" len="me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0.1043</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(0.0392)</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0.2300</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(0.2471)</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风险感知</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0.1144</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(0.0745)</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0.2093</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(0.1906)</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风险感知</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0.1627*</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(0.0672)</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0.2954</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(0.1629)</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cap="flat" cmpd="sng">
                      <a:solidFill>
                        <a:schemeClr val="accent6">
                          <a:lumMod val="60000"/>
                          <a:lumOff val="40000"/>
                        </a:schemeClr>
                      </a:solidFill>
                      <a:prstDash val="solid"/>
                      <a:headEnd type="none" w="med" len="med"/>
                      <a:tailEnd type="none" w="med" len="med"/>
                    </a:lnR>
                    <a:lnT w="12700">
                      <a:solidFill>
                        <a:schemeClr val="accent6">
                          <a:lumMod val="60000"/>
                          <a:lumOff val="40000"/>
                        </a:schemeClr>
                      </a:solidFill>
                      <a:prstDash val="solid"/>
                    </a:lnT>
                    <a:lnB w="12700">
                      <a:solidFill>
                        <a:schemeClr val="accent6">
                          <a:lumMod val="60000"/>
                          <a:lumOff val="40000"/>
                        </a:schemeClr>
                      </a:solidFill>
                      <a:prstDash val="solid"/>
                    </a:lnB>
                    <a:noFill/>
                  </a:tcPr>
                </a:tc>
              </a:tr>
              <a:tr h="565768">
                <a:tc>
                  <a:txBody>
                    <a:bodyPr/>
                    <a:lstStyle/>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文化观念</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cap="flat" cmpd="sng">
                      <a:solidFill>
                        <a:schemeClr val="accent6">
                          <a:lumMod val="60000"/>
                          <a:lumOff val="40000"/>
                        </a:schemeClr>
                      </a:solidFill>
                      <a:prstDash val="solid"/>
                      <a:headEnd type="none" w="med" len="med"/>
                      <a:tailEnd type="none" w="med" len="me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0.1274</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(0.0491)</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1.1256</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(0.3678)</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文化观念</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0.0145</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(0.0591)</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0.7291***</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(0.1858)</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文化观念</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0.5293***</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(0.0530)</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solidFill>
                      <a:srgbClr val="FFEBB9"/>
                    </a:solidFill>
                  </a:tcPr>
                </a:tc>
                <a:tc>
                  <a:txBody>
                    <a:bodyPr/>
                    <a:lstStyle/>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1.1799***</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(0.1562)</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cap="flat" cmpd="sng">
                      <a:solidFill>
                        <a:schemeClr val="accent6">
                          <a:lumMod val="60000"/>
                          <a:lumOff val="40000"/>
                        </a:schemeClr>
                      </a:solidFill>
                      <a:prstDash val="solid"/>
                      <a:headEnd type="none" w="med" len="med"/>
                      <a:tailEnd type="none" w="med" len="med"/>
                    </a:lnR>
                    <a:lnT w="12700">
                      <a:solidFill>
                        <a:schemeClr val="accent6">
                          <a:lumMod val="60000"/>
                          <a:lumOff val="40000"/>
                        </a:schemeClr>
                      </a:solidFill>
                      <a:prstDash val="solid"/>
                    </a:lnT>
                    <a:lnB w="12700">
                      <a:solidFill>
                        <a:schemeClr val="accent6">
                          <a:lumMod val="60000"/>
                          <a:lumOff val="40000"/>
                        </a:schemeClr>
                      </a:solidFill>
                      <a:prstDash val="solid"/>
                    </a:lnB>
                    <a:noFill/>
                  </a:tcPr>
                </a:tc>
              </a:tr>
              <a:tr h="565768">
                <a:tc>
                  <a:txBody>
                    <a:bodyPr/>
                    <a:lstStyle/>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长寿风险</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cap="flat" cmpd="sng">
                      <a:solidFill>
                        <a:schemeClr val="accent6">
                          <a:lumMod val="60000"/>
                          <a:lumOff val="40000"/>
                        </a:schemeClr>
                      </a:solidFill>
                      <a:prstDash val="solid"/>
                      <a:headEnd type="none" w="med" len="med"/>
                      <a:tailEnd type="none" w="med" len="me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0.2117***</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(0.0621)</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0.0675</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(0.1912)</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长寿风险</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-0.0717</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(0.0799)</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-0.2583</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(0.1972)</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长寿风险</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-0.0686</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(0.0721)</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-0.0517</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(0.1635)</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cap="flat" cmpd="sng">
                      <a:solidFill>
                        <a:schemeClr val="accent6">
                          <a:lumMod val="60000"/>
                          <a:lumOff val="40000"/>
                        </a:schemeClr>
                      </a:solidFill>
                      <a:prstDash val="solid"/>
                      <a:headEnd type="none" w="med" len="med"/>
                      <a:tailEnd type="none" w="med" len="med"/>
                    </a:lnR>
                    <a:lnT w="12700">
                      <a:solidFill>
                        <a:schemeClr val="accent6">
                          <a:lumMod val="60000"/>
                          <a:lumOff val="40000"/>
                        </a:schemeClr>
                      </a:solidFill>
                      <a:prstDash val="solid"/>
                    </a:lnT>
                    <a:lnB w="12700">
                      <a:solidFill>
                        <a:schemeClr val="accent6">
                          <a:lumMod val="60000"/>
                          <a:lumOff val="40000"/>
                        </a:schemeClr>
                      </a:solidFill>
                      <a:prstDash val="solid"/>
                    </a:lnB>
                    <a:noFill/>
                  </a:tcPr>
                </a:tc>
              </a:tr>
              <a:tr h="565768">
                <a:tc>
                  <a:txBody>
                    <a:bodyPr/>
                    <a:lstStyle/>
                    <a:p>
                      <a:pPr marL="0" indent="0" algn="ctr">
                        <a:spcBef>
                          <a:spcPts val="300"/>
                        </a:spcBef>
                        <a:spcAft>
                          <a:spcPct val="0"/>
                        </a:spcAft>
                      </a:pPr>
                      <a:r>
                        <a:rPr lang="zh-CN" sz="1400" dirty="0">
                          <a:solidFill>
                            <a:srgbClr val="000000"/>
                          </a:solidFill>
                          <a:latin typeface="宋体" panose="02010600030101010101" pitchFamily="2" charset="-122"/>
                          <a:ea typeface="宋体" panose="02010600030101010101" pitchFamily="2" charset="-122"/>
                          <a:cs typeface="微软雅黑" panose="020B0503020204020204" pitchFamily="34" charset="-122"/>
                        </a:rPr>
                        <a:t>金融素养</a:t>
                      </a:r>
                      <a:endParaRPr lang="zh-CN" sz="1400" dirty="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cap="flat" cmpd="sng">
                      <a:solidFill>
                        <a:schemeClr val="accent6">
                          <a:lumMod val="60000"/>
                          <a:lumOff val="40000"/>
                        </a:schemeClr>
                      </a:solidFill>
                      <a:prstDash val="solid"/>
                      <a:headEnd type="none" w="med" len="med"/>
                      <a:tailEnd type="none" w="med" len="med"/>
                    </a:lnL>
                    <a:lnR w="12700">
                      <a:solidFill>
                        <a:schemeClr val="accent6">
                          <a:lumMod val="60000"/>
                          <a:lumOff val="40000"/>
                        </a:schemeClr>
                      </a:solidFill>
                      <a:prstDash val="solid"/>
                    </a:lnR>
                    <a:lnT w="12700">
                      <a:solidFill>
                        <a:schemeClr val="accent6">
                          <a:lumMod val="60000"/>
                          <a:lumOff val="40000"/>
                        </a:schemeClr>
                      </a:solidFill>
                      <a:prstDash val="solid"/>
                    </a:lnT>
                    <a:lnB w="12700" cap="flat" cmpd="sng">
                      <a:solidFill>
                        <a:schemeClr val="accent6">
                          <a:lumMod val="60000"/>
                          <a:lumOff val="40000"/>
                        </a:schemeClr>
                      </a:solidFill>
                      <a:prstDash val="solid"/>
                      <a:headEnd type="none" w="med" len="med"/>
                      <a:tailEnd type="none" w="med" len="me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0.0962</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(0.0371)</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cap="flat" cmpd="sng">
                      <a:solidFill>
                        <a:schemeClr val="accent6">
                          <a:lumMod val="60000"/>
                          <a:lumOff val="40000"/>
                        </a:schemeClr>
                      </a:solidFill>
                      <a:prstDash val="solid"/>
                      <a:headEnd type="none" w="med" len="med"/>
                      <a:tailEnd type="none" w="med" len="me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0.9553***</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(0.2623)</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cap="flat" cmpd="sng">
                      <a:solidFill>
                        <a:schemeClr val="accent6">
                          <a:lumMod val="60000"/>
                          <a:lumOff val="40000"/>
                        </a:schemeClr>
                      </a:solidFill>
                      <a:prstDash val="solid"/>
                      <a:headEnd type="none" w="med" len="med"/>
                      <a:tailEnd type="none" w="med" len="med"/>
                    </a:lnB>
                    <a:noFill/>
                  </a:tcPr>
                </a:tc>
                <a:tc>
                  <a:txBody>
                    <a:bodyPr/>
                    <a:lstStyle/>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金融素养</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cap="flat" cmpd="sng">
                      <a:solidFill>
                        <a:schemeClr val="accent6">
                          <a:lumMod val="60000"/>
                          <a:lumOff val="40000"/>
                        </a:schemeClr>
                      </a:solidFill>
                      <a:prstDash val="solid"/>
                      <a:headEnd type="none" w="med" len="med"/>
                      <a:tailEnd type="none" w="med" len="me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-0.2346***</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(0.0334)</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cap="flat" cmpd="sng">
                      <a:solidFill>
                        <a:schemeClr val="accent6">
                          <a:lumMod val="60000"/>
                          <a:lumOff val="40000"/>
                        </a:schemeClr>
                      </a:solidFill>
                      <a:prstDash val="solid"/>
                      <a:headEnd type="none" w="med" len="med"/>
                      <a:tailEnd type="none" w="med" len="med"/>
                    </a:lnB>
                    <a:noFill/>
                  </a:tcPr>
                </a:tc>
                <a:tc>
                  <a:txBody>
                    <a:bodyPr/>
                    <a:lstStyle/>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-1.0776***</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(0.1615)</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cap="flat" cmpd="sng">
                      <a:solidFill>
                        <a:schemeClr val="accent6">
                          <a:lumMod val="60000"/>
                          <a:lumOff val="40000"/>
                        </a:schemeClr>
                      </a:solidFill>
                      <a:prstDash val="solid"/>
                      <a:headEnd type="none" w="med" len="med"/>
                      <a:tailEnd type="none" w="med" len="med"/>
                    </a:lnB>
                    <a:solidFill>
                      <a:srgbClr val="FFEBB9"/>
                    </a:solidFill>
                  </a:tcPr>
                </a:tc>
                <a:tc>
                  <a:txBody>
                    <a:bodyPr/>
                    <a:lstStyle/>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金融素养</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cap="flat" cmpd="sng">
                      <a:solidFill>
                        <a:schemeClr val="accent6">
                          <a:lumMod val="60000"/>
                          <a:lumOff val="40000"/>
                        </a:schemeClr>
                      </a:solidFill>
                      <a:prstDash val="solid"/>
                      <a:headEnd type="none" w="med" len="med"/>
                      <a:tailEnd type="none" w="med" len="med"/>
                    </a:lnB>
                    <a:noFill/>
                  </a:tcPr>
                </a:tc>
                <a:tc>
                  <a:txBody>
                    <a:bodyPr/>
                    <a:lstStyle/>
                    <a:p>
                      <a:pPr marL="0" indent="0" algn="ctr">
                        <a:spcBef>
                          <a:spcPts val="300"/>
                        </a:spcBef>
                        <a:spcAft>
                          <a:spcPct val="0"/>
                        </a:spcAft>
                      </a:pPr>
                      <a:r>
                        <a:rPr lang="en-US" altLang="zh-CN" sz="1400">
                          <a:latin typeface="Times New Roman" panose="02020603050405020304"/>
                          <a:ea typeface="宋体" panose="02010600030101010101" pitchFamily="2" charset="-122"/>
                          <a:cs typeface="微软雅黑" panose="020B0503020204020204" pitchFamily="34" charset="-122"/>
                        </a:rPr>
                        <a:t>-0.0356</a:t>
                      </a:r>
                      <a:br>
                        <a:rPr lang="en-US" altLang="zh-CN" sz="1400">
                          <a:latin typeface="Times New Roman" panose="02020603050405020304"/>
                          <a:ea typeface="宋体" panose="02010600030101010101" pitchFamily="2" charset="-122"/>
                          <a:cs typeface="微软雅黑" panose="020B0503020204020204" pitchFamily="34" charset="-122"/>
                        </a:rPr>
                      </a:br>
                      <a:r>
                        <a:rPr lang="en-US" altLang="zh-CN" sz="1400">
                          <a:latin typeface="Times New Roman" panose="02020603050405020304"/>
                          <a:ea typeface="宋体" panose="02010600030101010101" pitchFamily="2" charset="-122"/>
                          <a:cs typeface="微软雅黑" panose="020B0503020204020204" pitchFamily="34" charset="-122"/>
                        </a:rPr>
                        <a:t>(0.0302)</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cap="flat" cmpd="sng">
                      <a:solidFill>
                        <a:schemeClr val="accent6">
                          <a:lumMod val="60000"/>
                          <a:lumOff val="40000"/>
                        </a:schemeClr>
                      </a:solidFill>
                      <a:prstDash val="solid"/>
                      <a:headEnd type="none" w="med" len="med"/>
                      <a:tailEnd type="none" w="med" len="med"/>
                    </a:lnB>
                    <a:noFill/>
                  </a:tcPr>
                </a:tc>
                <a:tc>
                  <a:txBody>
                    <a:bodyPr/>
                    <a:lstStyle/>
                    <a:p>
                      <a:pPr marL="0" indent="0" algn="ctr">
                        <a:spcBef>
                          <a:spcPts val="300"/>
                        </a:spcBef>
                        <a:spcAft>
                          <a:spcPct val="0"/>
                        </a:spcAft>
                      </a:pPr>
                      <a:r>
                        <a:rPr lang="en-US" altLang="zh-CN" sz="1400" dirty="0">
                          <a:latin typeface="Times New Roman" panose="02020603050405020304"/>
                          <a:ea typeface="宋体" panose="02010600030101010101" pitchFamily="2" charset="-122"/>
                          <a:cs typeface="微软雅黑" panose="020B0503020204020204" pitchFamily="34" charset="-122"/>
                        </a:rPr>
                        <a:t>-0.3083**</a:t>
                      </a:r>
                      <a:br>
                        <a:rPr lang="en-US" altLang="zh-CN" sz="1400" dirty="0">
                          <a:latin typeface="Times New Roman" panose="02020603050405020304"/>
                          <a:ea typeface="宋体" panose="02010600030101010101" pitchFamily="2" charset="-122"/>
                          <a:cs typeface="微软雅黑" panose="020B0503020204020204" pitchFamily="34" charset="-122"/>
                        </a:rPr>
                      </a:br>
                      <a:r>
                        <a:rPr lang="en-US" altLang="zh-CN" sz="1400" dirty="0">
                          <a:latin typeface="Times New Roman" panose="02020603050405020304"/>
                          <a:ea typeface="宋体" panose="02010600030101010101" pitchFamily="2" charset="-122"/>
                          <a:cs typeface="微软雅黑" panose="020B0503020204020204" pitchFamily="34" charset="-122"/>
                        </a:rPr>
                        <a:t>(0.1320)</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cap="flat" cmpd="sng">
                      <a:solidFill>
                        <a:schemeClr val="accent6">
                          <a:lumMod val="60000"/>
                          <a:lumOff val="40000"/>
                        </a:schemeClr>
                      </a:solidFill>
                      <a:prstDash val="solid"/>
                      <a:headEnd type="none" w="med" len="med"/>
                      <a:tailEnd type="none" w="med" len="med"/>
                    </a:lnR>
                    <a:lnT w="12700">
                      <a:solidFill>
                        <a:schemeClr val="accent6">
                          <a:lumMod val="60000"/>
                          <a:lumOff val="40000"/>
                        </a:schemeClr>
                      </a:solidFill>
                      <a:prstDash val="solid"/>
                    </a:lnT>
                    <a:lnB w="12700" cap="flat" cmpd="sng">
                      <a:solidFill>
                        <a:schemeClr val="accent6">
                          <a:lumMod val="60000"/>
                          <a:lumOff val="40000"/>
                        </a:schemeClr>
                      </a:solidFill>
                      <a:prstDash val="solid"/>
                      <a:headEnd type="none" w="med" len="med"/>
                      <a:tailEnd type="none" w="med" len="med"/>
                    </a:lnB>
                    <a:noFill/>
                  </a:tcPr>
                </a:tc>
              </a:tr>
            </a:tbl>
          </a:graphicData>
        </a:graphic>
      </p:graphicFrame>
      <p:sp>
        <p:nvSpPr>
          <p:cNvPr id="93" name="TextBox 36"/>
          <p:cNvSpPr txBox="1"/>
          <p:nvPr/>
        </p:nvSpPr>
        <p:spPr>
          <a:xfrm>
            <a:off x="7745827" y="1316192"/>
            <a:ext cx="2824981" cy="609999"/>
          </a:xfrm>
          <a:prstGeom prst="rect">
            <a:avLst/>
          </a:prstGeom>
        </p:spPr>
        <p:txBody>
          <a:bodyPr lIns="0" tIns="0" rIns="0" bIns="0" rtlCol="0" anchor="t">
            <a:spAutoFit/>
          </a:bodyPr>
          <a:lstStyle/>
          <a:p>
            <a:pPr algn="ctr">
              <a:lnSpc>
                <a:spcPts val="4750"/>
              </a:lnSpc>
            </a:pPr>
            <a:r>
              <a:rPr lang="en-US" sz="4400" b="1" spc="439">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意愿解码</a:t>
            </a:r>
            <a:endParaRPr lang="en-US" sz="4400" b="1" spc="439">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94" name="TextBox 48"/>
          <p:cNvSpPr txBox="1"/>
          <p:nvPr/>
        </p:nvSpPr>
        <p:spPr>
          <a:xfrm>
            <a:off x="-1511451" y="2341334"/>
            <a:ext cx="9337205" cy="514314"/>
          </a:xfrm>
          <a:prstGeom prst="rect">
            <a:avLst/>
          </a:prstGeom>
        </p:spPr>
        <p:txBody>
          <a:bodyPr lIns="0" tIns="0" rIns="0" bIns="0" rtlCol="0" anchor="t">
            <a:spAutoFit/>
          </a:bodyPr>
          <a:lstStyle/>
          <a:p>
            <a:pPr algn="r">
              <a:lnSpc>
                <a:spcPts val="4080"/>
              </a:lnSpc>
            </a:pPr>
            <a:r>
              <a:rPr lang="en-US" sz="3400" b="1" spc="242">
                <a:solidFill>
                  <a:srgbClr val="FD6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基于灰色关联分析影响因素的重要性</a:t>
            </a:r>
            <a:endParaRPr lang="en-US" sz="3400" b="1" spc="242">
              <a:solidFill>
                <a:srgbClr val="FD6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8" name="TextBox 63"/>
          <p:cNvSpPr txBox="1"/>
          <p:nvPr/>
        </p:nvSpPr>
        <p:spPr>
          <a:xfrm>
            <a:off x="7482844" y="182001"/>
            <a:ext cx="2029460"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0" name="TextBox 65"/>
          <p:cNvSpPr txBox="1"/>
          <p:nvPr/>
        </p:nvSpPr>
        <p:spPr>
          <a:xfrm>
            <a:off x="13617504" y="192268"/>
            <a:ext cx="2232413" cy="46164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1" name="TextBox 66"/>
          <p:cNvSpPr txBox="1"/>
          <p:nvPr/>
        </p:nvSpPr>
        <p:spPr>
          <a:xfrm>
            <a:off x="5274208" y="184126"/>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2" name="TextBox 65"/>
          <p:cNvSpPr txBox="1"/>
          <p:nvPr/>
        </p:nvSpPr>
        <p:spPr>
          <a:xfrm>
            <a:off x="15581836" y="199629"/>
            <a:ext cx="2232413"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nvGrpSpPr>
          <p:cNvPr id="24" name="Group 35"/>
          <p:cNvGrpSpPr/>
          <p:nvPr/>
        </p:nvGrpSpPr>
        <p:grpSpPr>
          <a:xfrm>
            <a:off x="11708987" y="-419088"/>
            <a:ext cx="2112548" cy="1134695"/>
            <a:chOff x="0" y="-123825"/>
            <a:chExt cx="609349" cy="298849"/>
          </a:xfrm>
        </p:grpSpPr>
        <p:sp>
          <p:nvSpPr>
            <p:cNvPr id="25" name="Freeform 3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a:p>
          </p:txBody>
        </p:sp>
        <p:sp>
          <p:nvSpPr>
            <p:cNvPr id="26"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27" name="TextBox 66"/>
          <p:cNvSpPr txBox="1"/>
          <p:nvPr/>
        </p:nvSpPr>
        <p:spPr>
          <a:xfrm>
            <a:off x="11639066" y="153652"/>
            <a:ext cx="2314575" cy="4616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4" name="TextBox 63"/>
          <p:cNvSpPr txBox="1"/>
          <p:nvPr/>
        </p:nvSpPr>
        <p:spPr>
          <a:xfrm>
            <a:off x="9539609" y="182001"/>
            <a:ext cx="2029460" cy="46164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18" name="Freeform 18"/>
          <p:cNvSpPr/>
          <p:nvPr/>
        </p:nvSpPr>
        <p:spPr>
          <a:xfrm>
            <a:off x="6901689" y="843899"/>
            <a:ext cx="11904598" cy="9542371"/>
          </a:xfrm>
          <a:custGeom>
            <a:avLst/>
            <a:gdLst/>
            <a:ahLst/>
            <a:cxnLst/>
            <a:rect l="l" t="t" r="r" b="b"/>
            <a:pathLst>
              <a:path w="11904598" h="9542371">
                <a:moveTo>
                  <a:pt x="0" y="0"/>
                </a:moveTo>
                <a:lnTo>
                  <a:pt x="11904597" y="0"/>
                </a:lnTo>
                <a:lnTo>
                  <a:pt x="11904597" y="9542370"/>
                </a:lnTo>
                <a:lnTo>
                  <a:pt x="0" y="9542370"/>
                </a:lnTo>
                <a:lnTo>
                  <a:pt x="0" y="0"/>
                </a:lnTo>
                <a:close/>
              </a:path>
            </a:pathLst>
          </a:custGeom>
          <a:blipFill>
            <a:blip r:embed="rId2">
              <a:alphaModFix amt="23000"/>
            </a:blip>
            <a:stretch>
              <a:fillRect r="-20235"/>
            </a:stretch>
          </a:blipFill>
          <a:ln w="19050" cap="sq">
            <a:solidFill>
              <a:srgbClr val="FCFBF9">
                <a:alpha val="22745"/>
              </a:srgbClr>
            </a:solidFill>
            <a:prstDash val="solid"/>
            <a:miter/>
          </a:ln>
        </p:spPr>
      </p:sp>
      <p:grpSp>
        <p:nvGrpSpPr>
          <p:cNvPr id="45" name="组合 44"/>
          <p:cNvGrpSpPr/>
          <p:nvPr>
            <p:custDataLst>
              <p:tags r:id="rId3"/>
            </p:custDataLst>
          </p:nvPr>
        </p:nvGrpSpPr>
        <p:grpSpPr>
          <a:xfrm>
            <a:off x="1088708" y="2381250"/>
            <a:ext cx="16394430" cy="7768590"/>
            <a:chOff x="1715" y="3390"/>
            <a:chExt cx="25818" cy="12234"/>
          </a:xfrm>
        </p:grpSpPr>
        <p:sp>
          <p:nvSpPr>
            <p:cNvPr id="41" name="显眼包PPT5"/>
            <p:cNvSpPr/>
            <p:nvPr/>
          </p:nvSpPr>
          <p:spPr>
            <a:xfrm>
              <a:off x="12990" y="7704"/>
              <a:ext cx="3321" cy="762"/>
            </a:xfrm>
            <a:custGeom>
              <a:avLst/>
              <a:gdLst>
                <a:gd name="connsiteX0" fmla="*/ 668402 w 973372"/>
                <a:gd name="connsiteY0" fmla="*/ -84 h 116084"/>
                <a:gd name="connsiteX1" fmla="*/ 668402 w 973372"/>
                <a:gd name="connsiteY1" fmla="*/ 74393 h 116084"/>
                <a:gd name="connsiteX2" fmla="*/ -87 w 973372"/>
                <a:gd name="connsiteY2" fmla="*/ 74393 h 116084"/>
                <a:gd name="connsiteX3" fmla="*/ -87 w 973372"/>
                <a:gd name="connsiteY3" fmla="*/ 116000 h 116084"/>
                <a:gd name="connsiteX4" fmla="*/ 973285 w 973372"/>
                <a:gd name="connsiteY4" fmla="*/ 116000 h 116084"/>
                <a:gd name="connsiteX5" fmla="*/ 668402 w 973372"/>
                <a:gd name="connsiteY5" fmla="*/ -84 h 116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73372" h="116084">
                  <a:moveTo>
                    <a:pt x="668402" y="-84"/>
                  </a:moveTo>
                  <a:lnTo>
                    <a:pt x="668402" y="74393"/>
                  </a:lnTo>
                  <a:lnTo>
                    <a:pt x="-87" y="74393"/>
                  </a:lnTo>
                  <a:lnTo>
                    <a:pt x="-87" y="116000"/>
                  </a:lnTo>
                  <a:lnTo>
                    <a:pt x="973285" y="116000"/>
                  </a:lnTo>
                  <a:cubicBezTo>
                    <a:pt x="766511" y="92298"/>
                    <a:pt x="668402" y="-84"/>
                    <a:pt x="668402" y="-84"/>
                  </a:cubicBezTo>
                  <a:close/>
                </a:path>
              </a:pathLst>
            </a:custGeom>
            <a:gradFill flip="none" rotWithShape="1">
              <a:gsLst>
                <a:gs pos="54000">
                  <a:srgbClr val="F0A22E">
                    <a:lumMod val="60000"/>
                    <a:lumOff val="40000"/>
                  </a:srgbClr>
                </a:gs>
                <a:gs pos="0">
                  <a:srgbClr val="F0A22E"/>
                </a:gs>
                <a:gs pos="100000">
                  <a:srgbClr val="F0A22E">
                    <a:lumMod val="60000"/>
                    <a:lumOff val="40000"/>
                    <a:alpha val="0"/>
                  </a:srgbClr>
                </a:gs>
              </a:gsLst>
              <a:lin ang="10800000" scaled="1"/>
              <a:tileRect/>
            </a:gradFill>
            <a:ln w="8944" cap="flat">
              <a:noFill/>
              <a:prstDash val="solid"/>
              <a:miter/>
            </a:ln>
            <a:effectLst/>
          </p:spPr>
          <p:txBody>
            <a:bodyPr rot="0" spcFirstLastPara="0" vertOverflow="overflow" horzOverflow="overflow" vert="horz" wrap="square" lIns="137160" tIns="68580" rIns="137160" bIns="68580" numCol="1" spcCol="0" rtlCol="0" fromWordArt="0" anchor="ctr" anchorCtr="0" forceAA="0" compatLnSpc="1">
              <a:noAutofit/>
            </a:bodyPr>
            <a:lstStyle/>
            <a:p>
              <a:endParaRPr lang="zh-CN" altLang="en-US" sz="2700">
                <a:solidFill>
                  <a:schemeClr val="tx1"/>
                </a:solidFill>
                <a:cs typeface="OPPOSans R" panose="00020600040101010101" pitchFamily="18" charset="-122"/>
              </a:endParaRPr>
            </a:p>
          </p:txBody>
        </p:sp>
        <p:sp>
          <p:nvSpPr>
            <p:cNvPr id="42" name="显眼包PPT-1"/>
            <p:cNvSpPr/>
            <p:nvPr/>
          </p:nvSpPr>
          <p:spPr>
            <a:xfrm>
              <a:off x="1715" y="3390"/>
              <a:ext cx="10727" cy="10419"/>
            </a:xfrm>
            <a:prstGeom prst="donut">
              <a:avLst>
                <a:gd name="adj" fmla="val 25590"/>
              </a:avLst>
            </a:prstGeom>
            <a:gradFill flip="none" rotWithShape="1">
              <a:gsLst>
                <a:gs pos="0">
                  <a:srgbClr val="F0A22E">
                    <a:lumMod val="60000"/>
                    <a:lumOff val="40000"/>
                    <a:alpha val="26000"/>
                  </a:srgbClr>
                </a:gs>
                <a:gs pos="100000">
                  <a:srgbClr val="F0A22E">
                    <a:lumMod val="60000"/>
                    <a:lumOff val="40000"/>
                    <a:alpha val="0"/>
                  </a:srgbClr>
                </a:gs>
              </a:gsLst>
              <a:lin ang="5400000" scaled="1"/>
              <a:tileRect/>
            </a:gradFill>
            <a:ln w="12700" cap="flat" cmpd="sng" algn="ctr">
              <a:noFill/>
              <a:prstDash val="solid"/>
              <a:miter lim="800000"/>
            </a:ln>
            <a:effectLst/>
          </p:spPr>
          <p:txBody>
            <a:bodyPr rtlCol="0" anchor="ctr"/>
            <a:lstStyle/>
            <a:p>
              <a:pPr algn="ctr"/>
              <a:endParaRPr lang="zh-CN" altLang="en-US" sz="2700">
                <a:solidFill>
                  <a:schemeClr val="tx1"/>
                </a:solidFill>
                <a:latin typeface="Arial" panose="020B0604020202020204" pitchFamily="34" charset="0"/>
                <a:ea typeface="微软雅黑" panose="020B0503020204020204" pitchFamily="34" charset="-122"/>
                <a:cs typeface="OPPOSans R" panose="00020600040101010101" pitchFamily="18" charset="-122"/>
              </a:endParaRPr>
            </a:p>
          </p:txBody>
        </p:sp>
        <p:sp>
          <p:nvSpPr>
            <p:cNvPr id="71" name="显眼包PPT1"/>
            <p:cNvSpPr/>
            <p:nvPr/>
          </p:nvSpPr>
          <p:spPr>
            <a:xfrm>
              <a:off x="2555" y="13272"/>
              <a:ext cx="8969" cy="1458"/>
            </a:xfrm>
            <a:prstGeom prst="ellipse">
              <a:avLst/>
            </a:prstGeom>
            <a:gradFill flip="none" rotWithShape="1">
              <a:gsLst>
                <a:gs pos="0">
                  <a:srgbClr val="F0A22E">
                    <a:lumMod val="60000"/>
                    <a:lumOff val="40000"/>
                    <a:alpha val="44000"/>
                  </a:srgbClr>
                </a:gs>
                <a:gs pos="88000">
                  <a:srgbClr val="F0A22E">
                    <a:lumMod val="60000"/>
                    <a:lumOff val="40000"/>
                    <a:alpha val="0"/>
                  </a:srgbClr>
                </a:gs>
              </a:gsLst>
              <a:lin ang="16200000" scaled="1"/>
              <a:tileRect/>
            </a:gradFill>
            <a:ln w="19050" cap="flat" cmpd="sng" algn="ctr">
              <a:gradFill>
                <a:gsLst>
                  <a:gs pos="0">
                    <a:srgbClr val="F0A22E">
                      <a:lumMod val="60000"/>
                      <a:lumOff val="40000"/>
                      <a:alpha val="0"/>
                    </a:srgbClr>
                  </a:gs>
                  <a:gs pos="100000">
                    <a:srgbClr val="F0A22E">
                      <a:lumMod val="60000"/>
                      <a:lumOff val="40000"/>
                    </a:srgbClr>
                  </a:gs>
                </a:gsLst>
                <a:lin ang="5400000" scaled="1"/>
              </a:gradFill>
              <a:prstDash val="solid"/>
              <a:miter lim="800000"/>
            </a:ln>
            <a:effectLst/>
            <a:scene3d>
              <a:camera prst="orthographicFront"/>
              <a:lightRig rig="threePt" dir="t"/>
            </a:scene3d>
            <a:sp3d extrusionH="571500"/>
          </p:spPr>
          <p:txBody>
            <a:bodyPr rtlCol="0" anchor="ctr"/>
            <a:lstStyle/>
            <a:p>
              <a:pPr algn="ctr"/>
              <a:endParaRPr lang="zh-CN" altLang="en-US" sz="2700">
                <a:solidFill>
                  <a:schemeClr val="tx1"/>
                </a:solidFill>
                <a:latin typeface="OPPOSans H" panose="00020600040101010101" pitchFamily="18" charset="-122"/>
                <a:ea typeface="OPPOSans H" panose="00020600040101010101" pitchFamily="18" charset="-122"/>
                <a:cs typeface="OPPOSans R" panose="00020600040101010101" pitchFamily="18" charset="-122"/>
              </a:endParaRPr>
            </a:p>
          </p:txBody>
        </p:sp>
        <p:sp>
          <p:nvSpPr>
            <p:cNvPr id="72" name="显眼包PPT2"/>
            <p:cNvSpPr/>
            <p:nvPr/>
          </p:nvSpPr>
          <p:spPr>
            <a:xfrm>
              <a:off x="2555" y="14013"/>
              <a:ext cx="8969" cy="1611"/>
            </a:xfrm>
            <a:custGeom>
              <a:avLst/>
              <a:gdLst>
                <a:gd name="connsiteX0" fmla="*/ 0 w 3934198"/>
                <a:gd name="connsiteY0" fmla="*/ 0 h 727799"/>
                <a:gd name="connsiteX1" fmla="*/ 1967099 w 3934198"/>
                <a:gd name="connsiteY1" fmla="*/ 329299 h 727799"/>
                <a:gd name="connsiteX2" fmla="*/ 3934198 w 3934198"/>
                <a:gd name="connsiteY2" fmla="*/ 0 h 727799"/>
                <a:gd name="connsiteX3" fmla="*/ 3934198 w 3934198"/>
                <a:gd name="connsiteY3" fmla="*/ 98106 h 727799"/>
                <a:gd name="connsiteX4" fmla="*/ 3934198 w 3934198"/>
                <a:gd name="connsiteY4" fmla="*/ 104182 h 727799"/>
                <a:gd name="connsiteX5" fmla="*/ 3934198 w 3934198"/>
                <a:gd name="connsiteY5" fmla="*/ 196212 h 727799"/>
                <a:gd name="connsiteX6" fmla="*/ 3934198 w 3934198"/>
                <a:gd name="connsiteY6" fmla="*/ 202288 h 727799"/>
                <a:gd name="connsiteX7" fmla="*/ 3934198 w 3934198"/>
                <a:gd name="connsiteY7" fmla="*/ 294318 h 727799"/>
                <a:gd name="connsiteX8" fmla="*/ 3934198 w 3934198"/>
                <a:gd name="connsiteY8" fmla="*/ 300394 h 727799"/>
                <a:gd name="connsiteX9" fmla="*/ 3934198 w 3934198"/>
                <a:gd name="connsiteY9" fmla="*/ 398500 h 727799"/>
                <a:gd name="connsiteX10" fmla="*/ 1967099 w 3934198"/>
                <a:gd name="connsiteY10" fmla="*/ 727799 h 727799"/>
                <a:gd name="connsiteX11" fmla="*/ 0 w 3934198"/>
                <a:gd name="connsiteY11" fmla="*/ 398500 h 727799"/>
                <a:gd name="connsiteX12" fmla="*/ 0 w 3934198"/>
                <a:gd name="connsiteY12" fmla="*/ 300394 h 727799"/>
                <a:gd name="connsiteX13" fmla="*/ 0 w 3934198"/>
                <a:gd name="connsiteY13" fmla="*/ 300394 h 727799"/>
                <a:gd name="connsiteX14" fmla="*/ 0 w 3934198"/>
                <a:gd name="connsiteY14" fmla="*/ 196212 h 727799"/>
                <a:gd name="connsiteX15" fmla="*/ 0 w 3934198"/>
                <a:gd name="connsiteY15" fmla="*/ 196212 h 727799"/>
                <a:gd name="connsiteX16" fmla="*/ 0 w 3934198"/>
                <a:gd name="connsiteY16" fmla="*/ 98106 h 727799"/>
                <a:gd name="connsiteX17" fmla="*/ 0 w 3934198"/>
                <a:gd name="connsiteY17" fmla="*/ 98106 h 727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34198" h="727799">
                  <a:moveTo>
                    <a:pt x="0" y="0"/>
                  </a:moveTo>
                  <a:cubicBezTo>
                    <a:pt x="0" y="181867"/>
                    <a:pt x="880700" y="329299"/>
                    <a:pt x="1967099" y="329299"/>
                  </a:cubicBezTo>
                  <a:cubicBezTo>
                    <a:pt x="3053498" y="329299"/>
                    <a:pt x="3934198" y="181867"/>
                    <a:pt x="3934198" y="0"/>
                  </a:cubicBezTo>
                  <a:lnTo>
                    <a:pt x="3934198" y="98106"/>
                  </a:lnTo>
                  <a:lnTo>
                    <a:pt x="3934198" y="104182"/>
                  </a:lnTo>
                  <a:lnTo>
                    <a:pt x="3934198" y="196212"/>
                  </a:lnTo>
                  <a:lnTo>
                    <a:pt x="3934198" y="202288"/>
                  </a:lnTo>
                  <a:lnTo>
                    <a:pt x="3934198" y="294318"/>
                  </a:lnTo>
                  <a:lnTo>
                    <a:pt x="3934198" y="300394"/>
                  </a:lnTo>
                  <a:lnTo>
                    <a:pt x="3934198" y="398500"/>
                  </a:lnTo>
                  <a:cubicBezTo>
                    <a:pt x="3934198" y="580367"/>
                    <a:pt x="3053498" y="727799"/>
                    <a:pt x="1967099" y="727799"/>
                  </a:cubicBezTo>
                  <a:cubicBezTo>
                    <a:pt x="880700" y="727799"/>
                    <a:pt x="0" y="580367"/>
                    <a:pt x="0" y="398500"/>
                  </a:cubicBezTo>
                  <a:lnTo>
                    <a:pt x="0" y="300394"/>
                  </a:lnTo>
                  <a:lnTo>
                    <a:pt x="0" y="300394"/>
                  </a:lnTo>
                  <a:lnTo>
                    <a:pt x="0" y="196212"/>
                  </a:lnTo>
                  <a:lnTo>
                    <a:pt x="0" y="196212"/>
                  </a:lnTo>
                  <a:lnTo>
                    <a:pt x="0" y="98106"/>
                  </a:lnTo>
                  <a:lnTo>
                    <a:pt x="0" y="98106"/>
                  </a:lnTo>
                  <a:close/>
                </a:path>
              </a:pathLst>
            </a:custGeom>
            <a:gradFill>
              <a:gsLst>
                <a:gs pos="50000">
                  <a:schemeClr val="accent6"/>
                </a:gs>
                <a:gs pos="0">
                  <a:schemeClr val="accent6">
                    <a:lumMod val="25000"/>
                    <a:lumOff val="75000"/>
                  </a:schemeClr>
                </a:gs>
                <a:gs pos="100000">
                  <a:schemeClr val="accent6">
                    <a:lumMod val="85000"/>
                  </a:schemeClr>
                </a:gs>
              </a:gsLst>
              <a:lin ang="5400000" scaled="1"/>
            </a:gradFill>
            <a:ln w="12700" cap="flat" cmpd="sng" algn="ctr">
              <a:noFill/>
              <a:prstDash val="solid"/>
              <a:miter lim="800000"/>
            </a:ln>
            <a:effectLst/>
          </p:spPr>
          <p:txBody>
            <a:bodyPr wrap="square" rtlCol="0" anchor="ctr">
              <a:noAutofit/>
            </a:bodyPr>
            <a:lstStyle/>
            <a:p>
              <a:pPr algn="ctr"/>
              <a:endParaRPr lang="zh-CN" altLang="en-US" sz="2700">
                <a:solidFill>
                  <a:schemeClr val="tx1"/>
                </a:solidFill>
                <a:latin typeface="Arial" panose="020B0604020202020204" pitchFamily="34" charset="0"/>
                <a:ea typeface="微软雅黑" panose="020B0503020204020204" pitchFamily="34" charset="-122"/>
                <a:cs typeface="OPPOSans R" panose="00020600040101010101" pitchFamily="18" charset="-122"/>
              </a:endParaRPr>
            </a:p>
          </p:txBody>
        </p:sp>
        <p:sp>
          <p:nvSpPr>
            <p:cNvPr id="73" name="显眼包PPT3"/>
            <p:cNvSpPr txBox="1"/>
            <p:nvPr/>
          </p:nvSpPr>
          <p:spPr>
            <a:xfrm>
              <a:off x="2766" y="13295"/>
              <a:ext cx="8762" cy="872"/>
            </a:xfrm>
            <a:prstGeom prst="rect">
              <a:avLst/>
            </a:prstGeom>
            <a:noFill/>
          </p:spPr>
          <p:txBody>
            <a:bodyPr wrap="square" lIns="0" tIns="0" rIns="0" bIns="0" rtlCol="0">
              <a:spAutoFit/>
            </a:bodyPr>
            <a:lstStyle/>
            <a:p>
              <a:pPr lvl="0" algn="ctr">
                <a:buClrTx/>
                <a:buSzTx/>
                <a:buFontTx/>
              </a:pPr>
              <a:r>
                <a:rPr lang="zh-CN" altLang="en-US" sz="3600" b="1" dirty="0">
                  <a:effectLst>
                    <a:reflection blurRad="190500" stA="39000" endPos="58000" dist="12700" dir="5400000" sy="-100000" algn="bl" rotWithShape="0"/>
                  </a:effectLst>
                  <a:latin typeface="微软雅黑" panose="020B0503020204020204" pitchFamily="34" charset="-122"/>
                  <a:ea typeface="微软雅黑" panose="020B0503020204020204" pitchFamily="34" charset="-122"/>
                  <a:cs typeface="OPPOSans R" panose="00020600040101010101" pitchFamily="18" charset="-122"/>
                  <a:sym typeface="+mn-ea"/>
                </a:rPr>
                <a:t>精准回应两类差异化诉求</a:t>
              </a:r>
              <a:endParaRPr lang="zh-CN" altLang="en-US" sz="3600" b="1" dirty="0">
                <a:effectLst>
                  <a:reflection blurRad="190500" stA="39000" endPos="58000" dist="12700" dir="5400000" sy="-100000" algn="bl" rotWithShape="0"/>
                </a:effectLst>
                <a:latin typeface="微软雅黑" panose="020B0503020204020204" pitchFamily="34" charset="-122"/>
                <a:ea typeface="微软雅黑" panose="020B0503020204020204" pitchFamily="34" charset="-122"/>
                <a:cs typeface="OPPOSans R" panose="00020600040101010101" pitchFamily="18" charset="-122"/>
                <a:sym typeface="+mn-ea"/>
              </a:endParaRPr>
            </a:p>
          </p:txBody>
        </p:sp>
        <p:sp>
          <p:nvSpPr>
            <p:cNvPr id="74" name="显眼包PPT4"/>
            <p:cNvSpPr/>
            <p:nvPr/>
          </p:nvSpPr>
          <p:spPr>
            <a:xfrm>
              <a:off x="1989" y="13224"/>
              <a:ext cx="10176" cy="1989"/>
            </a:xfrm>
            <a:prstGeom prst="ellipse">
              <a:avLst/>
            </a:prstGeom>
            <a:noFill/>
            <a:ln w="12700" cap="flat" cmpd="sng" algn="ctr">
              <a:gradFill>
                <a:gsLst>
                  <a:gs pos="35000">
                    <a:srgbClr val="F0A22E">
                      <a:lumMod val="60000"/>
                      <a:lumOff val="40000"/>
                      <a:alpha val="0"/>
                    </a:srgbClr>
                  </a:gs>
                  <a:gs pos="89000">
                    <a:srgbClr val="F0A22E">
                      <a:lumMod val="60000"/>
                      <a:lumOff val="40000"/>
                      <a:alpha val="0"/>
                    </a:srgbClr>
                  </a:gs>
                  <a:gs pos="58000">
                    <a:srgbClr val="F0A22E">
                      <a:lumMod val="60000"/>
                      <a:lumOff val="40000"/>
                    </a:srgbClr>
                  </a:gs>
                </a:gsLst>
                <a:lin ang="5400000" scaled="1"/>
              </a:gradFill>
              <a:prstDash val="solid"/>
              <a:miter lim="800000"/>
            </a:ln>
            <a:effectLst/>
            <a:scene3d>
              <a:camera prst="orthographicFront"/>
              <a:lightRig rig="threePt" dir="t"/>
            </a:scene3d>
            <a:sp3d extrusionH="571500"/>
          </p:spPr>
          <p:txBody>
            <a:bodyPr rtlCol="0" anchor="ctr"/>
            <a:lstStyle/>
            <a:p>
              <a:pPr algn="ctr"/>
              <a:endParaRPr lang="zh-CN" altLang="en-US" sz="2700">
                <a:solidFill>
                  <a:schemeClr val="tx1"/>
                </a:solidFill>
                <a:latin typeface="OPPOSans H" panose="00020600040101010101" pitchFamily="18" charset="-122"/>
                <a:ea typeface="OPPOSans H" panose="00020600040101010101" pitchFamily="18" charset="-122"/>
                <a:cs typeface="OPPOSans R" panose="00020600040101010101" pitchFamily="18" charset="-122"/>
              </a:endParaRPr>
            </a:p>
          </p:txBody>
        </p:sp>
        <p:grpSp>
          <p:nvGrpSpPr>
            <p:cNvPr id="75" name="显眼包PPT"/>
            <p:cNvGrpSpPr/>
            <p:nvPr/>
          </p:nvGrpSpPr>
          <p:grpSpPr>
            <a:xfrm>
              <a:off x="5078" y="14412"/>
              <a:ext cx="3926" cy="911"/>
              <a:chOff x="2234424" y="1077909"/>
              <a:chExt cx="1896284" cy="452573"/>
            </a:xfrm>
            <a:effectLst>
              <a:outerShdw blurRad="165100" dist="101600" dir="5400000" sx="93000" sy="93000" algn="t" rotWithShape="0">
                <a:srgbClr val="F0A22E">
                  <a:lumMod val="60000"/>
                  <a:lumOff val="40000"/>
                  <a:alpha val="24000"/>
                </a:srgbClr>
              </a:outerShdw>
            </a:effectLst>
          </p:grpSpPr>
          <p:sp>
            <p:nvSpPr>
              <p:cNvPr id="128" name="显眼包PPT-1"/>
              <p:cNvSpPr/>
              <p:nvPr/>
            </p:nvSpPr>
            <p:spPr>
              <a:xfrm>
                <a:off x="2234424" y="1077909"/>
                <a:ext cx="1895168" cy="452573"/>
              </a:xfrm>
              <a:prstGeom prst="roundRect">
                <a:avLst>
                  <a:gd name="adj" fmla="val 50000"/>
                </a:avLst>
              </a:prstGeom>
              <a:solidFill>
                <a:sysClr val="window" lastClr="FFFFFF"/>
              </a:solidFill>
              <a:ln w="12700" cap="flat" cmpd="sng" algn="ctr">
                <a:solidFill>
                  <a:srgbClr val="F0A22E">
                    <a:lumMod val="60000"/>
                    <a:lumOff val="40000"/>
                  </a:srgbClr>
                </a:solidFill>
                <a:prstDash val="solid"/>
                <a:miter lim="800000"/>
              </a:ln>
              <a:effectLst/>
            </p:spPr>
            <p:txBody>
              <a:bodyPr wrap="square" rtlCol="0" anchor="ctr">
                <a:noAutofit/>
              </a:bodyPr>
              <a:lstStyle/>
              <a:p>
                <a:pPr algn="ctr"/>
                <a:r>
                  <a:rPr lang="zh-CN" altLang="en-US" sz="300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rPr>
                  <a:t>产品类型</a:t>
                </a:r>
                <a:endParaRPr lang="zh-CN" altLang="en-US" sz="300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endParaRPr>
              </a:p>
            </p:txBody>
          </p:sp>
          <p:sp>
            <p:nvSpPr>
              <p:cNvPr id="130" name="显眼包PPT-2"/>
              <p:cNvSpPr/>
              <p:nvPr/>
            </p:nvSpPr>
            <p:spPr>
              <a:xfrm>
                <a:off x="2234424" y="1158402"/>
                <a:ext cx="151515" cy="291586"/>
              </a:xfrm>
              <a:custGeom>
                <a:avLst/>
                <a:gdLst>
                  <a:gd name="connsiteX0" fmla="*/ 0 w 351194"/>
                  <a:gd name="connsiteY0" fmla="*/ 337999 h 675861"/>
                  <a:gd name="connsiteX1" fmla="*/ 0 w 351194"/>
                  <a:gd name="connsiteY1" fmla="*/ 338000 h 675861"/>
                  <a:gd name="connsiteX2" fmla="*/ 0 w 351194"/>
                  <a:gd name="connsiteY2" fmla="*/ 338000 h 675861"/>
                  <a:gd name="connsiteX3" fmla="*/ 132209 w 351194"/>
                  <a:gd name="connsiteY3" fmla="*/ 0 h 675861"/>
                  <a:gd name="connsiteX4" fmla="*/ 179742 w 351194"/>
                  <a:gd name="connsiteY4" fmla="*/ 95117 h 675861"/>
                  <a:gd name="connsiteX5" fmla="*/ 351194 w 351194"/>
                  <a:gd name="connsiteY5" fmla="*/ 337828 h 675861"/>
                  <a:gd name="connsiteX6" fmla="*/ 179742 w 351194"/>
                  <a:gd name="connsiteY6" fmla="*/ 580520 h 675861"/>
                  <a:gd name="connsiteX7" fmla="*/ 132095 w 351194"/>
                  <a:gd name="connsiteY7" fmla="*/ 675861 h 675861"/>
                  <a:gd name="connsiteX8" fmla="*/ 86219 w 351194"/>
                  <a:gd name="connsiteY8" fmla="*/ 620259 h 675861"/>
                  <a:gd name="connsiteX9" fmla="*/ 10257 w 351194"/>
                  <a:gd name="connsiteY9" fmla="*/ 439741 h 675861"/>
                  <a:gd name="connsiteX10" fmla="*/ 0 w 351194"/>
                  <a:gd name="connsiteY10" fmla="*/ 338000 h 675861"/>
                  <a:gd name="connsiteX11" fmla="*/ 10257 w 351194"/>
                  <a:gd name="connsiteY11" fmla="*/ 236258 h 675861"/>
                  <a:gd name="connsiteX12" fmla="*/ 86219 w 351194"/>
                  <a:gd name="connsiteY12" fmla="*/ 55740 h 675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1194" h="675861">
                    <a:moveTo>
                      <a:pt x="0" y="337999"/>
                    </a:moveTo>
                    <a:lnTo>
                      <a:pt x="0" y="338000"/>
                    </a:lnTo>
                    <a:lnTo>
                      <a:pt x="0" y="338000"/>
                    </a:lnTo>
                    <a:close/>
                    <a:moveTo>
                      <a:pt x="132209" y="0"/>
                    </a:moveTo>
                    <a:lnTo>
                      <a:pt x="179742" y="95117"/>
                    </a:lnTo>
                    <a:cubicBezTo>
                      <a:pt x="227656" y="181924"/>
                      <a:pt x="284579" y="266531"/>
                      <a:pt x="351194" y="337828"/>
                    </a:cubicBezTo>
                    <a:cubicBezTo>
                      <a:pt x="284579" y="409117"/>
                      <a:pt x="227656" y="493718"/>
                      <a:pt x="179742" y="580520"/>
                    </a:cubicBezTo>
                    <a:lnTo>
                      <a:pt x="132095" y="675861"/>
                    </a:lnTo>
                    <a:lnTo>
                      <a:pt x="86219" y="620259"/>
                    </a:lnTo>
                    <a:cubicBezTo>
                      <a:pt x="49929" y="566544"/>
                      <a:pt x="23706" y="505469"/>
                      <a:pt x="10257" y="439741"/>
                    </a:cubicBezTo>
                    <a:lnTo>
                      <a:pt x="0" y="338000"/>
                    </a:lnTo>
                    <a:lnTo>
                      <a:pt x="10257" y="236258"/>
                    </a:lnTo>
                    <a:cubicBezTo>
                      <a:pt x="23706" y="170530"/>
                      <a:pt x="49929" y="109456"/>
                      <a:pt x="86219" y="55740"/>
                    </a:cubicBezTo>
                    <a:close/>
                  </a:path>
                </a:pathLst>
              </a:custGeom>
              <a:gradFill flip="none" rotWithShape="1">
                <a:gsLst>
                  <a:gs pos="12000">
                    <a:srgbClr val="F0A22E">
                      <a:lumMod val="40000"/>
                      <a:lumOff val="60000"/>
                    </a:srgbClr>
                  </a:gs>
                  <a:gs pos="100000">
                    <a:srgbClr val="F0A22E">
                      <a:lumMod val="60000"/>
                      <a:lumOff val="40000"/>
                    </a:srgbClr>
                  </a:gs>
                </a:gsLst>
                <a:lin ang="8100000" scaled="1"/>
                <a:tileRect/>
              </a:gradFill>
              <a:ln w="8944" cap="flat">
                <a:noFill/>
                <a:prstDash val="solid"/>
                <a:miter/>
              </a:ln>
              <a:effectLst/>
            </p:spPr>
            <p:txBody>
              <a:bodyPr rot="0" spcFirstLastPara="0" vertOverflow="overflow" horzOverflow="overflow" vert="horz" wrap="square" lIns="137160" tIns="68580" rIns="137160" bIns="68580" numCol="1" spcCol="0" rtlCol="0" fromWordArt="0" anchor="ctr" anchorCtr="0" forceAA="0" compatLnSpc="1">
                <a:noAutofit/>
              </a:bodyPr>
              <a:lstStyle/>
              <a:p>
                <a:endParaRPr lang="zh-CN" altLang="en-US" sz="3000">
                  <a:solidFill>
                    <a:schemeClr val="tx1"/>
                  </a:solidFill>
                  <a:cs typeface="OPPOSans R" panose="00020600040101010101" pitchFamily="18" charset="-122"/>
                </a:endParaRPr>
              </a:p>
            </p:txBody>
          </p:sp>
          <p:sp>
            <p:nvSpPr>
              <p:cNvPr id="131" name="显眼包PPT-3"/>
              <p:cNvSpPr/>
              <p:nvPr/>
            </p:nvSpPr>
            <p:spPr>
              <a:xfrm flipH="1">
                <a:off x="3979193" y="1158402"/>
                <a:ext cx="151515" cy="291586"/>
              </a:xfrm>
              <a:custGeom>
                <a:avLst/>
                <a:gdLst>
                  <a:gd name="connsiteX0" fmla="*/ 0 w 351194"/>
                  <a:gd name="connsiteY0" fmla="*/ 337999 h 675861"/>
                  <a:gd name="connsiteX1" fmla="*/ 0 w 351194"/>
                  <a:gd name="connsiteY1" fmla="*/ 338000 h 675861"/>
                  <a:gd name="connsiteX2" fmla="*/ 0 w 351194"/>
                  <a:gd name="connsiteY2" fmla="*/ 338000 h 675861"/>
                  <a:gd name="connsiteX3" fmla="*/ 132209 w 351194"/>
                  <a:gd name="connsiteY3" fmla="*/ 0 h 675861"/>
                  <a:gd name="connsiteX4" fmla="*/ 179742 w 351194"/>
                  <a:gd name="connsiteY4" fmla="*/ 95117 h 675861"/>
                  <a:gd name="connsiteX5" fmla="*/ 351194 w 351194"/>
                  <a:gd name="connsiteY5" fmla="*/ 337828 h 675861"/>
                  <a:gd name="connsiteX6" fmla="*/ 179742 w 351194"/>
                  <a:gd name="connsiteY6" fmla="*/ 580520 h 675861"/>
                  <a:gd name="connsiteX7" fmla="*/ 132095 w 351194"/>
                  <a:gd name="connsiteY7" fmla="*/ 675861 h 675861"/>
                  <a:gd name="connsiteX8" fmla="*/ 86219 w 351194"/>
                  <a:gd name="connsiteY8" fmla="*/ 620259 h 675861"/>
                  <a:gd name="connsiteX9" fmla="*/ 10257 w 351194"/>
                  <a:gd name="connsiteY9" fmla="*/ 439741 h 675861"/>
                  <a:gd name="connsiteX10" fmla="*/ 0 w 351194"/>
                  <a:gd name="connsiteY10" fmla="*/ 338000 h 675861"/>
                  <a:gd name="connsiteX11" fmla="*/ 10257 w 351194"/>
                  <a:gd name="connsiteY11" fmla="*/ 236258 h 675861"/>
                  <a:gd name="connsiteX12" fmla="*/ 86219 w 351194"/>
                  <a:gd name="connsiteY12" fmla="*/ 55740 h 675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1194" h="675861">
                    <a:moveTo>
                      <a:pt x="0" y="337999"/>
                    </a:moveTo>
                    <a:lnTo>
                      <a:pt x="0" y="338000"/>
                    </a:lnTo>
                    <a:lnTo>
                      <a:pt x="0" y="338000"/>
                    </a:lnTo>
                    <a:close/>
                    <a:moveTo>
                      <a:pt x="132209" y="0"/>
                    </a:moveTo>
                    <a:lnTo>
                      <a:pt x="179742" y="95117"/>
                    </a:lnTo>
                    <a:cubicBezTo>
                      <a:pt x="227656" y="181924"/>
                      <a:pt x="284579" y="266531"/>
                      <a:pt x="351194" y="337828"/>
                    </a:cubicBezTo>
                    <a:cubicBezTo>
                      <a:pt x="284579" y="409117"/>
                      <a:pt x="227656" y="493718"/>
                      <a:pt x="179742" y="580520"/>
                    </a:cubicBezTo>
                    <a:lnTo>
                      <a:pt x="132095" y="675861"/>
                    </a:lnTo>
                    <a:lnTo>
                      <a:pt x="86219" y="620259"/>
                    </a:lnTo>
                    <a:cubicBezTo>
                      <a:pt x="49929" y="566544"/>
                      <a:pt x="23706" y="505469"/>
                      <a:pt x="10257" y="439741"/>
                    </a:cubicBezTo>
                    <a:lnTo>
                      <a:pt x="0" y="338000"/>
                    </a:lnTo>
                    <a:lnTo>
                      <a:pt x="10257" y="236258"/>
                    </a:lnTo>
                    <a:cubicBezTo>
                      <a:pt x="23706" y="170530"/>
                      <a:pt x="49929" y="109456"/>
                      <a:pt x="86219" y="55740"/>
                    </a:cubicBezTo>
                    <a:close/>
                  </a:path>
                </a:pathLst>
              </a:custGeom>
              <a:gradFill flip="none" rotWithShape="1">
                <a:gsLst>
                  <a:gs pos="12000">
                    <a:srgbClr val="F0A22E">
                      <a:lumMod val="40000"/>
                      <a:lumOff val="60000"/>
                    </a:srgbClr>
                  </a:gs>
                  <a:gs pos="100000">
                    <a:srgbClr val="F0A22E">
                      <a:lumMod val="60000"/>
                      <a:lumOff val="40000"/>
                    </a:srgbClr>
                  </a:gs>
                </a:gsLst>
                <a:lin ang="8100000" scaled="1"/>
                <a:tileRect/>
              </a:gradFill>
              <a:ln w="8944" cap="flat">
                <a:noFill/>
                <a:prstDash val="solid"/>
                <a:miter/>
              </a:ln>
              <a:effectLst/>
            </p:spPr>
            <p:txBody>
              <a:bodyPr rot="0" spcFirstLastPara="0" vertOverflow="overflow" horzOverflow="overflow" vert="horz" wrap="square" lIns="137160" tIns="68580" rIns="137160" bIns="68580" numCol="1" spcCol="0" rtlCol="0" fromWordArt="0" anchor="ctr" anchorCtr="0" forceAA="0" compatLnSpc="1">
                <a:noAutofit/>
              </a:bodyPr>
              <a:lstStyle/>
              <a:p>
                <a:endParaRPr lang="zh-CN" altLang="en-US" sz="3000">
                  <a:solidFill>
                    <a:schemeClr val="tx1"/>
                  </a:solidFill>
                  <a:cs typeface="OPPOSans R" panose="00020600040101010101" pitchFamily="18" charset="-122"/>
                </a:endParaRPr>
              </a:p>
            </p:txBody>
          </p:sp>
        </p:grpSp>
        <p:sp>
          <p:nvSpPr>
            <p:cNvPr id="132" name="显眼包PPT1"/>
            <p:cNvSpPr/>
            <p:nvPr/>
          </p:nvSpPr>
          <p:spPr>
            <a:xfrm>
              <a:off x="16806" y="3390"/>
              <a:ext cx="10727" cy="10419"/>
            </a:xfrm>
            <a:prstGeom prst="donut">
              <a:avLst>
                <a:gd name="adj" fmla="val 25590"/>
              </a:avLst>
            </a:prstGeom>
            <a:gradFill flip="none" rotWithShape="1">
              <a:gsLst>
                <a:gs pos="0">
                  <a:srgbClr val="A5644E">
                    <a:lumMod val="60000"/>
                    <a:lumOff val="40000"/>
                    <a:alpha val="26000"/>
                  </a:srgbClr>
                </a:gs>
                <a:gs pos="100000">
                  <a:srgbClr val="A5644E">
                    <a:lumMod val="60000"/>
                    <a:lumOff val="40000"/>
                    <a:alpha val="0"/>
                  </a:srgbClr>
                </a:gs>
              </a:gsLst>
              <a:lin ang="5400000" scaled="1"/>
              <a:tileRect/>
            </a:gradFill>
            <a:ln w="12700" cap="flat" cmpd="sng" algn="ctr">
              <a:noFill/>
              <a:prstDash val="solid"/>
              <a:miter lim="800000"/>
            </a:ln>
            <a:effectLst/>
          </p:spPr>
          <p:txBody>
            <a:bodyPr rtlCol="0" anchor="ctr"/>
            <a:lstStyle/>
            <a:p>
              <a:pPr algn="ctr"/>
              <a:endParaRPr lang="zh-CN" altLang="en-US" sz="2700">
                <a:solidFill>
                  <a:schemeClr val="tx1"/>
                </a:solidFill>
                <a:latin typeface="Arial" panose="020B0604020202020204" pitchFamily="34" charset="0"/>
                <a:ea typeface="微软雅黑" panose="020B0503020204020204" pitchFamily="34" charset="-122"/>
                <a:cs typeface="OPPOSans R" panose="00020600040101010101" pitchFamily="18" charset="-122"/>
              </a:endParaRPr>
            </a:p>
          </p:txBody>
        </p:sp>
        <p:sp>
          <p:nvSpPr>
            <p:cNvPr id="169" name="显眼包PPT8"/>
            <p:cNvSpPr/>
            <p:nvPr/>
          </p:nvSpPr>
          <p:spPr>
            <a:xfrm>
              <a:off x="17646" y="13272"/>
              <a:ext cx="8969" cy="1458"/>
            </a:xfrm>
            <a:prstGeom prst="ellipse">
              <a:avLst/>
            </a:prstGeom>
            <a:gradFill flip="none" rotWithShape="1">
              <a:gsLst>
                <a:gs pos="0">
                  <a:srgbClr val="A5644E">
                    <a:lumMod val="60000"/>
                    <a:lumOff val="40000"/>
                    <a:alpha val="44000"/>
                  </a:srgbClr>
                </a:gs>
                <a:gs pos="88000">
                  <a:srgbClr val="A5644E">
                    <a:lumMod val="60000"/>
                    <a:lumOff val="40000"/>
                    <a:alpha val="0"/>
                  </a:srgbClr>
                </a:gs>
              </a:gsLst>
              <a:lin ang="16200000" scaled="1"/>
              <a:tileRect/>
            </a:gradFill>
            <a:ln w="19050" cap="flat" cmpd="sng" algn="ctr">
              <a:gradFill>
                <a:gsLst>
                  <a:gs pos="0">
                    <a:srgbClr val="A5644E">
                      <a:lumMod val="60000"/>
                      <a:lumOff val="40000"/>
                      <a:alpha val="0"/>
                    </a:srgbClr>
                  </a:gs>
                  <a:gs pos="100000">
                    <a:srgbClr val="A5644E">
                      <a:lumMod val="60000"/>
                      <a:lumOff val="40000"/>
                    </a:srgbClr>
                  </a:gs>
                </a:gsLst>
                <a:lin ang="5400000" scaled="1"/>
              </a:gradFill>
              <a:prstDash val="solid"/>
              <a:miter lim="800000"/>
            </a:ln>
            <a:effectLst/>
            <a:scene3d>
              <a:camera prst="orthographicFront"/>
              <a:lightRig rig="threePt" dir="t"/>
            </a:scene3d>
            <a:sp3d extrusionH="571500"/>
          </p:spPr>
          <p:txBody>
            <a:bodyPr rtlCol="0" anchor="ctr"/>
            <a:lstStyle/>
            <a:p>
              <a:pPr algn="ctr"/>
              <a:endParaRPr lang="zh-CN" altLang="en-US" sz="2700">
                <a:solidFill>
                  <a:schemeClr val="tx1"/>
                </a:solidFill>
                <a:latin typeface="OPPOSans H" panose="00020600040101010101" pitchFamily="18" charset="-122"/>
                <a:ea typeface="OPPOSans H" panose="00020600040101010101" pitchFamily="18" charset="-122"/>
                <a:cs typeface="OPPOSans R" panose="00020600040101010101" pitchFamily="18" charset="-122"/>
              </a:endParaRPr>
            </a:p>
          </p:txBody>
        </p:sp>
        <p:sp>
          <p:nvSpPr>
            <p:cNvPr id="170" name="显眼包PPT9"/>
            <p:cNvSpPr/>
            <p:nvPr/>
          </p:nvSpPr>
          <p:spPr>
            <a:xfrm>
              <a:off x="17646" y="14013"/>
              <a:ext cx="8969" cy="1611"/>
            </a:xfrm>
            <a:custGeom>
              <a:avLst/>
              <a:gdLst>
                <a:gd name="connsiteX0" fmla="*/ 0 w 3934198"/>
                <a:gd name="connsiteY0" fmla="*/ 0 h 727799"/>
                <a:gd name="connsiteX1" fmla="*/ 1967099 w 3934198"/>
                <a:gd name="connsiteY1" fmla="*/ 329299 h 727799"/>
                <a:gd name="connsiteX2" fmla="*/ 3934198 w 3934198"/>
                <a:gd name="connsiteY2" fmla="*/ 0 h 727799"/>
                <a:gd name="connsiteX3" fmla="*/ 3934198 w 3934198"/>
                <a:gd name="connsiteY3" fmla="*/ 98106 h 727799"/>
                <a:gd name="connsiteX4" fmla="*/ 3934198 w 3934198"/>
                <a:gd name="connsiteY4" fmla="*/ 104182 h 727799"/>
                <a:gd name="connsiteX5" fmla="*/ 3934198 w 3934198"/>
                <a:gd name="connsiteY5" fmla="*/ 196212 h 727799"/>
                <a:gd name="connsiteX6" fmla="*/ 3934198 w 3934198"/>
                <a:gd name="connsiteY6" fmla="*/ 202288 h 727799"/>
                <a:gd name="connsiteX7" fmla="*/ 3934198 w 3934198"/>
                <a:gd name="connsiteY7" fmla="*/ 294318 h 727799"/>
                <a:gd name="connsiteX8" fmla="*/ 3934198 w 3934198"/>
                <a:gd name="connsiteY8" fmla="*/ 300394 h 727799"/>
                <a:gd name="connsiteX9" fmla="*/ 3934198 w 3934198"/>
                <a:gd name="connsiteY9" fmla="*/ 398500 h 727799"/>
                <a:gd name="connsiteX10" fmla="*/ 1967099 w 3934198"/>
                <a:gd name="connsiteY10" fmla="*/ 727799 h 727799"/>
                <a:gd name="connsiteX11" fmla="*/ 0 w 3934198"/>
                <a:gd name="connsiteY11" fmla="*/ 398500 h 727799"/>
                <a:gd name="connsiteX12" fmla="*/ 0 w 3934198"/>
                <a:gd name="connsiteY12" fmla="*/ 300394 h 727799"/>
                <a:gd name="connsiteX13" fmla="*/ 0 w 3934198"/>
                <a:gd name="connsiteY13" fmla="*/ 300394 h 727799"/>
                <a:gd name="connsiteX14" fmla="*/ 0 w 3934198"/>
                <a:gd name="connsiteY14" fmla="*/ 196212 h 727799"/>
                <a:gd name="connsiteX15" fmla="*/ 0 w 3934198"/>
                <a:gd name="connsiteY15" fmla="*/ 196212 h 727799"/>
                <a:gd name="connsiteX16" fmla="*/ 0 w 3934198"/>
                <a:gd name="connsiteY16" fmla="*/ 98106 h 727799"/>
                <a:gd name="connsiteX17" fmla="*/ 0 w 3934198"/>
                <a:gd name="connsiteY17" fmla="*/ 98106 h 727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34198" h="727799">
                  <a:moveTo>
                    <a:pt x="0" y="0"/>
                  </a:moveTo>
                  <a:cubicBezTo>
                    <a:pt x="0" y="181867"/>
                    <a:pt x="880700" y="329299"/>
                    <a:pt x="1967099" y="329299"/>
                  </a:cubicBezTo>
                  <a:cubicBezTo>
                    <a:pt x="3053498" y="329299"/>
                    <a:pt x="3934198" y="181867"/>
                    <a:pt x="3934198" y="0"/>
                  </a:cubicBezTo>
                  <a:lnTo>
                    <a:pt x="3934198" y="98106"/>
                  </a:lnTo>
                  <a:lnTo>
                    <a:pt x="3934198" y="104182"/>
                  </a:lnTo>
                  <a:lnTo>
                    <a:pt x="3934198" y="196212"/>
                  </a:lnTo>
                  <a:lnTo>
                    <a:pt x="3934198" y="202288"/>
                  </a:lnTo>
                  <a:lnTo>
                    <a:pt x="3934198" y="294318"/>
                  </a:lnTo>
                  <a:lnTo>
                    <a:pt x="3934198" y="300394"/>
                  </a:lnTo>
                  <a:lnTo>
                    <a:pt x="3934198" y="398500"/>
                  </a:lnTo>
                  <a:cubicBezTo>
                    <a:pt x="3934198" y="580367"/>
                    <a:pt x="3053498" y="727799"/>
                    <a:pt x="1967099" y="727799"/>
                  </a:cubicBezTo>
                  <a:cubicBezTo>
                    <a:pt x="880700" y="727799"/>
                    <a:pt x="0" y="580367"/>
                    <a:pt x="0" y="398500"/>
                  </a:cubicBezTo>
                  <a:lnTo>
                    <a:pt x="0" y="300394"/>
                  </a:lnTo>
                  <a:lnTo>
                    <a:pt x="0" y="300394"/>
                  </a:lnTo>
                  <a:lnTo>
                    <a:pt x="0" y="196212"/>
                  </a:lnTo>
                  <a:lnTo>
                    <a:pt x="0" y="196212"/>
                  </a:lnTo>
                  <a:lnTo>
                    <a:pt x="0" y="98106"/>
                  </a:lnTo>
                  <a:lnTo>
                    <a:pt x="0" y="98106"/>
                  </a:lnTo>
                  <a:close/>
                </a:path>
              </a:pathLst>
            </a:custGeom>
            <a:gradFill>
              <a:gsLst>
                <a:gs pos="50000">
                  <a:schemeClr val="accent2"/>
                </a:gs>
                <a:gs pos="0">
                  <a:schemeClr val="accent2">
                    <a:lumMod val="25000"/>
                    <a:lumOff val="75000"/>
                  </a:schemeClr>
                </a:gs>
                <a:gs pos="100000">
                  <a:schemeClr val="accent2">
                    <a:lumMod val="85000"/>
                  </a:schemeClr>
                </a:gs>
              </a:gsLst>
              <a:lin ang="5400000" scaled="1"/>
            </a:gradFill>
            <a:ln w="12700" cap="flat" cmpd="sng" algn="ctr">
              <a:noFill/>
              <a:prstDash val="solid"/>
              <a:miter lim="800000"/>
            </a:ln>
            <a:effectLst/>
          </p:spPr>
          <p:txBody>
            <a:bodyPr wrap="square" rtlCol="0" anchor="ctr">
              <a:noAutofit/>
            </a:bodyPr>
            <a:lstStyle/>
            <a:p>
              <a:pPr algn="ctr"/>
              <a:endParaRPr lang="zh-CN" altLang="en-US" sz="2700">
                <a:solidFill>
                  <a:schemeClr val="tx1"/>
                </a:solidFill>
                <a:latin typeface="Arial" panose="020B0604020202020204" pitchFamily="34" charset="0"/>
                <a:ea typeface="微软雅黑" panose="020B0503020204020204" pitchFamily="34" charset="-122"/>
                <a:cs typeface="OPPOSans R" panose="00020600040101010101" pitchFamily="18" charset="-122"/>
              </a:endParaRPr>
            </a:p>
          </p:txBody>
        </p:sp>
        <p:sp>
          <p:nvSpPr>
            <p:cNvPr id="171" name="显眼包PPT10"/>
            <p:cNvSpPr txBox="1"/>
            <p:nvPr/>
          </p:nvSpPr>
          <p:spPr>
            <a:xfrm>
              <a:off x="18974" y="13439"/>
              <a:ext cx="6315" cy="872"/>
            </a:xfrm>
            <a:prstGeom prst="rect">
              <a:avLst/>
            </a:prstGeom>
            <a:noFill/>
          </p:spPr>
          <p:txBody>
            <a:bodyPr wrap="square" lIns="0" tIns="0" rIns="0" bIns="0" rtlCol="0">
              <a:spAutoFit/>
            </a:bodyPr>
            <a:lstStyle/>
            <a:p>
              <a:pPr algn="ctr"/>
              <a:r>
                <a:rPr lang="zh-CN" altLang="en-US" sz="3600" b="1" dirty="0">
                  <a:solidFill>
                    <a:schemeClr val="tx1"/>
                  </a:solidFill>
                  <a:effectLst>
                    <a:reflection blurRad="190500" stA="39000" endPos="58000" dist="12700" dir="5400000" sy="-100000" algn="bl" rotWithShape="0"/>
                  </a:effectLst>
                  <a:latin typeface="微软雅黑" panose="020B0503020204020204" pitchFamily="34" charset="-122"/>
                  <a:ea typeface="微软雅黑" panose="020B0503020204020204" pitchFamily="34" charset="-122"/>
                  <a:cs typeface="OPPOSans R" panose="00020600040101010101" pitchFamily="18" charset="-122"/>
                </a:rPr>
                <a:t>增强制度公信力</a:t>
              </a:r>
              <a:endParaRPr lang="zh-CN" altLang="en-US" sz="3600" b="1" dirty="0">
                <a:solidFill>
                  <a:schemeClr val="tx1"/>
                </a:solidFill>
                <a:effectLst>
                  <a:reflection blurRad="190500" stA="39000" endPos="58000" dist="12700" dir="5400000" sy="-100000" algn="bl" rotWithShape="0"/>
                </a:effectLst>
                <a:latin typeface="微软雅黑" panose="020B0503020204020204" pitchFamily="34" charset="-122"/>
                <a:ea typeface="微软雅黑" panose="020B0503020204020204" pitchFamily="34" charset="-122"/>
                <a:cs typeface="OPPOSans R" panose="00020600040101010101" pitchFamily="18" charset="-122"/>
              </a:endParaRPr>
            </a:p>
          </p:txBody>
        </p:sp>
        <p:sp>
          <p:nvSpPr>
            <p:cNvPr id="172" name="显眼包PPT11"/>
            <p:cNvSpPr/>
            <p:nvPr/>
          </p:nvSpPr>
          <p:spPr>
            <a:xfrm>
              <a:off x="17081" y="13224"/>
              <a:ext cx="10176" cy="1989"/>
            </a:xfrm>
            <a:prstGeom prst="ellipse">
              <a:avLst/>
            </a:prstGeom>
            <a:noFill/>
            <a:ln w="12700" cap="flat" cmpd="sng" algn="ctr">
              <a:gradFill>
                <a:gsLst>
                  <a:gs pos="35000">
                    <a:srgbClr val="A5644E">
                      <a:lumMod val="60000"/>
                      <a:lumOff val="40000"/>
                      <a:alpha val="0"/>
                    </a:srgbClr>
                  </a:gs>
                  <a:gs pos="89000">
                    <a:srgbClr val="A5644E">
                      <a:lumMod val="60000"/>
                      <a:lumOff val="40000"/>
                      <a:alpha val="0"/>
                    </a:srgbClr>
                  </a:gs>
                  <a:gs pos="58000">
                    <a:srgbClr val="A5644E">
                      <a:lumMod val="60000"/>
                      <a:lumOff val="40000"/>
                    </a:srgbClr>
                  </a:gs>
                </a:gsLst>
                <a:lin ang="5400000" scaled="1"/>
              </a:gradFill>
              <a:prstDash val="solid"/>
              <a:miter lim="800000"/>
            </a:ln>
            <a:effectLst/>
            <a:scene3d>
              <a:camera prst="orthographicFront"/>
              <a:lightRig rig="threePt" dir="t"/>
            </a:scene3d>
            <a:sp3d extrusionH="571500"/>
          </p:spPr>
          <p:txBody>
            <a:bodyPr rtlCol="0" anchor="ctr"/>
            <a:lstStyle/>
            <a:p>
              <a:pPr algn="ctr"/>
              <a:endParaRPr lang="zh-CN" altLang="en-US" sz="2700">
                <a:solidFill>
                  <a:schemeClr val="tx1"/>
                </a:solidFill>
                <a:latin typeface="OPPOSans H" panose="00020600040101010101" pitchFamily="18" charset="-122"/>
                <a:ea typeface="OPPOSans H" panose="00020600040101010101" pitchFamily="18" charset="-122"/>
                <a:cs typeface="OPPOSans R" panose="00020600040101010101" pitchFamily="18" charset="-122"/>
              </a:endParaRPr>
            </a:p>
          </p:txBody>
        </p:sp>
        <p:grpSp>
          <p:nvGrpSpPr>
            <p:cNvPr id="173" name="显眼包PPT"/>
            <p:cNvGrpSpPr/>
            <p:nvPr/>
          </p:nvGrpSpPr>
          <p:grpSpPr>
            <a:xfrm>
              <a:off x="20169" y="14412"/>
              <a:ext cx="3926" cy="911"/>
              <a:chOff x="2234424" y="1077909"/>
              <a:chExt cx="1896284" cy="452573"/>
            </a:xfrm>
            <a:effectLst>
              <a:outerShdw blurRad="165100" dist="101600" dir="5400000" sx="93000" sy="93000" algn="t" rotWithShape="0">
                <a:srgbClr val="F0A22E">
                  <a:lumMod val="60000"/>
                  <a:lumOff val="40000"/>
                  <a:alpha val="24000"/>
                </a:srgbClr>
              </a:outerShdw>
            </a:effectLst>
          </p:grpSpPr>
          <p:sp>
            <p:nvSpPr>
              <p:cNvPr id="174" name="显眼包PPT-1"/>
              <p:cNvSpPr/>
              <p:nvPr/>
            </p:nvSpPr>
            <p:spPr>
              <a:xfrm>
                <a:off x="2234424" y="1077909"/>
                <a:ext cx="1895168" cy="452573"/>
              </a:xfrm>
              <a:prstGeom prst="roundRect">
                <a:avLst>
                  <a:gd name="adj" fmla="val 50000"/>
                </a:avLst>
              </a:prstGeom>
              <a:solidFill>
                <a:sysClr val="window" lastClr="FFFFFF"/>
              </a:solidFill>
              <a:ln w="12700" cap="flat" cmpd="sng" algn="ctr">
                <a:solidFill>
                  <a:srgbClr val="A5644E">
                    <a:lumMod val="60000"/>
                    <a:lumOff val="40000"/>
                  </a:srgbClr>
                </a:solidFill>
                <a:prstDash val="solid"/>
                <a:miter lim="800000"/>
              </a:ln>
              <a:effectLst/>
            </p:spPr>
            <p:txBody>
              <a:bodyPr wrap="square" rtlCol="0" anchor="ctr">
                <a:noAutofit/>
              </a:bodyPr>
              <a:lstStyle/>
              <a:p>
                <a:pPr algn="ctr"/>
                <a:r>
                  <a:rPr lang="zh-CN" altLang="en-US" sz="300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rPr>
                  <a:t>筑牢保障</a:t>
                </a:r>
                <a:endParaRPr lang="zh-CN" altLang="en-US" sz="300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endParaRPr>
              </a:p>
            </p:txBody>
          </p:sp>
          <p:sp>
            <p:nvSpPr>
              <p:cNvPr id="175" name="显眼包PPT-2"/>
              <p:cNvSpPr/>
              <p:nvPr/>
            </p:nvSpPr>
            <p:spPr>
              <a:xfrm>
                <a:off x="2234424" y="1158402"/>
                <a:ext cx="151515" cy="291586"/>
              </a:xfrm>
              <a:custGeom>
                <a:avLst/>
                <a:gdLst>
                  <a:gd name="connsiteX0" fmla="*/ 0 w 351194"/>
                  <a:gd name="connsiteY0" fmla="*/ 337999 h 675861"/>
                  <a:gd name="connsiteX1" fmla="*/ 0 w 351194"/>
                  <a:gd name="connsiteY1" fmla="*/ 338000 h 675861"/>
                  <a:gd name="connsiteX2" fmla="*/ 0 w 351194"/>
                  <a:gd name="connsiteY2" fmla="*/ 338000 h 675861"/>
                  <a:gd name="connsiteX3" fmla="*/ 132209 w 351194"/>
                  <a:gd name="connsiteY3" fmla="*/ 0 h 675861"/>
                  <a:gd name="connsiteX4" fmla="*/ 179742 w 351194"/>
                  <a:gd name="connsiteY4" fmla="*/ 95117 h 675861"/>
                  <a:gd name="connsiteX5" fmla="*/ 351194 w 351194"/>
                  <a:gd name="connsiteY5" fmla="*/ 337828 h 675861"/>
                  <a:gd name="connsiteX6" fmla="*/ 179742 w 351194"/>
                  <a:gd name="connsiteY6" fmla="*/ 580520 h 675861"/>
                  <a:gd name="connsiteX7" fmla="*/ 132095 w 351194"/>
                  <a:gd name="connsiteY7" fmla="*/ 675861 h 675861"/>
                  <a:gd name="connsiteX8" fmla="*/ 86219 w 351194"/>
                  <a:gd name="connsiteY8" fmla="*/ 620259 h 675861"/>
                  <a:gd name="connsiteX9" fmla="*/ 10257 w 351194"/>
                  <a:gd name="connsiteY9" fmla="*/ 439741 h 675861"/>
                  <a:gd name="connsiteX10" fmla="*/ 0 w 351194"/>
                  <a:gd name="connsiteY10" fmla="*/ 338000 h 675861"/>
                  <a:gd name="connsiteX11" fmla="*/ 10257 w 351194"/>
                  <a:gd name="connsiteY11" fmla="*/ 236258 h 675861"/>
                  <a:gd name="connsiteX12" fmla="*/ 86219 w 351194"/>
                  <a:gd name="connsiteY12" fmla="*/ 55740 h 675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1194" h="675861">
                    <a:moveTo>
                      <a:pt x="0" y="337999"/>
                    </a:moveTo>
                    <a:lnTo>
                      <a:pt x="0" y="338000"/>
                    </a:lnTo>
                    <a:lnTo>
                      <a:pt x="0" y="338000"/>
                    </a:lnTo>
                    <a:close/>
                    <a:moveTo>
                      <a:pt x="132209" y="0"/>
                    </a:moveTo>
                    <a:lnTo>
                      <a:pt x="179742" y="95117"/>
                    </a:lnTo>
                    <a:cubicBezTo>
                      <a:pt x="227656" y="181924"/>
                      <a:pt x="284579" y="266531"/>
                      <a:pt x="351194" y="337828"/>
                    </a:cubicBezTo>
                    <a:cubicBezTo>
                      <a:pt x="284579" y="409117"/>
                      <a:pt x="227656" y="493718"/>
                      <a:pt x="179742" y="580520"/>
                    </a:cubicBezTo>
                    <a:lnTo>
                      <a:pt x="132095" y="675861"/>
                    </a:lnTo>
                    <a:lnTo>
                      <a:pt x="86219" y="620259"/>
                    </a:lnTo>
                    <a:cubicBezTo>
                      <a:pt x="49929" y="566544"/>
                      <a:pt x="23706" y="505469"/>
                      <a:pt x="10257" y="439741"/>
                    </a:cubicBezTo>
                    <a:lnTo>
                      <a:pt x="0" y="338000"/>
                    </a:lnTo>
                    <a:lnTo>
                      <a:pt x="10257" y="236258"/>
                    </a:lnTo>
                    <a:cubicBezTo>
                      <a:pt x="23706" y="170530"/>
                      <a:pt x="49929" y="109456"/>
                      <a:pt x="86219" y="55740"/>
                    </a:cubicBezTo>
                    <a:close/>
                  </a:path>
                </a:pathLst>
              </a:custGeom>
              <a:gradFill flip="none" rotWithShape="1">
                <a:gsLst>
                  <a:gs pos="12000">
                    <a:srgbClr val="A5644E">
                      <a:lumMod val="40000"/>
                      <a:lumOff val="60000"/>
                    </a:srgbClr>
                  </a:gs>
                  <a:gs pos="100000">
                    <a:srgbClr val="A5644E">
                      <a:lumMod val="60000"/>
                      <a:lumOff val="40000"/>
                    </a:srgbClr>
                  </a:gs>
                </a:gsLst>
                <a:lin ang="8100000" scaled="1"/>
                <a:tileRect/>
              </a:gradFill>
              <a:ln w="8944" cap="flat">
                <a:noFill/>
                <a:prstDash val="solid"/>
                <a:miter/>
              </a:ln>
              <a:effectLst/>
            </p:spPr>
            <p:txBody>
              <a:bodyPr rot="0" spcFirstLastPara="0" vertOverflow="overflow" horzOverflow="overflow" vert="horz" wrap="square" lIns="137160" tIns="68580" rIns="137160" bIns="68580" numCol="1" spcCol="0" rtlCol="0" fromWordArt="0" anchor="ctr" anchorCtr="0" forceAA="0" compatLnSpc="1">
                <a:noAutofit/>
              </a:bodyPr>
              <a:lstStyle/>
              <a:p>
                <a:endParaRPr lang="zh-CN" altLang="en-US" sz="3000">
                  <a:solidFill>
                    <a:schemeClr val="tx1"/>
                  </a:solidFill>
                  <a:cs typeface="OPPOSans R" panose="00020600040101010101" pitchFamily="18" charset="-122"/>
                </a:endParaRPr>
              </a:p>
            </p:txBody>
          </p:sp>
          <p:sp>
            <p:nvSpPr>
              <p:cNvPr id="176" name="显眼包PPT-3"/>
              <p:cNvSpPr/>
              <p:nvPr/>
            </p:nvSpPr>
            <p:spPr>
              <a:xfrm flipH="1">
                <a:off x="3979193" y="1158402"/>
                <a:ext cx="151515" cy="291586"/>
              </a:xfrm>
              <a:custGeom>
                <a:avLst/>
                <a:gdLst>
                  <a:gd name="connsiteX0" fmla="*/ 0 w 351194"/>
                  <a:gd name="connsiteY0" fmla="*/ 337999 h 675861"/>
                  <a:gd name="connsiteX1" fmla="*/ 0 w 351194"/>
                  <a:gd name="connsiteY1" fmla="*/ 338000 h 675861"/>
                  <a:gd name="connsiteX2" fmla="*/ 0 w 351194"/>
                  <a:gd name="connsiteY2" fmla="*/ 338000 h 675861"/>
                  <a:gd name="connsiteX3" fmla="*/ 132209 w 351194"/>
                  <a:gd name="connsiteY3" fmla="*/ 0 h 675861"/>
                  <a:gd name="connsiteX4" fmla="*/ 179742 w 351194"/>
                  <a:gd name="connsiteY4" fmla="*/ 95117 h 675861"/>
                  <a:gd name="connsiteX5" fmla="*/ 351194 w 351194"/>
                  <a:gd name="connsiteY5" fmla="*/ 337828 h 675861"/>
                  <a:gd name="connsiteX6" fmla="*/ 179742 w 351194"/>
                  <a:gd name="connsiteY6" fmla="*/ 580520 h 675861"/>
                  <a:gd name="connsiteX7" fmla="*/ 132095 w 351194"/>
                  <a:gd name="connsiteY7" fmla="*/ 675861 h 675861"/>
                  <a:gd name="connsiteX8" fmla="*/ 86219 w 351194"/>
                  <a:gd name="connsiteY8" fmla="*/ 620259 h 675861"/>
                  <a:gd name="connsiteX9" fmla="*/ 10257 w 351194"/>
                  <a:gd name="connsiteY9" fmla="*/ 439741 h 675861"/>
                  <a:gd name="connsiteX10" fmla="*/ 0 w 351194"/>
                  <a:gd name="connsiteY10" fmla="*/ 338000 h 675861"/>
                  <a:gd name="connsiteX11" fmla="*/ 10257 w 351194"/>
                  <a:gd name="connsiteY11" fmla="*/ 236258 h 675861"/>
                  <a:gd name="connsiteX12" fmla="*/ 86219 w 351194"/>
                  <a:gd name="connsiteY12" fmla="*/ 55740 h 675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1194" h="675861">
                    <a:moveTo>
                      <a:pt x="0" y="337999"/>
                    </a:moveTo>
                    <a:lnTo>
                      <a:pt x="0" y="338000"/>
                    </a:lnTo>
                    <a:lnTo>
                      <a:pt x="0" y="338000"/>
                    </a:lnTo>
                    <a:close/>
                    <a:moveTo>
                      <a:pt x="132209" y="0"/>
                    </a:moveTo>
                    <a:lnTo>
                      <a:pt x="179742" y="95117"/>
                    </a:lnTo>
                    <a:cubicBezTo>
                      <a:pt x="227656" y="181924"/>
                      <a:pt x="284579" y="266531"/>
                      <a:pt x="351194" y="337828"/>
                    </a:cubicBezTo>
                    <a:cubicBezTo>
                      <a:pt x="284579" y="409117"/>
                      <a:pt x="227656" y="493718"/>
                      <a:pt x="179742" y="580520"/>
                    </a:cubicBezTo>
                    <a:lnTo>
                      <a:pt x="132095" y="675861"/>
                    </a:lnTo>
                    <a:lnTo>
                      <a:pt x="86219" y="620259"/>
                    </a:lnTo>
                    <a:cubicBezTo>
                      <a:pt x="49929" y="566544"/>
                      <a:pt x="23706" y="505469"/>
                      <a:pt x="10257" y="439741"/>
                    </a:cubicBezTo>
                    <a:lnTo>
                      <a:pt x="0" y="338000"/>
                    </a:lnTo>
                    <a:lnTo>
                      <a:pt x="10257" y="236258"/>
                    </a:lnTo>
                    <a:cubicBezTo>
                      <a:pt x="23706" y="170530"/>
                      <a:pt x="49929" y="109456"/>
                      <a:pt x="86219" y="55740"/>
                    </a:cubicBezTo>
                    <a:close/>
                  </a:path>
                </a:pathLst>
              </a:custGeom>
              <a:gradFill flip="none" rotWithShape="1">
                <a:gsLst>
                  <a:gs pos="12000">
                    <a:srgbClr val="A5644E">
                      <a:lumMod val="40000"/>
                      <a:lumOff val="60000"/>
                    </a:srgbClr>
                  </a:gs>
                  <a:gs pos="100000">
                    <a:srgbClr val="A5644E">
                      <a:lumMod val="60000"/>
                      <a:lumOff val="40000"/>
                    </a:srgbClr>
                  </a:gs>
                </a:gsLst>
                <a:lin ang="8100000" scaled="1"/>
                <a:tileRect/>
              </a:gradFill>
              <a:ln w="8944" cap="flat">
                <a:noFill/>
                <a:prstDash val="solid"/>
                <a:miter/>
              </a:ln>
              <a:effectLst/>
            </p:spPr>
            <p:txBody>
              <a:bodyPr rot="0" spcFirstLastPara="0" vertOverflow="overflow" horzOverflow="overflow" vert="horz" wrap="square" lIns="137160" tIns="68580" rIns="137160" bIns="68580" numCol="1" spcCol="0" rtlCol="0" fromWordArt="0" anchor="ctr" anchorCtr="0" forceAA="0" compatLnSpc="1">
                <a:noAutofit/>
              </a:bodyPr>
              <a:lstStyle/>
              <a:p>
                <a:endParaRPr lang="zh-CN" altLang="en-US" sz="3000">
                  <a:solidFill>
                    <a:schemeClr val="tx1"/>
                  </a:solidFill>
                  <a:cs typeface="OPPOSans R" panose="00020600040101010101" pitchFamily="18" charset="-122"/>
                </a:endParaRPr>
              </a:p>
            </p:txBody>
          </p:sp>
        </p:grpSp>
        <p:sp>
          <p:nvSpPr>
            <p:cNvPr id="177" name="显眼包PPT1"/>
            <p:cNvSpPr/>
            <p:nvPr/>
          </p:nvSpPr>
          <p:spPr>
            <a:xfrm flipH="1" flipV="1">
              <a:off x="12990" y="8733"/>
              <a:ext cx="3321" cy="762"/>
            </a:xfrm>
            <a:custGeom>
              <a:avLst/>
              <a:gdLst>
                <a:gd name="connsiteX0" fmla="*/ 668402 w 973372"/>
                <a:gd name="connsiteY0" fmla="*/ -84 h 116084"/>
                <a:gd name="connsiteX1" fmla="*/ 668402 w 973372"/>
                <a:gd name="connsiteY1" fmla="*/ 74393 h 116084"/>
                <a:gd name="connsiteX2" fmla="*/ -87 w 973372"/>
                <a:gd name="connsiteY2" fmla="*/ 74393 h 116084"/>
                <a:gd name="connsiteX3" fmla="*/ -87 w 973372"/>
                <a:gd name="connsiteY3" fmla="*/ 116000 h 116084"/>
                <a:gd name="connsiteX4" fmla="*/ 973285 w 973372"/>
                <a:gd name="connsiteY4" fmla="*/ 116000 h 116084"/>
                <a:gd name="connsiteX5" fmla="*/ 668402 w 973372"/>
                <a:gd name="connsiteY5" fmla="*/ -84 h 116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73372" h="116084">
                  <a:moveTo>
                    <a:pt x="668402" y="-84"/>
                  </a:moveTo>
                  <a:lnTo>
                    <a:pt x="668402" y="74393"/>
                  </a:lnTo>
                  <a:lnTo>
                    <a:pt x="-87" y="74393"/>
                  </a:lnTo>
                  <a:lnTo>
                    <a:pt x="-87" y="116000"/>
                  </a:lnTo>
                  <a:lnTo>
                    <a:pt x="973285" y="116000"/>
                  </a:lnTo>
                  <a:cubicBezTo>
                    <a:pt x="766511" y="92298"/>
                    <a:pt x="668402" y="-84"/>
                    <a:pt x="668402" y="-84"/>
                  </a:cubicBezTo>
                  <a:close/>
                </a:path>
              </a:pathLst>
            </a:custGeom>
            <a:gradFill flip="none" rotWithShape="1">
              <a:gsLst>
                <a:gs pos="54000">
                  <a:srgbClr val="A5644E">
                    <a:lumMod val="60000"/>
                    <a:lumOff val="40000"/>
                  </a:srgbClr>
                </a:gs>
                <a:gs pos="0">
                  <a:srgbClr val="A5644E"/>
                </a:gs>
                <a:gs pos="100000">
                  <a:srgbClr val="A5644E">
                    <a:lumMod val="60000"/>
                    <a:lumOff val="40000"/>
                    <a:alpha val="0"/>
                  </a:srgbClr>
                </a:gs>
              </a:gsLst>
              <a:lin ang="10800000" scaled="1"/>
              <a:tileRect/>
            </a:gradFill>
            <a:ln w="8944" cap="flat">
              <a:noFill/>
              <a:prstDash val="solid"/>
              <a:miter/>
            </a:ln>
            <a:effectLst/>
          </p:spPr>
          <p:txBody>
            <a:bodyPr rot="0" spcFirstLastPara="0" vertOverflow="overflow" horzOverflow="overflow" vert="horz" wrap="square" lIns="137160" tIns="68580" rIns="137160" bIns="68580" numCol="1" spcCol="0" rtlCol="0" fromWordArt="0" anchor="ctr" anchorCtr="0" forceAA="0" compatLnSpc="1">
              <a:noAutofit/>
            </a:bodyPr>
            <a:lstStyle/>
            <a:p>
              <a:endParaRPr lang="zh-CN" altLang="en-US" sz="2700">
                <a:solidFill>
                  <a:schemeClr val="tx1"/>
                </a:solidFill>
                <a:cs typeface="OPPOSans R" panose="00020600040101010101" pitchFamily="18" charset="-122"/>
              </a:endParaRPr>
            </a:p>
          </p:txBody>
        </p:sp>
        <p:sp>
          <p:nvSpPr>
            <p:cNvPr id="178" name="显眼包PPT2"/>
            <p:cNvSpPr/>
            <p:nvPr/>
          </p:nvSpPr>
          <p:spPr>
            <a:xfrm>
              <a:off x="12383" y="9918"/>
              <a:ext cx="4535" cy="1544"/>
            </a:xfrm>
            <a:prstGeom prst="rect">
              <a:avLst/>
            </a:prstGeom>
            <a:gradFill flip="none" rotWithShape="1">
              <a:gsLst>
                <a:gs pos="0">
                  <a:srgbClr val="A5644E">
                    <a:lumMod val="60000"/>
                    <a:lumOff val="40000"/>
                    <a:alpha val="0"/>
                  </a:srgbClr>
                </a:gs>
                <a:gs pos="50000">
                  <a:srgbClr val="A5644E">
                    <a:lumMod val="60000"/>
                    <a:lumOff val="40000"/>
                    <a:alpha val="7000"/>
                  </a:srgbClr>
                </a:gs>
                <a:gs pos="100000">
                  <a:srgbClr val="A5644E">
                    <a:lumMod val="60000"/>
                    <a:lumOff val="40000"/>
                    <a:alpha val="0"/>
                  </a:srgbClr>
                </a:gs>
              </a:gsLst>
              <a:lin ang="0" scaled="1"/>
              <a:tileRect/>
            </a:gradFill>
            <a:ln w="9525" cap="flat" cmpd="sng" algn="ctr">
              <a:gradFill flip="none" rotWithShape="1">
                <a:gsLst>
                  <a:gs pos="0">
                    <a:srgbClr val="A5644E">
                      <a:lumMod val="60000"/>
                      <a:lumOff val="40000"/>
                    </a:srgbClr>
                  </a:gs>
                  <a:gs pos="86000">
                    <a:srgbClr val="A5644E">
                      <a:lumMod val="60000"/>
                      <a:lumOff val="40000"/>
                      <a:alpha val="0"/>
                    </a:srgbClr>
                  </a:gs>
                </a:gsLst>
                <a:path path="circle">
                  <a:fillToRect l="50000" t="50000" r="50000" b="50000"/>
                </a:path>
                <a:tileRect/>
              </a:gradFill>
              <a:prstDash val="solid"/>
              <a:miter lim="800000"/>
            </a:ln>
            <a:effectLst>
              <a:innerShdw blurRad="114300">
                <a:srgbClr val="A5644E">
                  <a:lumMod val="60000"/>
                  <a:lumOff val="40000"/>
                </a:srgbClr>
              </a:innerShdw>
            </a:effectLst>
          </p:spPr>
          <p:txBody>
            <a:bodyPr rtlCol="0" anchor="ctr"/>
            <a:lstStyle/>
            <a:p>
              <a:pPr algn="ctr"/>
              <a:endParaRPr lang="zh-CN" altLang="en-US" sz="270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sym typeface="微软雅黑" panose="020B0503020204020204" pitchFamily="34" charset="-122"/>
              </a:endParaRPr>
            </a:p>
          </p:txBody>
        </p:sp>
        <p:sp useBgFill="1">
          <p:nvSpPr>
            <p:cNvPr id="180" name="椭圆 179"/>
            <p:cNvSpPr/>
            <p:nvPr>
              <p:custDataLst>
                <p:tags r:id="rId4"/>
              </p:custDataLst>
            </p:nvPr>
          </p:nvSpPr>
          <p:spPr>
            <a:xfrm>
              <a:off x="18038" y="4371"/>
              <a:ext cx="8370" cy="8370"/>
            </a:xfrm>
            <a:prstGeom prst="ellipse">
              <a:avLst/>
            </a:prstGeom>
            <a:ln>
              <a:noFill/>
            </a:ln>
            <a:effectLst>
              <a:outerShdw blurRad="152400" sx="106000" sy="106000" algn="ctr" rotWithShape="0">
                <a:schemeClr val="tx1">
                  <a:lumMod val="65000"/>
                  <a:lumOff val="35000"/>
                  <a:alpha val="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solidFill>
              </a:endParaRPr>
            </a:p>
          </p:txBody>
        </p:sp>
        <p:sp>
          <p:nvSpPr>
            <p:cNvPr id="181" name="椭圆 180"/>
            <p:cNvSpPr/>
            <p:nvPr>
              <p:custDataLst>
                <p:tags r:id="rId5"/>
              </p:custDataLst>
            </p:nvPr>
          </p:nvSpPr>
          <p:spPr>
            <a:xfrm>
              <a:off x="18038" y="4371"/>
              <a:ext cx="8370" cy="8370"/>
            </a:xfrm>
            <a:prstGeom prst="ellipse">
              <a:avLst/>
            </a:prstGeom>
            <a:solidFill>
              <a:schemeClr val="lt1">
                <a:lumMod val="100000"/>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61925" rtlCol="0" anchor="ctr"/>
            <a:lstStyle/>
            <a:p>
              <a:pPr algn="ctr"/>
              <a:endParaRPr lang="zh-CN" altLang="en-US" sz="2700">
                <a:solidFill>
                  <a:schemeClr val="lt1"/>
                </a:solidFill>
              </a:endParaRPr>
            </a:p>
          </p:txBody>
        </p:sp>
        <p:sp>
          <p:nvSpPr>
            <p:cNvPr id="182" name="椭圆 181"/>
            <p:cNvSpPr/>
            <p:nvPr>
              <p:custDataLst>
                <p:tags r:id="rId6"/>
              </p:custDataLst>
            </p:nvPr>
          </p:nvSpPr>
          <p:spPr>
            <a:xfrm>
              <a:off x="20314" y="6647"/>
              <a:ext cx="3819" cy="3819"/>
            </a:xfrm>
            <a:prstGeom prst="ellipse">
              <a:avLst/>
            </a:prstGeom>
            <a:noFill/>
            <a:ln>
              <a:solidFill>
                <a:schemeClr val="tx1">
                  <a:lumMod val="65000"/>
                  <a:lumOff val="35000"/>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solidFill>
              </a:endParaRPr>
            </a:p>
          </p:txBody>
        </p:sp>
        <p:sp>
          <p:nvSpPr>
            <p:cNvPr id="183" name="椭圆 182"/>
            <p:cNvSpPr/>
            <p:nvPr>
              <p:custDataLst>
                <p:tags r:id="rId7"/>
              </p:custDataLst>
            </p:nvPr>
          </p:nvSpPr>
          <p:spPr>
            <a:xfrm>
              <a:off x="17387" y="3720"/>
              <a:ext cx="9672" cy="9672"/>
            </a:xfrm>
            <a:prstGeom prst="ellipse">
              <a:avLst/>
            </a:prstGeom>
            <a:noFill/>
            <a:ln>
              <a:solidFill>
                <a:schemeClr val="tx1">
                  <a:lumMod val="65000"/>
                  <a:lumOff val="35000"/>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solidFill>
              </a:endParaRPr>
            </a:p>
          </p:txBody>
        </p:sp>
        <p:sp>
          <p:nvSpPr>
            <p:cNvPr id="193" name="弧形 192"/>
            <p:cNvSpPr/>
            <p:nvPr>
              <p:custDataLst>
                <p:tags r:id="rId8"/>
              </p:custDataLst>
            </p:nvPr>
          </p:nvSpPr>
          <p:spPr>
            <a:xfrm rot="14400000">
              <a:off x="17990" y="4367"/>
              <a:ext cx="8526" cy="8525"/>
            </a:xfrm>
            <a:prstGeom prst="arc">
              <a:avLst>
                <a:gd name="adj1" fmla="val 17360505"/>
                <a:gd name="adj2" fmla="val 21121678"/>
              </a:avLst>
            </a:prstGeom>
            <a:ln w="12700">
              <a:gradFill>
                <a:gsLst>
                  <a:gs pos="0">
                    <a:schemeClr val="accent4">
                      <a:alpha val="0"/>
                    </a:schemeClr>
                  </a:gs>
                  <a:gs pos="60000">
                    <a:schemeClr val="accent4">
                      <a:alpha val="100000"/>
                    </a:schemeClr>
                  </a:gs>
                </a:gsLst>
                <a:lin ang="5400000" scaled="1"/>
              </a:gradFill>
              <a:prstDash val="dash"/>
              <a:tailEnd type="triangle"/>
            </a:ln>
            <a:effectLst>
              <a:outerShdw blurRad="50800" dist="38100" dir="2700000" algn="tl" rotWithShape="0">
                <a:schemeClr val="accent4">
                  <a:lumMod val="75000"/>
                  <a:alpha val="40000"/>
                </a:schemeClr>
              </a:outerShdw>
            </a:effectLst>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700">
                <a:solidFill>
                  <a:schemeClr val="tx1"/>
                </a:solidFill>
                <a:cs typeface="微软雅黑" panose="020B0503020204020204" pitchFamily="34" charset="-122"/>
              </a:endParaRPr>
            </a:p>
          </p:txBody>
        </p:sp>
        <p:sp>
          <p:nvSpPr>
            <p:cNvPr id="194" name="弧形 193"/>
            <p:cNvSpPr/>
            <p:nvPr>
              <p:custDataLst>
                <p:tags r:id="rId9"/>
              </p:custDataLst>
            </p:nvPr>
          </p:nvSpPr>
          <p:spPr>
            <a:xfrm>
              <a:off x="17896" y="4313"/>
              <a:ext cx="8525" cy="8526"/>
            </a:xfrm>
            <a:prstGeom prst="arc">
              <a:avLst>
                <a:gd name="adj1" fmla="val 17360505"/>
                <a:gd name="adj2" fmla="val 21121678"/>
              </a:avLst>
            </a:prstGeom>
            <a:ln w="12700">
              <a:gradFill>
                <a:gsLst>
                  <a:gs pos="0">
                    <a:schemeClr val="accent4">
                      <a:alpha val="0"/>
                    </a:schemeClr>
                  </a:gs>
                  <a:gs pos="60000">
                    <a:schemeClr val="accent4">
                      <a:alpha val="100000"/>
                    </a:schemeClr>
                  </a:gs>
                </a:gsLst>
                <a:lin ang="5400000" scaled="1"/>
              </a:gradFill>
              <a:prstDash val="dash"/>
              <a:tailEnd type="triangle"/>
            </a:ln>
            <a:effectLst>
              <a:outerShdw blurRad="50800" dist="38100" dir="3000000" algn="tl" rotWithShape="0">
                <a:schemeClr val="accent4">
                  <a:lumMod val="75000"/>
                  <a:alpha val="40000"/>
                </a:schemeClr>
              </a:outerShdw>
            </a:effectLst>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700">
                <a:solidFill>
                  <a:schemeClr val="tx1"/>
                </a:solidFill>
                <a:cs typeface="微软雅黑" panose="020B0503020204020204" pitchFamily="34" charset="-122"/>
              </a:endParaRPr>
            </a:p>
          </p:txBody>
        </p:sp>
        <p:sp>
          <p:nvSpPr>
            <p:cNvPr id="195" name="弧形 194"/>
            <p:cNvSpPr/>
            <p:nvPr>
              <p:custDataLst>
                <p:tags r:id="rId10"/>
              </p:custDataLst>
            </p:nvPr>
          </p:nvSpPr>
          <p:spPr>
            <a:xfrm rot="7200000">
              <a:off x="18046" y="4220"/>
              <a:ext cx="8526" cy="8525"/>
            </a:xfrm>
            <a:prstGeom prst="arc">
              <a:avLst>
                <a:gd name="adj1" fmla="val 17360505"/>
                <a:gd name="adj2" fmla="val 21121678"/>
              </a:avLst>
            </a:prstGeom>
            <a:ln w="12700">
              <a:gradFill>
                <a:gsLst>
                  <a:gs pos="0">
                    <a:schemeClr val="accent4">
                      <a:alpha val="0"/>
                    </a:schemeClr>
                  </a:gs>
                  <a:gs pos="60000">
                    <a:schemeClr val="accent4">
                      <a:alpha val="100000"/>
                    </a:schemeClr>
                  </a:gs>
                </a:gsLst>
                <a:lin ang="5400000" scaled="1"/>
              </a:gradFill>
              <a:prstDash val="dash"/>
              <a:tailEnd type="triangle"/>
            </a:ln>
            <a:effectLst>
              <a:outerShdw blurRad="50800" dist="38100" dir="2700000" algn="tl" rotWithShape="0">
                <a:schemeClr val="accent4">
                  <a:lumMod val="75000"/>
                  <a:alpha val="40000"/>
                </a:schemeClr>
              </a:outerShdw>
            </a:effectLst>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700">
                <a:solidFill>
                  <a:schemeClr val="tx1"/>
                </a:solidFill>
                <a:cs typeface="微软雅黑" panose="020B0503020204020204" pitchFamily="34" charset="-122"/>
              </a:endParaRPr>
            </a:p>
          </p:txBody>
        </p:sp>
        <p:sp>
          <p:nvSpPr>
            <p:cNvPr id="196" name="任意多边形: 形状 24"/>
            <p:cNvSpPr/>
            <p:nvPr>
              <p:custDataLst>
                <p:tags r:id="rId11"/>
              </p:custDataLst>
            </p:nvPr>
          </p:nvSpPr>
          <p:spPr>
            <a:xfrm>
              <a:off x="18502" y="4850"/>
              <a:ext cx="3408" cy="5297"/>
            </a:xfrm>
            <a:custGeom>
              <a:avLst/>
              <a:gdLst>
                <a:gd name="connsiteX0" fmla="*/ 1443037 w 1443037"/>
                <a:gd name="connsiteY0" fmla="*/ 0 h 2242496"/>
                <a:gd name="connsiteX1" fmla="*/ 1443037 w 1443037"/>
                <a:gd name="connsiteY1" fmla="*/ 584288 h 2242496"/>
                <a:gd name="connsiteX2" fmla="*/ 1379510 w 1443037"/>
                <a:gd name="connsiteY2" fmla="*/ 593983 h 2242496"/>
                <a:gd name="connsiteX3" fmla="*/ 580630 w 1443037"/>
                <a:gd name="connsiteY3" fmla="*/ 1574176 h 2242496"/>
                <a:gd name="connsiteX4" fmla="*/ 625611 w 1443037"/>
                <a:gd name="connsiteY4" fmla="*/ 1871700 h 2242496"/>
                <a:gd name="connsiteX5" fmla="*/ 654631 w 1443037"/>
                <a:gd name="connsiteY5" fmla="*/ 1950987 h 2242496"/>
                <a:gd name="connsiteX6" fmla="*/ 149721 w 1443037"/>
                <a:gd name="connsiteY6" fmla="*/ 2242496 h 2242496"/>
                <a:gd name="connsiteX7" fmla="*/ 124255 w 1443037"/>
                <a:gd name="connsiteY7" fmla="*/ 2189631 h 2242496"/>
                <a:gd name="connsiteX8" fmla="*/ 0 w 1443037"/>
                <a:gd name="connsiteY8" fmla="*/ 1574176 h 2242496"/>
                <a:gd name="connsiteX9" fmla="*/ 1419487 w 1443037"/>
                <a:gd name="connsiteY9" fmla="*/ 1189 h 2242496"/>
                <a:gd name="connsiteX10" fmla="*/ 1443037 w 1443037"/>
                <a:gd name="connsiteY10" fmla="*/ 0 h 2242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3037" h="2242496">
                  <a:moveTo>
                    <a:pt x="1443037" y="0"/>
                  </a:moveTo>
                  <a:lnTo>
                    <a:pt x="1443037" y="584288"/>
                  </a:lnTo>
                  <a:lnTo>
                    <a:pt x="1379510" y="593983"/>
                  </a:lnTo>
                  <a:cubicBezTo>
                    <a:pt x="923590" y="687278"/>
                    <a:pt x="580630" y="1090676"/>
                    <a:pt x="580630" y="1574176"/>
                  </a:cubicBezTo>
                  <a:cubicBezTo>
                    <a:pt x="580630" y="1677783"/>
                    <a:pt x="596378" y="1777712"/>
                    <a:pt x="625611" y="1871700"/>
                  </a:cubicBezTo>
                  <a:lnTo>
                    <a:pt x="654631" y="1950987"/>
                  </a:lnTo>
                  <a:lnTo>
                    <a:pt x="149721" y="2242496"/>
                  </a:lnTo>
                  <a:lnTo>
                    <a:pt x="124255" y="2189631"/>
                  </a:lnTo>
                  <a:cubicBezTo>
                    <a:pt x="44244" y="2000465"/>
                    <a:pt x="0" y="1792487"/>
                    <a:pt x="0" y="1574176"/>
                  </a:cubicBezTo>
                  <a:cubicBezTo>
                    <a:pt x="0" y="755509"/>
                    <a:pt x="622182" y="82160"/>
                    <a:pt x="1419487" y="1189"/>
                  </a:cubicBezTo>
                  <a:lnTo>
                    <a:pt x="1443037" y="0"/>
                  </a:lnTo>
                  <a:close/>
                </a:path>
              </a:pathLst>
            </a:custGeom>
            <a:gradFill>
              <a:gsLst>
                <a:gs pos="50000">
                  <a:schemeClr val="accent2"/>
                </a:gs>
                <a:gs pos="0">
                  <a:schemeClr val="accent2">
                    <a:lumMod val="25000"/>
                    <a:lumOff val="75000"/>
                  </a:schemeClr>
                </a:gs>
                <a:gs pos="100000">
                  <a:schemeClr val="accent2">
                    <a:lumMod val="85000"/>
                  </a:schemeClr>
                </a:gs>
              </a:gsLst>
              <a:lin ang="5400000" scaled="1"/>
            </a:gradFill>
            <a:ln>
              <a:noFill/>
            </a:ln>
            <a:effectLst>
              <a:outerShdw blurRad="127000" sx="105000" sy="105000" algn="ctr" rotWithShape="0">
                <a:schemeClr val="accent4">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tIns="161925" rIns="1025842" bIns="216217"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endParaRPr lang="en-US" altLang="zh-CN" sz="2700" b="1" dirty="0">
                <a:solidFill>
                  <a:srgbClr val="FFFFFF"/>
                </a:solidFill>
                <a:effectLst>
                  <a:outerShdw blurRad="38100" dist="38100" dir="2700000" algn="tl">
                    <a:schemeClr val="accent4">
                      <a:lumMod val="75000"/>
                      <a:alpha val="40000"/>
                    </a:schemeClr>
                  </a:outerShdw>
                </a:effectLst>
                <a:latin typeface="+mn-ea"/>
                <a:cs typeface="+mn-ea"/>
                <a:sym typeface="+mn-ea"/>
              </a:endParaRPr>
            </a:p>
          </p:txBody>
        </p:sp>
        <p:sp>
          <p:nvSpPr>
            <p:cNvPr id="197" name="任意多边形 196"/>
            <p:cNvSpPr/>
            <p:nvPr>
              <p:custDataLst>
                <p:tags r:id="rId12"/>
              </p:custDataLst>
            </p:nvPr>
          </p:nvSpPr>
          <p:spPr>
            <a:xfrm>
              <a:off x="22534" y="4853"/>
              <a:ext cx="3412" cy="5293"/>
            </a:xfrm>
            <a:custGeom>
              <a:avLst/>
              <a:gdLst/>
              <a:ahLst/>
              <a:cxnLst>
                <a:cxn ang="3">
                  <a:pos x="hc" y="t"/>
                </a:cxn>
                <a:cxn ang="cd2">
                  <a:pos x="l" y="vc"/>
                </a:cxn>
                <a:cxn ang="cd4">
                  <a:pos x="hc" y="b"/>
                </a:cxn>
                <a:cxn ang="0">
                  <a:pos x="r" y="vc"/>
                </a:cxn>
              </a:cxnLst>
              <a:rect l="l" t="t" r="r" b="b"/>
              <a:pathLst>
                <a:path w="2274" h="3529">
                  <a:moveTo>
                    <a:pt x="0" y="0"/>
                  </a:moveTo>
                  <a:lnTo>
                    <a:pt x="92" y="7"/>
                  </a:lnTo>
                  <a:cubicBezTo>
                    <a:pt x="413" y="47"/>
                    <a:pt x="732" y="150"/>
                    <a:pt x="1029" y="322"/>
                  </a:cubicBezTo>
                  <a:cubicBezTo>
                    <a:pt x="2146" y="967"/>
                    <a:pt x="2574" y="2345"/>
                    <a:pt x="2057" y="3496"/>
                  </a:cubicBezTo>
                  <a:lnTo>
                    <a:pt x="2040" y="3529"/>
                  </a:lnTo>
                  <a:lnTo>
                    <a:pt x="1243" y="3069"/>
                  </a:lnTo>
                  <a:lnTo>
                    <a:pt x="1280" y="2975"/>
                  </a:lnTo>
                  <a:cubicBezTo>
                    <a:pt x="1512" y="2280"/>
                    <a:pt x="1231" y="1494"/>
                    <a:pt x="572" y="1114"/>
                  </a:cubicBezTo>
                  <a:cubicBezTo>
                    <a:pt x="431" y="1032"/>
                    <a:pt x="282" y="975"/>
                    <a:pt x="131" y="941"/>
                  </a:cubicBezTo>
                  <a:lnTo>
                    <a:pt x="0" y="918"/>
                  </a:lnTo>
                  <a:lnTo>
                    <a:pt x="0" y="0"/>
                  </a:lnTo>
                  <a:close/>
                </a:path>
              </a:pathLst>
            </a:custGeom>
            <a:gradFill>
              <a:gsLst>
                <a:gs pos="50000">
                  <a:schemeClr val="accent2"/>
                </a:gs>
                <a:gs pos="0">
                  <a:schemeClr val="accent2">
                    <a:lumMod val="25000"/>
                    <a:lumOff val="75000"/>
                  </a:schemeClr>
                </a:gs>
                <a:gs pos="100000">
                  <a:schemeClr val="accent2">
                    <a:lumMod val="85000"/>
                  </a:schemeClr>
                </a:gs>
              </a:gsLst>
              <a:lin ang="5400000" scaled="1"/>
            </a:gradFill>
            <a:ln>
              <a:noFill/>
            </a:ln>
            <a:effectLst>
              <a:outerShdw blurRad="127000" sx="106000" sy="106000" algn="ctr" rotWithShape="0">
                <a:schemeClr val="accent4">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134427" tIns="161925" bIns="216217"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endParaRPr lang="en-US" altLang="zh-CN" sz="2700" b="1">
                <a:solidFill>
                  <a:srgbClr val="FFFFFF"/>
                </a:solidFill>
                <a:effectLst>
                  <a:outerShdw blurRad="50800" dist="50800" dir="5400000" algn="ctr" rotWithShape="0">
                    <a:schemeClr val="accent4">
                      <a:lumMod val="75000"/>
                      <a:alpha val="40000"/>
                    </a:schemeClr>
                  </a:outerShdw>
                </a:effectLst>
                <a:latin typeface="+mn-ea"/>
                <a:cs typeface="+mn-ea"/>
                <a:sym typeface="+mn-ea"/>
              </a:endParaRPr>
            </a:p>
          </p:txBody>
        </p:sp>
        <p:sp>
          <p:nvSpPr>
            <p:cNvPr id="198" name="任意多边形 197"/>
            <p:cNvSpPr/>
            <p:nvPr>
              <p:custDataLst>
                <p:tags r:id="rId13"/>
              </p:custDataLst>
            </p:nvPr>
          </p:nvSpPr>
          <p:spPr>
            <a:xfrm>
              <a:off x="19190" y="9990"/>
              <a:ext cx="6114" cy="2285"/>
            </a:xfrm>
            <a:custGeom>
              <a:avLst/>
              <a:gdLst/>
              <a:ahLst/>
              <a:cxnLst>
                <a:cxn ang="3">
                  <a:pos x="hc" y="t"/>
                </a:cxn>
                <a:cxn ang="cd2">
                  <a:pos x="l" y="vc"/>
                </a:cxn>
                <a:cxn ang="cd4">
                  <a:pos x="hc" y="b"/>
                </a:cxn>
                <a:cxn ang="0">
                  <a:pos x="r" y="vc"/>
                </a:cxn>
              </a:cxnLst>
              <a:rect l="l" t="t" r="r" b="b"/>
              <a:pathLst>
                <a:path w="4076" h="1523">
                  <a:moveTo>
                    <a:pt x="3281" y="0"/>
                  </a:moveTo>
                  <a:lnTo>
                    <a:pt x="4076" y="459"/>
                  </a:lnTo>
                  <a:lnTo>
                    <a:pt x="4024" y="535"/>
                  </a:lnTo>
                  <a:cubicBezTo>
                    <a:pt x="3829" y="793"/>
                    <a:pt x="3580" y="1017"/>
                    <a:pt x="3283" y="1189"/>
                  </a:cubicBezTo>
                  <a:cubicBezTo>
                    <a:pt x="2166" y="1834"/>
                    <a:pt x="758" y="1516"/>
                    <a:pt x="20" y="492"/>
                  </a:cubicBezTo>
                  <a:lnTo>
                    <a:pt x="0" y="461"/>
                  </a:lnTo>
                  <a:lnTo>
                    <a:pt x="797" y="1"/>
                  </a:lnTo>
                  <a:lnTo>
                    <a:pt x="860" y="80"/>
                  </a:lnTo>
                  <a:cubicBezTo>
                    <a:pt x="1346" y="628"/>
                    <a:pt x="2166" y="778"/>
                    <a:pt x="2826" y="398"/>
                  </a:cubicBezTo>
                  <a:cubicBezTo>
                    <a:pt x="2967" y="316"/>
                    <a:pt x="3091" y="216"/>
                    <a:pt x="3196" y="102"/>
                  </a:cubicBezTo>
                  <a:lnTo>
                    <a:pt x="3281" y="0"/>
                  </a:lnTo>
                  <a:close/>
                </a:path>
              </a:pathLst>
            </a:custGeom>
            <a:gradFill>
              <a:gsLst>
                <a:gs pos="50000">
                  <a:schemeClr val="accent2"/>
                </a:gs>
                <a:gs pos="0">
                  <a:schemeClr val="accent2">
                    <a:lumMod val="25000"/>
                    <a:lumOff val="75000"/>
                  </a:schemeClr>
                </a:gs>
                <a:gs pos="100000">
                  <a:schemeClr val="accent2">
                    <a:lumMod val="85000"/>
                  </a:schemeClr>
                </a:gs>
              </a:gsLst>
              <a:lin ang="5400000" scaled="1"/>
            </a:gradFill>
            <a:ln>
              <a:noFill/>
            </a:ln>
            <a:effectLst>
              <a:outerShdw blurRad="127000" sx="105000" sy="105000" algn="ctr" rotWithShape="0">
                <a:schemeClr val="accent4">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tIns="647700" bIns="54292"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endParaRPr lang="en-US" altLang="zh-CN" sz="2700" b="1">
                <a:solidFill>
                  <a:srgbClr val="FFFFFF"/>
                </a:solidFill>
                <a:effectLst>
                  <a:outerShdw blurRad="50800" dist="50800" dir="5400000" algn="ctr" rotWithShape="0">
                    <a:schemeClr val="accent4">
                      <a:lumMod val="75000"/>
                      <a:alpha val="40000"/>
                    </a:schemeClr>
                  </a:outerShdw>
                </a:effectLst>
                <a:latin typeface="+mn-ea"/>
                <a:cs typeface="+mn-ea"/>
                <a:sym typeface="+mn-ea"/>
              </a:endParaRPr>
            </a:p>
          </p:txBody>
        </p:sp>
        <p:sp>
          <p:nvSpPr>
            <p:cNvPr id="199" name="文本框 198"/>
            <p:cNvSpPr txBox="1"/>
            <p:nvPr/>
          </p:nvSpPr>
          <p:spPr>
            <a:xfrm rot="17880000">
              <a:off x="18548" y="6605"/>
              <a:ext cx="3266" cy="1409"/>
            </a:xfrm>
            <a:prstGeom prst="rect">
              <a:avLst/>
            </a:prstGeom>
          </p:spPr>
          <p:txBody>
            <a:bodyPr wrap="square">
              <a:prstTxWarp prst="textArchUp">
                <a:avLst/>
              </a:prstTxWarp>
              <a:noAutofit/>
            </a:bodyPr>
            <a:lstStyle/>
            <a:p>
              <a:pPr algn="ctr"/>
              <a:r>
                <a:rPr lang="zh-CN" altLang="en-US" sz="3000">
                  <a:solidFill>
                    <a:schemeClr val="bg1"/>
                  </a:solidFill>
                  <a:latin typeface="微软雅黑" panose="020B0503020204020204" pitchFamily="34" charset="-122"/>
                  <a:ea typeface="微软雅黑" panose="020B0503020204020204" pitchFamily="34" charset="-122"/>
                </a:rPr>
                <a:t>规则设计</a:t>
              </a:r>
              <a:endParaRPr lang="zh-CN" altLang="en-US" sz="3000">
                <a:solidFill>
                  <a:schemeClr val="bg1"/>
                </a:solidFill>
                <a:latin typeface="微软雅黑" panose="020B0503020204020204" pitchFamily="34" charset="-122"/>
                <a:ea typeface="微软雅黑" panose="020B0503020204020204" pitchFamily="34" charset="-122"/>
              </a:endParaRPr>
            </a:p>
          </p:txBody>
        </p:sp>
        <p:sp>
          <p:nvSpPr>
            <p:cNvPr id="200" name="文本框 199"/>
            <p:cNvSpPr txBox="1"/>
            <p:nvPr/>
          </p:nvSpPr>
          <p:spPr>
            <a:xfrm rot="3660000">
              <a:off x="22953" y="6890"/>
              <a:ext cx="3245" cy="1211"/>
            </a:xfrm>
            <a:prstGeom prst="rect">
              <a:avLst/>
            </a:prstGeom>
          </p:spPr>
          <p:txBody>
            <a:bodyPr wrap="square">
              <a:prstTxWarp prst="textArchUp">
                <a:avLst/>
              </a:prstTxWarp>
              <a:noAutofit/>
            </a:bodyPr>
            <a:lstStyle/>
            <a:p>
              <a:pPr lvl="0" algn="ctr">
                <a:buClrTx/>
                <a:buSzTx/>
                <a:buFontTx/>
              </a:pPr>
              <a:r>
                <a:rPr lang="zh-CN" altLang="en-US" sz="3000">
                  <a:solidFill>
                    <a:schemeClr val="bg1"/>
                  </a:solidFill>
                  <a:latin typeface="微软雅黑" panose="020B0503020204020204" pitchFamily="34" charset="-122"/>
                  <a:ea typeface="微软雅黑" panose="020B0503020204020204" pitchFamily="34" charset="-122"/>
                  <a:sym typeface="+mn-ea"/>
                </a:rPr>
                <a:t>执行透明</a:t>
              </a:r>
              <a:endParaRPr lang="zh-CN" altLang="en-US" sz="3000">
                <a:solidFill>
                  <a:schemeClr val="bg1"/>
                </a:solidFill>
                <a:latin typeface="微软雅黑" panose="020B0503020204020204" pitchFamily="34" charset="-122"/>
                <a:ea typeface="微软雅黑" panose="020B0503020204020204" pitchFamily="34" charset="-122"/>
                <a:sym typeface="+mn-ea"/>
              </a:endParaRPr>
            </a:p>
          </p:txBody>
        </p:sp>
        <p:sp>
          <p:nvSpPr>
            <p:cNvPr id="201" name="文本框 200"/>
            <p:cNvSpPr txBox="1"/>
            <p:nvPr/>
          </p:nvSpPr>
          <p:spPr>
            <a:xfrm>
              <a:off x="20784" y="10368"/>
              <a:ext cx="3180" cy="1191"/>
            </a:xfrm>
            <a:prstGeom prst="rect">
              <a:avLst/>
            </a:prstGeom>
          </p:spPr>
          <p:txBody>
            <a:bodyPr wrap="square">
              <a:prstTxWarp prst="textArchDown">
                <a:avLst/>
              </a:prstTxWarp>
              <a:noAutofit/>
            </a:bodyPr>
            <a:lstStyle/>
            <a:p>
              <a:pPr lvl="0" algn="ctr">
                <a:buClrTx/>
                <a:buSzTx/>
                <a:buFontTx/>
              </a:pPr>
              <a:r>
                <a:rPr lang="zh-CN" altLang="en-US" sz="3000">
                  <a:solidFill>
                    <a:schemeClr val="bg1"/>
                  </a:solidFill>
                  <a:latin typeface="微软雅黑" panose="020B0503020204020204" pitchFamily="34" charset="-122"/>
                  <a:ea typeface="微软雅黑" panose="020B0503020204020204" pitchFamily="34" charset="-122"/>
                  <a:sym typeface="+mn-ea"/>
                </a:rPr>
                <a:t>风险防控</a:t>
              </a:r>
              <a:endParaRPr lang="zh-CN" altLang="en-US" sz="3000">
                <a:solidFill>
                  <a:schemeClr val="bg1"/>
                </a:solidFill>
                <a:latin typeface="微软雅黑" panose="020B0503020204020204" pitchFamily="34" charset="-122"/>
                <a:ea typeface="微软雅黑" panose="020B0503020204020204" pitchFamily="34" charset="-122"/>
                <a:sym typeface="+mn-ea"/>
              </a:endParaRPr>
            </a:p>
          </p:txBody>
        </p:sp>
        <p:sp>
          <p:nvSpPr>
            <p:cNvPr id="202" name="文本框 201"/>
            <p:cNvSpPr txBox="1"/>
            <p:nvPr/>
          </p:nvSpPr>
          <p:spPr>
            <a:xfrm>
              <a:off x="21108" y="7523"/>
              <a:ext cx="2280" cy="1888"/>
            </a:xfrm>
            <a:prstGeom prst="rect">
              <a:avLst/>
            </a:prstGeom>
          </p:spPr>
          <p:txBody>
            <a:bodyPr wrap="square">
              <a:spAutoFit/>
            </a:bodyPr>
            <a:lstStyle/>
            <a:p>
              <a:pPr algn="ctr"/>
              <a:r>
                <a:rPr lang="zh-CN" altLang="en-US" sz="3600">
                  <a:latin typeface="微软雅黑" panose="020B0503020204020204" pitchFamily="34" charset="-122"/>
                  <a:ea typeface="微软雅黑" panose="020B0503020204020204" pitchFamily="34" charset="-122"/>
                </a:rPr>
                <a:t>制度</a:t>
              </a:r>
              <a:endParaRPr lang="zh-CN" altLang="en-US" sz="3600">
                <a:latin typeface="微软雅黑" panose="020B0503020204020204" pitchFamily="34" charset="-122"/>
                <a:ea typeface="微软雅黑" panose="020B0503020204020204" pitchFamily="34" charset="-122"/>
              </a:endParaRPr>
            </a:p>
            <a:p>
              <a:pPr algn="ctr"/>
              <a:r>
                <a:rPr lang="zh-CN" altLang="en-US" sz="3600">
                  <a:latin typeface="微软雅黑" panose="020B0503020204020204" pitchFamily="34" charset="-122"/>
                  <a:ea typeface="微软雅黑" panose="020B0503020204020204" pitchFamily="34" charset="-122"/>
                </a:rPr>
                <a:t>保障</a:t>
              </a:r>
              <a:endParaRPr lang="zh-CN" altLang="en-US" sz="3600">
                <a:latin typeface="微软雅黑" panose="020B0503020204020204" pitchFamily="34" charset="-122"/>
                <a:ea typeface="微软雅黑" panose="020B0503020204020204" pitchFamily="34" charset="-122"/>
              </a:endParaRPr>
            </a:p>
          </p:txBody>
        </p:sp>
        <p:sp useBgFill="1">
          <p:nvSpPr>
            <p:cNvPr id="203" name="椭圆 202"/>
            <p:cNvSpPr/>
            <p:nvPr>
              <p:custDataLst>
                <p:tags r:id="rId14"/>
              </p:custDataLst>
            </p:nvPr>
          </p:nvSpPr>
          <p:spPr>
            <a:xfrm>
              <a:off x="2985" y="4522"/>
              <a:ext cx="8370" cy="8370"/>
            </a:xfrm>
            <a:prstGeom prst="ellipse">
              <a:avLst/>
            </a:prstGeom>
            <a:ln>
              <a:noFill/>
            </a:ln>
            <a:effectLst>
              <a:outerShdw blurRad="152400" sx="106000" sy="106000" algn="ctr" rotWithShape="0">
                <a:schemeClr val="tx1">
                  <a:lumMod val="65000"/>
                  <a:lumOff val="35000"/>
                  <a:alpha val="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solidFill>
              </a:endParaRPr>
            </a:p>
          </p:txBody>
        </p:sp>
        <p:sp>
          <p:nvSpPr>
            <p:cNvPr id="204" name="椭圆 203"/>
            <p:cNvSpPr/>
            <p:nvPr>
              <p:custDataLst>
                <p:tags r:id="rId15"/>
              </p:custDataLst>
            </p:nvPr>
          </p:nvSpPr>
          <p:spPr>
            <a:xfrm>
              <a:off x="2985" y="4522"/>
              <a:ext cx="8370" cy="8370"/>
            </a:xfrm>
            <a:prstGeom prst="ellipse">
              <a:avLst/>
            </a:prstGeom>
            <a:solidFill>
              <a:schemeClr val="lt1">
                <a:lumMod val="100000"/>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61925" rtlCol="0" anchor="ctr"/>
            <a:lstStyle/>
            <a:p>
              <a:pPr algn="ctr"/>
              <a:endParaRPr lang="zh-CN" altLang="en-US" sz="2700">
                <a:solidFill>
                  <a:schemeClr val="lt1"/>
                </a:solidFill>
              </a:endParaRPr>
            </a:p>
          </p:txBody>
        </p:sp>
        <p:sp>
          <p:nvSpPr>
            <p:cNvPr id="205" name="椭圆 204"/>
            <p:cNvSpPr/>
            <p:nvPr>
              <p:custDataLst>
                <p:tags r:id="rId16"/>
              </p:custDataLst>
            </p:nvPr>
          </p:nvSpPr>
          <p:spPr>
            <a:xfrm>
              <a:off x="2334" y="3871"/>
              <a:ext cx="9672" cy="9672"/>
            </a:xfrm>
            <a:prstGeom prst="ellipse">
              <a:avLst/>
            </a:prstGeom>
            <a:noFill/>
            <a:ln>
              <a:solidFill>
                <a:schemeClr val="tx1">
                  <a:lumMod val="65000"/>
                  <a:lumOff val="35000"/>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solidFill>
              </a:endParaRPr>
            </a:p>
          </p:txBody>
        </p:sp>
        <p:sp>
          <p:nvSpPr>
            <p:cNvPr id="214" name="椭圆 213"/>
            <p:cNvSpPr/>
            <p:nvPr>
              <p:custDataLst>
                <p:tags r:id="rId17"/>
              </p:custDataLst>
            </p:nvPr>
          </p:nvSpPr>
          <p:spPr>
            <a:xfrm>
              <a:off x="5261" y="6797"/>
              <a:ext cx="3819" cy="3819"/>
            </a:xfrm>
            <a:prstGeom prst="ellipse">
              <a:avLst/>
            </a:prstGeom>
            <a:noFill/>
            <a:ln>
              <a:solidFill>
                <a:schemeClr val="tx1">
                  <a:lumMod val="65000"/>
                  <a:lumOff val="35000"/>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solidFill>
              </a:endParaRPr>
            </a:p>
          </p:txBody>
        </p:sp>
        <p:sp>
          <p:nvSpPr>
            <p:cNvPr id="215" name="任意多边形: 形状 39"/>
            <p:cNvSpPr/>
            <p:nvPr>
              <p:custDataLst>
                <p:tags r:id="rId18"/>
              </p:custDataLst>
            </p:nvPr>
          </p:nvSpPr>
          <p:spPr>
            <a:xfrm>
              <a:off x="7433" y="5005"/>
              <a:ext cx="3476" cy="7439"/>
            </a:xfrm>
            <a:custGeom>
              <a:avLst/>
              <a:gdLst>
                <a:gd name="connsiteX0" fmla="*/ 0 w 1471487"/>
                <a:gd name="connsiteY0" fmla="*/ 0 h 3149115"/>
                <a:gd name="connsiteX1" fmla="*/ 52998 w 1471487"/>
                <a:gd name="connsiteY1" fmla="*/ 2676 h 3149115"/>
                <a:gd name="connsiteX2" fmla="*/ 1471487 w 1471487"/>
                <a:gd name="connsiteY2" fmla="*/ 1574557 h 3149115"/>
                <a:gd name="connsiteX3" fmla="*/ 52998 w 1471487"/>
                <a:gd name="connsiteY3" fmla="*/ 3146438 h 3149115"/>
                <a:gd name="connsiteX4" fmla="*/ 0 w 1471487"/>
                <a:gd name="connsiteY4" fmla="*/ 3149115 h 3149115"/>
                <a:gd name="connsiteX5" fmla="*/ 0 w 1471487"/>
                <a:gd name="connsiteY5" fmla="*/ 2576485 h 3149115"/>
                <a:gd name="connsiteX6" fmla="*/ 94589 w 1471487"/>
                <a:gd name="connsiteY6" fmla="*/ 2562049 h 3149115"/>
                <a:gd name="connsiteX7" fmla="*/ 899418 w 1471487"/>
                <a:gd name="connsiteY7" fmla="*/ 1574557 h 3149115"/>
                <a:gd name="connsiteX8" fmla="*/ 94589 w 1471487"/>
                <a:gd name="connsiteY8" fmla="*/ 587065 h 3149115"/>
                <a:gd name="connsiteX9" fmla="*/ 0 w 1471487"/>
                <a:gd name="connsiteY9" fmla="*/ 572629 h 3149115"/>
                <a:gd name="connsiteX10" fmla="*/ 0 w 1471487"/>
                <a:gd name="connsiteY10" fmla="*/ 0 h 3149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71487" h="3149115">
                  <a:moveTo>
                    <a:pt x="0" y="0"/>
                  </a:moveTo>
                  <a:lnTo>
                    <a:pt x="52998" y="2676"/>
                  </a:lnTo>
                  <a:cubicBezTo>
                    <a:pt x="849742" y="83590"/>
                    <a:pt x="1471487" y="756466"/>
                    <a:pt x="1471487" y="1574557"/>
                  </a:cubicBezTo>
                  <a:cubicBezTo>
                    <a:pt x="1471487" y="2392649"/>
                    <a:pt x="849742" y="3065525"/>
                    <a:pt x="52998" y="3146438"/>
                  </a:cubicBezTo>
                  <a:lnTo>
                    <a:pt x="0" y="3149115"/>
                  </a:lnTo>
                  <a:lnTo>
                    <a:pt x="0" y="2576485"/>
                  </a:lnTo>
                  <a:lnTo>
                    <a:pt x="94589" y="2562049"/>
                  </a:lnTo>
                  <a:cubicBezTo>
                    <a:pt x="553904" y="2468059"/>
                    <a:pt x="899418" y="2061657"/>
                    <a:pt x="899418" y="1574557"/>
                  </a:cubicBezTo>
                  <a:cubicBezTo>
                    <a:pt x="899418" y="1087457"/>
                    <a:pt x="553904" y="681055"/>
                    <a:pt x="94589" y="587065"/>
                  </a:cubicBezTo>
                  <a:lnTo>
                    <a:pt x="0" y="572629"/>
                  </a:lnTo>
                  <a:lnTo>
                    <a:pt x="0" y="0"/>
                  </a:lnTo>
                  <a:close/>
                </a:path>
              </a:pathLst>
            </a:custGeom>
            <a:gradFill>
              <a:gsLst>
                <a:gs pos="50000">
                  <a:schemeClr val="accent6"/>
                </a:gs>
                <a:gs pos="0">
                  <a:schemeClr val="accent6">
                    <a:lumMod val="25000"/>
                    <a:lumOff val="75000"/>
                  </a:schemeClr>
                </a:gs>
                <a:gs pos="100000">
                  <a:schemeClr val="accent6">
                    <a:lumMod val="85000"/>
                  </a:schemeClr>
                </a:gs>
              </a:gsLst>
              <a:lin ang="5400000" scaled="1"/>
            </a:gradFill>
            <a:ln>
              <a:noFill/>
            </a:ln>
            <a:effectLst>
              <a:outerShdw blurRad="127000" sx="106000" sy="106000" algn="ctr" rotWithShape="0">
                <a:schemeClr val="accent4">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403985" tIns="161925" bIns="54292"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endParaRPr lang="en-US" altLang="zh-CN" sz="2400" b="1">
                <a:solidFill>
                  <a:srgbClr val="FFFFFF"/>
                </a:solidFill>
                <a:effectLst>
                  <a:outerShdw blurRad="38100" dist="38100" dir="2700000" algn="tl">
                    <a:schemeClr val="accent4">
                      <a:lumMod val="75000"/>
                      <a:alpha val="43137"/>
                    </a:schemeClr>
                  </a:outerShdw>
                </a:effectLst>
                <a:latin typeface="+mn-ea"/>
                <a:cs typeface="+mn-ea"/>
                <a:sym typeface="+mn-ea"/>
              </a:endParaRPr>
            </a:p>
          </p:txBody>
        </p:sp>
        <p:sp>
          <p:nvSpPr>
            <p:cNvPr id="216" name="任意多边形: 形状 38"/>
            <p:cNvSpPr/>
            <p:nvPr>
              <p:custDataLst>
                <p:tags r:id="rId19"/>
              </p:custDataLst>
            </p:nvPr>
          </p:nvSpPr>
          <p:spPr>
            <a:xfrm>
              <a:off x="3444" y="5009"/>
              <a:ext cx="3402" cy="7431"/>
            </a:xfrm>
            <a:custGeom>
              <a:avLst/>
              <a:gdLst>
                <a:gd name="connsiteX0" fmla="*/ 1440341 w 1440341"/>
                <a:gd name="connsiteY0" fmla="*/ 0 h 3145969"/>
                <a:gd name="connsiteX1" fmla="*/ 1440341 w 1440341"/>
                <a:gd name="connsiteY1" fmla="*/ 575810 h 3145969"/>
                <a:gd name="connsiteX2" fmla="*/ 1376898 w 1440341"/>
                <a:gd name="connsiteY2" fmla="*/ 585492 h 3145969"/>
                <a:gd name="connsiteX3" fmla="*/ 572069 w 1440341"/>
                <a:gd name="connsiteY3" fmla="*/ 1572984 h 3145969"/>
                <a:gd name="connsiteX4" fmla="*/ 1376898 w 1440341"/>
                <a:gd name="connsiteY4" fmla="*/ 2560476 h 3145969"/>
                <a:gd name="connsiteX5" fmla="*/ 1440341 w 1440341"/>
                <a:gd name="connsiteY5" fmla="*/ 2570159 h 3145969"/>
                <a:gd name="connsiteX6" fmla="*/ 1440341 w 1440341"/>
                <a:gd name="connsiteY6" fmla="*/ 3145969 h 3145969"/>
                <a:gd name="connsiteX7" fmla="*/ 1418489 w 1440341"/>
                <a:gd name="connsiteY7" fmla="*/ 3144865 h 3145969"/>
                <a:gd name="connsiteX8" fmla="*/ 0 w 1440341"/>
                <a:gd name="connsiteY8" fmla="*/ 1572984 h 3145969"/>
                <a:gd name="connsiteX9" fmla="*/ 1418489 w 1440341"/>
                <a:gd name="connsiteY9" fmla="*/ 1103 h 3145969"/>
                <a:gd name="connsiteX10" fmla="*/ 1440341 w 1440341"/>
                <a:gd name="connsiteY10" fmla="*/ 0 h 3145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0341" h="3145969">
                  <a:moveTo>
                    <a:pt x="1440341" y="0"/>
                  </a:moveTo>
                  <a:lnTo>
                    <a:pt x="1440341" y="575810"/>
                  </a:lnTo>
                  <a:lnTo>
                    <a:pt x="1376898" y="585492"/>
                  </a:lnTo>
                  <a:cubicBezTo>
                    <a:pt x="917583" y="679482"/>
                    <a:pt x="572069" y="1085884"/>
                    <a:pt x="572069" y="1572984"/>
                  </a:cubicBezTo>
                  <a:cubicBezTo>
                    <a:pt x="572069" y="2060084"/>
                    <a:pt x="917583" y="2466486"/>
                    <a:pt x="1376898" y="2560476"/>
                  </a:cubicBezTo>
                  <a:lnTo>
                    <a:pt x="1440341" y="2570159"/>
                  </a:lnTo>
                  <a:lnTo>
                    <a:pt x="1440341" y="3145969"/>
                  </a:lnTo>
                  <a:lnTo>
                    <a:pt x="1418489" y="3144865"/>
                  </a:lnTo>
                  <a:cubicBezTo>
                    <a:pt x="621745" y="3063952"/>
                    <a:pt x="0" y="2391076"/>
                    <a:pt x="0" y="1572984"/>
                  </a:cubicBezTo>
                  <a:cubicBezTo>
                    <a:pt x="0" y="754893"/>
                    <a:pt x="621745" y="82017"/>
                    <a:pt x="1418489" y="1103"/>
                  </a:cubicBezTo>
                  <a:lnTo>
                    <a:pt x="1440341" y="0"/>
                  </a:lnTo>
                  <a:close/>
                </a:path>
              </a:pathLst>
            </a:custGeom>
            <a:gradFill>
              <a:gsLst>
                <a:gs pos="50000">
                  <a:schemeClr val="accent6"/>
                </a:gs>
                <a:gs pos="0">
                  <a:schemeClr val="accent6">
                    <a:lumMod val="25000"/>
                    <a:lumOff val="75000"/>
                  </a:schemeClr>
                </a:gs>
                <a:gs pos="100000">
                  <a:schemeClr val="accent6">
                    <a:lumMod val="85000"/>
                  </a:schemeClr>
                </a:gs>
              </a:gsLst>
              <a:lin ang="5400000" scaled="1"/>
            </a:gradFill>
            <a:ln>
              <a:noFill/>
            </a:ln>
            <a:effectLst>
              <a:outerShdw blurRad="127000" sx="105000" sy="105000" algn="ctr" rotWithShape="0">
                <a:schemeClr val="accent4">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tIns="161925" rIns="1349692" bIns="54292"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endParaRPr lang="en-US" altLang="zh-CN" sz="2400" b="1">
                <a:solidFill>
                  <a:srgbClr val="FFFFFF"/>
                </a:solidFill>
                <a:effectLst>
                  <a:outerShdw blurRad="38100" dist="38100" dir="2700000" algn="tl">
                    <a:schemeClr val="accent4">
                      <a:lumMod val="75000"/>
                      <a:alpha val="43137"/>
                    </a:schemeClr>
                  </a:outerShdw>
                </a:effectLst>
                <a:latin typeface="+mn-ea"/>
                <a:cs typeface="+mn-ea"/>
                <a:sym typeface="+mn-ea"/>
              </a:endParaRPr>
            </a:p>
          </p:txBody>
        </p:sp>
        <p:sp>
          <p:nvSpPr>
            <p:cNvPr id="217" name="文本框 216"/>
            <p:cNvSpPr txBox="1"/>
            <p:nvPr/>
          </p:nvSpPr>
          <p:spPr>
            <a:xfrm>
              <a:off x="5340" y="7739"/>
              <a:ext cx="3614" cy="1888"/>
            </a:xfrm>
            <a:prstGeom prst="rect">
              <a:avLst/>
            </a:prstGeom>
          </p:spPr>
          <p:txBody>
            <a:bodyPr wrap="square">
              <a:spAutoFit/>
            </a:bodyPr>
            <a:lstStyle/>
            <a:p>
              <a:pPr lvl="0" algn="ctr">
                <a:buClrTx/>
                <a:buSzTx/>
                <a:buFontTx/>
              </a:pPr>
              <a:r>
                <a:rPr lang="zh-CN" altLang="en-US" sz="3600">
                  <a:latin typeface="微软雅黑" panose="020B0503020204020204" pitchFamily="34" charset="-122"/>
                  <a:ea typeface="微软雅黑" panose="020B0503020204020204" pitchFamily="34" charset="-122"/>
                  <a:sym typeface="+mn-ea"/>
                </a:rPr>
                <a:t>收益</a:t>
              </a:r>
              <a:endParaRPr lang="zh-CN" altLang="en-US" sz="3600">
                <a:latin typeface="微软雅黑" panose="020B0503020204020204" pitchFamily="34" charset="-122"/>
                <a:ea typeface="微软雅黑" panose="020B0503020204020204" pitchFamily="34" charset="-122"/>
                <a:sym typeface="+mn-ea"/>
              </a:endParaRPr>
            </a:p>
            <a:p>
              <a:pPr lvl="0" algn="ctr">
                <a:buClrTx/>
                <a:buSzTx/>
                <a:buFontTx/>
              </a:pPr>
              <a:r>
                <a:rPr lang="zh-CN" altLang="en-US" sz="3600">
                  <a:latin typeface="微软雅黑" panose="020B0503020204020204" pitchFamily="34" charset="-122"/>
                  <a:ea typeface="微软雅黑" panose="020B0503020204020204" pitchFamily="34" charset="-122"/>
                  <a:sym typeface="+mn-ea"/>
                </a:rPr>
                <a:t>形式</a:t>
              </a:r>
              <a:endParaRPr lang="zh-CN" altLang="en-US" sz="3600">
                <a:latin typeface="微软雅黑" panose="020B0503020204020204" pitchFamily="34" charset="-122"/>
                <a:ea typeface="微软雅黑" panose="020B0503020204020204" pitchFamily="34" charset="-122"/>
                <a:sym typeface="+mn-ea"/>
              </a:endParaRPr>
            </a:p>
          </p:txBody>
        </p:sp>
        <p:sp>
          <p:nvSpPr>
            <p:cNvPr id="218" name="文本框 217"/>
            <p:cNvSpPr txBox="1"/>
            <p:nvPr/>
          </p:nvSpPr>
          <p:spPr>
            <a:xfrm rot="16740000">
              <a:off x="2931" y="7658"/>
              <a:ext cx="3642" cy="1379"/>
            </a:xfrm>
            <a:prstGeom prst="rect">
              <a:avLst/>
            </a:prstGeom>
          </p:spPr>
          <p:txBody>
            <a:bodyPr wrap="square">
              <a:prstTxWarp prst="textArchUp">
                <a:avLst/>
              </a:prstTxWarp>
              <a:noAutofit/>
            </a:bodyPr>
            <a:lstStyle/>
            <a:p>
              <a:pPr lvl="0" algn="ctr">
                <a:buClrTx/>
                <a:buSzTx/>
                <a:buFontTx/>
              </a:pPr>
              <a:r>
                <a:rPr lang="zh-CN" altLang="en-US" sz="3000">
                  <a:solidFill>
                    <a:schemeClr val="bg1"/>
                  </a:solidFill>
                  <a:latin typeface="微软雅黑" panose="020B0503020204020204" pitchFamily="34" charset="-122"/>
                  <a:ea typeface="微软雅黑" panose="020B0503020204020204" pitchFamily="34" charset="-122"/>
                  <a:sym typeface="+mn-ea"/>
                </a:rPr>
                <a:t>资金给付</a:t>
              </a:r>
              <a:endParaRPr lang="zh-CN" altLang="en-US" sz="3000">
                <a:solidFill>
                  <a:schemeClr val="bg1"/>
                </a:solidFill>
                <a:latin typeface="微软雅黑" panose="020B0503020204020204" pitchFamily="34" charset="-122"/>
                <a:ea typeface="微软雅黑" panose="020B0503020204020204" pitchFamily="34" charset="-122"/>
                <a:sym typeface="+mn-ea"/>
              </a:endParaRPr>
            </a:p>
          </p:txBody>
        </p:sp>
        <p:sp>
          <p:nvSpPr>
            <p:cNvPr id="219" name="文本框 218"/>
            <p:cNvSpPr txBox="1"/>
            <p:nvPr/>
          </p:nvSpPr>
          <p:spPr>
            <a:xfrm rot="5580000">
              <a:off x="8112" y="8243"/>
              <a:ext cx="3432" cy="797"/>
            </a:xfrm>
            <a:prstGeom prst="rect">
              <a:avLst/>
            </a:prstGeom>
          </p:spPr>
          <p:txBody>
            <a:bodyPr wrap="square">
              <a:prstTxWarp prst="textArchUp">
                <a:avLst/>
              </a:prstTxWarp>
              <a:noAutofit/>
            </a:bodyPr>
            <a:lstStyle/>
            <a:p>
              <a:pPr lvl="0" algn="ctr">
                <a:buClrTx/>
                <a:buSzTx/>
                <a:buFontTx/>
              </a:pPr>
              <a:r>
                <a:rPr lang="zh-CN" altLang="en-US" sz="3000">
                  <a:solidFill>
                    <a:schemeClr val="bg1"/>
                  </a:solidFill>
                  <a:latin typeface="微软雅黑" panose="020B0503020204020204" pitchFamily="34" charset="-122"/>
                  <a:ea typeface="微软雅黑" panose="020B0503020204020204" pitchFamily="34" charset="-122"/>
                  <a:sym typeface="+mn-ea"/>
                </a:rPr>
                <a:t>服务供给</a:t>
              </a:r>
              <a:endParaRPr lang="zh-CN" altLang="en-US" sz="3000">
                <a:solidFill>
                  <a:schemeClr val="bg1"/>
                </a:solidFill>
                <a:latin typeface="微软雅黑" panose="020B0503020204020204" pitchFamily="34" charset="-122"/>
                <a:ea typeface="微软雅黑" panose="020B0503020204020204" pitchFamily="34" charset="-122"/>
                <a:sym typeface="+mn-ea"/>
              </a:endParaRPr>
            </a:p>
          </p:txBody>
        </p:sp>
        <p:sp>
          <p:nvSpPr>
            <p:cNvPr id="43" name="矩形: 圆角 45"/>
            <p:cNvSpPr/>
            <p:nvPr/>
          </p:nvSpPr>
          <p:spPr>
            <a:xfrm>
              <a:off x="12722" y="5738"/>
              <a:ext cx="3764" cy="1691"/>
            </a:xfrm>
            <a:prstGeom prst="roundRect">
              <a:avLst>
                <a:gd name="adj" fmla="val 50000"/>
              </a:avLst>
            </a:prstGeom>
            <a:solidFill>
              <a:schemeClr val="accent6">
                <a:lumMod val="50000"/>
              </a:schemeClr>
            </a:solidFill>
          </p:spPr>
          <p:style>
            <a:lnRef idx="0">
              <a:srgbClr val="FFFFFF"/>
            </a:lnRef>
            <a:fillRef idx="2">
              <a:schemeClr val="accent1"/>
            </a:fillRef>
            <a:effectRef idx="1">
              <a:schemeClr val="accent1"/>
            </a:effectRef>
            <a:fontRef idx="minor">
              <a:schemeClr val="dk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2700" b="1" noProof="0">
                  <a:ln>
                    <a:noFill/>
                  </a:ln>
                  <a:solidFill>
                    <a:prstClr val="white"/>
                  </a:solidFill>
                  <a:effectLst/>
                  <a:uLnTx/>
                  <a:uFillTx/>
                  <a:latin typeface="华文中宋" panose="02010600040101010101" charset="-122"/>
                  <a:ea typeface="华文中宋" panose="02010600040101010101" charset="-122"/>
                  <a:cs typeface="思源黑体 CN Bold" panose="020B0800000000000000" charset="-122"/>
                  <a:sym typeface="+mn-ea"/>
                </a:rPr>
                <a:t>需求供给</a:t>
              </a:r>
              <a:endParaRPr lang="zh-CN" altLang="en-US" sz="2700" b="1" noProof="0">
                <a:ln>
                  <a:noFill/>
                </a:ln>
                <a:solidFill>
                  <a:prstClr val="white"/>
                </a:solidFill>
                <a:effectLst/>
                <a:uLnTx/>
                <a:uFillTx/>
                <a:latin typeface="华文中宋" panose="02010600040101010101" charset="-122"/>
                <a:ea typeface="华文中宋" panose="02010600040101010101" charset="-122"/>
                <a:cs typeface="思源黑体 CN Bold" panose="020B0800000000000000" charset="-122"/>
                <a:sym typeface="+mn-ea"/>
              </a:endParaRPr>
            </a:p>
            <a:p>
              <a:pPr lvl="0" algn="ctr">
                <a:spcBef>
                  <a:spcPts val="0"/>
                </a:spcBef>
                <a:spcAft>
                  <a:spcPts val="0"/>
                </a:spcAft>
                <a:buClrTx/>
                <a:buSzTx/>
                <a:buFontTx/>
                <a:defRPr/>
              </a:pPr>
              <a:r>
                <a:rPr lang="zh-CN" altLang="en-US" sz="2700" b="1" noProof="0">
                  <a:ln>
                    <a:noFill/>
                  </a:ln>
                  <a:solidFill>
                    <a:prstClr val="white"/>
                  </a:solidFill>
                  <a:effectLst/>
                  <a:uLnTx/>
                  <a:uFillTx/>
                  <a:latin typeface="华文中宋" panose="02010600040101010101" charset="-122"/>
                  <a:ea typeface="华文中宋" panose="02010600040101010101" charset="-122"/>
                  <a:cs typeface="思源黑体 CN Bold" panose="020B0800000000000000" charset="-122"/>
                  <a:sym typeface="+mn-ea"/>
                </a:rPr>
                <a:t>精准匹配</a:t>
              </a:r>
              <a:r>
                <a:rPr lang="en-US" altLang="zh-CN" sz="2700" b="1" noProof="0">
                  <a:ln>
                    <a:noFill/>
                  </a:ln>
                  <a:solidFill>
                    <a:prstClr val="white"/>
                  </a:solidFill>
                  <a:effectLst/>
                  <a:uLnTx/>
                  <a:uFillTx/>
                  <a:latin typeface="华文中宋" panose="02010600040101010101" charset="-122"/>
                  <a:ea typeface="华文中宋" panose="02010600040101010101" charset="-122"/>
                  <a:cs typeface="思源黑体 CN Bold" panose="020B0800000000000000" charset="-122"/>
                  <a:sym typeface="+mn-ea"/>
                </a:rPr>
                <a:t> </a:t>
              </a:r>
              <a:endParaRPr lang="en-US" altLang="zh-CN" sz="2700" b="1" noProof="0">
                <a:ln>
                  <a:noFill/>
                </a:ln>
                <a:solidFill>
                  <a:prstClr val="white"/>
                </a:solidFill>
                <a:effectLst/>
                <a:uLnTx/>
                <a:uFillTx/>
                <a:latin typeface="华文中宋" panose="02010600040101010101" charset="-122"/>
                <a:ea typeface="华文中宋" panose="02010600040101010101" charset="-122"/>
                <a:cs typeface="思源黑体 CN Bold" panose="020B0800000000000000" charset="-122"/>
                <a:sym typeface="+mn-ea"/>
              </a:endParaRPr>
            </a:p>
          </p:txBody>
        </p:sp>
        <p:sp>
          <p:nvSpPr>
            <p:cNvPr id="44" name="矩形: 圆角 45"/>
            <p:cNvSpPr/>
            <p:nvPr/>
          </p:nvSpPr>
          <p:spPr>
            <a:xfrm>
              <a:off x="12722" y="9971"/>
              <a:ext cx="3764" cy="1691"/>
            </a:xfrm>
            <a:prstGeom prst="roundRect">
              <a:avLst>
                <a:gd name="adj" fmla="val 50000"/>
              </a:avLst>
            </a:prstGeom>
            <a:solidFill>
              <a:schemeClr val="accent6">
                <a:lumMod val="75000"/>
              </a:schemeClr>
            </a:solidFill>
            <a:ln>
              <a:noFill/>
            </a:ln>
            <a:effectLst>
              <a:outerShdw blurRad="723900" dist="215900" dir="5400000" sx="54000" sy="54000" algn="t" rotWithShape="0">
                <a:schemeClr val="accent1">
                  <a:lumMod val="50000"/>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2700" b="1" noProof="0">
                  <a:ln>
                    <a:noFill/>
                  </a:ln>
                  <a:solidFill>
                    <a:prstClr val="white"/>
                  </a:solidFill>
                  <a:effectLst/>
                  <a:uLnTx/>
                  <a:uFillTx/>
                  <a:latin typeface="华文中宋" panose="02010600040101010101" charset="-122"/>
                  <a:ea typeface="华文中宋" panose="02010600040101010101" charset="-122"/>
                  <a:cs typeface="思源黑体 CN Bold" panose="020B0800000000000000" charset="-122"/>
                  <a:sym typeface="+mn-ea"/>
                </a:rPr>
                <a:t>实证分析</a:t>
              </a:r>
              <a:endParaRPr lang="zh-CN" altLang="en-US" sz="2700" b="1" noProof="0">
                <a:ln>
                  <a:noFill/>
                </a:ln>
                <a:solidFill>
                  <a:prstClr val="white"/>
                </a:solidFill>
                <a:effectLst/>
                <a:uLnTx/>
                <a:uFillTx/>
                <a:latin typeface="华文中宋" panose="02010600040101010101" charset="-122"/>
                <a:ea typeface="华文中宋" panose="02010600040101010101" charset="-122"/>
                <a:cs typeface="思源黑体 CN Bold" panose="020B0800000000000000" charset="-122"/>
                <a:sym typeface="+mn-ea"/>
              </a:endParaRPr>
            </a:p>
            <a:p>
              <a:pPr lvl="0" algn="ctr">
                <a:spcBef>
                  <a:spcPts val="0"/>
                </a:spcBef>
                <a:spcAft>
                  <a:spcPts val="0"/>
                </a:spcAft>
                <a:buClrTx/>
                <a:buSzTx/>
                <a:buFontTx/>
                <a:defRPr/>
              </a:pPr>
              <a:r>
                <a:rPr lang="zh-CN" altLang="en-US" sz="2700" b="1" noProof="0">
                  <a:ln>
                    <a:noFill/>
                  </a:ln>
                  <a:solidFill>
                    <a:prstClr val="white"/>
                  </a:solidFill>
                  <a:effectLst/>
                  <a:uLnTx/>
                  <a:uFillTx/>
                  <a:latin typeface="华文中宋" panose="02010600040101010101" charset="-122"/>
                  <a:ea typeface="华文中宋" panose="02010600040101010101" charset="-122"/>
                  <a:cs typeface="思源黑体 CN Bold" panose="020B0800000000000000" charset="-122"/>
                  <a:sym typeface="+mn-ea"/>
                </a:rPr>
                <a:t>深度访谈</a:t>
              </a:r>
              <a:r>
                <a:rPr lang="en-US" altLang="zh-CN" sz="2700" b="1" noProof="0">
                  <a:ln>
                    <a:noFill/>
                  </a:ln>
                  <a:solidFill>
                    <a:prstClr val="white"/>
                  </a:solidFill>
                  <a:effectLst/>
                  <a:uLnTx/>
                  <a:uFillTx/>
                  <a:latin typeface="华文中宋" panose="02010600040101010101" charset="-122"/>
                  <a:ea typeface="华文中宋" panose="02010600040101010101" charset="-122"/>
                  <a:cs typeface="思源黑体 CN Bold" panose="020B0800000000000000" charset="-122"/>
                  <a:sym typeface="+mn-ea"/>
                </a:rPr>
                <a:t> </a:t>
              </a:r>
              <a:endParaRPr lang="en-US" altLang="zh-CN" sz="2700" b="1" noProof="0">
                <a:ln>
                  <a:noFill/>
                </a:ln>
                <a:solidFill>
                  <a:prstClr val="white"/>
                </a:solidFill>
                <a:effectLst/>
                <a:uLnTx/>
                <a:uFillTx/>
                <a:latin typeface="华文中宋" panose="02010600040101010101" charset="-122"/>
                <a:ea typeface="华文中宋" panose="02010600040101010101" charset="-122"/>
                <a:cs typeface="思源黑体 CN Bold" panose="020B0800000000000000" charset="-122"/>
                <a:sym typeface="+mn-ea"/>
              </a:endParaRPr>
            </a:p>
          </p:txBody>
        </p:sp>
      </p:grpSp>
      <p:sp>
        <p:nvSpPr>
          <p:cNvPr id="46" name="TextBox 35"/>
          <p:cNvSpPr txBox="1"/>
          <p:nvPr/>
        </p:nvSpPr>
        <p:spPr>
          <a:xfrm>
            <a:off x="1602740" y="1917065"/>
            <a:ext cx="15589885" cy="461645"/>
          </a:xfrm>
          <a:prstGeom prst="rect">
            <a:avLst/>
          </a:prstGeom>
        </p:spPr>
        <p:txBody>
          <a:bodyPr wrap="square" lIns="0" tIns="0" rIns="0" bIns="0" rtlCol="0" anchor="t">
            <a:spAutoFit/>
          </a:bodyPr>
          <a:lstStyle/>
          <a:p>
            <a:pPr algn="ctr">
              <a:lnSpc>
                <a:spcPts val="3600"/>
              </a:lnSpc>
            </a:pPr>
            <a:r>
              <a:rPr lang="en-US" sz="30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采用2×2被试间析因设计，</a:t>
            </a:r>
            <a:r>
              <a:rPr lang="en-US" sz="3000" b="1" dirty="0" err="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四种实验情景随机分配至全体被试</a:t>
            </a:r>
            <a:endParaRPr lang="en-US" sz="3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7" name="Freeform 3"/>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20"/>
            <a:stretch>
              <a:fillRect t="-883"/>
            </a:stretch>
          </a:blipFill>
        </p:spPr>
      </p:sp>
      <p:sp>
        <p:nvSpPr>
          <p:cNvPr id="52" name="Freeform 19"/>
          <p:cNvSpPr/>
          <p:nvPr/>
        </p:nvSpPr>
        <p:spPr>
          <a:xfrm flipH="1">
            <a:off x="160070" y="-71799"/>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21"/>
            <a:stretch>
              <a:fillRect/>
            </a:stretch>
          </a:blipFill>
        </p:spPr>
      </p:sp>
      <p:grpSp>
        <p:nvGrpSpPr>
          <p:cNvPr id="4" name="Group 4"/>
          <p:cNvGrpSpPr/>
          <p:nvPr/>
        </p:nvGrpSpPr>
        <p:grpSpPr>
          <a:xfrm>
            <a:off x="160070" y="-2829424"/>
            <a:ext cx="5133103" cy="4618309"/>
            <a:chOff x="0" y="0"/>
            <a:chExt cx="6844137" cy="6157745"/>
          </a:xfrm>
        </p:grpSpPr>
        <p:grpSp>
          <p:nvGrpSpPr>
            <p:cNvPr id="5" name="Group 5"/>
            <p:cNvGrpSpPr/>
            <p:nvPr/>
          </p:nvGrpSpPr>
          <p:grpSpPr>
            <a:xfrm rot="215490">
              <a:off x="271581" y="295285"/>
              <a:ext cx="6401327" cy="5667527"/>
              <a:chOff x="0" y="0"/>
              <a:chExt cx="2560354" cy="2266854"/>
            </a:xfrm>
          </p:grpSpPr>
          <p:sp>
            <p:nvSpPr>
              <p:cNvPr id="6" name="Freeform 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7" name="TextBox 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8" name="Group 8"/>
            <p:cNvGrpSpPr/>
            <p:nvPr/>
          </p:nvGrpSpPr>
          <p:grpSpPr>
            <a:xfrm rot="215490">
              <a:off x="171229" y="194933"/>
              <a:ext cx="6401327" cy="5667527"/>
              <a:chOff x="0" y="0"/>
              <a:chExt cx="2560354" cy="2266854"/>
            </a:xfrm>
          </p:grpSpPr>
          <p:sp>
            <p:nvSpPr>
              <p:cNvPr id="9" name="Freeform 9"/>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0" name="TextBox 10"/>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1" name="Group 11"/>
            <p:cNvGrpSpPr/>
            <p:nvPr/>
          </p:nvGrpSpPr>
          <p:grpSpPr>
            <a:xfrm>
              <a:off x="124175" y="194933"/>
              <a:ext cx="6401327" cy="5667527"/>
              <a:chOff x="0" y="0"/>
              <a:chExt cx="2560354" cy="2266854"/>
            </a:xfrm>
          </p:grpSpPr>
          <p:sp>
            <p:nvSpPr>
              <p:cNvPr id="12" name="Freeform 12"/>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3" name="TextBox 13"/>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4" name="AutoShape 14"/>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53" name="TextBox 26"/>
          <p:cNvSpPr txBox="1"/>
          <p:nvPr/>
        </p:nvSpPr>
        <p:spPr>
          <a:xfrm>
            <a:off x="294888" y="360232"/>
            <a:ext cx="4728527" cy="717550"/>
          </a:xfrm>
          <a:prstGeom prst="rect">
            <a:avLst/>
          </a:prstGeom>
        </p:spPr>
        <p:txBody>
          <a:bodyPr lIns="0" tIns="0" rIns="0" bIns="0" rtlCol="0" anchor="t">
            <a:spAutoFit/>
          </a:bodyPr>
          <a:lstStyle/>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意愿解码</a:t>
            </a:r>
            <a:endPar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3" name="Freeform 19"/>
          <p:cNvSpPr/>
          <p:nvPr/>
        </p:nvSpPr>
        <p:spPr>
          <a:xfrm flipH="1">
            <a:off x="0" y="-157544"/>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21"/>
            <a:stretch>
              <a:fillRect/>
            </a:stretch>
          </a:blipFill>
        </p:spPr>
      </p:sp>
      <p:sp>
        <p:nvSpPr>
          <p:cNvPr id="15" name="TextBox 63"/>
          <p:cNvSpPr txBox="1"/>
          <p:nvPr/>
        </p:nvSpPr>
        <p:spPr>
          <a:xfrm>
            <a:off x="7482844" y="182001"/>
            <a:ext cx="2029460"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6" name="TextBox 65"/>
          <p:cNvSpPr txBox="1"/>
          <p:nvPr/>
        </p:nvSpPr>
        <p:spPr>
          <a:xfrm>
            <a:off x="13617504" y="192268"/>
            <a:ext cx="2232413" cy="46164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7" name="TextBox 66"/>
          <p:cNvSpPr txBox="1"/>
          <p:nvPr/>
        </p:nvSpPr>
        <p:spPr>
          <a:xfrm>
            <a:off x="5274208" y="184126"/>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1" name="TextBox 65"/>
          <p:cNvSpPr txBox="1"/>
          <p:nvPr/>
        </p:nvSpPr>
        <p:spPr>
          <a:xfrm>
            <a:off x="15581836" y="199629"/>
            <a:ext cx="2232413"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nvGrpSpPr>
          <p:cNvPr id="24" name="Group 35"/>
          <p:cNvGrpSpPr/>
          <p:nvPr/>
        </p:nvGrpSpPr>
        <p:grpSpPr>
          <a:xfrm>
            <a:off x="11708987" y="-419088"/>
            <a:ext cx="2112548" cy="1134695"/>
            <a:chOff x="0" y="-123825"/>
            <a:chExt cx="609349" cy="298849"/>
          </a:xfrm>
        </p:grpSpPr>
        <p:sp>
          <p:nvSpPr>
            <p:cNvPr id="25" name="Freeform 3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a:p>
          </p:txBody>
        </p:sp>
        <p:sp>
          <p:nvSpPr>
            <p:cNvPr id="26"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27" name="TextBox 66"/>
          <p:cNvSpPr txBox="1"/>
          <p:nvPr/>
        </p:nvSpPr>
        <p:spPr>
          <a:xfrm>
            <a:off x="11639066" y="153652"/>
            <a:ext cx="2314575" cy="4616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4" name="TextBox 63"/>
          <p:cNvSpPr txBox="1"/>
          <p:nvPr/>
        </p:nvSpPr>
        <p:spPr>
          <a:xfrm>
            <a:off x="9539609" y="182001"/>
            <a:ext cx="2029460" cy="46164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18" name="Freeform 18"/>
          <p:cNvSpPr/>
          <p:nvPr/>
        </p:nvSpPr>
        <p:spPr>
          <a:xfrm>
            <a:off x="7055501"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2">
              <a:alphaModFix amt="23000"/>
            </a:blip>
            <a:stretch>
              <a:fillRect r="-20235"/>
            </a:stretch>
          </a:blipFill>
          <a:ln w="19050" cap="sq">
            <a:solidFill>
              <a:srgbClr val="FCFBF9">
                <a:alpha val="22745"/>
              </a:srgbClr>
            </a:solidFill>
            <a:prstDash val="solid"/>
            <a:miter/>
          </a:ln>
        </p:spPr>
      </p:sp>
      <p:grpSp>
        <p:nvGrpSpPr>
          <p:cNvPr id="20" name="Group 20"/>
          <p:cNvGrpSpPr/>
          <p:nvPr/>
        </p:nvGrpSpPr>
        <p:grpSpPr>
          <a:xfrm>
            <a:off x="6218808" y="1039646"/>
            <a:ext cx="10525448" cy="701877"/>
            <a:chOff x="0" y="0"/>
            <a:chExt cx="14033931" cy="935837"/>
          </a:xfrm>
        </p:grpSpPr>
        <p:sp>
          <p:nvSpPr>
            <p:cNvPr id="21" name="AutoShape 21"/>
            <p:cNvSpPr/>
            <p:nvPr/>
          </p:nvSpPr>
          <p:spPr>
            <a:xfrm>
              <a:off x="3839355" y="891387"/>
              <a:ext cx="6449055" cy="0"/>
            </a:xfrm>
            <a:prstGeom prst="line">
              <a:avLst/>
            </a:prstGeom>
            <a:ln w="25400" cap="flat">
              <a:solidFill>
                <a:srgbClr val="EE7E35"/>
              </a:solidFill>
              <a:prstDash val="solid"/>
              <a:headEnd type="none" w="sm" len="sm"/>
              <a:tailEnd type="none" w="sm" len="sm"/>
            </a:ln>
          </p:spPr>
        </p:sp>
        <p:sp>
          <p:nvSpPr>
            <p:cNvPr id="22" name="AutoShape 22"/>
            <p:cNvSpPr/>
            <p:nvPr/>
          </p:nvSpPr>
          <p:spPr>
            <a:xfrm>
              <a:off x="0" y="891387"/>
              <a:ext cx="3839355" cy="0"/>
            </a:xfrm>
            <a:prstGeom prst="line">
              <a:avLst/>
            </a:prstGeom>
            <a:ln w="88900" cap="flat">
              <a:solidFill>
                <a:srgbClr val="EE7E35"/>
              </a:solidFill>
              <a:prstDash val="solid"/>
              <a:headEnd type="none" w="sm" len="sm"/>
              <a:tailEnd type="none" w="sm" len="sm"/>
            </a:ln>
          </p:spPr>
        </p:sp>
        <p:sp>
          <p:nvSpPr>
            <p:cNvPr id="23" name="TextBox 23"/>
            <p:cNvSpPr txBox="1"/>
            <p:nvPr/>
          </p:nvSpPr>
          <p:spPr>
            <a:xfrm>
              <a:off x="0" y="38100"/>
              <a:ext cx="14033931" cy="724868"/>
            </a:xfrm>
            <a:prstGeom prst="rect">
              <a:avLst/>
            </a:prstGeom>
          </p:spPr>
          <p:txBody>
            <a:bodyPr lIns="0" tIns="0" rIns="0" bIns="0" rtlCol="0" anchor="t">
              <a:spAutoFit/>
            </a:bodyPr>
            <a:lstStyle/>
            <a:p>
              <a:pPr algn="l">
                <a:lnSpc>
                  <a:spcPts val="4105"/>
                </a:lnSpc>
              </a:pPr>
              <a:r>
                <a:rPr lang="en-US" sz="3800" b="1" spc="380">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基于ANOVA探究用户偏好的代际差异</a:t>
              </a:r>
              <a:endParaRPr lang="en-US" sz="3800" b="1" spc="380">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grpSp>
        <p:nvGrpSpPr>
          <p:cNvPr id="24" name="Group 24"/>
          <p:cNvGrpSpPr/>
          <p:nvPr/>
        </p:nvGrpSpPr>
        <p:grpSpPr>
          <a:xfrm>
            <a:off x="792787" y="2377476"/>
            <a:ext cx="4088488" cy="2073872"/>
            <a:chOff x="0" y="0"/>
            <a:chExt cx="5451318" cy="2765163"/>
          </a:xfrm>
        </p:grpSpPr>
        <p:grpSp>
          <p:nvGrpSpPr>
            <p:cNvPr id="25" name="Group 25"/>
            <p:cNvGrpSpPr/>
            <p:nvPr/>
          </p:nvGrpSpPr>
          <p:grpSpPr>
            <a:xfrm>
              <a:off x="0" y="0"/>
              <a:ext cx="5451318" cy="2765163"/>
              <a:chOff x="0" y="0"/>
              <a:chExt cx="4597933" cy="2332286"/>
            </a:xfrm>
          </p:grpSpPr>
          <p:sp>
            <p:nvSpPr>
              <p:cNvPr id="26" name="Freeform 26"/>
              <p:cNvSpPr/>
              <p:nvPr/>
            </p:nvSpPr>
            <p:spPr>
              <a:xfrm>
                <a:off x="0" y="0"/>
                <a:ext cx="4597820" cy="2332259"/>
              </a:xfrm>
              <a:custGeom>
                <a:avLst/>
                <a:gdLst/>
                <a:ahLst/>
                <a:cxnLst/>
                <a:rect l="l" t="t" r="r" b="b"/>
                <a:pathLst>
                  <a:path w="4597820" h="2332259">
                    <a:moveTo>
                      <a:pt x="0" y="115502"/>
                    </a:moveTo>
                    <a:cubicBezTo>
                      <a:pt x="0" y="51701"/>
                      <a:pt x="85844" y="0"/>
                      <a:pt x="191779" y="0"/>
                    </a:cubicBezTo>
                    <a:lnTo>
                      <a:pt x="4406041" y="0"/>
                    </a:lnTo>
                    <a:cubicBezTo>
                      <a:pt x="4511976" y="0"/>
                      <a:pt x="4597820" y="51701"/>
                      <a:pt x="4597820" y="115502"/>
                    </a:cubicBezTo>
                    <a:lnTo>
                      <a:pt x="4597820" y="2216757"/>
                    </a:lnTo>
                    <a:cubicBezTo>
                      <a:pt x="4597820" y="2280558"/>
                      <a:pt x="4511976" y="2332259"/>
                      <a:pt x="4406041" y="2332259"/>
                    </a:cubicBezTo>
                    <a:lnTo>
                      <a:pt x="191779" y="2332259"/>
                    </a:lnTo>
                    <a:cubicBezTo>
                      <a:pt x="85844" y="2332259"/>
                      <a:pt x="0" y="2280558"/>
                      <a:pt x="0" y="2216757"/>
                    </a:cubicBezTo>
                    <a:close/>
                  </a:path>
                </a:pathLst>
              </a:custGeom>
              <a:gradFill rotWithShape="1">
                <a:gsLst>
                  <a:gs pos="0">
                    <a:srgbClr val="FF6400">
                      <a:alpha val="100000"/>
                    </a:srgbClr>
                  </a:gs>
                  <a:gs pos="100000">
                    <a:srgbClr val="FFB800">
                      <a:alpha val="100000"/>
                    </a:srgbClr>
                  </a:gs>
                </a:gsLst>
                <a:lin ang="5400000"/>
              </a:gradFill>
            </p:spPr>
          </p:sp>
        </p:grpSp>
        <p:sp>
          <p:nvSpPr>
            <p:cNvPr id="27" name="Freeform 27"/>
            <p:cNvSpPr/>
            <p:nvPr/>
          </p:nvSpPr>
          <p:spPr>
            <a:xfrm>
              <a:off x="2144035" y="358063"/>
              <a:ext cx="1163247" cy="1163247"/>
            </a:xfrm>
            <a:custGeom>
              <a:avLst/>
              <a:gdLst/>
              <a:ahLst/>
              <a:cxnLst/>
              <a:rect l="l" t="t" r="r" b="b"/>
              <a:pathLst>
                <a:path w="1163247" h="1163247">
                  <a:moveTo>
                    <a:pt x="0" y="0"/>
                  </a:moveTo>
                  <a:lnTo>
                    <a:pt x="1163247" y="0"/>
                  </a:lnTo>
                  <a:lnTo>
                    <a:pt x="1163247" y="1163247"/>
                  </a:lnTo>
                  <a:lnTo>
                    <a:pt x="0" y="116324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8" name="TextBox 28"/>
            <p:cNvSpPr txBox="1"/>
            <p:nvPr/>
          </p:nvSpPr>
          <p:spPr>
            <a:xfrm>
              <a:off x="582911" y="1729546"/>
              <a:ext cx="4465953" cy="617400"/>
            </a:xfrm>
            <a:prstGeom prst="rect">
              <a:avLst/>
            </a:prstGeom>
          </p:spPr>
          <p:txBody>
            <a:bodyPr lIns="0" tIns="0" rIns="0" bIns="0" rtlCol="0" anchor="t">
              <a:spAutoFit/>
            </a:bodyPr>
            <a:lstStyle/>
            <a:p>
              <a:pPr algn="ctr">
                <a:lnSpc>
                  <a:spcPts val="3700"/>
                </a:lnSpc>
                <a:spcBef>
                  <a:spcPct val="0"/>
                </a:spcBef>
              </a:pPr>
              <a:r>
                <a:rPr lang="en-US" sz="3080" b="1" spc="6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三因素方差分析</a:t>
              </a:r>
              <a:endParaRPr lang="en-US" sz="3080" b="1" spc="6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sp>
        <p:nvSpPr>
          <p:cNvPr id="29" name="Freeform 29"/>
          <p:cNvSpPr/>
          <p:nvPr/>
        </p:nvSpPr>
        <p:spPr>
          <a:xfrm>
            <a:off x="5151034" y="2377476"/>
            <a:ext cx="6645104" cy="2766024"/>
          </a:xfrm>
          <a:custGeom>
            <a:avLst/>
            <a:gdLst/>
            <a:ahLst/>
            <a:cxnLst/>
            <a:rect l="l" t="t" r="r" b="b"/>
            <a:pathLst>
              <a:path w="6645104" h="2766024">
                <a:moveTo>
                  <a:pt x="0" y="0"/>
                </a:moveTo>
                <a:lnTo>
                  <a:pt x="6645104" y="0"/>
                </a:lnTo>
                <a:lnTo>
                  <a:pt x="6645104" y="2766024"/>
                </a:lnTo>
                <a:lnTo>
                  <a:pt x="0" y="2766024"/>
                </a:lnTo>
                <a:lnTo>
                  <a:pt x="0" y="0"/>
                </a:lnTo>
                <a:close/>
              </a:path>
            </a:pathLst>
          </a:custGeom>
          <a:blipFill>
            <a:blip r:embed="rId5"/>
            <a:stretch>
              <a:fillRect/>
            </a:stretch>
          </a:blipFill>
        </p:spPr>
      </p:sp>
      <p:sp>
        <p:nvSpPr>
          <p:cNvPr id="30" name="Freeform 30"/>
          <p:cNvSpPr/>
          <p:nvPr/>
        </p:nvSpPr>
        <p:spPr>
          <a:xfrm>
            <a:off x="12062838" y="2403192"/>
            <a:ext cx="5432375" cy="3211892"/>
          </a:xfrm>
          <a:custGeom>
            <a:avLst/>
            <a:gdLst/>
            <a:ahLst/>
            <a:cxnLst/>
            <a:rect l="l" t="t" r="r" b="b"/>
            <a:pathLst>
              <a:path w="5432375" h="3211892">
                <a:moveTo>
                  <a:pt x="0" y="0"/>
                </a:moveTo>
                <a:lnTo>
                  <a:pt x="5432375" y="0"/>
                </a:lnTo>
                <a:lnTo>
                  <a:pt x="5432375" y="3211892"/>
                </a:lnTo>
                <a:lnTo>
                  <a:pt x="0" y="3211892"/>
                </a:lnTo>
                <a:lnTo>
                  <a:pt x="0" y="0"/>
                </a:lnTo>
                <a:close/>
              </a:path>
            </a:pathLst>
          </a:custGeom>
          <a:blipFill>
            <a:blip r:embed="rId6"/>
            <a:stretch>
              <a:fillRect/>
            </a:stretch>
          </a:blipFill>
        </p:spPr>
      </p:sp>
      <p:grpSp>
        <p:nvGrpSpPr>
          <p:cNvPr id="35" name="Group 35"/>
          <p:cNvGrpSpPr/>
          <p:nvPr/>
        </p:nvGrpSpPr>
        <p:grpSpPr>
          <a:xfrm>
            <a:off x="10886958" y="5558734"/>
            <a:ext cx="6639042" cy="1642166"/>
            <a:chOff x="0" y="0"/>
            <a:chExt cx="8852057" cy="2189554"/>
          </a:xfrm>
        </p:grpSpPr>
        <p:grpSp>
          <p:nvGrpSpPr>
            <p:cNvPr id="36" name="Group 36"/>
            <p:cNvGrpSpPr/>
            <p:nvPr/>
          </p:nvGrpSpPr>
          <p:grpSpPr>
            <a:xfrm>
              <a:off x="0" y="0"/>
              <a:ext cx="8852057" cy="2189554"/>
              <a:chOff x="0" y="0"/>
              <a:chExt cx="10233091" cy="2531153"/>
            </a:xfrm>
          </p:grpSpPr>
          <p:sp>
            <p:nvSpPr>
              <p:cNvPr id="37" name="Freeform 37"/>
              <p:cNvSpPr/>
              <p:nvPr/>
            </p:nvSpPr>
            <p:spPr>
              <a:xfrm>
                <a:off x="21517" y="15716"/>
                <a:ext cx="10190055" cy="2499722"/>
              </a:xfrm>
              <a:custGeom>
                <a:avLst/>
                <a:gdLst/>
                <a:ahLst/>
                <a:cxnLst/>
                <a:rect l="l" t="t" r="r" b="b"/>
                <a:pathLst>
                  <a:path w="10190055" h="2499722">
                    <a:moveTo>
                      <a:pt x="0" y="247520"/>
                    </a:moveTo>
                    <a:cubicBezTo>
                      <a:pt x="0" y="110795"/>
                      <a:pt x="152993" y="0"/>
                      <a:pt x="341705" y="0"/>
                    </a:cubicBezTo>
                    <a:lnTo>
                      <a:pt x="9848349" y="0"/>
                    </a:lnTo>
                    <a:cubicBezTo>
                      <a:pt x="10037061" y="0"/>
                      <a:pt x="10190055" y="110795"/>
                      <a:pt x="10190055" y="247520"/>
                    </a:cubicBezTo>
                    <a:lnTo>
                      <a:pt x="10190055" y="2252201"/>
                    </a:lnTo>
                    <a:cubicBezTo>
                      <a:pt x="10190055" y="2388927"/>
                      <a:pt x="10037061" y="2499722"/>
                      <a:pt x="9848349" y="2499722"/>
                    </a:cubicBezTo>
                    <a:lnTo>
                      <a:pt x="341705" y="2499722"/>
                    </a:lnTo>
                    <a:cubicBezTo>
                      <a:pt x="152993" y="2499879"/>
                      <a:pt x="0" y="2388927"/>
                      <a:pt x="0" y="2252201"/>
                    </a:cubicBezTo>
                    <a:close/>
                  </a:path>
                </a:pathLst>
              </a:custGeom>
              <a:gradFill rotWithShape="1">
                <a:gsLst>
                  <a:gs pos="0">
                    <a:srgbClr val="FFE7BF">
                      <a:alpha val="100000"/>
                    </a:srgbClr>
                  </a:gs>
                  <a:gs pos="100000">
                    <a:srgbClr val="FFFFFF">
                      <a:alpha val="100000"/>
                    </a:srgbClr>
                  </a:gs>
                </a:gsLst>
                <a:path path="circle">
                  <a:fillToRect r="100000" b="100000"/>
                </a:path>
                <a:tileRect l="-100000" t="-100000"/>
              </a:gradFill>
            </p:spPr>
          </p:sp>
          <p:sp>
            <p:nvSpPr>
              <p:cNvPr id="38" name="Freeform 38"/>
              <p:cNvSpPr/>
              <p:nvPr/>
            </p:nvSpPr>
            <p:spPr>
              <a:xfrm>
                <a:off x="0" y="0"/>
                <a:ext cx="10233091" cy="2531153"/>
              </a:xfrm>
              <a:custGeom>
                <a:avLst/>
                <a:gdLst/>
                <a:ahLst/>
                <a:cxnLst/>
                <a:rect l="l" t="t" r="r" b="b"/>
                <a:pathLst>
                  <a:path w="10233091" h="2531153">
                    <a:moveTo>
                      <a:pt x="0" y="263236"/>
                    </a:moveTo>
                    <a:cubicBezTo>
                      <a:pt x="0" y="117710"/>
                      <a:pt x="162891" y="0"/>
                      <a:pt x="363223" y="0"/>
                    </a:cubicBezTo>
                    <a:lnTo>
                      <a:pt x="9869867" y="0"/>
                    </a:lnTo>
                    <a:lnTo>
                      <a:pt x="9869867" y="15716"/>
                    </a:lnTo>
                    <a:lnTo>
                      <a:pt x="9869867" y="0"/>
                    </a:lnTo>
                    <a:cubicBezTo>
                      <a:pt x="10070415" y="0"/>
                      <a:pt x="10233091" y="117710"/>
                      <a:pt x="10233091" y="263236"/>
                    </a:cubicBezTo>
                    <a:lnTo>
                      <a:pt x="10211573" y="263236"/>
                    </a:lnTo>
                    <a:lnTo>
                      <a:pt x="10233091" y="263236"/>
                    </a:lnTo>
                    <a:lnTo>
                      <a:pt x="10233091" y="2267917"/>
                    </a:lnTo>
                    <a:lnTo>
                      <a:pt x="10211573" y="2267917"/>
                    </a:lnTo>
                    <a:lnTo>
                      <a:pt x="10233091" y="2267917"/>
                    </a:lnTo>
                    <a:cubicBezTo>
                      <a:pt x="10233091" y="2413443"/>
                      <a:pt x="10070199" y="2531153"/>
                      <a:pt x="9869867" y="2531153"/>
                    </a:cubicBezTo>
                    <a:lnTo>
                      <a:pt x="9869867" y="2515438"/>
                    </a:lnTo>
                    <a:lnTo>
                      <a:pt x="9869867" y="2531153"/>
                    </a:lnTo>
                    <a:lnTo>
                      <a:pt x="363223" y="2531153"/>
                    </a:lnTo>
                    <a:lnTo>
                      <a:pt x="363223" y="2515438"/>
                    </a:lnTo>
                    <a:lnTo>
                      <a:pt x="363223" y="2531153"/>
                    </a:lnTo>
                    <a:cubicBezTo>
                      <a:pt x="162891" y="2531302"/>
                      <a:pt x="0" y="2413443"/>
                      <a:pt x="0" y="2267917"/>
                    </a:cubicBezTo>
                    <a:lnTo>
                      <a:pt x="0" y="263236"/>
                    </a:lnTo>
                    <a:lnTo>
                      <a:pt x="21518" y="263236"/>
                    </a:lnTo>
                    <a:lnTo>
                      <a:pt x="0" y="263236"/>
                    </a:lnTo>
                    <a:moveTo>
                      <a:pt x="43036" y="263236"/>
                    </a:moveTo>
                    <a:lnTo>
                      <a:pt x="43036" y="2267917"/>
                    </a:lnTo>
                    <a:lnTo>
                      <a:pt x="21518" y="2267917"/>
                    </a:lnTo>
                    <a:lnTo>
                      <a:pt x="43036" y="2267917"/>
                    </a:lnTo>
                    <a:cubicBezTo>
                      <a:pt x="43036" y="2395842"/>
                      <a:pt x="186346" y="2499722"/>
                      <a:pt x="363224" y="2499722"/>
                    </a:cubicBezTo>
                    <a:lnTo>
                      <a:pt x="9869867" y="2499722"/>
                    </a:lnTo>
                    <a:cubicBezTo>
                      <a:pt x="10046960" y="2499722"/>
                      <a:pt x="10190055" y="2395842"/>
                      <a:pt x="10190055" y="2267917"/>
                    </a:cubicBezTo>
                    <a:lnTo>
                      <a:pt x="10190055" y="263236"/>
                    </a:lnTo>
                    <a:cubicBezTo>
                      <a:pt x="10190055" y="135311"/>
                      <a:pt x="10046960" y="31431"/>
                      <a:pt x="9869867" y="31431"/>
                    </a:cubicBezTo>
                    <a:lnTo>
                      <a:pt x="363223" y="31431"/>
                    </a:lnTo>
                    <a:lnTo>
                      <a:pt x="363223" y="15716"/>
                    </a:lnTo>
                    <a:lnTo>
                      <a:pt x="363223" y="31431"/>
                    </a:lnTo>
                    <a:cubicBezTo>
                      <a:pt x="186346" y="31431"/>
                      <a:pt x="43036" y="135311"/>
                      <a:pt x="43036" y="263236"/>
                    </a:cubicBezTo>
                    <a:close/>
                  </a:path>
                </a:pathLst>
              </a:custGeom>
              <a:solidFill>
                <a:srgbClr val="B94700"/>
              </a:solidFill>
            </p:spPr>
          </p:sp>
        </p:grpSp>
        <p:sp>
          <p:nvSpPr>
            <p:cNvPr id="39" name="Freeform 39"/>
            <p:cNvSpPr/>
            <p:nvPr/>
          </p:nvSpPr>
          <p:spPr>
            <a:xfrm>
              <a:off x="7826447" y="733245"/>
              <a:ext cx="726043" cy="726043"/>
            </a:xfrm>
            <a:custGeom>
              <a:avLst/>
              <a:gdLst/>
              <a:ahLst/>
              <a:cxnLst/>
              <a:rect l="l" t="t" r="r" b="b"/>
              <a:pathLst>
                <a:path w="726043" h="726043">
                  <a:moveTo>
                    <a:pt x="0" y="0"/>
                  </a:moveTo>
                  <a:lnTo>
                    <a:pt x="726043" y="0"/>
                  </a:lnTo>
                  <a:lnTo>
                    <a:pt x="726043" y="726043"/>
                  </a:lnTo>
                  <a:lnTo>
                    <a:pt x="0" y="72604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40" name="TextBox 40"/>
            <p:cNvSpPr txBox="1"/>
            <p:nvPr/>
          </p:nvSpPr>
          <p:spPr>
            <a:xfrm>
              <a:off x="162279" y="117109"/>
              <a:ext cx="7664168" cy="1943866"/>
            </a:xfrm>
            <a:prstGeom prst="rect">
              <a:avLst/>
            </a:prstGeom>
          </p:spPr>
          <p:txBody>
            <a:bodyPr lIns="0" tIns="0" rIns="0" bIns="0" rtlCol="0" anchor="t">
              <a:spAutoFit/>
            </a:bodyPr>
            <a:lstStyle/>
            <a:p>
              <a:pPr marL="448310" lvl="1" indent="-224155" algn="l">
                <a:lnSpc>
                  <a:spcPts val="2905"/>
                </a:lnSpc>
                <a:buFont typeface="微软雅黑" panose="020B0503020204020204" pitchFamily="34" charset="-122"/>
                <a:buChar char="•"/>
              </a:pPr>
              <a:r>
                <a:rPr lang="en-US" sz="2075" b="1"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en-US" sz="2075" b="1"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现金型+增强版”</a:t>
              </a:r>
              <a:r>
                <a:rPr lang="en-US" sz="2075"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组合对老年人参与意愿的提升效果最为突出</a:t>
              </a:r>
              <a:endParaRPr lang="en-US" sz="2075"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448310" lvl="1" indent="-224155" algn="l">
                <a:lnSpc>
                  <a:spcPts val="2905"/>
                </a:lnSpc>
                <a:buFont typeface="微软雅黑" panose="020B0503020204020204" pitchFamily="34" charset="-122"/>
                <a:buChar char="•"/>
              </a:pPr>
              <a:r>
                <a:rPr lang="en-US" sz="2075"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a:t>
              </a:r>
              <a:r>
                <a:rPr lang="en-US" sz="2075" b="1"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服务型+增强版”</a:t>
              </a:r>
              <a:r>
                <a:rPr lang="en-US" sz="2075"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组合的效果显著高于同群体内其他三组</a:t>
              </a:r>
              <a:endParaRPr lang="en-US" sz="2075"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41" name="Group 41"/>
          <p:cNvGrpSpPr/>
          <p:nvPr/>
        </p:nvGrpSpPr>
        <p:grpSpPr>
          <a:xfrm>
            <a:off x="13105153" y="7786130"/>
            <a:ext cx="4390060" cy="1829150"/>
            <a:chOff x="0" y="0"/>
            <a:chExt cx="5853414" cy="2438867"/>
          </a:xfrm>
        </p:grpSpPr>
        <p:grpSp>
          <p:nvGrpSpPr>
            <p:cNvPr id="42" name="Group 42"/>
            <p:cNvGrpSpPr/>
            <p:nvPr/>
          </p:nvGrpSpPr>
          <p:grpSpPr>
            <a:xfrm>
              <a:off x="0" y="0"/>
              <a:ext cx="5853414" cy="2438867"/>
              <a:chOff x="0" y="0"/>
              <a:chExt cx="5353684" cy="2230651"/>
            </a:xfrm>
          </p:grpSpPr>
          <p:sp>
            <p:nvSpPr>
              <p:cNvPr id="43" name="Freeform 43"/>
              <p:cNvSpPr/>
              <p:nvPr/>
            </p:nvSpPr>
            <p:spPr>
              <a:xfrm>
                <a:off x="0" y="0"/>
                <a:ext cx="5353553" cy="2230625"/>
              </a:xfrm>
              <a:custGeom>
                <a:avLst/>
                <a:gdLst/>
                <a:ahLst/>
                <a:cxnLst/>
                <a:rect l="l" t="t" r="r" b="b"/>
                <a:pathLst>
                  <a:path w="5353553" h="2230625">
                    <a:moveTo>
                      <a:pt x="0" y="110469"/>
                    </a:moveTo>
                    <a:cubicBezTo>
                      <a:pt x="0" y="49448"/>
                      <a:pt x="99954" y="0"/>
                      <a:pt x="223301" y="0"/>
                    </a:cubicBezTo>
                    <a:lnTo>
                      <a:pt x="5130252" y="0"/>
                    </a:lnTo>
                    <a:cubicBezTo>
                      <a:pt x="5253599" y="0"/>
                      <a:pt x="5353553" y="49448"/>
                      <a:pt x="5353553" y="110469"/>
                    </a:cubicBezTo>
                    <a:lnTo>
                      <a:pt x="5353553" y="2120156"/>
                    </a:lnTo>
                    <a:cubicBezTo>
                      <a:pt x="5353553" y="2181177"/>
                      <a:pt x="5253599" y="2230625"/>
                      <a:pt x="5130252" y="2230625"/>
                    </a:cubicBezTo>
                    <a:lnTo>
                      <a:pt x="223301" y="2230625"/>
                    </a:lnTo>
                    <a:cubicBezTo>
                      <a:pt x="99954" y="2230625"/>
                      <a:pt x="0" y="2181177"/>
                      <a:pt x="0" y="2120156"/>
                    </a:cubicBezTo>
                    <a:close/>
                  </a:path>
                </a:pathLst>
              </a:custGeom>
              <a:gradFill rotWithShape="1">
                <a:gsLst>
                  <a:gs pos="0">
                    <a:srgbClr val="FF9842">
                      <a:alpha val="100000"/>
                    </a:srgbClr>
                  </a:gs>
                  <a:gs pos="100000">
                    <a:srgbClr val="FF4C00">
                      <a:alpha val="100000"/>
                    </a:srgbClr>
                  </a:gs>
                </a:gsLst>
                <a:lin ang="5400000"/>
              </a:gradFill>
            </p:spPr>
          </p:sp>
        </p:grpSp>
        <p:sp>
          <p:nvSpPr>
            <p:cNvPr id="44" name="Freeform 44"/>
            <p:cNvSpPr/>
            <p:nvPr/>
          </p:nvSpPr>
          <p:spPr>
            <a:xfrm>
              <a:off x="2390343" y="330200"/>
              <a:ext cx="1072728" cy="1072728"/>
            </a:xfrm>
            <a:custGeom>
              <a:avLst/>
              <a:gdLst/>
              <a:ahLst/>
              <a:cxnLst/>
              <a:rect l="l" t="t" r="r" b="b"/>
              <a:pathLst>
                <a:path w="1072728" h="1072728">
                  <a:moveTo>
                    <a:pt x="0" y="0"/>
                  </a:moveTo>
                  <a:lnTo>
                    <a:pt x="1072728" y="0"/>
                  </a:lnTo>
                  <a:lnTo>
                    <a:pt x="1072728" y="1072728"/>
                  </a:lnTo>
                  <a:lnTo>
                    <a:pt x="0" y="107272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5" name="TextBox 45"/>
            <p:cNvSpPr txBox="1"/>
            <p:nvPr/>
          </p:nvSpPr>
          <p:spPr>
            <a:xfrm>
              <a:off x="77650" y="1550148"/>
              <a:ext cx="5698113" cy="578881"/>
            </a:xfrm>
            <a:prstGeom prst="rect">
              <a:avLst/>
            </a:prstGeom>
          </p:spPr>
          <p:txBody>
            <a:bodyPr lIns="0" tIns="0" rIns="0" bIns="0" rtlCol="0" anchor="t">
              <a:spAutoFit/>
            </a:bodyPr>
            <a:lstStyle/>
            <a:p>
              <a:pPr algn="ctr">
                <a:lnSpc>
                  <a:spcPts val="3410"/>
                </a:lnSpc>
                <a:spcBef>
                  <a:spcPct val="0"/>
                </a:spcBef>
              </a:pPr>
              <a:r>
                <a:rPr lang="en-US" sz="2840" b="1" spc="56">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双群体独立2×2方差分析</a:t>
              </a:r>
              <a:endParaRPr lang="en-US" sz="2840" b="1" spc="56">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47" name="Group 47"/>
          <p:cNvGrpSpPr/>
          <p:nvPr/>
        </p:nvGrpSpPr>
        <p:grpSpPr>
          <a:xfrm>
            <a:off x="160070" y="7237323"/>
            <a:ext cx="7091645" cy="2377957"/>
            <a:chOff x="0" y="0"/>
            <a:chExt cx="9455527" cy="3170610"/>
          </a:xfrm>
        </p:grpSpPr>
        <p:sp>
          <p:nvSpPr>
            <p:cNvPr id="48" name="Freeform 48"/>
            <p:cNvSpPr/>
            <p:nvPr/>
          </p:nvSpPr>
          <p:spPr>
            <a:xfrm>
              <a:off x="0" y="0"/>
              <a:ext cx="4758889" cy="3170610"/>
            </a:xfrm>
            <a:custGeom>
              <a:avLst/>
              <a:gdLst/>
              <a:ahLst/>
              <a:cxnLst/>
              <a:rect l="l" t="t" r="r" b="b"/>
              <a:pathLst>
                <a:path w="4758889" h="3170610">
                  <a:moveTo>
                    <a:pt x="0" y="0"/>
                  </a:moveTo>
                  <a:lnTo>
                    <a:pt x="4758889" y="0"/>
                  </a:lnTo>
                  <a:lnTo>
                    <a:pt x="4758889" y="3170610"/>
                  </a:lnTo>
                  <a:lnTo>
                    <a:pt x="0" y="3170610"/>
                  </a:lnTo>
                  <a:lnTo>
                    <a:pt x="0" y="0"/>
                  </a:lnTo>
                  <a:close/>
                </a:path>
              </a:pathLst>
            </a:custGeom>
            <a:blipFill>
              <a:blip r:embed="rId9"/>
              <a:stretch>
                <a:fillRect/>
              </a:stretch>
            </a:blipFill>
          </p:spPr>
        </p:sp>
        <p:sp>
          <p:nvSpPr>
            <p:cNvPr id="49" name="Freeform 49"/>
            <p:cNvSpPr/>
            <p:nvPr/>
          </p:nvSpPr>
          <p:spPr>
            <a:xfrm>
              <a:off x="4660654" y="0"/>
              <a:ext cx="4794873" cy="3170610"/>
            </a:xfrm>
            <a:custGeom>
              <a:avLst/>
              <a:gdLst/>
              <a:ahLst/>
              <a:cxnLst/>
              <a:rect l="l" t="t" r="r" b="b"/>
              <a:pathLst>
                <a:path w="4794873" h="3170610">
                  <a:moveTo>
                    <a:pt x="0" y="0"/>
                  </a:moveTo>
                  <a:lnTo>
                    <a:pt x="4794873" y="0"/>
                  </a:lnTo>
                  <a:lnTo>
                    <a:pt x="4794873" y="3170610"/>
                  </a:lnTo>
                  <a:lnTo>
                    <a:pt x="0" y="3170610"/>
                  </a:lnTo>
                  <a:lnTo>
                    <a:pt x="0" y="0"/>
                  </a:lnTo>
                  <a:close/>
                </a:path>
              </a:pathLst>
            </a:custGeom>
            <a:blipFill>
              <a:blip r:embed="rId10"/>
              <a:stretch>
                <a:fillRect/>
              </a:stretch>
            </a:blipFill>
          </p:spPr>
        </p:sp>
      </p:grpSp>
      <p:sp>
        <p:nvSpPr>
          <p:cNvPr id="50" name="Freeform 50"/>
          <p:cNvSpPr/>
          <p:nvPr/>
        </p:nvSpPr>
        <p:spPr>
          <a:xfrm>
            <a:off x="6382327" y="5873463"/>
            <a:ext cx="3223092" cy="833148"/>
          </a:xfrm>
          <a:custGeom>
            <a:avLst/>
            <a:gdLst/>
            <a:ahLst/>
            <a:cxnLst/>
            <a:rect l="l" t="t" r="r" b="b"/>
            <a:pathLst>
              <a:path w="3223092" h="833148">
                <a:moveTo>
                  <a:pt x="0" y="0"/>
                </a:moveTo>
                <a:lnTo>
                  <a:pt x="3223092" y="0"/>
                </a:lnTo>
                <a:lnTo>
                  <a:pt x="3223092" y="833148"/>
                </a:lnTo>
                <a:lnTo>
                  <a:pt x="0" y="83314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60" name="组合 59"/>
          <p:cNvGrpSpPr/>
          <p:nvPr/>
        </p:nvGrpSpPr>
        <p:grpSpPr>
          <a:xfrm>
            <a:off x="685841" y="5611785"/>
            <a:ext cx="4428565" cy="1360515"/>
            <a:chOff x="13105153" y="5710334"/>
            <a:chExt cx="4428565" cy="1360515"/>
          </a:xfrm>
        </p:grpSpPr>
        <p:grpSp>
          <p:nvGrpSpPr>
            <p:cNvPr id="31" name="Group 31"/>
            <p:cNvGrpSpPr/>
            <p:nvPr/>
          </p:nvGrpSpPr>
          <p:grpSpPr>
            <a:xfrm>
              <a:off x="13105153" y="5710334"/>
              <a:ext cx="4428565" cy="1360515"/>
              <a:chOff x="0" y="0"/>
              <a:chExt cx="5904753" cy="1814020"/>
            </a:xfrm>
          </p:grpSpPr>
          <p:sp>
            <p:nvSpPr>
              <p:cNvPr id="32" name="Freeform 32"/>
              <p:cNvSpPr/>
              <p:nvPr/>
            </p:nvSpPr>
            <p:spPr>
              <a:xfrm>
                <a:off x="12416" y="11262"/>
                <a:ext cx="5879887" cy="1791413"/>
              </a:xfrm>
              <a:custGeom>
                <a:avLst/>
                <a:gdLst/>
                <a:ahLst/>
                <a:cxnLst/>
                <a:rect l="l" t="t" r="r" b="b"/>
                <a:pathLst>
                  <a:path w="5879887" h="1791413">
                    <a:moveTo>
                      <a:pt x="0" y="177385"/>
                    </a:moveTo>
                    <a:cubicBezTo>
                      <a:pt x="0" y="79401"/>
                      <a:pt x="88281" y="0"/>
                      <a:pt x="197172" y="0"/>
                    </a:cubicBezTo>
                    <a:lnTo>
                      <a:pt x="5682716" y="0"/>
                    </a:lnTo>
                    <a:cubicBezTo>
                      <a:pt x="5791607" y="0"/>
                      <a:pt x="5879888" y="79401"/>
                      <a:pt x="5879888" y="177385"/>
                    </a:cubicBezTo>
                    <a:lnTo>
                      <a:pt x="5879888" y="1614029"/>
                    </a:lnTo>
                    <a:cubicBezTo>
                      <a:pt x="5879888" y="1712013"/>
                      <a:pt x="5791607" y="1791414"/>
                      <a:pt x="5682716" y="1791414"/>
                    </a:cubicBezTo>
                    <a:lnTo>
                      <a:pt x="197172" y="1791414"/>
                    </a:lnTo>
                    <a:cubicBezTo>
                      <a:pt x="88281" y="1791526"/>
                      <a:pt x="0" y="1712013"/>
                      <a:pt x="0" y="1614029"/>
                    </a:cubicBezTo>
                    <a:close/>
                  </a:path>
                </a:pathLst>
              </a:custGeom>
              <a:gradFill rotWithShape="1">
                <a:gsLst>
                  <a:gs pos="0">
                    <a:srgbClr val="FFFFFF">
                      <a:alpha val="100000"/>
                    </a:srgbClr>
                  </a:gs>
                  <a:gs pos="100000">
                    <a:srgbClr val="FFE7BF">
                      <a:alpha val="100000"/>
                    </a:srgbClr>
                  </a:gs>
                </a:gsLst>
                <a:path path="circle">
                  <a:fillToRect r="100000" b="100000"/>
                </a:path>
                <a:tileRect l="-100000" t="-100000"/>
              </a:gradFill>
            </p:spPr>
          </p:sp>
          <p:sp>
            <p:nvSpPr>
              <p:cNvPr id="33" name="Freeform 33"/>
              <p:cNvSpPr/>
              <p:nvPr/>
            </p:nvSpPr>
            <p:spPr>
              <a:xfrm>
                <a:off x="0" y="0"/>
                <a:ext cx="5904720" cy="1813938"/>
              </a:xfrm>
              <a:custGeom>
                <a:avLst/>
                <a:gdLst/>
                <a:ahLst/>
                <a:cxnLst/>
                <a:rect l="l" t="t" r="r" b="b"/>
                <a:pathLst>
                  <a:path w="5904720" h="1813938">
                    <a:moveTo>
                      <a:pt x="0" y="188647"/>
                    </a:moveTo>
                    <a:cubicBezTo>
                      <a:pt x="0" y="84356"/>
                      <a:pt x="93992" y="0"/>
                      <a:pt x="209588" y="0"/>
                    </a:cubicBezTo>
                    <a:lnTo>
                      <a:pt x="5695132" y="0"/>
                    </a:lnTo>
                    <a:lnTo>
                      <a:pt x="5695132" y="11262"/>
                    </a:lnTo>
                    <a:lnTo>
                      <a:pt x="5695132" y="0"/>
                    </a:lnTo>
                    <a:cubicBezTo>
                      <a:pt x="5810852" y="0"/>
                      <a:pt x="5904720" y="84356"/>
                      <a:pt x="5904720" y="188647"/>
                    </a:cubicBezTo>
                    <a:lnTo>
                      <a:pt x="5892304" y="188647"/>
                    </a:lnTo>
                    <a:lnTo>
                      <a:pt x="5904720" y="188647"/>
                    </a:lnTo>
                    <a:lnTo>
                      <a:pt x="5904720" y="1625291"/>
                    </a:lnTo>
                    <a:lnTo>
                      <a:pt x="5892304" y="1625291"/>
                    </a:lnTo>
                    <a:lnTo>
                      <a:pt x="5904720" y="1625291"/>
                    </a:lnTo>
                    <a:cubicBezTo>
                      <a:pt x="5904720" y="1729582"/>
                      <a:pt x="5810728" y="1813938"/>
                      <a:pt x="5695132" y="1813938"/>
                    </a:cubicBezTo>
                    <a:lnTo>
                      <a:pt x="5695132" y="1802676"/>
                    </a:lnTo>
                    <a:lnTo>
                      <a:pt x="5695132" y="1813938"/>
                    </a:lnTo>
                    <a:lnTo>
                      <a:pt x="209588" y="1813938"/>
                    </a:lnTo>
                    <a:lnTo>
                      <a:pt x="209588" y="1802676"/>
                    </a:lnTo>
                    <a:lnTo>
                      <a:pt x="209588" y="1813938"/>
                    </a:lnTo>
                    <a:cubicBezTo>
                      <a:pt x="93992" y="1814055"/>
                      <a:pt x="0" y="1729582"/>
                      <a:pt x="0" y="1625291"/>
                    </a:cubicBezTo>
                    <a:lnTo>
                      <a:pt x="0" y="188647"/>
                    </a:lnTo>
                    <a:lnTo>
                      <a:pt x="12416" y="188647"/>
                    </a:lnTo>
                    <a:lnTo>
                      <a:pt x="0" y="188647"/>
                    </a:lnTo>
                    <a:moveTo>
                      <a:pt x="24833" y="188647"/>
                    </a:moveTo>
                    <a:lnTo>
                      <a:pt x="24833" y="1625291"/>
                    </a:lnTo>
                    <a:lnTo>
                      <a:pt x="12416" y="1625291"/>
                    </a:lnTo>
                    <a:lnTo>
                      <a:pt x="24833" y="1625291"/>
                    </a:lnTo>
                    <a:cubicBezTo>
                      <a:pt x="24833" y="1716968"/>
                      <a:pt x="107526" y="1791413"/>
                      <a:pt x="209588" y="1791413"/>
                    </a:cubicBezTo>
                    <a:lnTo>
                      <a:pt x="5695132" y="1791413"/>
                    </a:lnTo>
                    <a:cubicBezTo>
                      <a:pt x="5797318" y="1791413"/>
                      <a:pt x="5879887" y="1716968"/>
                      <a:pt x="5879887" y="1625291"/>
                    </a:cubicBezTo>
                    <a:lnTo>
                      <a:pt x="5879887" y="188647"/>
                    </a:lnTo>
                    <a:cubicBezTo>
                      <a:pt x="5879887" y="96970"/>
                      <a:pt x="5797319" y="22525"/>
                      <a:pt x="5695132" y="22525"/>
                    </a:cubicBezTo>
                    <a:lnTo>
                      <a:pt x="209588" y="22525"/>
                    </a:lnTo>
                    <a:lnTo>
                      <a:pt x="209588" y="11262"/>
                    </a:lnTo>
                    <a:lnTo>
                      <a:pt x="209588" y="22525"/>
                    </a:lnTo>
                    <a:cubicBezTo>
                      <a:pt x="107526" y="22525"/>
                      <a:pt x="24833" y="96970"/>
                      <a:pt x="24833" y="188647"/>
                    </a:cubicBezTo>
                    <a:close/>
                  </a:path>
                </a:pathLst>
              </a:custGeom>
              <a:solidFill>
                <a:srgbClr val="FF6C2E"/>
              </a:solidFill>
            </p:spPr>
          </p:sp>
        </p:grpSp>
        <p:sp>
          <p:nvSpPr>
            <p:cNvPr id="34" name="Freeform 34"/>
            <p:cNvSpPr/>
            <p:nvPr/>
          </p:nvSpPr>
          <p:spPr>
            <a:xfrm>
              <a:off x="13423156" y="6020671"/>
              <a:ext cx="629486" cy="629486"/>
            </a:xfrm>
            <a:custGeom>
              <a:avLst/>
              <a:gdLst/>
              <a:ahLst/>
              <a:cxnLst/>
              <a:rect l="l" t="t" r="r" b="b"/>
              <a:pathLst>
                <a:path w="629486" h="629486">
                  <a:moveTo>
                    <a:pt x="0" y="0"/>
                  </a:moveTo>
                  <a:lnTo>
                    <a:pt x="629487" y="0"/>
                  </a:lnTo>
                  <a:lnTo>
                    <a:pt x="629487" y="629487"/>
                  </a:lnTo>
                  <a:lnTo>
                    <a:pt x="0" y="62948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51" name="TextBox 51"/>
            <p:cNvSpPr txBox="1"/>
            <p:nvPr/>
          </p:nvSpPr>
          <p:spPr>
            <a:xfrm>
              <a:off x="14219825" y="5719859"/>
              <a:ext cx="3077575" cy="1292225"/>
            </a:xfrm>
            <a:prstGeom prst="rect">
              <a:avLst/>
            </a:prstGeom>
          </p:spPr>
          <p:txBody>
            <a:bodyPr wrap="square" lIns="0" tIns="0" rIns="0" bIns="0" rtlCol="0" anchor="t">
              <a:spAutoFit/>
            </a:bodyPr>
            <a:lstStyle/>
            <a:p>
              <a:pPr algn="l">
                <a:lnSpc>
                  <a:spcPts val="3360"/>
                </a:lnSpc>
              </a:pPr>
              <a:r>
                <a:rPr lang="en-US" sz="2100" spc="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产品设计对老年人与非老年人的影响模式具有</a:t>
              </a:r>
              <a:r>
                <a:rPr lang="en-US" sz="2100" b="1" spc="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本质差异</a:t>
              </a:r>
              <a:endParaRPr lang="en-US" sz="2100" spc="45"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sp>
        <p:nvSpPr>
          <p:cNvPr id="58" name="TextBox 58"/>
          <p:cNvSpPr txBox="1"/>
          <p:nvPr/>
        </p:nvSpPr>
        <p:spPr>
          <a:xfrm>
            <a:off x="426433" y="9641380"/>
            <a:ext cx="5426021" cy="452681"/>
          </a:xfrm>
          <a:prstGeom prst="rect">
            <a:avLst/>
          </a:prstGeom>
        </p:spPr>
        <p:txBody>
          <a:bodyPr lIns="0" tIns="0" rIns="0" bIns="0" rtlCol="0" anchor="t">
            <a:spAutoFit/>
          </a:bodyPr>
          <a:lstStyle/>
          <a:p>
            <a:pPr algn="l">
              <a:lnSpc>
                <a:spcPts val="1820"/>
              </a:lnSpc>
            </a:pPr>
            <a:r>
              <a:rPr lang="en-US" sz="1300" spc="-88">
                <a:solidFill>
                  <a:srgbClr val="54545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老年人群体内各产品组合的参与意愿变化均值</a:t>
            </a:r>
            <a:endParaRPr lang="en-US" sz="1300" spc="-88">
              <a:solidFill>
                <a:srgbClr val="54545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1820"/>
              </a:lnSpc>
            </a:pPr>
            <a:endParaRPr lang="en-US" sz="1300" spc="-88">
              <a:solidFill>
                <a:srgbClr val="54545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9" name="TextBox 59"/>
          <p:cNvSpPr txBox="1"/>
          <p:nvPr/>
        </p:nvSpPr>
        <p:spPr>
          <a:xfrm>
            <a:off x="3875529" y="9641380"/>
            <a:ext cx="5426021" cy="452681"/>
          </a:xfrm>
          <a:prstGeom prst="rect">
            <a:avLst/>
          </a:prstGeom>
        </p:spPr>
        <p:txBody>
          <a:bodyPr lIns="0" tIns="0" rIns="0" bIns="0" rtlCol="0" anchor="t">
            <a:spAutoFit/>
          </a:bodyPr>
          <a:lstStyle/>
          <a:p>
            <a:pPr algn="l">
              <a:lnSpc>
                <a:spcPts val="1820"/>
              </a:lnSpc>
            </a:pPr>
            <a:r>
              <a:rPr lang="en-US" sz="1300" spc="-88">
                <a:solidFill>
                  <a:srgbClr val="54545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非老年人群体内各产品组合的参与意愿变化均值</a:t>
            </a:r>
            <a:endParaRPr lang="en-US" sz="1300" spc="-88">
              <a:solidFill>
                <a:srgbClr val="54545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1820"/>
              </a:lnSpc>
            </a:pPr>
            <a:endParaRPr lang="en-US" sz="1300" spc="-88">
              <a:solidFill>
                <a:srgbClr val="54545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1" name="Freeform 3"/>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13"/>
            <a:stretch>
              <a:fillRect t="-883"/>
            </a:stretch>
          </a:blipFill>
        </p:spPr>
      </p:sp>
      <p:grpSp>
        <p:nvGrpSpPr>
          <p:cNvPr id="4" name="Group 4"/>
          <p:cNvGrpSpPr/>
          <p:nvPr/>
        </p:nvGrpSpPr>
        <p:grpSpPr>
          <a:xfrm>
            <a:off x="160070" y="-2829424"/>
            <a:ext cx="5133103" cy="4618309"/>
            <a:chOff x="0" y="0"/>
            <a:chExt cx="6844137" cy="6157745"/>
          </a:xfrm>
        </p:grpSpPr>
        <p:grpSp>
          <p:nvGrpSpPr>
            <p:cNvPr id="5" name="Group 5"/>
            <p:cNvGrpSpPr/>
            <p:nvPr/>
          </p:nvGrpSpPr>
          <p:grpSpPr>
            <a:xfrm rot="215490">
              <a:off x="271581" y="295285"/>
              <a:ext cx="6401327" cy="5667527"/>
              <a:chOff x="0" y="0"/>
              <a:chExt cx="2560354" cy="2266854"/>
            </a:xfrm>
          </p:grpSpPr>
          <p:sp>
            <p:nvSpPr>
              <p:cNvPr id="6" name="Freeform 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7" name="TextBox 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8" name="Group 8"/>
            <p:cNvGrpSpPr/>
            <p:nvPr/>
          </p:nvGrpSpPr>
          <p:grpSpPr>
            <a:xfrm rot="215490">
              <a:off x="171229" y="194933"/>
              <a:ext cx="6401327" cy="5667527"/>
              <a:chOff x="0" y="0"/>
              <a:chExt cx="2560354" cy="2266854"/>
            </a:xfrm>
          </p:grpSpPr>
          <p:sp>
            <p:nvSpPr>
              <p:cNvPr id="9" name="Freeform 9"/>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0" name="TextBox 10"/>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1" name="Group 11"/>
            <p:cNvGrpSpPr/>
            <p:nvPr/>
          </p:nvGrpSpPr>
          <p:grpSpPr>
            <a:xfrm>
              <a:off x="124175" y="194933"/>
              <a:ext cx="6401327" cy="5667527"/>
              <a:chOff x="0" y="0"/>
              <a:chExt cx="2560354" cy="2266854"/>
            </a:xfrm>
          </p:grpSpPr>
          <p:sp>
            <p:nvSpPr>
              <p:cNvPr id="12" name="Freeform 12"/>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3" name="TextBox 13"/>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4" name="AutoShape 14"/>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66" name="TextBox 26"/>
          <p:cNvSpPr txBox="1"/>
          <p:nvPr/>
        </p:nvSpPr>
        <p:spPr>
          <a:xfrm>
            <a:off x="294888" y="360232"/>
            <a:ext cx="4728527" cy="717550"/>
          </a:xfrm>
          <a:prstGeom prst="rect">
            <a:avLst/>
          </a:prstGeom>
        </p:spPr>
        <p:txBody>
          <a:bodyPr lIns="0" tIns="0" rIns="0" bIns="0" rtlCol="0" anchor="t">
            <a:spAutoFit/>
          </a:bodyPr>
          <a:lstStyle/>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意愿解码</a:t>
            </a:r>
            <a:endParaRPr 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aphicFrame>
        <p:nvGraphicFramePr>
          <p:cNvPr id="3" name="表格 2"/>
          <p:cNvGraphicFramePr/>
          <p:nvPr/>
        </p:nvGraphicFramePr>
        <p:xfrm>
          <a:off x="7340910" y="7550510"/>
          <a:ext cx="5567045" cy="2085405"/>
        </p:xfrm>
        <a:graphic>
          <a:graphicData uri="http://schemas.openxmlformats.org/drawingml/2006/table">
            <a:tbl>
              <a:tblPr/>
              <a:tblGrid>
                <a:gridCol w="815975"/>
                <a:gridCol w="1754505"/>
                <a:gridCol w="905510"/>
                <a:gridCol w="848995"/>
                <a:gridCol w="621030"/>
                <a:gridCol w="621030"/>
              </a:tblGrid>
              <a:tr h="297915">
                <a:tc>
                  <a:txBody>
                    <a:bodyPr/>
                    <a:lstStyle/>
                    <a:p>
                      <a:pPr marL="0" indent="0" algn="ctr">
                        <a:spcBef>
                          <a:spcPts val="300"/>
                        </a:spcBef>
                        <a:spcAft>
                          <a:spcPct val="0"/>
                        </a:spcAft>
                      </a:pPr>
                      <a:r>
                        <a:rPr lang="zh-CN" sz="1100" b="1">
                          <a:solidFill>
                            <a:srgbClr val="EE822F"/>
                          </a:solidFill>
                          <a:latin typeface="Times New Roman" panose="02020603050405020304"/>
                          <a:ea typeface="宋体" panose="02010600030101010101" pitchFamily="2" charset="-122"/>
                        </a:rPr>
                        <a:t>群体</a:t>
                      </a:r>
                      <a:endParaRPr lang="zh-CN" sz="1100" b="1">
                        <a:solidFill>
                          <a:srgbClr val="EE822F"/>
                        </a:solidFill>
                        <a:latin typeface="Times New Roman" panose="02020603050405020304"/>
                        <a:ea typeface="宋体" panose="02010600030101010101" pitchFamily="2" charset="-122"/>
                      </a:endParaRPr>
                    </a:p>
                  </a:txBody>
                  <a:tcPr marL="76200" marR="7620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w="9525" cap="flat" cmpd="sng">
                      <a:solidFill>
                        <a:srgbClr val="EE822F"/>
                      </a:solidFill>
                      <a:prstDash val="solid"/>
                      <a:headEnd type="none" w="med" len="med"/>
                      <a:tailEnd type="none" w="med" len="med"/>
                    </a:lnB>
                    <a:solidFill>
                      <a:srgbClr val="FFFFFF"/>
                    </a:solidFill>
                  </a:tcPr>
                </a:tc>
                <a:tc>
                  <a:txBody>
                    <a:bodyPr/>
                    <a:lstStyle/>
                    <a:p>
                      <a:pPr marL="0" indent="0" algn="ctr">
                        <a:spcBef>
                          <a:spcPts val="300"/>
                        </a:spcBef>
                        <a:spcAft>
                          <a:spcPct val="0"/>
                        </a:spcAft>
                      </a:pPr>
                      <a:r>
                        <a:rPr lang="zh-CN" sz="1100" b="1">
                          <a:solidFill>
                            <a:srgbClr val="EE822F"/>
                          </a:solidFill>
                          <a:latin typeface="宋体" panose="02010600030101010101" pitchFamily="2" charset="-122"/>
                          <a:ea typeface="宋体" panose="02010600030101010101" pitchFamily="2" charset="-122"/>
                        </a:rPr>
                        <a:t>效应来源</a:t>
                      </a:r>
                      <a:endParaRPr lang="zh-CN" sz="1100" b="1">
                        <a:solidFill>
                          <a:srgbClr val="EE822F"/>
                        </a:solidFill>
                        <a:latin typeface="宋体" panose="02010600030101010101" pitchFamily="2" charset="-122"/>
                        <a:ea typeface="宋体" panose="02010600030101010101" pitchFamily="2" charset="-122"/>
                      </a:endParaRPr>
                    </a:p>
                  </a:txBody>
                  <a:tcPr marL="76200" marR="7620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w="9525" cap="flat" cmpd="sng">
                      <a:solidFill>
                        <a:srgbClr val="EE822F"/>
                      </a:solidFill>
                      <a:prstDash val="solid"/>
                      <a:headEnd type="none" w="med" len="med"/>
                      <a:tailEnd type="none" w="med" len="med"/>
                    </a:lnB>
                    <a:solidFill>
                      <a:srgbClr val="FFFFFF"/>
                    </a:solidFill>
                  </a:tcPr>
                </a:tc>
                <a:tc>
                  <a:txBody>
                    <a:bodyPr/>
                    <a:lstStyle/>
                    <a:p>
                      <a:pPr marL="0" indent="0" algn="ctr">
                        <a:spcBef>
                          <a:spcPts val="300"/>
                        </a:spcBef>
                        <a:spcAft>
                          <a:spcPct val="0"/>
                        </a:spcAft>
                      </a:pPr>
                      <a:r>
                        <a:rPr lang="zh-CN" sz="1100" b="1">
                          <a:solidFill>
                            <a:srgbClr val="EE822F"/>
                          </a:solidFill>
                          <a:latin typeface="宋体" panose="02010600030101010101" pitchFamily="2" charset="-122"/>
                          <a:ea typeface="宋体" panose="02010600030101010101" pitchFamily="2" charset="-122"/>
                        </a:rPr>
                        <a:t>平方和</a:t>
                      </a:r>
                      <a:endParaRPr lang="zh-CN" sz="1100" b="1">
                        <a:solidFill>
                          <a:srgbClr val="EE822F"/>
                        </a:solidFill>
                        <a:latin typeface="宋体" panose="02010600030101010101" pitchFamily="2" charset="-122"/>
                        <a:ea typeface="宋体" panose="02010600030101010101" pitchFamily="2" charset="-122"/>
                      </a:endParaRPr>
                    </a:p>
                  </a:txBody>
                  <a:tcPr marL="76200" marR="7620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w="9525" cap="flat" cmpd="sng">
                      <a:solidFill>
                        <a:srgbClr val="EE822F"/>
                      </a:solidFill>
                      <a:prstDash val="solid"/>
                      <a:headEnd type="none" w="med" len="med"/>
                      <a:tailEnd type="none" w="med" len="med"/>
                    </a:lnB>
                    <a:solidFill>
                      <a:srgbClr val="FFFFFF"/>
                    </a:solidFill>
                  </a:tcPr>
                </a:tc>
                <a:tc>
                  <a:txBody>
                    <a:bodyPr/>
                    <a:lstStyle/>
                    <a:p>
                      <a:pPr marL="0" indent="0" algn="ctr">
                        <a:spcBef>
                          <a:spcPts val="300"/>
                        </a:spcBef>
                        <a:spcAft>
                          <a:spcPct val="0"/>
                        </a:spcAft>
                      </a:pPr>
                      <a:r>
                        <a:rPr lang="zh-CN" sz="1100" b="1">
                          <a:solidFill>
                            <a:srgbClr val="EE822F"/>
                          </a:solidFill>
                          <a:latin typeface="宋体" panose="02010600030101010101" pitchFamily="2" charset="-122"/>
                          <a:ea typeface="宋体" panose="02010600030101010101" pitchFamily="2" charset="-122"/>
                        </a:rPr>
                        <a:t>自由度</a:t>
                      </a:r>
                      <a:endParaRPr lang="zh-CN" sz="1100" b="1">
                        <a:solidFill>
                          <a:srgbClr val="EE822F"/>
                        </a:solidFill>
                        <a:latin typeface="宋体" panose="02010600030101010101" pitchFamily="2" charset="-122"/>
                        <a:ea typeface="宋体" panose="02010600030101010101" pitchFamily="2" charset="-122"/>
                      </a:endParaRPr>
                    </a:p>
                  </a:txBody>
                  <a:tcPr marL="76200" marR="7620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w="9525" cap="flat" cmpd="sng">
                      <a:solidFill>
                        <a:srgbClr val="EE822F"/>
                      </a:solidFill>
                      <a:prstDash val="solid"/>
                      <a:headEnd type="none" w="med" len="med"/>
                      <a:tailEnd type="none" w="med" len="med"/>
                    </a:lnB>
                    <a:solidFill>
                      <a:srgbClr val="FFFFFF"/>
                    </a:solidFill>
                  </a:tcPr>
                </a:tc>
                <a:tc>
                  <a:txBody>
                    <a:bodyPr/>
                    <a:lstStyle/>
                    <a:p>
                      <a:pPr marL="0" indent="0" algn="ctr">
                        <a:spcBef>
                          <a:spcPts val="300"/>
                        </a:spcBef>
                        <a:spcAft>
                          <a:spcPct val="0"/>
                        </a:spcAft>
                      </a:pPr>
                      <a:r>
                        <a:rPr lang="en-US" altLang="zh-CN" sz="1100" b="1">
                          <a:solidFill>
                            <a:srgbClr val="EE822F"/>
                          </a:solidFill>
                          <a:latin typeface="Times New Roman" panose="02020603050405020304"/>
                          <a:ea typeface="Times New Roman" panose="02020603050405020304"/>
                        </a:rPr>
                        <a:t>F</a:t>
                      </a:r>
                      <a:r>
                        <a:rPr lang="zh-CN" sz="1100" b="1">
                          <a:solidFill>
                            <a:srgbClr val="EE822F"/>
                          </a:solidFill>
                          <a:latin typeface="Times New Roman" panose="02020603050405020304"/>
                          <a:ea typeface="宋体" panose="02010600030101010101" pitchFamily="2" charset="-122"/>
                        </a:rPr>
                        <a:t>值</a:t>
                      </a:r>
                      <a:endParaRPr lang="zh-CN" sz="1100" b="1">
                        <a:solidFill>
                          <a:srgbClr val="EE822F"/>
                        </a:solidFill>
                        <a:latin typeface="Times New Roman" panose="02020603050405020304"/>
                        <a:ea typeface="宋体" panose="02010600030101010101" pitchFamily="2" charset="-122"/>
                      </a:endParaRPr>
                    </a:p>
                  </a:txBody>
                  <a:tcPr marL="76200" marR="7620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w="9525" cap="flat" cmpd="sng">
                      <a:solidFill>
                        <a:srgbClr val="EE822F"/>
                      </a:solidFill>
                      <a:prstDash val="solid"/>
                      <a:headEnd type="none" w="med" len="med"/>
                      <a:tailEnd type="none" w="med" len="med"/>
                    </a:lnB>
                    <a:solidFill>
                      <a:srgbClr val="FFFFFF"/>
                    </a:solidFill>
                  </a:tcPr>
                </a:tc>
                <a:tc>
                  <a:txBody>
                    <a:bodyPr/>
                    <a:lstStyle/>
                    <a:p>
                      <a:pPr marL="0" indent="0" algn="ctr">
                        <a:spcBef>
                          <a:spcPts val="300"/>
                        </a:spcBef>
                        <a:spcAft>
                          <a:spcPct val="0"/>
                        </a:spcAft>
                      </a:pPr>
                      <a:r>
                        <a:rPr lang="en-US" altLang="zh-CN" sz="1100" b="1">
                          <a:solidFill>
                            <a:srgbClr val="EE822F"/>
                          </a:solidFill>
                          <a:latin typeface="Times New Roman" panose="02020603050405020304"/>
                          <a:ea typeface="Times New Roman" panose="02020603050405020304"/>
                        </a:rPr>
                        <a:t>p</a:t>
                      </a:r>
                      <a:r>
                        <a:rPr lang="zh-CN" sz="1100" b="1">
                          <a:solidFill>
                            <a:srgbClr val="EE822F"/>
                          </a:solidFill>
                          <a:latin typeface="Times New Roman" panose="02020603050405020304"/>
                          <a:ea typeface="宋体" panose="02010600030101010101" pitchFamily="2" charset="-122"/>
                        </a:rPr>
                        <a:t>值</a:t>
                      </a:r>
                      <a:endParaRPr lang="zh-CN" sz="1100" b="1">
                        <a:solidFill>
                          <a:srgbClr val="EE822F"/>
                        </a:solidFill>
                        <a:latin typeface="Times New Roman" panose="02020603050405020304"/>
                        <a:ea typeface="宋体" panose="02010600030101010101" pitchFamily="2" charset="-122"/>
                      </a:endParaRPr>
                    </a:p>
                  </a:txBody>
                  <a:tcPr marL="76200" marR="7620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w="9525" cap="flat" cmpd="sng">
                      <a:solidFill>
                        <a:srgbClr val="EE822F"/>
                      </a:solidFill>
                      <a:prstDash val="solid"/>
                      <a:headEnd type="none" w="med" len="med"/>
                      <a:tailEnd type="none" w="med" len="med"/>
                    </a:lnB>
                    <a:solidFill>
                      <a:srgbClr val="FFFFFF"/>
                    </a:solidFill>
                  </a:tcPr>
                </a:tc>
              </a:tr>
              <a:tr h="297915">
                <a:tc>
                  <a:txBody>
                    <a:bodyPr/>
                    <a:lstStyle/>
                    <a:p>
                      <a:pPr marL="0" indent="0" algn="ctr">
                        <a:spcBef>
                          <a:spcPts val="300"/>
                        </a:spcBef>
                        <a:spcAft>
                          <a:spcPct val="0"/>
                        </a:spcAft>
                      </a:pPr>
                      <a:r>
                        <a:rPr lang="zh-CN" sz="1100">
                          <a:solidFill>
                            <a:srgbClr val="000000"/>
                          </a:solidFill>
                          <a:latin typeface="Times New Roman" panose="02020603050405020304"/>
                          <a:ea typeface="宋体" panose="02010600030101010101" pitchFamily="2" charset="-122"/>
                        </a:rPr>
                        <a:t>老年人</a:t>
                      </a:r>
                      <a:endParaRPr 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a:noFill/>
                    </a:lnB>
                    <a:solidFill>
                      <a:srgbClr val="FFFFFF"/>
                    </a:solidFill>
                  </a:tcPr>
                </a:tc>
                <a:tc>
                  <a:txBody>
                    <a:bodyPr/>
                    <a:lstStyle/>
                    <a:p>
                      <a:pPr marL="0" indent="0" algn="ctr">
                        <a:spcBef>
                          <a:spcPts val="300"/>
                        </a:spcBef>
                        <a:spcAft>
                          <a:spcPct val="0"/>
                        </a:spcAft>
                      </a:pPr>
                      <a:r>
                        <a:rPr lang="zh-CN" sz="1100">
                          <a:solidFill>
                            <a:srgbClr val="000000"/>
                          </a:solidFill>
                          <a:latin typeface="宋体" panose="02010600030101010101" pitchFamily="2" charset="-122"/>
                          <a:ea typeface="宋体" panose="02010600030101010101" pitchFamily="2" charset="-122"/>
                        </a:rPr>
                        <a:t>产品类型</a:t>
                      </a:r>
                      <a:endParaRPr lang="zh-CN" sz="1100">
                        <a:solidFill>
                          <a:srgbClr val="000000"/>
                        </a:solidFill>
                        <a:latin typeface="宋体" panose="02010600030101010101" pitchFamily="2" charset="-122"/>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2.45</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0.77</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 </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a:noFill/>
                    </a:lnB>
                    <a:solidFill>
                      <a:srgbClr val="FFFFFF"/>
                    </a:solidFill>
                  </a:tcPr>
                </a:tc>
              </a:tr>
              <a:tr h="297915">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 </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zh-CN" sz="1100">
                          <a:solidFill>
                            <a:srgbClr val="000000"/>
                          </a:solidFill>
                          <a:latin typeface="宋体" panose="02010600030101010101" pitchFamily="2" charset="-122"/>
                          <a:ea typeface="宋体" panose="02010600030101010101" pitchFamily="2" charset="-122"/>
                        </a:rPr>
                        <a:t>保障增强</a:t>
                      </a:r>
                      <a:endParaRPr lang="zh-CN" sz="1100">
                        <a:solidFill>
                          <a:srgbClr val="000000"/>
                        </a:solidFill>
                        <a:latin typeface="宋体" panose="02010600030101010101" pitchFamily="2" charset="-122"/>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4.69</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1.47</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 </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r>
              <a:tr h="297915">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 </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zh-CN" sz="1100">
                          <a:solidFill>
                            <a:srgbClr val="000000"/>
                          </a:solidFill>
                          <a:latin typeface="宋体" panose="02010600030101010101" pitchFamily="2" charset="-122"/>
                          <a:ea typeface="宋体" panose="02010600030101010101" pitchFamily="2" charset="-122"/>
                        </a:rPr>
                        <a:t>产品类型</a:t>
                      </a:r>
                      <a:r>
                        <a:rPr lang="zh-CN" altLang="en-US" sz="1100">
                          <a:solidFill>
                            <a:srgbClr val="000000"/>
                          </a:solidFill>
                          <a:latin typeface="Times New Roman" panose="02020603050405020304"/>
                          <a:ea typeface="宋体" panose="02010600030101010101" pitchFamily="2" charset="-122"/>
                        </a:rPr>
                        <a:t> </a:t>
                      </a:r>
                      <a:r>
                        <a:rPr lang="en-US" altLang="zh-CN" sz="1100">
                          <a:solidFill>
                            <a:srgbClr val="000000"/>
                          </a:solidFill>
                          <a:latin typeface="Times New Roman" panose="02020603050405020304"/>
                          <a:ea typeface="宋体" panose="02010600030101010101" pitchFamily="2" charset="-122"/>
                        </a:rPr>
                        <a:t>× </a:t>
                      </a:r>
                      <a:r>
                        <a:rPr lang="zh-CN" sz="1100">
                          <a:solidFill>
                            <a:srgbClr val="000000"/>
                          </a:solidFill>
                          <a:latin typeface="宋体" panose="02010600030101010101" pitchFamily="2" charset="-122"/>
                          <a:ea typeface="宋体" panose="02010600030101010101" pitchFamily="2" charset="-122"/>
                        </a:rPr>
                        <a:t>保障增强</a:t>
                      </a:r>
                      <a:endParaRPr lang="zh-CN" sz="1100">
                        <a:solidFill>
                          <a:srgbClr val="000000"/>
                        </a:solidFill>
                        <a:latin typeface="宋体" panose="02010600030101010101" pitchFamily="2" charset="-122"/>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349.65</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no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109.26</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BE6D6"/>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BE6D6"/>
                    </a:solidFill>
                  </a:tcPr>
                </a:tc>
              </a:tr>
              <a:tr h="297915">
                <a:tc>
                  <a:txBody>
                    <a:bodyPr/>
                    <a:lstStyle/>
                    <a:p>
                      <a:pPr marL="0" indent="0" algn="ctr">
                        <a:spcBef>
                          <a:spcPts val="300"/>
                        </a:spcBef>
                        <a:spcAft>
                          <a:spcPct val="0"/>
                        </a:spcAft>
                      </a:pPr>
                      <a:r>
                        <a:rPr lang="zh-CN" sz="1100">
                          <a:solidFill>
                            <a:srgbClr val="000000"/>
                          </a:solidFill>
                          <a:latin typeface="Times New Roman" panose="02020603050405020304"/>
                          <a:ea typeface="宋体" panose="02010600030101010101" pitchFamily="2" charset="-122"/>
                        </a:rPr>
                        <a:t>中青年群体</a:t>
                      </a:r>
                      <a:endParaRPr 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zh-CN" sz="1100">
                          <a:solidFill>
                            <a:srgbClr val="000000"/>
                          </a:solidFill>
                          <a:latin typeface="宋体" panose="02010600030101010101" pitchFamily="2" charset="-122"/>
                          <a:ea typeface="宋体" panose="02010600030101010101" pitchFamily="2" charset="-122"/>
                        </a:rPr>
                        <a:t>产品类型</a:t>
                      </a:r>
                      <a:endParaRPr lang="zh-CN" sz="1100">
                        <a:solidFill>
                          <a:srgbClr val="000000"/>
                        </a:solidFill>
                        <a:latin typeface="宋体" panose="02010600030101010101" pitchFamily="2" charset="-122"/>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16.79</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no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5.18</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BE6D6"/>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BE6D6"/>
                    </a:solidFill>
                  </a:tcPr>
                </a:tc>
              </a:tr>
              <a:tr h="297915">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 </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zh-CN" sz="1100">
                          <a:solidFill>
                            <a:srgbClr val="000000"/>
                          </a:solidFill>
                          <a:latin typeface="宋体" panose="02010600030101010101" pitchFamily="2" charset="-122"/>
                          <a:ea typeface="宋体" panose="02010600030101010101" pitchFamily="2" charset="-122"/>
                        </a:rPr>
                        <a:t>保障增强</a:t>
                      </a:r>
                      <a:endParaRPr lang="zh-CN" sz="1100">
                        <a:solidFill>
                          <a:srgbClr val="000000"/>
                        </a:solidFill>
                        <a:latin typeface="宋体" panose="02010600030101010101" pitchFamily="2" charset="-122"/>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164.64</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no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50.79</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BE6D6"/>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BE6D6"/>
                    </a:solidFill>
                  </a:tcPr>
                </a:tc>
              </a:tr>
              <a:tr h="297915">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 </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w="9525" cap="flat" cmpd="sng">
                      <a:solidFill>
                        <a:srgbClr val="EE822F"/>
                      </a:solidFill>
                      <a:prstDash val="solid"/>
                      <a:headEnd type="none" w="med" len="med"/>
                      <a:tailEnd type="none" w="med" len="med"/>
                    </a:lnB>
                    <a:solidFill>
                      <a:srgbClr val="FFFFFF"/>
                    </a:solidFill>
                  </a:tcPr>
                </a:tc>
                <a:tc>
                  <a:txBody>
                    <a:bodyPr/>
                    <a:lstStyle/>
                    <a:p>
                      <a:pPr marL="0" indent="0" algn="ctr">
                        <a:spcBef>
                          <a:spcPts val="300"/>
                        </a:spcBef>
                        <a:spcAft>
                          <a:spcPct val="0"/>
                        </a:spcAft>
                      </a:pPr>
                      <a:r>
                        <a:rPr lang="zh-CN" sz="1100">
                          <a:solidFill>
                            <a:srgbClr val="000000"/>
                          </a:solidFill>
                          <a:latin typeface="宋体" panose="02010600030101010101" pitchFamily="2" charset="-122"/>
                          <a:ea typeface="宋体" panose="02010600030101010101" pitchFamily="2" charset="-122"/>
                        </a:rPr>
                        <a:t>产品类型</a:t>
                      </a:r>
                      <a:r>
                        <a:rPr lang="zh-CN" altLang="en-US" sz="1100">
                          <a:solidFill>
                            <a:srgbClr val="000000"/>
                          </a:solidFill>
                          <a:latin typeface="Times New Roman" panose="02020603050405020304"/>
                          <a:ea typeface="宋体" panose="02010600030101010101" pitchFamily="2" charset="-122"/>
                        </a:rPr>
                        <a:t> </a:t>
                      </a:r>
                      <a:r>
                        <a:rPr lang="en-US" altLang="zh-CN" sz="1100">
                          <a:solidFill>
                            <a:srgbClr val="000000"/>
                          </a:solidFill>
                          <a:latin typeface="Times New Roman" panose="02020603050405020304"/>
                          <a:ea typeface="宋体" panose="02010600030101010101" pitchFamily="2" charset="-122"/>
                        </a:rPr>
                        <a:t>× </a:t>
                      </a:r>
                      <a:r>
                        <a:rPr lang="zh-CN" sz="1100">
                          <a:solidFill>
                            <a:srgbClr val="000000"/>
                          </a:solidFill>
                          <a:latin typeface="宋体" panose="02010600030101010101" pitchFamily="2" charset="-122"/>
                          <a:ea typeface="宋体" panose="02010600030101010101" pitchFamily="2" charset="-122"/>
                        </a:rPr>
                        <a:t>保障增强</a:t>
                      </a:r>
                      <a:endParaRPr lang="zh-CN" sz="1100">
                        <a:solidFill>
                          <a:srgbClr val="000000"/>
                        </a:solidFill>
                        <a:latin typeface="宋体" panose="02010600030101010101" pitchFamily="2" charset="-122"/>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w="9525" cap="flat" cmpd="sng">
                      <a:solidFill>
                        <a:srgbClr val="EE822F"/>
                      </a:solidFill>
                      <a:prstDash val="solid"/>
                      <a:headEnd type="none" w="med" len="med"/>
                      <a:tailEnd type="none" w="med" len="med"/>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143.49</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w="9525" cap="flat" cmpd="sng">
                      <a:solidFill>
                        <a:srgbClr val="EE822F"/>
                      </a:solidFill>
                      <a:prstDash val="solid"/>
                      <a:headEnd type="none" w="med" len="med"/>
                      <a:tailEnd type="none" w="med" len="med"/>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w="9525" cap="flat" cmpd="sng">
                      <a:solidFill>
                        <a:srgbClr val="EE822F"/>
                      </a:solidFill>
                      <a:prstDash val="solid"/>
                      <a:headEnd type="none" w="med" len="med"/>
                      <a:tailEnd type="none" w="med" len="med"/>
                    </a:lnB>
                    <a:no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44.27</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w="9525" cap="flat" cmpd="sng">
                      <a:solidFill>
                        <a:srgbClr val="EE822F"/>
                      </a:solidFill>
                      <a:prstDash val="solid"/>
                      <a:headEnd type="none" w="med" len="med"/>
                      <a:tailEnd type="none" w="med" len="med"/>
                    </a:lnB>
                    <a:solidFill>
                      <a:srgbClr val="FBE6D6"/>
                    </a:solidFill>
                  </a:tcPr>
                </a:tc>
                <a:tc>
                  <a:txBody>
                    <a:bodyPr/>
                    <a:lstStyle/>
                    <a:p>
                      <a:pPr marL="0" indent="0" algn="ctr">
                        <a:spcBef>
                          <a:spcPts val="300"/>
                        </a:spcBef>
                        <a:spcAft>
                          <a:spcPct val="0"/>
                        </a:spcAft>
                      </a:pPr>
                      <a:r>
                        <a:rPr lang="en-US" altLang="zh-CN" sz="1100" dirty="0">
                          <a:solidFill>
                            <a:srgbClr val="000000"/>
                          </a:solidFill>
                          <a:latin typeface="Times New Roman" panose="02020603050405020304"/>
                          <a:ea typeface="宋体" panose="02010600030101010101" pitchFamily="2" charset="-122"/>
                        </a:rPr>
                        <a:t>***</a:t>
                      </a:r>
                      <a:endParaRPr lang="en-US" altLang="zh-CN" sz="1100" dirty="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w="9525" cap="flat" cmpd="sng">
                      <a:solidFill>
                        <a:srgbClr val="EE822F"/>
                      </a:solidFill>
                      <a:prstDash val="solid"/>
                      <a:headEnd type="none" w="med" len="med"/>
                      <a:tailEnd type="none" w="med" len="med"/>
                    </a:lnB>
                    <a:solidFill>
                      <a:srgbClr val="FBE6D6"/>
                    </a:solidFill>
                  </a:tcPr>
                </a:tc>
              </a:tr>
            </a:tbl>
          </a:graphicData>
        </a:graphic>
      </p:graphicFrame>
      <p:sp>
        <p:nvSpPr>
          <p:cNvPr id="55" name="Freeform 19"/>
          <p:cNvSpPr/>
          <p:nvPr/>
        </p:nvSpPr>
        <p:spPr>
          <a:xfrm flipH="1">
            <a:off x="0" y="-157544"/>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14"/>
            <a:stretch>
              <a:fillRect/>
            </a:stretch>
          </a:blipFill>
        </p:spPr>
      </p:sp>
      <p:sp>
        <p:nvSpPr>
          <p:cNvPr id="15" name="TextBox 63"/>
          <p:cNvSpPr txBox="1"/>
          <p:nvPr/>
        </p:nvSpPr>
        <p:spPr>
          <a:xfrm>
            <a:off x="7482844" y="182001"/>
            <a:ext cx="2029460"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6" name="TextBox 65"/>
          <p:cNvSpPr txBox="1"/>
          <p:nvPr/>
        </p:nvSpPr>
        <p:spPr>
          <a:xfrm>
            <a:off x="13617504" y="192268"/>
            <a:ext cx="2232413" cy="46164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7" name="TextBox 66"/>
          <p:cNvSpPr txBox="1"/>
          <p:nvPr/>
        </p:nvSpPr>
        <p:spPr>
          <a:xfrm>
            <a:off x="5274208" y="184126"/>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9" name="TextBox 65"/>
          <p:cNvSpPr txBox="1"/>
          <p:nvPr/>
        </p:nvSpPr>
        <p:spPr>
          <a:xfrm>
            <a:off x="15581836" y="199629"/>
            <a:ext cx="2232413"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nvGrpSpPr>
          <p:cNvPr id="46" name="Group 35"/>
          <p:cNvGrpSpPr/>
          <p:nvPr/>
        </p:nvGrpSpPr>
        <p:grpSpPr>
          <a:xfrm>
            <a:off x="11708987" y="-419088"/>
            <a:ext cx="2112548" cy="1134695"/>
            <a:chOff x="0" y="-123825"/>
            <a:chExt cx="609349" cy="298849"/>
          </a:xfrm>
        </p:grpSpPr>
        <p:sp>
          <p:nvSpPr>
            <p:cNvPr id="52" name="Freeform 3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a:p>
          </p:txBody>
        </p:sp>
        <p:sp>
          <p:nvSpPr>
            <p:cNvPr id="53"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54" name="TextBox 66"/>
          <p:cNvSpPr txBox="1"/>
          <p:nvPr/>
        </p:nvSpPr>
        <p:spPr>
          <a:xfrm>
            <a:off x="11639066" y="153652"/>
            <a:ext cx="2314575" cy="4616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70" name="TextBox 63"/>
          <p:cNvSpPr txBox="1"/>
          <p:nvPr/>
        </p:nvSpPr>
        <p:spPr>
          <a:xfrm>
            <a:off x="9539609" y="182001"/>
            <a:ext cx="2029460" cy="46164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2"/>
            <a:stretch>
              <a:fillRect t="-883"/>
            </a:stretch>
          </a:blipFill>
        </p:spPr>
      </p:sp>
      <p:grpSp>
        <p:nvGrpSpPr>
          <p:cNvPr id="4" name="Group 4"/>
          <p:cNvGrpSpPr/>
          <p:nvPr/>
        </p:nvGrpSpPr>
        <p:grpSpPr>
          <a:xfrm>
            <a:off x="160070" y="-2829424"/>
            <a:ext cx="5133103" cy="4618309"/>
            <a:chOff x="0" y="0"/>
            <a:chExt cx="6844137" cy="6157745"/>
          </a:xfrm>
        </p:grpSpPr>
        <p:grpSp>
          <p:nvGrpSpPr>
            <p:cNvPr id="5" name="Group 5"/>
            <p:cNvGrpSpPr/>
            <p:nvPr/>
          </p:nvGrpSpPr>
          <p:grpSpPr>
            <a:xfrm rot="215490">
              <a:off x="271581" y="295285"/>
              <a:ext cx="6401327" cy="5667527"/>
              <a:chOff x="0" y="0"/>
              <a:chExt cx="2560354" cy="2266854"/>
            </a:xfrm>
          </p:grpSpPr>
          <p:sp>
            <p:nvSpPr>
              <p:cNvPr id="6" name="Freeform 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7" name="TextBox 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8" name="Group 8"/>
            <p:cNvGrpSpPr/>
            <p:nvPr/>
          </p:nvGrpSpPr>
          <p:grpSpPr>
            <a:xfrm rot="215490">
              <a:off x="171229" y="194933"/>
              <a:ext cx="6401327" cy="5667527"/>
              <a:chOff x="0" y="0"/>
              <a:chExt cx="2560354" cy="2266854"/>
            </a:xfrm>
          </p:grpSpPr>
          <p:sp>
            <p:nvSpPr>
              <p:cNvPr id="9" name="Freeform 9"/>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0" name="TextBox 10"/>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1" name="Group 11"/>
            <p:cNvGrpSpPr/>
            <p:nvPr/>
          </p:nvGrpSpPr>
          <p:grpSpPr>
            <a:xfrm>
              <a:off x="124175" y="194933"/>
              <a:ext cx="6401327" cy="5667527"/>
              <a:chOff x="0" y="0"/>
              <a:chExt cx="2560354" cy="2266854"/>
            </a:xfrm>
          </p:grpSpPr>
          <p:sp>
            <p:nvSpPr>
              <p:cNvPr id="12" name="Freeform 12"/>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3" name="TextBox 13"/>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4" name="AutoShape 14"/>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18" name="Freeform 18"/>
          <p:cNvSpPr/>
          <p:nvPr/>
        </p:nvSpPr>
        <p:spPr>
          <a:xfrm>
            <a:off x="7055501"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3">
              <a:alphaModFix amt="6999"/>
            </a:blip>
            <a:stretch>
              <a:fillRect r="-20235"/>
            </a:stretch>
          </a:blipFill>
          <a:ln w="19050" cap="sq">
            <a:solidFill>
              <a:srgbClr val="FCFBF9">
                <a:alpha val="6667"/>
              </a:srgbClr>
            </a:solidFill>
            <a:prstDash val="solid"/>
            <a:miter/>
          </a:ln>
        </p:spPr>
      </p:sp>
      <p:sp>
        <p:nvSpPr>
          <p:cNvPr id="19" name="Freeform 19"/>
          <p:cNvSpPr/>
          <p:nvPr/>
        </p:nvSpPr>
        <p:spPr>
          <a:xfrm flipH="1">
            <a:off x="0" y="-157544"/>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4"/>
            <a:stretch>
              <a:fillRect/>
            </a:stretch>
          </a:blipFill>
        </p:spPr>
      </p:sp>
      <p:sp>
        <p:nvSpPr>
          <p:cNvPr id="20" name="TextBox 20"/>
          <p:cNvSpPr txBox="1"/>
          <p:nvPr/>
        </p:nvSpPr>
        <p:spPr>
          <a:xfrm>
            <a:off x="294888" y="55432"/>
            <a:ext cx="4728527" cy="1435735"/>
          </a:xfrm>
          <a:prstGeom prst="rect">
            <a:avLst/>
          </a:prstGeom>
        </p:spPr>
        <p:txBody>
          <a:bodyPr lIns="0" tIns="0" rIns="0" bIns="0" rtlCol="0" anchor="t">
            <a:spAutoFit/>
          </a:bodyPr>
          <a:lstStyle/>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试点方案</a:t>
            </a:r>
            <a:endPar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设计</a:t>
            </a:r>
            <a:endPar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36" name="TextBox 36"/>
          <p:cNvSpPr txBox="1"/>
          <p:nvPr/>
        </p:nvSpPr>
        <p:spPr>
          <a:xfrm>
            <a:off x="6688092" y="985642"/>
            <a:ext cx="9224702" cy="887076"/>
          </a:xfrm>
          <a:prstGeom prst="rect">
            <a:avLst/>
          </a:prstGeom>
        </p:spPr>
        <p:txBody>
          <a:bodyPr lIns="0" tIns="0" rIns="0" bIns="0" rtlCol="0" anchor="t">
            <a:spAutoFit/>
          </a:bodyPr>
          <a:lstStyle/>
          <a:p>
            <a:pPr algn="l">
              <a:lnSpc>
                <a:spcPts val="7280"/>
              </a:lnSpc>
            </a:pPr>
            <a:r>
              <a:rPr lang="en-US" sz="5200" b="1"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保险年金险模式</a:t>
            </a:r>
            <a:endParaRPr lang="en-US" sz="52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90" name="矩形: 圆角 89"/>
          <p:cNvSpPr/>
          <p:nvPr/>
        </p:nvSpPr>
        <p:spPr>
          <a:xfrm>
            <a:off x="598160" y="2116496"/>
            <a:ext cx="5702254" cy="2759295"/>
          </a:xfrm>
          <a:prstGeom prst="roundRect">
            <a:avLst>
              <a:gd name="adj" fmla="val 7119"/>
            </a:avLst>
          </a:prstGeom>
          <a:solidFill>
            <a:schemeClr val="bg1"/>
          </a:solidFill>
          <a:ln>
            <a:solidFill>
              <a:srgbClr val="FFC000"/>
            </a:solidFill>
          </a:ln>
          <a:effectLst>
            <a:glow rad="215900">
              <a:schemeClr val="accent6">
                <a:satMod val="175000"/>
                <a:alpha val="27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dirty="0">
              <a:solidFill>
                <a:schemeClr val="tx1"/>
              </a:solidFill>
              <a:latin typeface="微软雅黑" panose="020B0503020204020204" pitchFamily="34" charset="-122"/>
              <a:ea typeface="微软雅黑" panose="020B0503020204020204" pitchFamily="34" charset="-122"/>
            </a:endParaRPr>
          </a:p>
        </p:txBody>
      </p:sp>
      <p:sp>
        <p:nvSpPr>
          <p:cNvPr id="91" name="矩形: 圆角 90"/>
          <p:cNvSpPr/>
          <p:nvPr/>
        </p:nvSpPr>
        <p:spPr>
          <a:xfrm>
            <a:off x="592606" y="5435688"/>
            <a:ext cx="5702254" cy="4324538"/>
          </a:xfrm>
          <a:prstGeom prst="roundRect">
            <a:avLst>
              <a:gd name="adj" fmla="val 7119"/>
            </a:avLst>
          </a:prstGeom>
          <a:solidFill>
            <a:schemeClr val="bg1"/>
          </a:solidFill>
          <a:ln>
            <a:solidFill>
              <a:srgbClr val="FFC000"/>
            </a:solidFill>
          </a:ln>
          <a:effectLst>
            <a:glow rad="215900">
              <a:schemeClr val="accent6">
                <a:satMod val="175000"/>
                <a:alpha val="27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93" name="Freeform 37"/>
          <p:cNvSpPr/>
          <p:nvPr/>
        </p:nvSpPr>
        <p:spPr>
          <a:xfrm>
            <a:off x="738568" y="2229484"/>
            <a:ext cx="1599115" cy="467229"/>
          </a:xfrm>
          <a:custGeom>
            <a:avLst/>
            <a:gdLst/>
            <a:ahLst/>
            <a:cxnLst/>
            <a:rect l="l" t="t" r="r" b="b"/>
            <a:pathLst>
              <a:path w="9010784" h="1211580">
                <a:moveTo>
                  <a:pt x="0" y="201930"/>
                </a:moveTo>
                <a:cubicBezTo>
                  <a:pt x="0" y="90424"/>
                  <a:pt x="66296" y="0"/>
                  <a:pt x="148138" y="0"/>
                </a:cubicBezTo>
                <a:lnTo>
                  <a:pt x="8862647" y="0"/>
                </a:lnTo>
                <a:cubicBezTo>
                  <a:pt x="8944489" y="0"/>
                  <a:pt x="9010785" y="90424"/>
                  <a:pt x="9010785" y="201930"/>
                </a:cubicBezTo>
                <a:lnTo>
                  <a:pt x="9010785" y="1009650"/>
                </a:lnTo>
                <a:cubicBezTo>
                  <a:pt x="9010785" y="1121156"/>
                  <a:pt x="8944489" y="1211580"/>
                  <a:pt x="8862647" y="1211580"/>
                </a:cubicBezTo>
                <a:lnTo>
                  <a:pt x="148138" y="1211580"/>
                </a:lnTo>
                <a:cubicBezTo>
                  <a:pt x="66296" y="1211580"/>
                  <a:pt x="0" y="1121156"/>
                  <a:pt x="0" y="1009650"/>
                </a:cubicBezTo>
                <a:close/>
              </a:path>
            </a:pathLst>
          </a:custGeom>
          <a:gradFill flip="none" rotWithShape="1">
            <a:gsLst>
              <a:gs pos="0">
                <a:srgbClr val="FF5400">
                  <a:alpha val="33000"/>
                </a:srgbClr>
              </a:gs>
              <a:gs pos="51000">
                <a:schemeClr val="bg1"/>
              </a:gs>
              <a:gs pos="100000">
                <a:srgbClr val="FF5400">
                  <a:alpha val="33000"/>
                </a:srgbClr>
              </a:gs>
            </a:gsLst>
            <a:lin ang="5400000" scaled="1"/>
            <a:tileRect/>
          </a:gradFill>
        </p:spPr>
      </p:sp>
      <p:sp>
        <p:nvSpPr>
          <p:cNvPr id="94" name="文本框 93"/>
          <p:cNvSpPr txBox="1"/>
          <p:nvPr/>
        </p:nvSpPr>
        <p:spPr>
          <a:xfrm>
            <a:off x="759025" y="2185883"/>
            <a:ext cx="1620957" cy="523220"/>
          </a:xfrm>
          <a:prstGeom prst="rect">
            <a:avLst/>
          </a:prstGeom>
          <a:noFill/>
        </p:spPr>
        <p:txBody>
          <a:bodyPr wrap="none" rtlCol="0">
            <a:spAutoFit/>
          </a:bodyPr>
          <a:lstStyle/>
          <a:p>
            <a:r>
              <a:rPr lang="zh-CN" altLang="en-US" sz="2800" dirty="0">
                <a:latin typeface="微软雅黑" panose="020B0503020204020204" pitchFamily="34" charset="-122"/>
                <a:ea typeface="微软雅黑" panose="020B0503020204020204" pitchFamily="34" charset="-122"/>
              </a:rPr>
              <a:t>设立信托</a:t>
            </a:r>
            <a:endParaRPr lang="zh-CN" altLang="en-US" sz="2800" dirty="0">
              <a:latin typeface="微软雅黑" panose="020B0503020204020204" pitchFamily="34" charset="-122"/>
              <a:ea typeface="微软雅黑" panose="020B0503020204020204" pitchFamily="34" charset="-122"/>
            </a:endParaRPr>
          </a:p>
        </p:txBody>
      </p:sp>
      <p:sp>
        <p:nvSpPr>
          <p:cNvPr id="97" name="文本框 96"/>
          <p:cNvSpPr txBox="1"/>
          <p:nvPr/>
        </p:nvSpPr>
        <p:spPr>
          <a:xfrm>
            <a:off x="685800" y="2865116"/>
            <a:ext cx="5491480" cy="429895"/>
          </a:xfrm>
          <a:prstGeom prst="rect">
            <a:avLst/>
          </a:prstGeom>
          <a:noFill/>
        </p:spPr>
        <p:txBody>
          <a:bodyPr wrap="none" rtlCol="0">
            <a:spAutoFit/>
          </a:bodyPr>
          <a:lstStyle/>
          <a:p>
            <a:r>
              <a:rPr lang="zh-CN" altLang="en-US" sz="2200" b="1" dirty="0">
                <a:latin typeface="微软雅黑" panose="020B0503020204020204" pitchFamily="34" charset="-122"/>
                <a:ea typeface="微软雅黑" panose="020B0503020204020204" pitchFamily="34" charset="-122"/>
              </a:rPr>
              <a:t>房产通过非交易过户形式设置以房养老信托</a:t>
            </a:r>
            <a:endParaRPr lang="zh-CN" altLang="en-US" sz="2200" b="1" dirty="0">
              <a:latin typeface="微软雅黑" panose="020B0503020204020204" pitchFamily="34" charset="-122"/>
              <a:ea typeface="微软雅黑" panose="020B0503020204020204" pitchFamily="34" charset="-122"/>
            </a:endParaRPr>
          </a:p>
        </p:txBody>
      </p:sp>
      <p:sp>
        <p:nvSpPr>
          <p:cNvPr id="99" name="文本框 98"/>
          <p:cNvSpPr txBox="1"/>
          <p:nvPr/>
        </p:nvSpPr>
        <p:spPr>
          <a:xfrm>
            <a:off x="3347477" y="7688987"/>
            <a:ext cx="2031325"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受托管理房产</a:t>
            </a:r>
            <a:endParaRPr lang="zh-CN" altLang="en-US" sz="2400" b="1" dirty="0">
              <a:latin typeface="微软雅黑" panose="020B0503020204020204" pitchFamily="34" charset="-122"/>
              <a:ea typeface="微软雅黑" panose="020B0503020204020204" pitchFamily="34" charset="-122"/>
            </a:endParaRPr>
          </a:p>
        </p:txBody>
      </p:sp>
      <p:sp>
        <p:nvSpPr>
          <p:cNvPr id="100" name="文本框 99"/>
          <p:cNvSpPr txBox="1"/>
          <p:nvPr/>
        </p:nvSpPr>
        <p:spPr>
          <a:xfrm>
            <a:off x="3330671" y="8916726"/>
            <a:ext cx="2339102"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设计年金险产品</a:t>
            </a:r>
            <a:endParaRPr lang="zh-CN" altLang="en-US" sz="2400" b="1" dirty="0">
              <a:latin typeface="微软雅黑" panose="020B0503020204020204" pitchFamily="34" charset="-122"/>
              <a:ea typeface="微软雅黑" panose="020B0503020204020204" pitchFamily="34" charset="-122"/>
            </a:endParaRPr>
          </a:p>
        </p:txBody>
      </p:sp>
      <p:sp>
        <p:nvSpPr>
          <p:cNvPr id="116" name="Freeform 37"/>
          <p:cNvSpPr/>
          <p:nvPr/>
        </p:nvSpPr>
        <p:spPr>
          <a:xfrm>
            <a:off x="812165" y="5624195"/>
            <a:ext cx="3042285" cy="461645"/>
          </a:xfrm>
          <a:custGeom>
            <a:avLst/>
            <a:gdLst/>
            <a:ahLst/>
            <a:cxnLst/>
            <a:rect l="l" t="t" r="r" b="b"/>
            <a:pathLst>
              <a:path w="9010784" h="1211580">
                <a:moveTo>
                  <a:pt x="0" y="201930"/>
                </a:moveTo>
                <a:cubicBezTo>
                  <a:pt x="0" y="90424"/>
                  <a:pt x="66296" y="0"/>
                  <a:pt x="148138" y="0"/>
                </a:cubicBezTo>
                <a:lnTo>
                  <a:pt x="8862647" y="0"/>
                </a:lnTo>
                <a:cubicBezTo>
                  <a:pt x="8944489" y="0"/>
                  <a:pt x="9010785" y="90424"/>
                  <a:pt x="9010785" y="201930"/>
                </a:cubicBezTo>
                <a:lnTo>
                  <a:pt x="9010785" y="1009650"/>
                </a:lnTo>
                <a:cubicBezTo>
                  <a:pt x="9010785" y="1121156"/>
                  <a:pt x="8944489" y="1211580"/>
                  <a:pt x="8862647" y="1211580"/>
                </a:cubicBezTo>
                <a:lnTo>
                  <a:pt x="148138" y="1211580"/>
                </a:lnTo>
                <a:cubicBezTo>
                  <a:pt x="66296" y="1211580"/>
                  <a:pt x="0" y="1121156"/>
                  <a:pt x="0" y="1009650"/>
                </a:cubicBezTo>
                <a:close/>
              </a:path>
            </a:pathLst>
          </a:custGeom>
          <a:gradFill flip="none" rotWithShape="1">
            <a:gsLst>
              <a:gs pos="0">
                <a:srgbClr val="FF5400">
                  <a:alpha val="33000"/>
                </a:srgbClr>
              </a:gs>
              <a:gs pos="51000">
                <a:schemeClr val="bg1"/>
              </a:gs>
              <a:gs pos="100000">
                <a:srgbClr val="FF5400">
                  <a:alpha val="33000"/>
                </a:srgbClr>
              </a:gs>
            </a:gsLst>
            <a:lin ang="5400000" scaled="1"/>
            <a:tileRect/>
          </a:gradFill>
        </p:spPr>
        <p:txBody>
          <a:bodyPr/>
          <a:lstStyle/>
          <a:p>
            <a:r>
              <a:rPr lang="zh-CN" altLang="en-US" sz="2400" dirty="0">
                <a:latin typeface="微软雅黑" panose="020B0503020204020204" pitchFamily="34" charset="-122"/>
                <a:ea typeface="微软雅黑" panose="020B0503020204020204" pitchFamily="34" charset="-122"/>
              </a:rPr>
              <a:t>银行</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信托</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保险</a:t>
            </a:r>
            <a:endParaRPr lang="zh-CN" altLang="en-US" sz="2400" dirty="0">
              <a:latin typeface="微软雅黑" panose="020B0503020204020204" pitchFamily="34" charset="-122"/>
              <a:ea typeface="微软雅黑" panose="020B0503020204020204" pitchFamily="34" charset="-122"/>
            </a:endParaRPr>
          </a:p>
        </p:txBody>
      </p:sp>
      <p:sp>
        <p:nvSpPr>
          <p:cNvPr id="98" name="文本框 97"/>
          <p:cNvSpPr txBox="1"/>
          <p:nvPr/>
        </p:nvSpPr>
        <p:spPr>
          <a:xfrm>
            <a:off x="3267807" y="6441175"/>
            <a:ext cx="2339102"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受让信托受益权</a:t>
            </a:r>
            <a:endParaRPr lang="zh-CN" altLang="en-US" sz="2400" b="1" dirty="0">
              <a:latin typeface="微软雅黑" panose="020B0503020204020204" pitchFamily="34" charset="-122"/>
              <a:ea typeface="微软雅黑" panose="020B0503020204020204" pitchFamily="34" charset="-122"/>
            </a:endParaRPr>
          </a:p>
        </p:txBody>
      </p:sp>
      <p:sp>
        <p:nvSpPr>
          <p:cNvPr id="117" name="Freeform 3"/>
          <p:cNvSpPr/>
          <p:nvPr/>
        </p:nvSpPr>
        <p:spPr>
          <a:xfrm>
            <a:off x="1058777" y="6086102"/>
            <a:ext cx="2215229" cy="3629398"/>
          </a:xfrm>
          <a:custGeom>
            <a:avLst/>
            <a:gdLst/>
            <a:ahLst/>
            <a:cxnLst/>
            <a:rect l="l" t="t" r="r" b="b"/>
            <a:pathLst>
              <a:path w="4613788" h="7592091">
                <a:moveTo>
                  <a:pt x="0" y="0"/>
                </a:moveTo>
                <a:lnTo>
                  <a:pt x="4613788" y="0"/>
                </a:lnTo>
                <a:lnTo>
                  <a:pt x="4613788" y="7592091"/>
                </a:lnTo>
                <a:lnTo>
                  <a:pt x="0" y="7592091"/>
                </a:lnTo>
                <a:lnTo>
                  <a:pt x="0" y="0"/>
                </a:lnTo>
                <a:close/>
              </a:path>
            </a:pathLst>
          </a:custGeom>
          <a:blipFill>
            <a:blip r:embed="rId5"/>
            <a:stretch>
              <a:fillRect/>
            </a:stretch>
          </a:blipFill>
        </p:spPr>
      </p:sp>
      <p:sp>
        <p:nvSpPr>
          <p:cNvPr id="118" name="Freeform 4"/>
          <p:cNvSpPr/>
          <p:nvPr/>
        </p:nvSpPr>
        <p:spPr>
          <a:xfrm>
            <a:off x="825032" y="3407518"/>
            <a:ext cx="5170491" cy="1363132"/>
          </a:xfrm>
          <a:custGeom>
            <a:avLst/>
            <a:gdLst/>
            <a:ahLst/>
            <a:cxnLst/>
            <a:rect l="l" t="t" r="r" b="b"/>
            <a:pathLst>
              <a:path w="11301259" h="2910074">
                <a:moveTo>
                  <a:pt x="0" y="0"/>
                </a:moveTo>
                <a:lnTo>
                  <a:pt x="11301259" y="0"/>
                </a:lnTo>
                <a:lnTo>
                  <a:pt x="11301259" y="2910074"/>
                </a:lnTo>
                <a:lnTo>
                  <a:pt x="0" y="2910074"/>
                </a:lnTo>
                <a:lnTo>
                  <a:pt x="0" y="0"/>
                </a:lnTo>
                <a:close/>
              </a:path>
            </a:pathLst>
          </a:custGeom>
          <a:blipFill>
            <a:blip r:embed="rId6"/>
            <a:stretch>
              <a:fillRect/>
            </a:stretch>
          </a:blipFill>
        </p:spPr>
      </p:sp>
      <p:pic>
        <p:nvPicPr>
          <p:cNvPr id="22" name="图片 21" descr="信托1"/>
          <p:cNvPicPr>
            <a:picLocks noChangeAspect="1"/>
          </p:cNvPicPr>
          <p:nvPr/>
        </p:nvPicPr>
        <p:blipFill>
          <a:blip r:embed="rId7"/>
          <a:stretch>
            <a:fillRect/>
          </a:stretch>
        </p:blipFill>
        <p:spPr>
          <a:xfrm>
            <a:off x="6720749" y="3062543"/>
            <a:ext cx="11298489" cy="5537641"/>
          </a:xfrm>
          <a:prstGeom prst="rect">
            <a:avLst/>
          </a:prstGeom>
        </p:spPr>
      </p:pic>
      <p:grpSp>
        <p:nvGrpSpPr>
          <p:cNvPr id="38" name="组合 37"/>
          <p:cNvGrpSpPr/>
          <p:nvPr/>
        </p:nvGrpSpPr>
        <p:grpSpPr>
          <a:xfrm>
            <a:off x="5189855" y="-395605"/>
            <a:ext cx="12693015" cy="1165860"/>
            <a:chOff x="8173" y="-623"/>
            <a:chExt cx="19989" cy="1836"/>
          </a:xfrm>
        </p:grpSpPr>
        <p:grpSp>
          <p:nvGrpSpPr>
            <p:cNvPr id="39" name="Group 35"/>
            <p:cNvGrpSpPr/>
            <p:nvPr/>
          </p:nvGrpSpPr>
          <p:grpSpPr>
            <a:xfrm>
              <a:off x="21455" y="-623"/>
              <a:ext cx="3351" cy="1836"/>
              <a:chOff x="-4407" y="-123825"/>
              <a:chExt cx="613756" cy="307110"/>
            </a:xfrm>
          </p:grpSpPr>
          <p:sp>
            <p:nvSpPr>
              <p:cNvPr id="40" name="Freeform 36"/>
              <p:cNvSpPr/>
              <p:nvPr/>
            </p:nvSpPr>
            <p:spPr>
              <a:xfrm>
                <a:off x="-4407" y="8261"/>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dirty="0"/>
              </a:p>
            </p:txBody>
          </p:sp>
          <p:sp>
            <p:nvSpPr>
              <p:cNvPr id="41"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42" name="TextBox 64"/>
            <p:cNvSpPr txBox="1"/>
            <p:nvPr/>
          </p:nvSpPr>
          <p:spPr>
            <a:xfrm>
              <a:off x="18000" y="327"/>
              <a:ext cx="3645" cy="727"/>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3" name="TextBox 66"/>
            <p:cNvSpPr txBox="1"/>
            <p:nvPr/>
          </p:nvSpPr>
          <p:spPr>
            <a:xfrm>
              <a:off x="8173" y="314"/>
              <a:ext cx="3645" cy="727"/>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4" name="TextBox 65"/>
            <p:cNvSpPr txBox="1"/>
            <p:nvPr/>
          </p:nvSpPr>
          <p:spPr>
            <a:xfrm>
              <a:off x="24646" y="314"/>
              <a:ext cx="3516" cy="727"/>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5" name="TextBox 66"/>
            <p:cNvSpPr txBox="1"/>
            <p:nvPr/>
          </p:nvSpPr>
          <p:spPr>
            <a:xfrm>
              <a:off x="14751" y="296"/>
              <a:ext cx="3645" cy="727"/>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6" name="TextBox 66"/>
            <p:cNvSpPr txBox="1"/>
            <p:nvPr/>
          </p:nvSpPr>
          <p:spPr>
            <a:xfrm>
              <a:off x="11534" y="301"/>
              <a:ext cx="3645" cy="727"/>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7" name="TextBox 66"/>
            <p:cNvSpPr txBox="1"/>
            <p:nvPr/>
          </p:nvSpPr>
          <p:spPr>
            <a:xfrm>
              <a:off x="21289" y="339"/>
              <a:ext cx="3645" cy="727"/>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2"/>
            <a:stretch>
              <a:fillRect t="-883"/>
            </a:stretch>
          </a:blipFill>
        </p:spPr>
      </p:sp>
      <p:grpSp>
        <p:nvGrpSpPr>
          <p:cNvPr id="4" name="Group 4"/>
          <p:cNvGrpSpPr/>
          <p:nvPr/>
        </p:nvGrpSpPr>
        <p:grpSpPr>
          <a:xfrm>
            <a:off x="160070" y="-2829424"/>
            <a:ext cx="5133103" cy="4618309"/>
            <a:chOff x="0" y="0"/>
            <a:chExt cx="6844137" cy="6157745"/>
          </a:xfrm>
        </p:grpSpPr>
        <p:grpSp>
          <p:nvGrpSpPr>
            <p:cNvPr id="5" name="Group 5"/>
            <p:cNvGrpSpPr/>
            <p:nvPr/>
          </p:nvGrpSpPr>
          <p:grpSpPr>
            <a:xfrm rot="215490">
              <a:off x="271581" y="295285"/>
              <a:ext cx="6401327" cy="5667527"/>
              <a:chOff x="0" y="0"/>
              <a:chExt cx="2560354" cy="2266854"/>
            </a:xfrm>
          </p:grpSpPr>
          <p:sp>
            <p:nvSpPr>
              <p:cNvPr id="6" name="Freeform 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7" name="TextBox 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8" name="Group 8"/>
            <p:cNvGrpSpPr/>
            <p:nvPr/>
          </p:nvGrpSpPr>
          <p:grpSpPr>
            <a:xfrm rot="215490">
              <a:off x="171229" y="194933"/>
              <a:ext cx="6401327" cy="5667527"/>
              <a:chOff x="0" y="0"/>
              <a:chExt cx="2560354" cy="2266854"/>
            </a:xfrm>
          </p:grpSpPr>
          <p:sp>
            <p:nvSpPr>
              <p:cNvPr id="9" name="Freeform 9"/>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0" name="TextBox 10"/>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1" name="Group 11"/>
            <p:cNvGrpSpPr/>
            <p:nvPr/>
          </p:nvGrpSpPr>
          <p:grpSpPr>
            <a:xfrm>
              <a:off x="124175" y="194933"/>
              <a:ext cx="6401327" cy="5667527"/>
              <a:chOff x="0" y="0"/>
              <a:chExt cx="2560354" cy="2266854"/>
            </a:xfrm>
          </p:grpSpPr>
          <p:sp>
            <p:nvSpPr>
              <p:cNvPr id="12" name="Freeform 12"/>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3" name="TextBox 13"/>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4" name="AutoShape 14"/>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18" name="Freeform 18"/>
          <p:cNvSpPr/>
          <p:nvPr/>
        </p:nvSpPr>
        <p:spPr>
          <a:xfrm>
            <a:off x="7055501"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3">
              <a:alphaModFix amt="6999"/>
            </a:blip>
            <a:stretch>
              <a:fillRect r="-20235"/>
            </a:stretch>
          </a:blipFill>
          <a:ln w="19050" cap="sq">
            <a:solidFill>
              <a:srgbClr val="FCFBF9">
                <a:alpha val="6667"/>
              </a:srgbClr>
            </a:solidFill>
            <a:prstDash val="solid"/>
            <a:miter/>
          </a:ln>
        </p:spPr>
      </p:sp>
      <p:sp>
        <p:nvSpPr>
          <p:cNvPr id="19" name="Freeform 19"/>
          <p:cNvSpPr/>
          <p:nvPr/>
        </p:nvSpPr>
        <p:spPr>
          <a:xfrm flipH="1">
            <a:off x="0" y="-157544"/>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4"/>
            <a:stretch>
              <a:fillRect/>
            </a:stretch>
          </a:blipFill>
        </p:spPr>
      </p:sp>
      <p:sp>
        <p:nvSpPr>
          <p:cNvPr id="20" name="TextBox 20"/>
          <p:cNvSpPr txBox="1"/>
          <p:nvPr/>
        </p:nvSpPr>
        <p:spPr>
          <a:xfrm>
            <a:off x="294888" y="55432"/>
            <a:ext cx="4728527" cy="1435735"/>
          </a:xfrm>
          <a:prstGeom prst="rect">
            <a:avLst/>
          </a:prstGeom>
        </p:spPr>
        <p:txBody>
          <a:bodyPr lIns="0" tIns="0" rIns="0" bIns="0" rtlCol="0" anchor="t">
            <a:spAutoFit/>
          </a:bodyPr>
          <a:lstStyle/>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试点方案</a:t>
            </a:r>
            <a:endPar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设计</a:t>
            </a:r>
            <a:endPar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nvGrpSpPr>
          <p:cNvPr id="60" name="Group 4"/>
          <p:cNvGrpSpPr/>
          <p:nvPr/>
        </p:nvGrpSpPr>
        <p:grpSpPr>
          <a:xfrm>
            <a:off x="17304948" y="4719477"/>
            <a:ext cx="983050" cy="5567518"/>
            <a:chOff x="0" y="0"/>
            <a:chExt cx="1310734" cy="7423358"/>
          </a:xfrm>
        </p:grpSpPr>
        <p:sp>
          <p:nvSpPr>
            <p:cNvPr id="62" name="Freeform 5"/>
            <p:cNvSpPr/>
            <p:nvPr/>
          </p:nvSpPr>
          <p:spPr>
            <a:xfrm>
              <a:off x="0" y="0"/>
              <a:ext cx="1310767" cy="7423404"/>
            </a:xfrm>
            <a:custGeom>
              <a:avLst/>
              <a:gdLst/>
              <a:ahLst/>
              <a:cxnLst/>
              <a:rect l="l" t="t" r="r" b="b"/>
              <a:pathLst>
                <a:path w="1310767" h="7423404">
                  <a:moveTo>
                    <a:pt x="0" y="0"/>
                  </a:moveTo>
                  <a:lnTo>
                    <a:pt x="1310767" y="0"/>
                  </a:lnTo>
                  <a:lnTo>
                    <a:pt x="1310767" y="7423404"/>
                  </a:lnTo>
                  <a:lnTo>
                    <a:pt x="0" y="7423404"/>
                  </a:lnTo>
                  <a:close/>
                </a:path>
              </a:pathLst>
            </a:custGeom>
            <a:gradFill rotWithShape="1">
              <a:gsLst>
                <a:gs pos="0">
                  <a:srgbClr val="FFFFFF">
                    <a:alpha val="0"/>
                  </a:srgbClr>
                </a:gs>
                <a:gs pos="100000">
                  <a:srgbClr val="FFFFFF">
                    <a:alpha val="35000"/>
                  </a:srgbClr>
                </a:gs>
              </a:gsLst>
              <a:lin ang="5400000"/>
            </a:gradFill>
          </p:spPr>
        </p:sp>
      </p:grpSp>
      <p:sp>
        <p:nvSpPr>
          <p:cNvPr id="63" name="TextBox 36"/>
          <p:cNvSpPr txBox="1"/>
          <p:nvPr/>
        </p:nvSpPr>
        <p:spPr>
          <a:xfrm>
            <a:off x="6688092" y="985642"/>
            <a:ext cx="9224702" cy="887076"/>
          </a:xfrm>
          <a:prstGeom prst="rect">
            <a:avLst/>
          </a:prstGeom>
        </p:spPr>
        <p:txBody>
          <a:bodyPr lIns="0" tIns="0" rIns="0" bIns="0" rtlCol="0" anchor="t">
            <a:spAutoFit/>
          </a:bodyPr>
          <a:lstStyle/>
          <a:p>
            <a:pPr>
              <a:lnSpc>
                <a:spcPts val="7280"/>
              </a:lnSpc>
            </a:pPr>
            <a:r>
              <a:rPr lang="en-US" altLang="zh-CN" sz="5200" b="1"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养老服务信托模式</a:t>
            </a:r>
            <a:endParaRPr lang="en-US" altLang="zh-CN" sz="52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pic>
        <p:nvPicPr>
          <p:cNvPr id="64" name="图片 63"/>
          <p:cNvPicPr>
            <a:picLocks noChangeAspect="1"/>
          </p:cNvPicPr>
          <p:nvPr/>
        </p:nvPicPr>
        <p:blipFill>
          <a:blip r:embed="rId5"/>
          <a:stretch>
            <a:fillRect/>
          </a:stretch>
        </p:blipFill>
        <p:spPr>
          <a:xfrm>
            <a:off x="6222009" y="2933700"/>
            <a:ext cx="12238037" cy="6061554"/>
          </a:xfrm>
          <a:prstGeom prst="rect">
            <a:avLst/>
          </a:prstGeom>
        </p:spPr>
      </p:pic>
      <p:sp>
        <p:nvSpPr>
          <p:cNvPr id="65" name="矩形: 圆角 8"/>
          <p:cNvSpPr/>
          <p:nvPr/>
        </p:nvSpPr>
        <p:spPr>
          <a:xfrm>
            <a:off x="598160" y="2116496"/>
            <a:ext cx="5379473" cy="2759295"/>
          </a:xfrm>
          <a:prstGeom prst="roundRect">
            <a:avLst>
              <a:gd name="adj" fmla="val 7119"/>
            </a:avLst>
          </a:prstGeom>
          <a:solidFill>
            <a:schemeClr val="bg1"/>
          </a:solidFill>
          <a:ln>
            <a:solidFill>
              <a:srgbClr val="FFC000"/>
            </a:solidFill>
          </a:ln>
          <a:effectLst>
            <a:glow rad="215900">
              <a:schemeClr val="accent6">
                <a:satMod val="175000"/>
                <a:alpha val="27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dirty="0">
              <a:solidFill>
                <a:schemeClr val="tx1"/>
              </a:solidFill>
              <a:latin typeface="微软雅黑" panose="020B0503020204020204" pitchFamily="34" charset="-122"/>
              <a:ea typeface="微软雅黑" panose="020B0503020204020204" pitchFamily="34" charset="-122"/>
            </a:endParaRPr>
          </a:p>
        </p:txBody>
      </p:sp>
      <p:sp>
        <p:nvSpPr>
          <p:cNvPr id="69" name="矩形: 圆角 9"/>
          <p:cNvSpPr/>
          <p:nvPr/>
        </p:nvSpPr>
        <p:spPr>
          <a:xfrm>
            <a:off x="592606" y="5435688"/>
            <a:ext cx="5379473" cy="4324538"/>
          </a:xfrm>
          <a:prstGeom prst="roundRect">
            <a:avLst>
              <a:gd name="adj" fmla="val 7119"/>
            </a:avLst>
          </a:prstGeom>
          <a:solidFill>
            <a:schemeClr val="bg1"/>
          </a:solidFill>
          <a:ln>
            <a:solidFill>
              <a:srgbClr val="FFC000"/>
            </a:solidFill>
          </a:ln>
          <a:effectLst>
            <a:glow rad="215900">
              <a:schemeClr val="accent6">
                <a:satMod val="175000"/>
                <a:alpha val="27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70" name="Freeform 37"/>
          <p:cNvSpPr/>
          <p:nvPr/>
        </p:nvSpPr>
        <p:spPr>
          <a:xfrm>
            <a:off x="738568" y="2229484"/>
            <a:ext cx="1599115" cy="467229"/>
          </a:xfrm>
          <a:custGeom>
            <a:avLst/>
            <a:gdLst/>
            <a:ahLst/>
            <a:cxnLst/>
            <a:rect l="l" t="t" r="r" b="b"/>
            <a:pathLst>
              <a:path w="9010784" h="1211580">
                <a:moveTo>
                  <a:pt x="0" y="201930"/>
                </a:moveTo>
                <a:cubicBezTo>
                  <a:pt x="0" y="90424"/>
                  <a:pt x="66296" y="0"/>
                  <a:pt x="148138" y="0"/>
                </a:cubicBezTo>
                <a:lnTo>
                  <a:pt x="8862647" y="0"/>
                </a:lnTo>
                <a:cubicBezTo>
                  <a:pt x="8944489" y="0"/>
                  <a:pt x="9010785" y="90424"/>
                  <a:pt x="9010785" y="201930"/>
                </a:cubicBezTo>
                <a:lnTo>
                  <a:pt x="9010785" y="1009650"/>
                </a:lnTo>
                <a:cubicBezTo>
                  <a:pt x="9010785" y="1121156"/>
                  <a:pt x="8944489" y="1211580"/>
                  <a:pt x="8862647" y="1211580"/>
                </a:cubicBezTo>
                <a:lnTo>
                  <a:pt x="148138" y="1211580"/>
                </a:lnTo>
                <a:cubicBezTo>
                  <a:pt x="66296" y="1211580"/>
                  <a:pt x="0" y="1121156"/>
                  <a:pt x="0" y="1009650"/>
                </a:cubicBezTo>
                <a:close/>
              </a:path>
            </a:pathLst>
          </a:custGeom>
          <a:gradFill flip="none" rotWithShape="1">
            <a:gsLst>
              <a:gs pos="0">
                <a:srgbClr val="FF5400">
                  <a:alpha val="33000"/>
                </a:srgbClr>
              </a:gs>
              <a:gs pos="51000">
                <a:schemeClr val="bg1"/>
              </a:gs>
              <a:gs pos="100000">
                <a:srgbClr val="FF5400">
                  <a:alpha val="33000"/>
                </a:srgbClr>
              </a:gs>
            </a:gsLst>
            <a:lin ang="5400000" scaled="1"/>
            <a:tileRect/>
          </a:gradFill>
        </p:spPr>
      </p:sp>
      <p:sp>
        <p:nvSpPr>
          <p:cNvPr id="71" name="文本框 70"/>
          <p:cNvSpPr txBox="1"/>
          <p:nvPr/>
        </p:nvSpPr>
        <p:spPr>
          <a:xfrm>
            <a:off x="759025" y="2185883"/>
            <a:ext cx="1620957" cy="523220"/>
          </a:xfrm>
          <a:prstGeom prst="rect">
            <a:avLst/>
          </a:prstGeom>
          <a:noFill/>
        </p:spPr>
        <p:txBody>
          <a:bodyPr wrap="none" rtlCol="0">
            <a:spAutoFit/>
          </a:bodyPr>
          <a:lstStyle/>
          <a:p>
            <a:r>
              <a:rPr lang="zh-CN" altLang="en-US" sz="2800" dirty="0">
                <a:latin typeface="微软雅黑" panose="020B0503020204020204" pitchFamily="34" charset="-122"/>
                <a:ea typeface="微软雅黑" panose="020B0503020204020204" pitchFamily="34" charset="-122"/>
              </a:rPr>
              <a:t>设立信托</a:t>
            </a:r>
            <a:endParaRPr lang="zh-CN" altLang="en-US" sz="2800" dirty="0">
              <a:latin typeface="微软雅黑" panose="020B0503020204020204" pitchFamily="34" charset="-122"/>
              <a:ea typeface="微软雅黑" panose="020B0503020204020204" pitchFamily="34" charset="-122"/>
            </a:endParaRPr>
          </a:p>
        </p:txBody>
      </p:sp>
      <p:sp>
        <p:nvSpPr>
          <p:cNvPr id="72" name="文本框 71"/>
          <p:cNvSpPr txBox="1"/>
          <p:nvPr/>
        </p:nvSpPr>
        <p:spPr>
          <a:xfrm>
            <a:off x="685800" y="2865116"/>
            <a:ext cx="4932680" cy="429895"/>
          </a:xfrm>
          <a:prstGeom prst="rect">
            <a:avLst/>
          </a:prstGeom>
          <a:noFill/>
        </p:spPr>
        <p:txBody>
          <a:bodyPr wrap="none" rtlCol="0">
            <a:spAutoFit/>
          </a:bodyPr>
          <a:lstStyle/>
          <a:p>
            <a:r>
              <a:rPr lang="zh-CN" altLang="en-US" sz="2200" b="1" dirty="0">
                <a:latin typeface="微软雅黑" panose="020B0503020204020204" pitchFamily="34" charset="-122"/>
                <a:ea typeface="微软雅黑" panose="020B0503020204020204" pitchFamily="34" charset="-122"/>
              </a:rPr>
              <a:t>房产通过信托实现资产隔离与独立管理</a:t>
            </a:r>
            <a:endParaRPr lang="zh-CN" altLang="en-US" sz="2200" b="1" dirty="0">
              <a:latin typeface="微软雅黑" panose="020B0503020204020204" pitchFamily="34" charset="-122"/>
              <a:ea typeface="微软雅黑" panose="020B0503020204020204" pitchFamily="34" charset="-122"/>
            </a:endParaRPr>
          </a:p>
        </p:txBody>
      </p:sp>
      <p:sp>
        <p:nvSpPr>
          <p:cNvPr id="73" name="文本框 72"/>
          <p:cNvSpPr txBox="1"/>
          <p:nvPr/>
        </p:nvSpPr>
        <p:spPr>
          <a:xfrm>
            <a:off x="3683216" y="7688987"/>
            <a:ext cx="1422184"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服务供给</a:t>
            </a:r>
            <a:endParaRPr lang="zh-CN" altLang="en-US" sz="2400" b="1" dirty="0">
              <a:latin typeface="微软雅黑" panose="020B0503020204020204" pitchFamily="34" charset="-122"/>
              <a:ea typeface="微软雅黑" panose="020B0503020204020204" pitchFamily="34" charset="-122"/>
            </a:endParaRPr>
          </a:p>
        </p:txBody>
      </p:sp>
      <p:sp>
        <p:nvSpPr>
          <p:cNvPr id="74" name="文本框 73"/>
          <p:cNvSpPr txBox="1"/>
          <p:nvPr/>
        </p:nvSpPr>
        <p:spPr>
          <a:xfrm>
            <a:off x="3666410" y="8916726"/>
            <a:ext cx="1422184"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资产盘活</a:t>
            </a:r>
            <a:endParaRPr lang="zh-CN" altLang="en-US" sz="2400" b="1" dirty="0">
              <a:latin typeface="微软雅黑" panose="020B0503020204020204" pitchFamily="34" charset="-122"/>
              <a:ea typeface="微软雅黑" panose="020B0503020204020204" pitchFamily="34" charset="-122"/>
            </a:endParaRPr>
          </a:p>
        </p:txBody>
      </p:sp>
      <p:sp>
        <p:nvSpPr>
          <p:cNvPr id="75" name="Freeform 37"/>
          <p:cNvSpPr/>
          <p:nvPr/>
        </p:nvSpPr>
        <p:spPr>
          <a:xfrm>
            <a:off x="812116" y="5624411"/>
            <a:ext cx="2978005" cy="461665"/>
          </a:xfrm>
          <a:custGeom>
            <a:avLst/>
            <a:gdLst/>
            <a:ahLst/>
            <a:cxnLst/>
            <a:rect l="l" t="t" r="r" b="b"/>
            <a:pathLst>
              <a:path w="9010784" h="1211580">
                <a:moveTo>
                  <a:pt x="0" y="201930"/>
                </a:moveTo>
                <a:cubicBezTo>
                  <a:pt x="0" y="90424"/>
                  <a:pt x="66296" y="0"/>
                  <a:pt x="148138" y="0"/>
                </a:cubicBezTo>
                <a:lnTo>
                  <a:pt x="8862647" y="0"/>
                </a:lnTo>
                <a:cubicBezTo>
                  <a:pt x="8944489" y="0"/>
                  <a:pt x="9010785" y="90424"/>
                  <a:pt x="9010785" y="201930"/>
                </a:cubicBezTo>
                <a:lnTo>
                  <a:pt x="9010785" y="1009650"/>
                </a:lnTo>
                <a:cubicBezTo>
                  <a:pt x="9010785" y="1121156"/>
                  <a:pt x="8944489" y="1211580"/>
                  <a:pt x="8862647" y="1211580"/>
                </a:cubicBezTo>
                <a:lnTo>
                  <a:pt x="148138" y="1211580"/>
                </a:lnTo>
                <a:cubicBezTo>
                  <a:pt x="66296" y="1211580"/>
                  <a:pt x="0" y="1121156"/>
                  <a:pt x="0" y="1009650"/>
                </a:cubicBezTo>
                <a:close/>
              </a:path>
            </a:pathLst>
          </a:custGeom>
          <a:gradFill flip="none" rotWithShape="1">
            <a:gsLst>
              <a:gs pos="0">
                <a:srgbClr val="FF5400">
                  <a:alpha val="33000"/>
                </a:srgbClr>
              </a:gs>
              <a:gs pos="51000">
                <a:schemeClr val="bg1"/>
              </a:gs>
              <a:gs pos="100000">
                <a:srgbClr val="FF5400">
                  <a:alpha val="33000"/>
                </a:srgbClr>
              </a:gs>
            </a:gsLst>
            <a:lin ang="5400000" scaled="1"/>
            <a:tileRect/>
          </a:gradFill>
        </p:spPr>
        <p:txBody>
          <a:bodyPr/>
          <a:lstStyle/>
          <a:p>
            <a:r>
              <a:rPr lang="zh-CN" altLang="en-US" sz="2400" dirty="0">
                <a:latin typeface="微软雅黑" panose="020B0503020204020204" pitchFamily="34" charset="-122"/>
                <a:ea typeface="微软雅黑" panose="020B0503020204020204" pitchFamily="34" charset="-122"/>
              </a:rPr>
              <a:t>一站式养老服务公司</a:t>
            </a:r>
            <a:endParaRPr lang="zh-CN" altLang="en-US" sz="2400" dirty="0">
              <a:latin typeface="微软雅黑" panose="020B0503020204020204" pitchFamily="34" charset="-122"/>
              <a:ea typeface="微软雅黑" panose="020B0503020204020204" pitchFamily="34" charset="-122"/>
            </a:endParaRPr>
          </a:p>
        </p:txBody>
      </p:sp>
      <p:sp>
        <p:nvSpPr>
          <p:cNvPr id="76" name="文本框 75"/>
          <p:cNvSpPr txBox="1"/>
          <p:nvPr/>
        </p:nvSpPr>
        <p:spPr>
          <a:xfrm>
            <a:off x="3683216" y="6441175"/>
            <a:ext cx="1422184"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政府兜底</a:t>
            </a:r>
            <a:endParaRPr lang="zh-CN" altLang="en-US" sz="2400" b="1" dirty="0">
              <a:latin typeface="微软雅黑" panose="020B0503020204020204" pitchFamily="34" charset="-122"/>
              <a:ea typeface="微软雅黑" panose="020B0503020204020204" pitchFamily="34" charset="-122"/>
            </a:endParaRPr>
          </a:p>
        </p:txBody>
      </p:sp>
      <p:sp>
        <p:nvSpPr>
          <p:cNvPr id="77" name="Freeform 3"/>
          <p:cNvSpPr/>
          <p:nvPr/>
        </p:nvSpPr>
        <p:spPr>
          <a:xfrm>
            <a:off x="1058777" y="6086102"/>
            <a:ext cx="2215229" cy="3629398"/>
          </a:xfrm>
          <a:custGeom>
            <a:avLst/>
            <a:gdLst/>
            <a:ahLst/>
            <a:cxnLst/>
            <a:rect l="l" t="t" r="r" b="b"/>
            <a:pathLst>
              <a:path w="4613788" h="7592091">
                <a:moveTo>
                  <a:pt x="0" y="0"/>
                </a:moveTo>
                <a:lnTo>
                  <a:pt x="4613788" y="0"/>
                </a:lnTo>
                <a:lnTo>
                  <a:pt x="4613788" y="7592091"/>
                </a:lnTo>
                <a:lnTo>
                  <a:pt x="0" y="7592091"/>
                </a:lnTo>
                <a:lnTo>
                  <a:pt x="0" y="0"/>
                </a:lnTo>
                <a:close/>
              </a:path>
            </a:pathLst>
          </a:custGeom>
          <a:blipFill>
            <a:blip r:embed="rId6"/>
            <a:stretch>
              <a:fillRect/>
            </a:stretch>
          </a:blipFill>
        </p:spPr>
      </p:sp>
      <p:sp>
        <p:nvSpPr>
          <p:cNvPr id="78" name="Freeform 4"/>
          <p:cNvSpPr/>
          <p:nvPr/>
        </p:nvSpPr>
        <p:spPr>
          <a:xfrm>
            <a:off x="825033" y="3542848"/>
            <a:ext cx="4737568" cy="1227801"/>
          </a:xfrm>
          <a:custGeom>
            <a:avLst/>
            <a:gdLst/>
            <a:ahLst/>
            <a:cxnLst/>
            <a:rect l="l" t="t" r="r" b="b"/>
            <a:pathLst>
              <a:path w="11301259" h="2910074">
                <a:moveTo>
                  <a:pt x="0" y="0"/>
                </a:moveTo>
                <a:lnTo>
                  <a:pt x="11301259" y="0"/>
                </a:lnTo>
                <a:lnTo>
                  <a:pt x="11301259" y="2910074"/>
                </a:lnTo>
                <a:lnTo>
                  <a:pt x="0" y="2910074"/>
                </a:lnTo>
                <a:lnTo>
                  <a:pt x="0" y="0"/>
                </a:lnTo>
                <a:close/>
              </a:path>
            </a:pathLst>
          </a:custGeom>
          <a:blipFill>
            <a:blip r:embed="rId7"/>
            <a:stretch>
              <a:fillRect/>
            </a:stretch>
          </a:blipFill>
        </p:spPr>
      </p:sp>
      <p:sp>
        <p:nvSpPr>
          <p:cNvPr id="79" name="箭头: 五边形 19"/>
          <p:cNvSpPr/>
          <p:nvPr/>
        </p:nvSpPr>
        <p:spPr>
          <a:xfrm>
            <a:off x="2438400" y="3863634"/>
            <a:ext cx="1752600" cy="785907"/>
          </a:xfrm>
          <a:prstGeom prst="homePlate">
            <a:avLst/>
          </a:prstGeom>
          <a:gradFill flip="none" rotWithShape="1">
            <a:gsLst>
              <a:gs pos="0">
                <a:srgbClr val="E26C27"/>
              </a:gs>
              <a:gs pos="50000">
                <a:srgbClr val="FAC13C"/>
              </a:gs>
              <a:gs pos="100000">
                <a:srgbClr val="FDF3CF"/>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养老服务</a:t>
            </a:r>
            <a:endParaRPr lang="zh-CN" altLang="en-US" sz="2400" b="1" dirty="0">
              <a:solidFill>
                <a:schemeClr val="tx1"/>
              </a:solidFill>
              <a:latin typeface="微软雅黑" panose="020B0503020204020204" pitchFamily="34" charset="-122"/>
              <a:ea typeface="微软雅黑" panose="020B0503020204020204" pitchFamily="34" charset="-122"/>
            </a:endParaRPr>
          </a:p>
        </p:txBody>
      </p:sp>
      <p:sp>
        <p:nvSpPr>
          <p:cNvPr id="80" name="箭头: 五边形 20"/>
          <p:cNvSpPr/>
          <p:nvPr/>
        </p:nvSpPr>
        <p:spPr>
          <a:xfrm>
            <a:off x="2244226" y="6433531"/>
            <a:ext cx="1396879" cy="451388"/>
          </a:xfrm>
          <a:prstGeom prst="homePlate">
            <a:avLst/>
          </a:prstGeom>
          <a:gradFill flip="none" rotWithShape="1">
            <a:gsLst>
              <a:gs pos="0">
                <a:srgbClr val="E26C27"/>
              </a:gs>
              <a:gs pos="50000">
                <a:srgbClr val="FAC13C"/>
              </a:gs>
              <a:gs pos="100000">
                <a:srgbClr val="FDF3CF"/>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900" b="1" dirty="0">
                <a:solidFill>
                  <a:schemeClr val="tx1"/>
                </a:solidFill>
                <a:latin typeface="微软雅黑" panose="020B0503020204020204" pitchFamily="34" charset="-122"/>
                <a:ea typeface="微软雅黑" panose="020B0503020204020204" pitchFamily="34" charset="-122"/>
              </a:rPr>
              <a:t>养老国企</a:t>
            </a:r>
            <a:endParaRPr lang="zh-CN" altLang="en-US" sz="1900" b="1" dirty="0">
              <a:solidFill>
                <a:schemeClr val="tx1"/>
              </a:solidFill>
              <a:latin typeface="微软雅黑" panose="020B0503020204020204" pitchFamily="34" charset="-122"/>
              <a:ea typeface="微软雅黑" panose="020B0503020204020204" pitchFamily="34" charset="-122"/>
            </a:endParaRPr>
          </a:p>
        </p:txBody>
      </p:sp>
      <p:sp>
        <p:nvSpPr>
          <p:cNvPr id="81" name="箭头: 五边形 21"/>
          <p:cNvSpPr/>
          <p:nvPr/>
        </p:nvSpPr>
        <p:spPr>
          <a:xfrm>
            <a:off x="2244226" y="7622269"/>
            <a:ext cx="1422184" cy="461665"/>
          </a:xfrm>
          <a:prstGeom prst="homePlate">
            <a:avLst/>
          </a:prstGeom>
          <a:gradFill flip="none" rotWithShape="1">
            <a:gsLst>
              <a:gs pos="0">
                <a:srgbClr val="E26C27"/>
              </a:gs>
              <a:gs pos="50000">
                <a:srgbClr val="FAC13C"/>
              </a:gs>
              <a:gs pos="100000">
                <a:srgbClr val="FDF3CF"/>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900" b="1" dirty="0">
                <a:solidFill>
                  <a:schemeClr val="tx1"/>
                </a:solidFill>
                <a:latin typeface="微软雅黑" panose="020B0503020204020204" pitchFamily="34" charset="-122"/>
                <a:ea typeface="微软雅黑" panose="020B0503020204020204" pitchFamily="34" charset="-122"/>
              </a:rPr>
              <a:t>房产国企</a:t>
            </a:r>
            <a:endParaRPr lang="zh-CN" altLang="en-US" sz="1900" b="1" dirty="0">
              <a:solidFill>
                <a:schemeClr val="tx1"/>
              </a:solidFill>
              <a:latin typeface="微软雅黑" panose="020B0503020204020204" pitchFamily="34" charset="-122"/>
              <a:ea typeface="微软雅黑" panose="020B0503020204020204" pitchFamily="34" charset="-122"/>
            </a:endParaRPr>
          </a:p>
        </p:txBody>
      </p:sp>
      <p:sp>
        <p:nvSpPr>
          <p:cNvPr id="82" name="箭头: 五边形 22"/>
          <p:cNvSpPr/>
          <p:nvPr/>
        </p:nvSpPr>
        <p:spPr>
          <a:xfrm>
            <a:off x="2244226" y="8821284"/>
            <a:ext cx="1365053" cy="695428"/>
          </a:xfrm>
          <a:prstGeom prst="homePlate">
            <a:avLst/>
          </a:prstGeom>
          <a:gradFill flip="none" rotWithShape="1">
            <a:gsLst>
              <a:gs pos="0">
                <a:srgbClr val="E26C27"/>
              </a:gs>
              <a:gs pos="50000">
                <a:srgbClr val="FAC13C"/>
              </a:gs>
              <a:gs pos="100000">
                <a:srgbClr val="FDF3CF"/>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900" b="1" dirty="0">
                <a:solidFill>
                  <a:schemeClr val="tx1"/>
                </a:solidFill>
                <a:latin typeface="微软雅黑" panose="020B0503020204020204" pitchFamily="34" charset="-122"/>
                <a:ea typeface="微软雅黑" panose="020B0503020204020204" pitchFamily="34" charset="-122"/>
              </a:rPr>
              <a:t>金融</a:t>
            </a:r>
            <a:endParaRPr lang="en-US" altLang="zh-CN" sz="1900" b="1" dirty="0">
              <a:solidFill>
                <a:schemeClr val="tx1"/>
              </a:solidFill>
              <a:latin typeface="微软雅黑" panose="020B0503020204020204" pitchFamily="34" charset="-122"/>
              <a:ea typeface="微软雅黑" panose="020B0503020204020204" pitchFamily="34" charset="-122"/>
            </a:endParaRPr>
          </a:p>
          <a:p>
            <a:pPr algn="ctr"/>
            <a:r>
              <a:rPr lang="zh-CN" altLang="en-US" sz="1900" b="1" dirty="0">
                <a:solidFill>
                  <a:schemeClr val="tx1"/>
                </a:solidFill>
                <a:latin typeface="微软雅黑" panose="020B0503020204020204" pitchFamily="34" charset="-122"/>
                <a:ea typeface="微软雅黑" panose="020B0503020204020204" pitchFamily="34" charset="-122"/>
              </a:rPr>
              <a:t>机构</a:t>
            </a:r>
            <a:endParaRPr lang="zh-CN" altLang="en-US" sz="1900" b="1" dirty="0">
              <a:solidFill>
                <a:schemeClr val="tx1"/>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5189855" y="-395605"/>
            <a:ext cx="12693015" cy="1165860"/>
            <a:chOff x="8173" y="-623"/>
            <a:chExt cx="19989" cy="1836"/>
          </a:xfrm>
        </p:grpSpPr>
        <p:grpSp>
          <p:nvGrpSpPr>
            <p:cNvPr id="16" name="Group 35"/>
            <p:cNvGrpSpPr/>
            <p:nvPr/>
          </p:nvGrpSpPr>
          <p:grpSpPr>
            <a:xfrm>
              <a:off x="21455" y="-623"/>
              <a:ext cx="3351" cy="1836"/>
              <a:chOff x="-4407" y="-123825"/>
              <a:chExt cx="613756" cy="307110"/>
            </a:xfrm>
          </p:grpSpPr>
          <p:sp>
            <p:nvSpPr>
              <p:cNvPr id="17" name="Freeform 36"/>
              <p:cNvSpPr/>
              <p:nvPr/>
            </p:nvSpPr>
            <p:spPr>
              <a:xfrm>
                <a:off x="-4407" y="8261"/>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dirty="0"/>
              </a:p>
            </p:txBody>
          </p:sp>
          <p:sp>
            <p:nvSpPr>
              <p:cNvPr id="21"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24" name="TextBox 64"/>
            <p:cNvSpPr txBox="1"/>
            <p:nvPr/>
          </p:nvSpPr>
          <p:spPr>
            <a:xfrm>
              <a:off x="18000" y="327"/>
              <a:ext cx="3645" cy="727"/>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5" name="TextBox 66"/>
            <p:cNvSpPr txBox="1"/>
            <p:nvPr/>
          </p:nvSpPr>
          <p:spPr>
            <a:xfrm>
              <a:off x="8173" y="314"/>
              <a:ext cx="3645" cy="727"/>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6" name="TextBox 65"/>
            <p:cNvSpPr txBox="1"/>
            <p:nvPr/>
          </p:nvSpPr>
          <p:spPr>
            <a:xfrm>
              <a:off x="24646" y="314"/>
              <a:ext cx="3516" cy="727"/>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7" name="TextBox 66"/>
            <p:cNvSpPr txBox="1"/>
            <p:nvPr/>
          </p:nvSpPr>
          <p:spPr>
            <a:xfrm>
              <a:off x="14751" y="296"/>
              <a:ext cx="3645" cy="727"/>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5" name="TextBox 66"/>
            <p:cNvSpPr txBox="1"/>
            <p:nvPr/>
          </p:nvSpPr>
          <p:spPr>
            <a:xfrm>
              <a:off x="11534" y="301"/>
              <a:ext cx="3645" cy="727"/>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6" name="TextBox 66"/>
            <p:cNvSpPr txBox="1"/>
            <p:nvPr/>
          </p:nvSpPr>
          <p:spPr>
            <a:xfrm>
              <a:off x="21289" y="339"/>
              <a:ext cx="3645" cy="727"/>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a:off x="7055501"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2">
              <a:alphaModFix amt="9999"/>
            </a:blip>
            <a:stretch>
              <a:fillRect r="-20235"/>
            </a:stretch>
          </a:blipFill>
          <a:ln w="19050" cap="sq">
            <a:solidFill>
              <a:srgbClr val="FCFBF9">
                <a:alpha val="9804"/>
              </a:srgbClr>
            </a:solidFill>
            <a:prstDash val="solid"/>
            <a:miter/>
          </a:ln>
        </p:spPr>
      </p:sp>
      <p:sp>
        <p:nvSpPr>
          <p:cNvPr id="8" name="Freeform 8"/>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3"/>
            <a:stretch>
              <a:fillRect t="-883"/>
            </a:stretch>
          </a:blipFill>
        </p:spPr>
      </p:sp>
      <p:grpSp>
        <p:nvGrpSpPr>
          <p:cNvPr id="9" name="Group 9"/>
          <p:cNvGrpSpPr/>
          <p:nvPr/>
        </p:nvGrpSpPr>
        <p:grpSpPr>
          <a:xfrm>
            <a:off x="237508" y="-2700949"/>
            <a:ext cx="5108019" cy="4595741"/>
            <a:chOff x="0" y="0"/>
            <a:chExt cx="6810692" cy="6127654"/>
          </a:xfrm>
        </p:grpSpPr>
        <p:grpSp>
          <p:nvGrpSpPr>
            <p:cNvPr id="10" name="Group 10"/>
            <p:cNvGrpSpPr/>
            <p:nvPr/>
          </p:nvGrpSpPr>
          <p:grpSpPr>
            <a:xfrm rot="215490">
              <a:off x="270254" y="293842"/>
              <a:ext cx="6370047" cy="5639832"/>
              <a:chOff x="0" y="0"/>
              <a:chExt cx="2560354" cy="2266854"/>
            </a:xfrm>
          </p:grpSpPr>
          <p:sp>
            <p:nvSpPr>
              <p:cNvPr id="11" name="Freeform 11"/>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2" name="TextBox 12"/>
              <p:cNvSpPr txBox="1"/>
              <p:nvPr/>
            </p:nvSpPr>
            <p:spPr>
              <a:xfrm>
                <a:off x="0" y="-38100"/>
                <a:ext cx="2560354" cy="2304954"/>
              </a:xfrm>
              <a:prstGeom prst="rect">
                <a:avLst/>
              </a:prstGeom>
            </p:spPr>
            <p:txBody>
              <a:bodyPr lIns="50800" tIns="50800" rIns="50800" bIns="50800" rtlCol="0" anchor="ctr"/>
              <a:lstStyle/>
              <a:p>
                <a:pPr algn="ctr">
                  <a:lnSpc>
                    <a:spcPts val="2800"/>
                  </a:lnSpc>
                </a:pPr>
              </a:p>
            </p:txBody>
          </p:sp>
        </p:grpSp>
        <p:grpSp>
          <p:nvGrpSpPr>
            <p:cNvPr id="13" name="Group 13"/>
            <p:cNvGrpSpPr/>
            <p:nvPr/>
          </p:nvGrpSpPr>
          <p:grpSpPr>
            <a:xfrm rot="215490">
              <a:off x="170392" y="193980"/>
              <a:ext cx="6370047" cy="5639832"/>
              <a:chOff x="0" y="0"/>
              <a:chExt cx="2560354" cy="2266854"/>
            </a:xfrm>
          </p:grpSpPr>
          <p:sp>
            <p:nvSpPr>
              <p:cNvPr id="14" name="Freeform 14"/>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5" name="TextBox 15"/>
              <p:cNvSpPr txBox="1"/>
              <p:nvPr/>
            </p:nvSpPr>
            <p:spPr>
              <a:xfrm>
                <a:off x="0" y="-38100"/>
                <a:ext cx="2560354" cy="2304954"/>
              </a:xfrm>
              <a:prstGeom prst="rect">
                <a:avLst/>
              </a:prstGeom>
            </p:spPr>
            <p:txBody>
              <a:bodyPr lIns="50800" tIns="50800" rIns="50800" bIns="50800" rtlCol="0" anchor="ctr"/>
              <a:lstStyle/>
              <a:p>
                <a:pPr algn="ctr">
                  <a:lnSpc>
                    <a:spcPts val="2800"/>
                  </a:lnSpc>
                </a:pPr>
              </a:p>
            </p:txBody>
          </p:sp>
        </p:grpSp>
        <p:grpSp>
          <p:nvGrpSpPr>
            <p:cNvPr id="16" name="Group 16"/>
            <p:cNvGrpSpPr/>
            <p:nvPr/>
          </p:nvGrpSpPr>
          <p:grpSpPr>
            <a:xfrm>
              <a:off x="123568" y="193980"/>
              <a:ext cx="6370047" cy="5639832"/>
              <a:chOff x="0" y="0"/>
              <a:chExt cx="2560354" cy="2266854"/>
            </a:xfrm>
          </p:grpSpPr>
          <p:sp>
            <p:nvSpPr>
              <p:cNvPr id="17" name="Freeform 17"/>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8" name="TextBox 18"/>
              <p:cNvSpPr txBox="1"/>
              <p:nvPr/>
            </p:nvSpPr>
            <p:spPr>
              <a:xfrm>
                <a:off x="0" y="-38100"/>
                <a:ext cx="2560354" cy="2304954"/>
              </a:xfrm>
              <a:prstGeom prst="rect">
                <a:avLst/>
              </a:prstGeom>
            </p:spPr>
            <p:txBody>
              <a:bodyPr lIns="50800" tIns="50800" rIns="50800" bIns="50800" rtlCol="0" anchor="ctr"/>
              <a:lstStyle/>
              <a:p>
                <a:pPr algn="ctr">
                  <a:lnSpc>
                    <a:spcPts val="2800"/>
                  </a:lnSpc>
                </a:pPr>
              </a:p>
            </p:txBody>
          </p:sp>
        </p:grpSp>
        <p:sp>
          <p:nvSpPr>
            <p:cNvPr id="19" name="AutoShape 19"/>
            <p:cNvSpPr/>
            <p:nvPr/>
          </p:nvSpPr>
          <p:spPr>
            <a:xfrm>
              <a:off x="639131" y="215825"/>
              <a:ext cx="5632293" cy="0"/>
            </a:xfrm>
            <a:prstGeom prst="line">
              <a:avLst/>
            </a:prstGeom>
            <a:ln w="43690" cap="rnd">
              <a:solidFill>
                <a:srgbClr val="EE7E35"/>
              </a:solidFill>
              <a:prstDash val="solid"/>
              <a:headEnd type="none" w="sm" len="sm"/>
              <a:tailEnd type="none" w="sm" len="sm"/>
            </a:ln>
          </p:spPr>
        </p:sp>
      </p:grpSp>
      <p:sp>
        <p:nvSpPr>
          <p:cNvPr id="28" name="Freeform 28"/>
          <p:cNvSpPr/>
          <p:nvPr/>
        </p:nvSpPr>
        <p:spPr>
          <a:xfrm flipH="1">
            <a:off x="451455" y="-32888"/>
            <a:ext cx="532726" cy="549717"/>
          </a:xfrm>
          <a:custGeom>
            <a:avLst/>
            <a:gdLst/>
            <a:ahLst/>
            <a:cxnLst/>
            <a:rect l="l" t="t" r="r" b="b"/>
            <a:pathLst>
              <a:path w="532726" h="549717">
                <a:moveTo>
                  <a:pt x="532727" y="0"/>
                </a:moveTo>
                <a:lnTo>
                  <a:pt x="0" y="0"/>
                </a:lnTo>
                <a:lnTo>
                  <a:pt x="0" y="549718"/>
                </a:lnTo>
                <a:lnTo>
                  <a:pt x="532727" y="549718"/>
                </a:lnTo>
                <a:lnTo>
                  <a:pt x="532727" y="0"/>
                </a:lnTo>
                <a:close/>
              </a:path>
            </a:pathLst>
          </a:custGeom>
          <a:blipFill>
            <a:blip r:embed="rId4"/>
            <a:stretch>
              <a:fillRect/>
            </a:stretch>
          </a:blipFill>
        </p:spPr>
      </p:sp>
      <p:grpSp>
        <p:nvGrpSpPr>
          <p:cNvPr id="30" name="Group 30"/>
          <p:cNvGrpSpPr/>
          <p:nvPr>
            <p:custDataLst>
              <p:tags r:id="rId5"/>
            </p:custDataLst>
          </p:nvPr>
        </p:nvGrpSpPr>
        <p:grpSpPr>
          <a:xfrm>
            <a:off x="1028700" y="1866900"/>
            <a:ext cx="16264378" cy="6345876"/>
            <a:chOff x="79273" y="0"/>
            <a:chExt cx="21685837" cy="8461169"/>
          </a:xfrm>
        </p:grpSpPr>
        <p:sp>
          <p:nvSpPr>
            <p:cNvPr id="31" name="Freeform 31"/>
            <p:cNvSpPr/>
            <p:nvPr/>
          </p:nvSpPr>
          <p:spPr>
            <a:xfrm>
              <a:off x="79273" y="0"/>
              <a:ext cx="21685837" cy="6371351"/>
            </a:xfrm>
            <a:custGeom>
              <a:avLst/>
              <a:gdLst/>
              <a:ahLst/>
              <a:cxnLst/>
              <a:rect l="l" t="t" r="r" b="b"/>
              <a:pathLst>
                <a:path w="21685837" h="6371351">
                  <a:moveTo>
                    <a:pt x="0" y="0"/>
                  </a:moveTo>
                  <a:lnTo>
                    <a:pt x="21685837" y="0"/>
                  </a:lnTo>
                  <a:lnTo>
                    <a:pt x="21685837" y="6371351"/>
                  </a:lnTo>
                  <a:lnTo>
                    <a:pt x="0" y="637135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2" name="Freeform 32"/>
            <p:cNvSpPr/>
            <p:nvPr>
              <p:custDataLst>
                <p:tags r:id="rId8"/>
              </p:custDataLst>
            </p:nvPr>
          </p:nvSpPr>
          <p:spPr>
            <a:xfrm>
              <a:off x="2222975" y="624265"/>
              <a:ext cx="832429" cy="831169"/>
            </a:xfrm>
            <a:custGeom>
              <a:avLst/>
              <a:gdLst/>
              <a:ahLst/>
              <a:cxnLst/>
              <a:rect l="l" t="t" r="r" b="b"/>
              <a:pathLst>
                <a:path w="832429" h="831169">
                  <a:moveTo>
                    <a:pt x="0" y="0"/>
                  </a:moveTo>
                  <a:lnTo>
                    <a:pt x="832429" y="0"/>
                  </a:lnTo>
                  <a:lnTo>
                    <a:pt x="832429" y="831169"/>
                  </a:lnTo>
                  <a:lnTo>
                    <a:pt x="0" y="83116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3" name="Freeform 33"/>
            <p:cNvSpPr/>
            <p:nvPr>
              <p:custDataLst>
                <p:tags r:id="rId11"/>
              </p:custDataLst>
            </p:nvPr>
          </p:nvSpPr>
          <p:spPr>
            <a:xfrm>
              <a:off x="7118876" y="1781323"/>
              <a:ext cx="1048807" cy="752347"/>
            </a:xfrm>
            <a:custGeom>
              <a:avLst/>
              <a:gdLst/>
              <a:ahLst/>
              <a:cxnLst/>
              <a:rect l="l" t="t" r="r" b="b"/>
              <a:pathLst>
                <a:path w="1048807" h="752347">
                  <a:moveTo>
                    <a:pt x="0" y="0"/>
                  </a:moveTo>
                  <a:lnTo>
                    <a:pt x="1048807" y="0"/>
                  </a:lnTo>
                  <a:lnTo>
                    <a:pt x="1048807" y="752347"/>
                  </a:lnTo>
                  <a:lnTo>
                    <a:pt x="0" y="752347"/>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34" name="Freeform 34"/>
            <p:cNvSpPr/>
            <p:nvPr>
              <p:custDataLst>
                <p:tags r:id="rId14"/>
              </p:custDataLst>
            </p:nvPr>
          </p:nvSpPr>
          <p:spPr>
            <a:xfrm>
              <a:off x="12107784" y="2609674"/>
              <a:ext cx="923395" cy="922097"/>
            </a:xfrm>
            <a:custGeom>
              <a:avLst/>
              <a:gdLst/>
              <a:ahLst/>
              <a:cxnLst/>
              <a:rect l="l" t="t" r="r" b="b"/>
              <a:pathLst>
                <a:path w="923395" h="922097">
                  <a:moveTo>
                    <a:pt x="0" y="0"/>
                  </a:moveTo>
                  <a:lnTo>
                    <a:pt x="923395" y="0"/>
                  </a:lnTo>
                  <a:lnTo>
                    <a:pt x="923395" y="922097"/>
                  </a:lnTo>
                  <a:lnTo>
                    <a:pt x="0" y="922097"/>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35" name="Freeform 35"/>
            <p:cNvSpPr/>
            <p:nvPr/>
          </p:nvSpPr>
          <p:spPr>
            <a:xfrm>
              <a:off x="17496202" y="3867591"/>
              <a:ext cx="904871" cy="793936"/>
            </a:xfrm>
            <a:custGeom>
              <a:avLst/>
              <a:gdLst/>
              <a:ahLst/>
              <a:cxnLst/>
              <a:rect l="l" t="t" r="r" b="b"/>
              <a:pathLst>
                <a:path w="774516" h="787163">
                  <a:moveTo>
                    <a:pt x="0" y="0"/>
                  </a:moveTo>
                  <a:lnTo>
                    <a:pt x="774516" y="0"/>
                  </a:lnTo>
                  <a:lnTo>
                    <a:pt x="774516" y="787163"/>
                  </a:lnTo>
                  <a:lnTo>
                    <a:pt x="0" y="787163"/>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36" name="TextBox 36"/>
            <p:cNvSpPr txBox="1"/>
            <p:nvPr>
              <p:custDataLst>
                <p:tags r:id="rId19"/>
              </p:custDataLst>
            </p:nvPr>
          </p:nvSpPr>
          <p:spPr>
            <a:xfrm>
              <a:off x="387593" y="1604879"/>
              <a:ext cx="4503192" cy="1987127"/>
            </a:xfrm>
            <a:prstGeom prst="rect">
              <a:avLst/>
            </a:prstGeom>
          </p:spPr>
          <p:txBody>
            <a:bodyPr wrap="square" lIns="0" tIns="0" rIns="0" bIns="0" rtlCol="0" anchor="t">
              <a:spAutoFit/>
            </a:bodyPr>
            <a:lstStyle/>
            <a:p>
              <a:pPr algn="ctr">
                <a:lnSpc>
                  <a:spcPts val="3875"/>
                </a:lnSpc>
                <a:spcBef>
                  <a:spcPct val="0"/>
                </a:spcBef>
              </a:pPr>
              <a:r>
                <a:rPr lang="zh-CN" altLang="en-US"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rPr>
                <a:t>通过务实的调研，</a:t>
              </a:r>
              <a:endParaRPr lang="zh-CN" altLang="en-US"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endParaRPr>
            </a:p>
            <a:p>
              <a:pPr algn="ctr">
                <a:lnSpc>
                  <a:spcPts val="3875"/>
                </a:lnSpc>
                <a:spcBef>
                  <a:spcPct val="0"/>
                </a:spcBef>
              </a:pPr>
              <a:r>
                <a:rPr lang="zh-CN" altLang="en-US"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rPr>
                <a:t>聚焦产品落地</a:t>
              </a:r>
              <a:endParaRPr lang="zh-CN" altLang="en-US"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endParaRPr>
            </a:p>
            <a:p>
              <a:pPr algn="ctr">
                <a:lnSpc>
                  <a:spcPts val="3875"/>
                </a:lnSpc>
                <a:spcBef>
                  <a:spcPct val="0"/>
                </a:spcBef>
              </a:pPr>
              <a:endParaRPr lang="zh-CN" altLang="en-US"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endParaRPr>
            </a:p>
          </p:txBody>
        </p:sp>
        <p:sp>
          <p:nvSpPr>
            <p:cNvPr id="37" name="TextBox 37"/>
            <p:cNvSpPr txBox="1"/>
            <p:nvPr>
              <p:custDataLst>
                <p:tags r:id="rId20"/>
              </p:custDataLst>
            </p:nvPr>
          </p:nvSpPr>
          <p:spPr>
            <a:xfrm>
              <a:off x="5237617" y="2741080"/>
              <a:ext cx="4811321" cy="1280949"/>
            </a:xfrm>
            <a:prstGeom prst="rect">
              <a:avLst/>
            </a:prstGeom>
          </p:spPr>
          <p:txBody>
            <a:bodyPr wrap="square" lIns="0" tIns="0" rIns="0" bIns="0" rtlCol="0" anchor="t">
              <a:spAutoFit/>
            </a:bodyPr>
            <a:lstStyle/>
            <a:p>
              <a:pPr algn="ctr">
                <a:lnSpc>
                  <a:spcPts val="3875"/>
                </a:lnSpc>
                <a:spcBef>
                  <a:spcPct val="0"/>
                </a:spcBef>
              </a:pPr>
              <a:r>
                <a:rPr lang="zh-CN" altLang="en-US"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rPr>
                <a:t>精算定价与量化测试深度结合</a:t>
              </a:r>
              <a:endParaRPr lang="en-US"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endParaRPr>
            </a:p>
          </p:txBody>
        </p:sp>
        <p:sp>
          <p:nvSpPr>
            <p:cNvPr id="38" name="TextBox 38"/>
            <p:cNvSpPr txBox="1"/>
            <p:nvPr>
              <p:custDataLst>
                <p:tags r:id="rId21"/>
              </p:custDataLst>
            </p:nvPr>
          </p:nvSpPr>
          <p:spPr>
            <a:xfrm>
              <a:off x="10378771" y="3689065"/>
              <a:ext cx="4381421" cy="1280949"/>
            </a:xfrm>
            <a:prstGeom prst="rect">
              <a:avLst/>
            </a:prstGeom>
          </p:spPr>
          <p:txBody>
            <a:bodyPr wrap="square" lIns="0" tIns="0" rIns="0" bIns="0" rtlCol="0" anchor="t">
              <a:spAutoFit/>
            </a:bodyPr>
            <a:lstStyle/>
            <a:p>
              <a:pPr algn="ctr">
                <a:lnSpc>
                  <a:spcPts val="3875"/>
                </a:lnSpc>
                <a:spcBef>
                  <a:spcPct val="0"/>
                </a:spcBef>
              </a:pPr>
              <a:r>
                <a:rPr lang="zh-CN" altLang="en-US"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rPr>
                <a:t>契约条款的标准化与数字化</a:t>
              </a:r>
              <a:endParaRPr lang="en-US" altLang="zh-CN"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endParaRPr>
            </a:p>
          </p:txBody>
        </p:sp>
        <p:sp>
          <p:nvSpPr>
            <p:cNvPr id="39" name="TextBox 39"/>
            <p:cNvSpPr txBox="1"/>
            <p:nvPr/>
          </p:nvSpPr>
          <p:spPr>
            <a:xfrm>
              <a:off x="15441312" y="5058768"/>
              <a:ext cx="4998541" cy="614100"/>
            </a:xfrm>
            <a:prstGeom prst="rect">
              <a:avLst/>
            </a:prstGeom>
          </p:spPr>
          <p:txBody>
            <a:bodyPr wrap="square" lIns="0" tIns="0" rIns="0" bIns="0" rtlCol="0" anchor="t">
              <a:spAutoFit/>
            </a:bodyPr>
            <a:lstStyle/>
            <a:p>
              <a:pPr algn="ctr">
                <a:lnSpc>
                  <a:spcPts val="3875"/>
                </a:lnSpc>
                <a:spcBef>
                  <a:spcPct val="0"/>
                </a:spcBef>
              </a:pPr>
              <a:r>
                <a:rPr lang="zh-CN" altLang="en-US"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rPr>
                <a:t>金融与科技的双轮驱动</a:t>
              </a:r>
              <a:endParaRPr lang="en-US"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endParaRPr>
            </a:p>
          </p:txBody>
        </p:sp>
        <p:sp>
          <p:nvSpPr>
            <p:cNvPr id="40" name="TextBox 40"/>
            <p:cNvSpPr txBox="1"/>
            <p:nvPr/>
          </p:nvSpPr>
          <p:spPr>
            <a:xfrm>
              <a:off x="15168366" y="6468962"/>
              <a:ext cx="4876800" cy="1992207"/>
            </a:xfrm>
            <a:prstGeom prst="rect">
              <a:avLst/>
            </a:prstGeom>
          </p:spPr>
          <p:txBody>
            <a:bodyPr wrap="square" lIns="0" tIns="0" rIns="0" bIns="0" rtlCol="0" anchor="t">
              <a:spAutoFit/>
            </a:bodyPr>
            <a:lstStyle/>
            <a:p>
              <a:pPr marL="575310" lvl="1" indent="-342900">
                <a:lnSpc>
                  <a:spcPct val="150000"/>
                </a:lnSpc>
                <a:buFont typeface="Arial" panose="020B0604020202020204" pitchFamily="34" charset="0"/>
                <a:buChar char="•"/>
              </a:pPr>
              <a:r>
                <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rPr>
                <a:t>通过管理平台</a:t>
              </a:r>
              <a:r>
                <a:rPr lang="zh-CN" altLang="en-US" sz="2155" b="1" spc="152" dirty="0">
                  <a:solidFill>
                    <a:srgbClr val="000000"/>
                  </a:solidFill>
                  <a:latin typeface="微软雅黑" panose="020B0503020204020204" pitchFamily="34" charset="-122"/>
                  <a:ea typeface="微软雅黑" panose="020B0503020204020204" pitchFamily="34" charset="-122"/>
                  <a:cs typeface="思源黑体 1"/>
                  <a:sym typeface="思源黑体 1"/>
                </a:rPr>
                <a:t>原型展示</a:t>
              </a:r>
              <a:r>
                <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rPr>
                <a:t>，体现了数字金融在养老服务领域的应用前景</a:t>
              </a:r>
              <a:endPar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endParaRPr>
            </a:p>
          </p:txBody>
        </p:sp>
        <p:sp>
          <p:nvSpPr>
            <p:cNvPr id="41" name="TextBox 41"/>
            <p:cNvSpPr txBox="1"/>
            <p:nvPr>
              <p:custDataLst>
                <p:tags r:id="rId22"/>
              </p:custDataLst>
            </p:nvPr>
          </p:nvSpPr>
          <p:spPr>
            <a:xfrm>
              <a:off x="10068942" y="5446155"/>
              <a:ext cx="4811321" cy="2656840"/>
            </a:xfrm>
            <a:prstGeom prst="rect">
              <a:avLst/>
            </a:prstGeom>
          </p:spPr>
          <p:txBody>
            <a:bodyPr wrap="square" lIns="0" tIns="0" rIns="0" bIns="0" rtlCol="0" anchor="t">
              <a:spAutoFit/>
            </a:bodyPr>
            <a:lstStyle/>
            <a:p>
              <a:pPr marL="464820" lvl="1" indent="-232410">
                <a:lnSpc>
                  <a:spcPct val="150000"/>
                </a:lnSpc>
                <a:buFont typeface="Arial" panose="020B0604020202020204"/>
                <a:buChar char="•"/>
              </a:pPr>
              <a:r>
                <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rPr>
                <a:t>将复杂的法律表述转化为逻辑清晰的</a:t>
              </a:r>
              <a:r>
                <a:rPr lang="zh-CN" altLang="en-US" sz="2155" b="1" spc="152" dirty="0">
                  <a:solidFill>
                    <a:srgbClr val="000000"/>
                  </a:solidFill>
                  <a:latin typeface="微软雅黑" panose="020B0503020204020204" pitchFamily="34" charset="-122"/>
                  <a:ea typeface="微软雅黑" panose="020B0503020204020204" pitchFamily="34" charset="-122"/>
                  <a:cs typeface="思源黑体 1"/>
                  <a:sym typeface="思源黑体 1"/>
                </a:rPr>
                <a:t>财务公式</a:t>
              </a:r>
              <a:r>
                <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rPr>
                <a:t>，提升赎回权等制度设计的科学性</a:t>
              </a:r>
              <a:endParaRPr 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endParaRPr>
            </a:p>
          </p:txBody>
        </p:sp>
        <p:sp>
          <p:nvSpPr>
            <p:cNvPr id="42" name="TextBox 42"/>
            <p:cNvSpPr txBox="1"/>
            <p:nvPr>
              <p:custDataLst>
                <p:tags r:id="rId23"/>
              </p:custDataLst>
            </p:nvPr>
          </p:nvSpPr>
          <p:spPr>
            <a:xfrm>
              <a:off x="4926561" y="4444395"/>
              <a:ext cx="4966803" cy="1992207"/>
            </a:xfrm>
            <a:prstGeom prst="rect">
              <a:avLst/>
            </a:prstGeom>
          </p:spPr>
          <p:txBody>
            <a:bodyPr wrap="square" lIns="0" tIns="0" rIns="0" bIns="0" rtlCol="0" anchor="t">
              <a:spAutoFit/>
            </a:bodyPr>
            <a:lstStyle/>
            <a:p>
              <a:pPr marL="464820" lvl="1" indent="-232410">
                <a:lnSpc>
                  <a:spcPct val="150000"/>
                </a:lnSpc>
                <a:buFont typeface="Arial" panose="020B0604020202020204"/>
                <a:buChar char="•"/>
              </a:pPr>
              <a:r>
                <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rPr>
                <a:t>引入严谨的</a:t>
              </a:r>
              <a:r>
                <a:rPr lang="zh-CN" altLang="en-US" sz="2155" b="1" spc="152" dirty="0">
                  <a:solidFill>
                    <a:srgbClr val="000000"/>
                  </a:solidFill>
                  <a:latin typeface="微软雅黑" panose="020B0503020204020204" pitchFamily="34" charset="-122"/>
                  <a:ea typeface="微软雅黑" panose="020B0503020204020204" pitchFamily="34" charset="-122"/>
                  <a:cs typeface="思源黑体 1"/>
                  <a:sym typeface="思源黑体 1"/>
                </a:rPr>
                <a:t>量化风险测试</a:t>
              </a:r>
              <a:r>
                <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rPr>
                <a:t>，将金融工程中的期权理论转化为可执行的</a:t>
              </a:r>
              <a:r>
                <a:rPr lang="zh-CN" altLang="en-US" sz="2155" b="1" spc="152" dirty="0">
                  <a:solidFill>
                    <a:srgbClr val="000000"/>
                  </a:solidFill>
                  <a:latin typeface="微软雅黑" panose="020B0503020204020204" pitchFamily="34" charset="-122"/>
                  <a:ea typeface="微软雅黑" panose="020B0503020204020204" pitchFamily="34" charset="-122"/>
                  <a:cs typeface="思源黑体 1"/>
                  <a:sym typeface="思源黑体 1"/>
                </a:rPr>
                <a:t>费率参数</a:t>
              </a:r>
              <a:endPar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endParaRPr>
            </a:p>
          </p:txBody>
        </p:sp>
        <p:sp>
          <p:nvSpPr>
            <p:cNvPr id="43" name="TextBox 43"/>
            <p:cNvSpPr txBox="1"/>
            <p:nvPr>
              <p:custDataLst>
                <p:tags r:id="rId24"/>
              </p:custDataLst>
            </p:nvPr>
          </p:nvSpPr>
          <p:spPr>
            <a:xfrm>
              <a:off x="79273" y="3335008"/>
              <a:ext cx="4321659" cy="3321474"/>
            </a:xfrm>
            <a:prstGeom prst="rect">
              <a:avLst/>
            </a:prstGeom>
          </p:spPr>
          <p:txBody>
            <a:bodyPr lIns="0" tIns="0" rIns="0" bIns="0" rtlCol="0" anchor="t">
              <a:spAutoFit/>
            </a:bodyPr>
            <a:lstStyle/>
            <a:p>
              <a:pPr marL="464820" lvl="1" indent="-232410">
                <a:lnSpc>
                  <a:spcPct val="150000"/>
                </a:lnSpc>
                <a:buFont typeface="Arial" panose="020B0604020202020204"/>
                <a:buChar char="•"/>
              </a:pPr>
              <a:r>
                <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rPr>
                <a:t>跳出单纯的意愿调查视角，通过</a:t>
              </a:r>
              <a:r>
                <a:rPr lang="zh-CN" altLang="en-US" sz="2155" b="1" spc="152" dirty="0">
                  <a:solidFill>
                    <a:srgbClr val="000000"/>
                  </a:solidFill>
                  <a:latin typeface="微软雅黑" panose="020B0503020204020204" pitchFamily="34" charset="-122"/>
                  <a:ea typeface="微软雅黑" panose="020B0503020204020204" pitchFamily="34" charset="-122"/>
                  <a:cs typeface="思源黑体 1"/>
                  <a:sym typeface="思源黑体 1"/>
                </a:rPr>
                <a:t>业界深度访谈</a:t>
              </a:r>
              <a:r>
                <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rPr>
                <a:t>解决产品定价与风险控制等实务难题</a:t>
              </a:r>
              <a:endPar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endParaRPr>
            </a:p>
            <a:p>
              <a:pPr algn="l">
                <a:lnSpc>
                  <a:spcPct val="150000"/>
                </a:lnSpc>
              </a:pPr>
              <a:endParaRPr 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endParaRPr>
            </a:p>
          </p:txBody>
        </p:sp>
      </p:grpSp>
      <p:sp>
        <p:nvSpPr>
          <p:cNvPr id="46" name="TextBox 44"/>
          <p:cNvSpPr txBox="1"/>
          <p:nvPr/>
        </p:nvSpPr>
        <p:spPr>
          <a:xfrm>
            <a:off x="210031" y="163161"/>
            <a:ext cx="4728527" cy="1220470"/>
          </a:xfrm>
          <a:prstGeom prst="rect">
            <a:avLst/>
          </a:prstGeom>
        </p:spPr>
        <p:txBody>
          <a:bodyPr lIns="0" tIns="0" rIns="0" bIns="0" rtlCol="0" anchor="t">
            <a:spAutoFit/>
          </a:bodyPr>
          <a:lstStyle/>
          <a:p>
            <a:pPr marL="0" marR="0" lvl="0" indent="0" algn="ctr" defTabSz="914400" rtl="0" eaLnBrk="1" fontAlgn="auto" latinLnBrk="0" hangingPunct="1">
              <a:lnSpc>
                <a:spcPts val="4760"/>
              </a:lnSpc>
              <a:spcBef>
                <a:spcPts val="0"/>
              </a:spcBef>
              <a:spcAft>
                <a:spcPts val="0"/>
              </a:spcAft>
              <a:buClrTx/>
              <a:buSzTx/>
              <a:buFontTx/>
              <a:buNone/>
              <a:defRPr/>
            </a:pPr>
            <a:r>
              <a:rPr kumimoji="0" lang="zh-CN" altLang="en-US" sz="3400" b="1" i="0" u="none" strike="noStrike" kern="1200" cap="none" spc="-95" normalizeH="0" baseline="0" noProof="0" dirty="0">
                <a:ln>
                  <a:noFill/>
                </a:ln>
                <a:gradFill>
                  <a:gsLst>
                    <a:gs pos="0">
                      <a:srgbClr val="FF4C00">
                        <a:alpha val="100000"/>
                      </a:srgbClr>
                    </a:gs>
                    <a:gs pos="100000">
                      <a:srgbClr val="FF7400">
                        <a:alpha val="100000"/>
                      </a:srgbClr>
                    </a:gs>
                  </a:gsLst>
                  <a:lin ang="5400000"/>
                </a:gradFill>
                <a:effectLst/>
                <a:uLnTx/>
                <a:uFillTx/>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研究特色</a:t>
            </a:r>
            <a:endParaRPr kumimoji="0" lang="zh-CN" altLang="en-US" sz="3400" b="1" i="0" u="none" strike="noStrike" kern="1200" cap="none" spc="-95" normalizeH="0" baseline="0" noProof="0" dirty="0">
              <a:ln>
                <a:noFill/>
              </a:ln>
              <a:gradFill>
                <a:gsLst>
                  <a:gs pos="0">
                    <a:srgbClr val="FF4C00">
                      <a:alpha val="100000"/>
                    </a:srgbClr>
                  </a:gs>
                  <a:gs pos="100000">
                    <a:srgbClr val="FF7400">
                      <a:alpha val="100000"/>
                    </a:srgbClr>
                  </a:gs>
                </a:gsLst>
                <a:lin ang="5400000"/>
              </a:gradFill>
              <a:effectLst/>
              <a:uLnTx/>
              <a:uFillTx/>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marL="0" marR="0" lvl="0" indent="0" algn="ctr" defTabSz="914400" rtl="0" eaLnBrk="1" fontAlgn="auto" latinLnBrk="0" hangingPunct="1">
              <a:lnSpc>
                <a:spcPts val="4760"/>
              </a:lnSpc>
              <a:spcBef>
                <a:spcPts val="0"/>
              </a:spcBef>
              <a:spcAft>
                <a:spcPts val="0"/>
              </a:spcAft>
              <a:buClrTx/>
              <a:buSzTx/>
              <a:buFontTx/>
              <a:buNone/>
              <a:defRPr/>
            </a:pPr>
            <a:r>
              <a:rPr kumimoji="0" lang="zh-CN" altLang="en-US" sz="3400" b="1" i="0" u="none" strike="noStrike" kern="1200" cap="none" spc="-95" normalizeH="0" baseline="0" noProof="0" dirty="0">
                <a:ln>
                  <a:noFill/>
                </a:ln>
                <a:gradFill>
                  <a:gsLst>
                    <a:gs pos="0">
                      <a:srgbClr val="FF4C00">
                        <a:alpha val="100000"/>
                      </a:srgbClr>
                    </a:gs>
                    <a:gs pos="100000">
                      <a:srgbClr val="FF7400">
                        <a:alpha val="100000"/>
                      </a:srgbClr>
                    </a:gs>
                  </a:gsLst>
                  <a:lin ang="5400000"/>
                </a:gradFill>
                <a:effectLst/>
                <a:uLnTx/>
                <a:uFillTx/>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与创新点</a:t>
            </a:r>
            <a:endParaRPr kumimoji="0" lang="zh-CN" altLang="en-US" sz="3400" b="1" i="0" u="none" strike="noStrike" kern="1200" cap="none" spc="-95" normalizeH="0" baseline="0" noProof="0" dirty="0">
              <a:ln>
                <a:noFill/>
              </a:ln>
              <a:gradFill>
                <a:gsLst>
                  <a:gs pos="0">
                    <a:srgbClr val="FF4C00">
                      <a:alpha val="100000"/>
                    </a:srgbClr>
                  </a:gs>
                  <a:gs pos="100000">
                    <a:srgbClr val="FF7400">
                      <a:alpha val="100000"/>
                    </a:srgbClr>
                  </a:gs>
                </a:gsLst>
                <a:lin ang="5400000"/>
              </a:gradFill>
              <a:effectLst/>
              <a:uLnTx/>
              <a:uFillTx/>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pic>
        <p:nvPicPr>
          <p:cNvPr id="4" name="图片 3"/>
          <p:cNvPicPr>
            <a:picLocks noChangeAspect="1"/>
          </p:cNvPicPr>
          <p:nvPr/>
        </p:nvPicPr>
        <p:blipFill>
          <a:blip r:embed="rId25"/>
          <a:stretch>
            <a:fillRect/>
          </a:stretch>
        </p:blipFill>
        <p:spPr>
          <a:xfrm>
            <a:off x="8839200" y="8305800"/>
            <a:ext cx="5474335" cy="1838325"/>
          </a:xfrm>
          <a:prstGeom prst="rect">
            <a:avLst/>
          </a:prstGeom>
          <a:effectLst>
            <a:outerShdw blurRad="177800" dist="38100" dir="2700000" algn="tl" rotWithShape="0">
              <a:srgbClr val="B03600">
                <a:alpha val="40000"/>
              </a:srgbClr>
            </a:outerShdw>
          </a:effectLst>
          <a:scene3d>
            <a:camera prst="orthographicFront"/>
            <a:lightRig rig="threePt" dir="t"/>
          </a:scene3d>
          <a:sp3d extrusionH="76200" contourW="12700">
            <a:bevelT w="50800"/>
            <a:bevelB w="31750"/>
            <a:extrusionClr>
              <a:srgbClr val="F89F56"/>
            </a:extrusionClr>
            <a:contourClr>
              <a:srgbClr val="F89F56"/>
            </a:contourClr>
          </a:sp3d>
        </p:spPr>
      </p:pic>
      <p:pic>
        <p:nvPicPr>
          <p:cNvPr id="7" name="图片 6"/>
          <p:cNvPicPr>
            <a:picLocks noChangeAspect="1"/>
          </p:cNvPicPr>
          <p:nvPr/>
        </p:nvPicPr>
        <p:blipFill>
          <a:blip r:embed="rId26"/>
          <a:stretch>
            <a:fillRect/>
          </a:stretch>
        </p:blipFill>
        <p:spPr>
          <a:xfrm>
            <a:off x="1183640" y="6549390"/>
            <a:ext cx="2771140" cy="3662680"/>
          </a:xfrm>
          <a:prstGeom prst="rect">
            <a:avLst/>
          </a:prstGeom>
        </p:spPr>
      </p:pic>
      <p:pic>
        <p:nvPicPr>
          <p:cNvPr id="20" name="图片 19"/>
          <p:cNvPicPr>
            <a:picLocks noChangeAspect="1"/>
          </p:cNvPicPr>
          <p:nvPr/>
        </p:nvPicPr>
        <p:blipFill>
          <a:blip r:embed="rId27"/>
          <a:stretch>
            <a:fillRect/>
          </a:stretch>
        </p:blipFill>
        <p:spPr>
          <a:xfrm>
            <a:off x="5591175" y="7353300"/>
            <a:ext cx="1993900" cy="2821305"/>
          </a:xfrm>
          <a:prstGeom prst="rect">
            <a:avLst/>
          </a:prstGeom>
        </p:spPr>
      </p:pic>
      <p:grpSp>
        <p:nvGrpSpPr>
          <p:cNvPr id="23" name="组合 22"/>
          <p:cNvGrpSpPr/>
          <p:nvPr/>
        </p:nvGrpSpPr>
        <p:grpSpPr>
          <a:xfrm>
            <a:off x="5189855" y="-395605"/>
            <a:ext cx="12693015" cy="1165860"/>
            <a:chOff x="8173" y="-623"/>
            <a:chExt cx="19989" cy="1836"/>
          </a:xfrm>
        </p:grpSpPr>
        <p:grpSp>
          <p:nvGrpSpPr>
            <p:cNvPr id="5" name="Group 35"/>
            <p:cNvGrpSpPr/>
            <p:nvPr/>
          </p:nvGrpSpPr>
          <p:grpSpPr>
            <a:xfrm>
              <a:off x="21455" y="-623"/>
              <a:ext cx="3351" cy="1836"/>
              <a:chOff x="-4407" y="-123825"/>
              <a:chExt cx="613756" cy="307110"/>
            </a:xfrm>
          </p:grpSpPr>
          <p:sp>
            <p:nvSpPr>
              <p:cNvPr id="6" name="Freeform 36"/>
              <p:cNvSpPr/>
              <p:nvPr/>
            </p:nvSpPr>
            <p:spPr>
              <a:xfrm>
                <a:off x="-4407" y="8261"/>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dirty="0"/>
              </a:p>
            </p:txBody>
          </p:sp>
          <p:sp>
            <p:nvSpPr>
              <p:cNvPr id="21"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22" name="TextBox 64"/>
            <p:cNvSpPr txBox="1"/>
            <p:nvPr/>
          </p:nvSpPr>
          <p:spPr>
            <a:xfrm>
              <a:off x="18000" y="327"/>
              <a:ext cx="3645" cy="727"/>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4" name="TextBox 66"/>
            <p:cNvSpPr txBox="1"/>
            <p:nvPr/>
          </p:nvSpPr>
          <p:spPr>
            <a:xfrm>
              <a:off x="8173" y="314"/>
              <a:ext cx="3645" cy="727"/>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5" name="TextBox 65"/>
            <p:cNvSpPr txBox="1"/>
            <p:nvPr/>
          </p:nvSpPr>
          <p:spPr>
            <a:xfrm>
              <a:off x="24646" y="314"/>
              <a:ext cx="3516" cy="727"/>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6" name="TextBox 66"/>
            <p:cNvSpPr txBox="1"/>
            <p:nvPr/>
          </p:nvSpPr>
          <p:spPr>
            <a:xfrm>
              <a:off x="14751" y="296"/>
              <a:ext cx="3645" cy="727"/>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7" name="TextBox 66"/>
            <p:cNvSpPr txBox="1"/>
            <p:nvPr/>
          </p:nvSpPr>
          <p:spPr>
            <a:xfrm>
              <a:off x="11534" y="301"/>
              <a:ext cx="3645" cy="727"/>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9" name="TextBox 66"/>
            <p:cNvSpPr txBox="1"/>
            <p:nvPr/>
          </p:nvSpPr>
          <p:spPr>
            <a:xfrm>
              <a:off x="21289" y="339"/>
              <a:ext cx="3645" cy="727"/>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a:off x="7055501"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2">
              <a:alphaModFix amt="15000"/>
            </a:blip>
            <a:stretch>
              <a:fillRect r="-20235"/>
            </a:stretch>
          </a:blipFill>
          <a:ln w="19050" cap="sq">
            <a:solidFill>
              <a:srgbClr val="FCFBF9">
                <a:alpha val="14902"/>
              </a:srgbClr>
            </a:solidFill>
            <a:prstDash val="solid"/>
            <a:miter/>
          </a:ln>
        </p:spPr>
      </p:sp>
      <p:sp>
        <p:nvSpPr>
          <p:cNvPr id="28" name="Freeform 28"/>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3"/>
            <a:stretch>
              <a:fillRect t="-883"/>
            </a:stretch>
          </a:blipFill>
        </p:spPr>
      </p:sp>
      <p:grpSp>
        <p:nvGrpSpPr>
          <p:cNvPr id="29" name="Group 29"/>
          <p:cNvGrpSpPr/>
          <p:nvPr/>
        </p:nvGrpSpPr>
        <p:grpSpPr>
          <a:xfrm>
            <a:off x="160070" y="-2829424"/>
            <a:ext cx="5133103" cy="4618309"/>
            <a:chOff x="0" y="0"/>
            <a:chExt cx="6844137" cy="6157745"/>
          </a:xfrm>
        </p:grpSpPr>
        <p:grpSp>
          <p:nvGrpSpPr>
            <p:cNvPr id="30" name="Group 30"/>
            <p:cNvGrpSpPr/>
            <p:nvPr/>
          </p:nvGrpSpPr>
          <p:grpSpPr>
            <a:xfrm rot="215490">
              <a:off x="271581" y="295285"/>
              <a:ext cx="6401327" cy="5667527"/>
              <a:chOff x="0" y="0"/>
              <a:chExt cx="2560354" cy="2266854"/>
            </a:xfrm>
          </p:grpSpPr>
          <p:sp>
            <p:nvSpPr>
              <p:cNvPr id="31" name="Freeform 31"/>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32" name="TextBox 32"/>
              <p:cNvSpPr txBox="1"/>
              <p:nvPr/>
            </p:nvSpPr>
            <p:spPr>
              <a:xfrm>
                <a:off x="0" y="-38100"/>
                <a:ext cx="2560354" cy="2304954"/>
              </a:xfrm>
              <a:prstGeom prst="rect">
                <a:avLst/>
              </a:prstGeom>
            </p:spPr>
            <p:txBody>
              <a:bodyPr lIns="50800" tIns="50800" rIns="50800" bIns="50800" rtlCol="0" anchor="ctr"/>
              <a:lstStyle/>
              <a:p>
                <a:pPr marL="0" marR="0" lvl="0" indent="0" algn="ctr" defTabSz="914400" rtl="0" eaLnBrk="1" fontAlgn="auto" latinLnBrk="0" hangingPunct="1">
                  <a:lnSpc>
                    <a:spcPts val="28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3" name="Group 33"/>
            <p:cNvGrpSpPr/>
            <p:nvPr/>
          </p:nvGrpSpPr>
          <p:grpSpPr>
            <a:xfrm rot="215490">
              <a:off x="171229" y="194933"/>
              <a:ext cx="6401327" cy="5667527"/>
              <a:chOff x="0" y="0"/>
              <a:chExt cx="2560354" cy="2266854"/>
            </a:xfrm>
          </p:grpSpPr>
          <p:sp>
            <p:nvSpPr>
              <p:cNvPr id="34" name="Freeform 34"/>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35" name="TextBox 35"/>
              <p:cNvSpPr txBox="1"/>
              <p:nvPr/>
            </p:nvSpPr>
            <p:spPr>
              <a:xfrm>
                <a:off x="0" y="-38100"/>
                <a:ext cx="2560354" cy="2304954"/>
              </a:xfrm>
              <a:prstGeom prst="rect">
                <a:avLst/>
              </a:prstGeom>
            </p:spPr>
            <p:txBody>
              <a:bodyPr lIns="50800" tIns="50800" rIns="50800" bIns="50800" rtlCol="0" anchor="ctr"/>
              <a:lstStyle/>
              <a:p>
                <a:pPr marL="0" marR="0" lvl="0" indent="0" algn="ctr" defTabSz="914400" rtl="0" eaLnBrk="1" fontAlgn="auto" latinLnBrk="0" hangingPunct="1">
                  <a:lnSpc>
                    <a:spcPts val="28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6" name="Group 36"/>
            <p:cNvGrpSpPr/>
            <p:nvPr/>
          </p:nvGrpSpPr>
          <p:grpSpPr>
            <a:xfrm>
              <a:off x="124175" y="194933"/>
              <a:ext cx="6401327" cy="5667527"/>
              <a:chOff x="0" y="0"/>
              <a:chExt cx="2560354" cy="2266854"/>
            </a:xfrm>
          </p:grpSpPr>
          <p:sp>
            <p:nvSpPr>
              <p:cNvPr id="37" name="Freeform 37"/>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38" name="TextBox 38"/>
              <p:cNvSpPr txBox="1"/>
              <p:nvPr/>
            </p:nvSpPr>
            <p:spPr>
              <a:xfrm>
                <a:off x="0" y="-38100"/>
                <a:ext cx="2560354" cy="2304954"/>
              </a:xfrm>
              <a:prstGeom prst="rect">
                <a:avLst/>
              </a:prstGeom>
            </p:spPr>
            <p:txBody>
              <a:bodyPr lIns="50800" tIns="50800" rIns="50800" bIns="50800" rtlCol="0" anchor="ctr"/>
              <a:lstStyle/>
              <a:p>
                <a:pPr marL="0" marR="0" lvl="0" indent="0" algn="ctr" defTabSz="914400" rtl="0" eaLnBrk="1" fontAlgn="auto" latinLnBrk="0" hangingPunct="1">
                  <a:lnSpc>
                    <a:spcPts val="28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9" name="AutoShape 39"/>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43" name="Freeform 43"/>
          <p:cNvSpPr/>
          <p:nvPr/>
        </p:nvSpPr>
        <p:spPr>
          <a:xfrm flipH="1">
            <a:off x="160070" y="-71799"/>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4"/>
            <a:stretch>
              <a:fillRect/>
            </a:stretch>
          </a:blipFill>
        </p:spPr>
      </p:sp>
      <p:sp>
        <p:nvSpPr>
          <p:cNvPr id="44" name="TextBox 44"/>
          <p:cNvSpPr txBox="1"/>
          <p:nvPr/>
        </p:nvSpPr>
        <p:spPr>
          <a:xfrm>
            <a:off x="177011" y="135856"/>
            <a:ext cx="4728527" cy="1220470"/>
          </a:xfrm>
          <a:prstGeom prst="rect">
            <a:avLst/>
          </a:prstGeom>
        </p:spPr>
        <p:txBody>
          <a:bodyPr lIns="0" tIns="0" rIns="0" bIns="0" rtlCol="0" anchor="t">
            <a:spAutoFit/>
          </a:bodyPr>
          <a:lstStyle/>
          <a:p>
            <a:pPr marL="0" marR="0" lvl="0" indent="0" algn="ctr" defTabSz="914400" rtl="0" eaLnBrk="1" fontAlgn="auto" latinLnBrk="0" hangingPunct="1">
              <a:lnSpc>
                <a:spcPts val="4760"/>
              </a:lnSpc>
              <a:spcBef>
                <a:spcPts val="0"/>
              </a:spcBef>
              <a:spcAft>
                <a:spcPts val="0"/>
              </a:spcAft>
              <a:buClrTx/>
              <a:buSzTx/>
              <a:buFontTx/>
              <a:buNone/>
              <a:defRPr/>
            </a:pPr>
            <a:r>
              <a:rPr kumimoji="0" lang="zh-CN" altLang="en-US" sz="3400" b="1" i="0" u="none" strike="noStrike" kern="1200" cap="none" spc="-95" normalizeH="0" baseline="0" noProof="0">
                <a:ln>
                  <a:noFill/>
                </a:ln>
                <a:gradFill>
                  <a:gsLst>
                    <a:gs pos="0">
                      <a:srgbClr val="FF4C00">
                        <a:alpha val="100000"/>
                      </a:srgbClr>
                    </a:gs>
                    <a:gs pos="100000">
                      <a:srgbClr val="FF7400">
                        <a:alpha val="100000"/>
                      </a:srgbClr>
                    </a:gs>
                  </a:gsLst>
                  <a:lin ang="5400000"/>
                </a:gradFill>
                <a:effectLst/>
                <a:uLnTx/>
                <a:uFillTx/>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研究计划进度</a:t>
            </a:r>
            <a:endParaRPr kumimoji="0" lang="zh-CN" altLang="en-US" sz="3400" b="1" i="0" u="none" strike="noStrike" kern="1200" cap="none" spc="-95" normalizeH="0" baseline="0" noProof="0">
              <a:ln>
                <a:noFill/>
              </a:ln>
              <a:gradFill>
                <a:gsLst>
                  <a:gs pos="0">
                    <a:srgbClr val="FF4C00">
                      <a:alpha val="100000"/>
                    </a:srgbClr>
                  </a:gs>
                  <a:gs pos="100000">
                    <a:srgbClr val="FF7400">
                      <a:alpha val="100000"/>
                    </a:srgbClr>
                  </a:gs>
                </a:gsLst>
                <a:lin ang="5400000"/>
              </a:gradFill>
              <a:effectLst/>
              <a:uLnTx/>
              <a:uFillTx/>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marL="0" marR="0" lvl="0" indent="0" algn="ctr" defTabSz="914400" rtl="0" eaLnBrk="1" fontAlgn="auto" latinLnBrk="0" hangingPunct="1">
              <a:lnSpc>
                <a:spcPts val="4760"/>
              </a:lnSpc>
              <a:spcBef>
                <a:spcPts val="0"/>
              </a:spcBef>
              <a:spcAft>
                <a:spcPts val="0"/>
              </a:spcAft>
              <a:buClrTx/>
              <a:buSzTx/>
              <a:buFontTx/>
              <a:buNone/>
              <a:defRPr/>
            </a:pPr>
            <a:r>
              <a:rPr kumimoji="0" lang="zh-CN" altLang="en-US" sz="3400" b="1" i="0" u="none" strike="noStrike" kern="1200" cap="none" spc="-95" normalizeH="0" baseline="0" noProof="0">
                <a:ln>
                  <a:noFill/>
                </a:ln>
                <a:gradFill>
                  <a:gsLst>
                    <a:gs pos="0">
                      <a:srgbClr val="FF4C00">
                        <a:alpha val="100000"/>
                      </a:srgbClr>
                    </a:gs>
                    <a:gs pos="100000">
                      <a:srgbClr val="FF7400">
                        <a:alpha val="100000"/>
                      </a:srgbClr>
                    </a:gs>
                  </a:gsLst>
                  <a:lin ang="5400000"/>
                </a:gradFill>
                <a:effectLst/>
                <a:uLnTx/>
                <a:uFillTx/>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及预期成果</a:t>
            </a:r>
            <a:endParaRPr kumimoji="0" lang="zh-CN" altLang="en-US" sz="3400" b="1" i="0" u="none" strike="noStrike" kern="1200" cap="none" spc="-95" normalizeH="0" baseline="0" noProof="0">
              <a:ln>
                <a:noFill/>
              </a:ln>
              <a:gradFill>
                <a:gsLst>
                  <a:gs pos="0">
                    <a:srgbClr val="FF4C00">
                      <a:alpha val="100000"/>
                    </a:srgbClr>
                  </a:gs>
                  <a:gs pos="100000">
                    <a:srgbClr val="FF7400">
                      <a:alpha val="100000"/>
                    </a:srgbClr>
                  </a:gs>
                </a:gsLst>
                <a:lin ang="5400000"/>
              </a:gradFill>
              <a:effectLst/>
              <a:uLnTx/>
              <a:uFillTx/>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97" name="Rounded Rectangle 41"/>
          <p:cNvSpPr/>
          <p:nvPr/>
        </p:nvSpPr>
        <p:spPr>
          <a:xfrm>
            <a:off x="3234444" y="1638300"/>
            <a:ext cx="13852136" cy="6700215"/>
          </a:xfrm>
          <a:prstGeom prst="roundRect">
            <a:avLst/>
          </a:prstGeom>
          <a:solidFill>
            <a:srgbClr val="FFFFFF"/>
          </a:solidFill>
          <a:ln w="15240" cap="flat" cmpd="sng" algn="ctr">
            <a:solidFill>
              <a:schemeClr val="accent6">
                <a:lumMod val="75000"/>
              </a:schemeClr>
            </a:solidFill>
            <a:prstDash val="solid"/>
          </a:ln>
          <a:effectLst>
            <a:outerShdw blurRad="40000" dist="23000" dir="5400000" rotWithShape="0">
              <a:srgbClr val="000000">
                <a:alpha val="35000"/>
              </a:srgbClr>
            </a:outerShdw>
          </a:effectLst>
        </p:spPr>
        <p:txBody>
          <a:bodyPr rtlCol="0" anchor="ctr"/>
          <a:lstStyle/>
          <a:p>
            <a:pPr algn="ctr"/>
            <a:endParaRPr dirty="0">
              <a:solidFill>
                <a:schemeClr val="lt1"/>
              </a:solidFill>
            </a:endParaRPr>
          </a:p>
        </p:txBody>
      </p:sp>
      <p:sp>
        <p:nvSpPr>
          <p:cNvPr id="99" name="TextBox 43"/>
          <p:cNvSpPr txBox="1"/>
          <p:nvPr/>
        </p:nvSpPr>
        <p:spPr>
          <a:xfrm>
            <a:off x="2968033" y="3879004"/>
            <a:ext cx="2744394" cy="1937807"/>
          </a:xfrm>
          <a:prstGeom prst="rect">
            <a:avLst/>
          </a:prstGeom>
          <a:noFill/>
        </p:spPr>
        <p:txBody>
          <a:bodyPr wrap="square" anchor="ctr">
            <a:noAutofit/>
          </a:bodyPr>
          <a:lstStyle/>
          <a:p>
            <a:pPr algn="ctr"/>
            <a:r>
              <a:rPr sz="2800" b="1" dirty="0">
                <a:solidFill>
                  <a:srgbClr val="DC5400"/>
                </a:solidFill>
                <a:latin typeface="微软雅黑" panose="020B0503020204020204" pitchFamily="34" charset="-122"/>
              </a:rPr>
              <a:t>研究
时间线</a:t>
            </a:r>
            <a:endParaRPr sz="2800" b="1" dirty="0">
              <a:solidFill>
                <a:srgbClr val="DC5400"/>
              </a:solidFill>
              <a:latin typeface="微软雅黑" panose="020B0503020204020204" pitchFamily="34" charset="-122"/>
            </a:endParaRPr>
          </a:p>
        </p:txBody>
      </p:sp>
      <p:cxnSp>
        <p:nvCxnSpPr>
          <p:cNvPr id="100" name="Connector 44"/>
          <p:cNvCxnSpPr/>
          <p:nvPr/>
        </p:nvCxnSpPr>
        <p:spPr>
          <a:xfrm>
            <a:off x="5584696" y="2045627"/>
            <a:ext cx="0" cy="5903439"/>
          </a:xfrm>
          <a:prstGeom prst="line">
            <a:avLst/>
          </a:prstGeom>
          <a:noFill/>
          <a:ln w="25400" cap="flat" cmpd="sng" algn="ctr">
            <a:solidFill>
              <a:schemeClr val="accent6">
                <a:lumMod val="75000"/>
              </a:schemeClr>
            </a:solidFill>
            <a:prstDash val="solid"/>
          </a:ln>
          <a:effectLst>
            <a:outerShdw blurRad="40000" dist="20000" dir="5400000" rotWithShape="0">
              <a:srgbClr val="000000">
                <a:alpha val="38000"/>
              </a:srgbClr>
            </a:outerShdw>
          </a:effectLst>
        </p:spPr>
      </p:cxnSp>
      <p:sp>
        <p:nvSpPr>
          <p:cNvPr id="101" name="Oval 45"/>
          <p:cNvSpPr/>
          <p:nvPr/>
        </p:nvSpPr>
        <p:spPr>
          <a:xfrm>
            <a:off x="5357213" y="2045627"/>
            <a:ext cx="454966" cy="454953"/>
          </a:xfrm>
          <a:prstGeom prst="ellipse">
            <a:avLst/>
          </a:prstGeom>
          <a:solidFill>
            <a:schemeClr val="accent6">
              <a:lumMod val="75000"/>
            </a:schemeClr>
          </a:solidFill>
          <a:ln w="9525" cap="flat" cmpd="sng" algn="ctr">
            <a:solidFill>
              <a:schemeClr val="accent6">
                <a:lumMod val="75000"/>
              </a:schemeClr>
            </a:solidFill>
            <a:prstDash val="solid"/>
          </a:ln>
          <a:effectLst>
            <a:outerShdw blurRad="40000" dist="23000" dir="5400000" rotWithShape="0">
              <a:srgbClr val="000000">
                <a:alpha val="35000"/>
              </a:srgbClr>
            </a:outerShdw>
          </a:effectLst>
        </p:spPr>
        <p:txBody>
          <a:bodyPr wrap="square" lIns="9144" tIns="9144" rIns="9144" bIns="9144" rtlCol="0" anchor="ctr">
            <a:noAutofit/>
          </a:bodyPr>
          <a:lstStyle/>
          <a:p>
            <a:pPr algn="ctr"/>
            <a:r>
              <a:rPr b="1" dirty="0">
                <a:solidFill>
                  <a:srgbClr val="FFFFFF"/>
                </a:solidFill>
                <a:latin typeface="微软雅黑" panose="020B0503020204020204" pitchFamily="34" charset="-122"/>
              </a:rPr>
              <a:t>1</a:t>
            </a:r>
            <a:endParaRPr b="1" dirty="0">
              <a:solidFill>
                <a:srgbClr val="FFFFFF"/>
              </a:solidFill>
              <a:latin typeface="微软雅黑" panose="020B0503020204020204" pitchFamily="34" charset="-122"/>
            </a:endParaRPr>
          </a:p>
        </p:txBody>
      </p:sp>
      <p:sp>
        <p:nvSpPr>
          <p:cNvPr id="102" name="Rounded Rectangle 46"/>
          <p:cNvSpPr/>
          <p:nvPr/>
        </p:nvSpPr>
        <p:spPr>
          <a:xfrm>
            <a:off x="6078590" y="1953361"/>
            <a:ext cx="10501931" cy="980460"/>
          </a:xfrm>
          <a:prstGeom prst="roundRect">
            <a:avLst/>
          </a:prstGeom>
          <a:solidFill>
            <a:srgbClr val="FFFFFF"/>
          </a:solidFill>
          <a:ln w="15240" cap="flat" cmpd="sng" algn="ctr">
            <a:solidFill>
              <a:schemeClr val="accent6">
                <a:lumMod val="75000"/>
              </a:schemeClr>
            </a:solidFill>
            <a:prstDash val="solid"/>
          </a:ln>
          <a:effectLst>
            <a:outerShdw blurRad="40000" dist="23000" dir="5400000" rotWithShape="0">
              <a:srgbClr val="000000">
                <a:alpha val="35000"/>
              </a:srgbClr>
            </a:outerShdw>
          </a:effectLst>
        </p:spPr>
        <p:txBody>
          <a:bodyPr rtlCol="0" anchor="ctr"/>
          <a:lstStyle/>
          <a:p>
            <a:pPr algn="ctr"/>
            <a:endParaRPr dirty="0">
              <a:solidFill>
                <a:schemeClr val="lt1"/>
              </a:solidFill>
            </a:endParaRPr>
          </a:p>
        </p:txBody>
      </p:sp>
      <p:cxnSp>
        <p:nvCxnSpPr>
          <p:cNvPr id="103" name="Connector 47"/>
          <p:cNvCxnSpPr/>
          <p:nvPr/>
        </p:nvCxnSpPr>
        <p:spPr>
          <a:xfrm>
            <a:off x="7671310" y="2023915"/>
            <a:ext cx="0" cy="840568"/>
          </a:xfrm>
          <a:prstGeom prst="line">
            <a:avLst/>
          </a:prstGeom>
          <a:noFill/>
          <a:ln w="12700" cap="flat" cmpd="sng" algn="ctr">
            <a:solidFill>
              <a:srgbClr val="A0A0A0"/>
            </a:solidFill>
            <a:prstDash val="solid"/>
          </a:ln>
          <a:effectLst>
            <a:outerShdw blurRad="40000" dist="20000" dir="5400000" rotWithShape="0">
              <a:srgbClr val="000000">
                <a:alpha val="38000"/>
              </a:srgbClr>
            </a:outerShdw>
          </a:effectLst>
        </p:spPr>
      </p:cxnSp>
      <p:cxnSp>
        <p:nvCxnSpPr>
          <p:cNvPr id="104" name="Connector 48"/>
          <p:cNvCxnSpPr/>
          <p:nvPr/>
        </p:nvCxnSpPr>
        <p:spPr>
          <a:xfrm>
            <a:off x="10265428" y="2023915"/>
            <a:ext cx="0" cy="840568"/>
          </a:xfrm>
          <a:prstGeom prst="line">
            <a:avLst/>
          </a:prstGeom>
          <a:noFill/>
          <a:ln w="12700" cap="flat" cmpd="sng" algn="ctr">
            <a:solidFill>
              <a:srgbClr val="A0A0A0"/>
            </a:solidFill>
            <a:prstDash val="solid"/>
          </a:ln>
          <a:effectLst>
            <a:outerShdw blurRad="40000" dist="20000" dir="5400000" rotWithShape="0">
              <a:srgbClr val="000000">
                <a:alpha val="38000"/>
              </a:srgbClr>
            </a:outerShdw>
          </a:effectLst>
        </p:spPr>
      </p:cxnSp>
      <p:sp>
        <p:nvSpPr>
          <p:cNvPr id="105" name="TextBox 49"/>
          <p:cNvSpPr txBox="1"/>
          <p:nvPr/>
        </p:nvSpPr>
        <p:spPr>
          <a:xfrm>
            <a:off x="6187944" y="2138262"/>
            <a:ext cx="1488980" cy="644719"/>
          </a:xfrm>
          <a:prstGeom prst="rect">
            <a:avLst/>
          </a:prstGeom>
          <a:noFill/>
        </p:spPr>
        <p:txBody>
          <a:bodyPr wrap="square" anchor="ctr">
            <a:spAutoFit/>
          </a:bodyPr>
          <a:lstStyle/>
          <a:p>
            <a:pPr algn="ctr"/>
            <a:r>
              <a:rPr b="0" dirty="0">
                <a:solidFill>
                  <a:srgbClr val="000000"/>
                </a:solidFill>
                <a:latin typeface="微软雅黑" panose="020B0503020204020204" pitchFamily="34" charset="-122"/>
              </a:rPr>
              <a:t>2026.04—2026.06</a:t>
            </a:r>
            <a:endParaRPr b="0" dirty="0">
              <a:solidFill>
                <a:srgbClr val="000000"/>
              </a:solidFill>
              <a:latin typeface="微软雅黑" panose="020B0503020204020204" pitchFamily="34" charset="-122"/>
            </a:endParaRPr>
          </a:p>
        </p:txBody>
      </p:sp>
      <p:sp>
        <p:nvSpPr>
          <p:cNvPr id="106" name="TextBox 50"/>
          <p:cNvSpPr txBox="1"/>
          <p:nvPr/>
        </p:nvSpPr>
        <p:spPr>
          <a:xfrm>
            <a:off x="7803975" y="2108260"/>
            <a:ext cx="2375018" cy="646331"/>
          </a:xfrm>
          <a:prstGeom prst="rect">
            <a:avLst/>
          </a:prstGeom>
          <a:noFill/>
        </p:spPr>
        <p:txBody>
          <a:bodyPr wrap="square" anchor="ctr">
            <a:spAutoFit/>
          </a:bodyPr>
          <a:lstStyle/>
          <a:p>
            <a:pPr algn="l"/>
            <a:r>
              <a:rPr b="1" dirty="0">
                <a:solidFill>
                  <a:srgbClr val="000000"/>
                </a:solidFill>
                <a:latin typeface="微软雅黑" panose="020B0503020204020204" pitchFamily="34" charset="-122"/>
              </a:rPr>
              <a:t>阶段一：
文献深化与方案梳理</a:t>
            </a:r>
            <a:endParaRPr b="1" dirty="0">
              <a:solidFill>
                <a:srgbClr val="000000"/>
              </a:solidFill>
              <a:latin typeface="微软雅黑" panose="020B0503020204020204" pitchFamily="34" charset="-122"/>
            </a:endParaRPr>
          </a:p>
        </p:txBody>
      </p:sp>
      <p:sp>
        <p:nvSpPr>
          <p:cNvPr id="107" name="TextBox 51"/>
          <p:cNvSpPr txBox="1"/>
          <p:nvPr/>
        </p:nvSpPr>
        <p:spPr>
          <a:xfrm>
            <a:off x="10317737" y="2192537"/>
            <a:ext cx="3328308" cy="588763"/>
          </a:xfrm>
          <a:prstGeom prst="rect">
            <a:avLst/>
          </a:prstGeom>
          <a:noFill/>
        </p:spPr>
        <p:txBody>
          <a:bodyPr wrap="square" lIns="18288" tIns="18288" rIns="18288" bIns="18288">
            <a:spAutoFit/>
          </a:bodyPr>
          <a:lstStyle/>
          <a:p>
            <a:pPr algn="l"/>
            <a:r>
              <a:rPr dirty="0">
                <a:solidFill>
                  <a:srgbClr val="000000"/>
                </a:solidFill>
                <a:latin typeface="微软雅黑" panose="020B0503020204020204" pitchFamily="34" charset="-122"/>
              </a:rPr>
              <a:t>•  梳理政策、案例与定价文献</a:t>
            </a:r>
            <a:endParaRPr dirty="0">
              <a:solidFill>
                <a:srgbClr val="000000"/>
              </a:solidFill>
              <a:latin typeface="微软雅黑" panose="020B0503020204020204" pitchFamily="34" charset="-122"/>
            </a:endParaRPr>
          </a:p>
          <a:p>
            <a:pPr algn="l"/>
            <a:r>
              <a:rPr dirty="0">
                <a:solidFill>
                  <a:srgbClr val="000000"/>
                </a:solidFill>
                <a:latin typeface="微软雅黑" panose="020B0503020204020204" pitchFamily="34" charset="-122"/>
              </a:rPr>
              <a:t>•  明确两类产品框架</a:t>
            </a:r>
            <a:endParaRPr dirty="0">
              <a:solidFill>
                <a:srgbClr val="000000"/>
              </a:solidFill>
              <a:latin typeface="微软雅黑" panose="020B0503020204020204" pitchFamily="34" charset="-122"/>
            </a:endParaRPr>
          </a:p>
        </p:txBody>
      </p:sp>
      <p:sp>
        <p:nvSpPr>
          <p:cNvPr id="108" name="TextBox 52"/>
          <p:cNvSpPr txBox="1"/>
          <p:nvPr/>
        </p:nvSpPr>
        <p:spPr>
          <a:xfrm>
            <a:off x="13495511" y="2177940"/>
            <a:ext cx="3240721" cy="589280"/>
          </a:xfrm>
          <a:prstGeom prst="rect">
            <a:avLst/>
          </a:prstGeom>
          <a:noFill/>
        </p:spPr>
        <p:txBody>
          <a:bodyPr wrap="square" lIns="18288" tIns="18288" rIns="18288" bIns="18288">
            <a:spAutoFit/>
          </a:bodyPr>
          <a:lstStyle/>
          <a:p>
            <a:pPr algn="l">
              <a:buClrTx/>
              <a:buSzTx/>
              <a:buNone/>
            </a:pPr>
            <a:r>
              <a:rPr dirty="0">
                <a:solidFill>
                  <a:srgbClr val="000000"/>
                </a:solidFill>
                <a:latin typeface="微软雅黑" panose="020B0503020204020204" pitchFamily="34" charset="-122"/>
              </a:rPr>
              <a:t>•  对接信托公司、</a:t>
            </a:r>
            <a:r>
              <a:rPr dirty="0">
                <a:solidFill>
                  <a:srgbClr val="000000"/>
                </a:solidFill>
                <a:latin typeface="微软雅黑" panose="020B0503020204020204" pitchFamily="34" charset="-122"/>
              </a:rPr>
              <a:t>上海统计局</a:t>
            </a:r>
            <a:endParaRPr dirty="0">
              <a:solidFill>
                <a:srgbClr val="000000"/>
              </a:solidFill>
              <a:latin typeface="微软雅黑" panose="020B0503020204020204" pitchFamily="34" charset="-122"/>
            </a:endParaRPr>
          </a:p>
          <a:p>
            <a:pPr algn="l">
              <a:buClrTx/>
              <a:buSzTx/>
              <a:buNone/>
            </a:pPr>
            <a:r>
              <a:rPr dirty="0">
                <a:solidFill>
                  <a:srgbClr val="000000"/>
                </a:solidFill>
                <a:latin typeface="微软雅黑" panose="020B0503020204020204" pitchFamily="34" charset="-122"/>
              </a:rPr>
              <a:t>•  立项答辩</a:t>
            </a:r>
            <a:endParaRPr dirty="0">
              <a:solidFill>
                <a:srgbClr val="000000"/>
              </a:solidFill>
              <a:latin typeface="微软雅黑" panose="020B0503020204020204" pitchFamily="34" charset="-122"/>
            </a:endParaRPr>
          </a:p>
        </p:txBody>
      </p:sp>
      <p:sp>
        <p:nvSpPr>
          <p:cNvPr id="109" name="Oval 53"/>
          <p:cNvSpPr/>
          <p:nvPr/>
        </p:nvSpPr>
        <p:spPr>
          <a:xfrm>
            <a:off x="5357213" y="3324117"/>
            <a:ext cx="454966" cy="454953"/>
          </a:xfrm>
          <a:prstGeom prst="ellipse">
            <a:avLst/>
          </a:prstGeom>
          <a:solidFill>
            <a:schemeClr val="accent6">
              <a:lumMod val="75000"/>
            </a:schemeClr>
          </a:solidFill>
          <a:ln w="9525" cap="flat" cmpd="sng" algn="ctr">
            <a:solidFill>
              <a:schemeClr val="accent6">
                <a:lumMod val="75000"/>
              </a:schemeClr>
            </a:solidFill>
            <a:prstDash val="solid"/>
          </a:ln>
          <a:effectLst>
            <a:outerShdw blurRad="40000" dist="23000" dir="5400000" rotWithShape="0">
              <a:srgbClr val="000000">
                <a:alpha val="35000"/>
              </a:srgbClr>
            </a:outerShdw>
          </a:effectLst>
        </p:spPr>
        <p:txBody>
          <a:bodyPr wrap="square" lIns="9144" tIns="9144" rIns="9144" bIns="9144" rtlCol="0" anchor="ctr">
            <a:noAutofit/>
          </a:bodyPr>
          <a:lstStyle/>
          <a:p>
            <a:pPr algn="ctr"/>
            <a:r>
              <a:rPr b="1" dirty="0">
                <a:solidFill>
                  <a:srgbClr val="FFFFFF"/>
                </a:solidFill>
                <a:latin typeface="微软雅黑" panose="020B0503020204020204" pitchFamily="34" charset="-122"/>
              </a:rPr>
              <a:t>2</a:t>
            </a:r>
            <a:endParaRPr b="1" dirty="0">
              <a:solidFill>
                <a:srgbClr val="FFFFFF"/>
              </a:solidFill>
              <a:latin typeface="微软雅黑" panose="020B0503020204020204" pitchFamily="34" charset="-122"/>
            </a:endParaRPr>
          </a:p>
        </p:txBody>
      </p:sp>
      <p:sp>
        <p:nvSpPr>
          <p:cNvPr id="110" name="Rounded Rectangle 54"/>
          <p:cNvSpPr/>
          <p:nvPr/>
        </p:nvSpPr>
        <p:spPr>
          <a:xfrm>
            <a:off x="6078590" y="3231852"/>
            <a:ext cx="10501931" cy="980460"/>
          </a:xfrm>
          <a:prstGeom prst="roundRect">
            <a:avLst/>
          </a:prstGeom>
          <a:solidFill>
            <a:srgbClr val="FFFFFF"/>
          </a:solidFill>
          <a:ln w="15240" cap="flat" cmpd="sng" algn="ctr">
            <a:solidFill>
              <a:schemeClr val="accent6">
                <a:lumMod val="75000"/>
              </a:schemeClr>
            </a:solidFill>
            <a:prstDash val="solid"/>
          </a:ln>
          <a:effectLst>
            <a:outerShdw blurRad="40000" dist="23000" dir="5400000" rotWithShape="0">
              <a:srgbClr val="000000">
                <a:alpha val="35000"/>
              </a:srgbClr>
            </a:outerShdw>
          </a:effectLst>
        </p:spPr>
        <p:txBody>
          <a:bodyPr rtlCol="0" anchor="ctr"/>
          <a:lstStyle/>
          <a:p>
            <a:pPr algn="ctr"/>
            <a:endParaRPr dirty="0">
              <a:solidFill>
                <a:schemeClr val="lt1"/>
              </a:solidFill>
            </a:endParaRPr>
          </a:p>
        </p:txBody>
      </p:sp>
      <p:cxnSp>
        <p:nvCxnSpPr>
          <p:cNvPr id="111" name="Connector 55"/>
          <p:cNvCxnSpPr/>
          <p:nvPr/>
        </p:nvCxnSpPr>
        <p:spPr>
          <a:xfrm>
            <a:off x="7671310" y="3302406"/>
            <a:ext cx="0" cy="840568"/>
          </a:xfrm>
          <a:prstGeom prst="line">
            <a:avLst/>
          </a:prstGeom>
          <a:noFill/>
          <a:ln w="12700" cap="flat" cmpd="sng" algn="ctr">
            <a:solidFill>
              <a:srgbClr val="A0A0A0"/>
            </a:solidFill>
            <a:prstDash val="solid"/>
          </a:ln>
          <a:effectLst>
            <a:outerShdw blurRad="40000" dist="20000" dir="5400000" rotWithShape="0">
              <a:srgbClr val="000000">
                <a:alpha val="38000"/>
              </a:srgbClr>
            </a:outerShdw>
          </a:effectLst>
        </p:spPr>
      </p:cxnSp>
      <p:cxnSp>
        <p:nvCxnSpPr>
          <p:cNvPr id="112" name="Connector 56"/>
          <p:cNvCxnSpPr/>
          <p:nvPr/>
        </p:nvCxnSpPr>
        <p:spPr>
          <a:xfrm>
            <a:off x="10265428" y="3302406"/>
            <a:ext cx="0" cy="840568"/>
          </a:xfrm>
          <a:prstGeom prst="line">
            <a:avLst/>
          </a:prstGeom>
          <a:noFill/>
          <a:ln w="12700" cap="flat" cmpd="sng" algn="ctr">
            <a:solidFill>
              <a:srgbClr val="A0A0A0"/>
            </a:solidFill>
            <a:prstDash val="solid"/>
          </a:ln>
          <a:effectLst>
            <a:outerShdw blurRad="40000" dist="20000" dir="5400000" rotWithShape="0">
              <a:srgbClr val="000000">
                <a:alpha val="38000"/>
              </a:srgbClr>
            </a:outerShdw>
          </a:effectLst>
        </p:spPr>
      </p:cxnSp>
      <p:sp>
        <p:nvSpPr>
          <p:cNvPr id="113" name="TextBox 57"/>
          <p:cNvSpPr txBox="1"/>
          <p:nvPr/>
        </p:nvSpPr>
        <p:spPr>
          <a:xfrm>
            <a:off x="6258500" y="3398285"/>
            <a:ext cx="1453702" cy="645160"/>
          </a:xfrm>
          <a:prstGeom prst="rect">
            <a:avLst/>
          </a:prstGeom>
          <a:noFill/>
        </p:spPr>
        <p:txBody>
          <a:bodyPr wrap="square" anchor="ctr">
            <a:spAutoFit/>
          </a:bodyPr>
          <a:lstStyle/>
          <a:p>
            <a:pPr algn="ctr"/>
            <a:r>
              <a:rPr b="0" dirty="0">
                <a:solidFill>
                  <a:srgbClr val="000000"/>
                </a:solidFill>
                <a:latin typeface="微软雅黑" panose="020B0503020204020204" pitchFamily="34" charset="-122"/>
              </a:rPr>
              <a:t>2026.07—2026.</a:t>
            </a:r>
            <a:r>
              <a:rPr lang="en-US" b="0" dirty="0">
                <a:solidFill>
                  <a:srgbClr val="000000"/>
                </a:solidFill>
                <a:latin typeface="微软雅黑" panose="020B0503020204020204" pitchFamily="34" charset="-122"/>
              </a:rPr>
              <a:t>10</a:t>
            </a:r>
            <a:endParaRPr lang="en-US" b="0" dirty="0">
              <a:solidFill>
                <a:srgbClr val="000000"/>
              </a:solidFill>
              <a:latin typeface="微软雅黑" panose="020B0503020204020204" pitchFamily="34" charset="-122"/>
            </a:endParaRPr>
          </a:p>
        </p:txBody>
      </p:sp>
      <p:sp>
        <p:nvSpPr>
          <p:cNvPr id="114" name="TextBox 58"/>
          <p:cNvSpPr txBox="1"/>
          <p:nvPr/>
        </p:nvSpPr>
        <p:spPr>
          <a:xfrm>
            <a:off x="7803975" y="3363638"/>
            <a:ext cx="2375018" cy="646331"/>
          </a:xfrm>
          <a:prstGeom prst="rect">
            <a:avLst/>
          </a:prstGeom>
          <a:noFill/>
        </p:spPr>
        <p:txBody>
          <a:bodyPr wrap="square" anchor="ctr">
            <a:spAutoFit/>
          </a:bodyPr>
          <a:lstStyle/>
          <a:p>
            <a:pPr algn="l"/>
            <a:r>
              <a:rPr b="1" dirty="0">
                <a:solidFill>
                  <a:srgbClr val="000000"/>
                </a:solidFill>
                <a:latin typeface="微软雅黑" panose="020B0503020204020204" pitchFamily="34" charset="-122"/>
              </a:rPr>
              <a:t>阶段二：
群体调研与业界访谈</a:t>
            </a:r>
            <a:endParaRPr b="1" dirty="0">
              <a:solidFill>
                <a:srgbClr val="000000"/>
              </a:solidFill>
              <a:latin typeface="微软雅黑" panose="020B0503020204020204" pitchFamily="34" charset="-122"/>
            </a:endParaRPr>
          </a:p>
        </p:txBody>
      </p:sp>
      <p:sp>
        <p:nvSpPr>
          <p:cNvPr id="116" name="Oval 60"/>
          <p:cNvSpPr/>
          <p:nvPr/>
        </p:nvSpPr>
        <p:spPr>
          <a:xfrm>
            <a:off x="5357213" y="4602608"/>
            <a:ext cx="454966" cy="454953"/>
          </a:xfrm>
          <a:prstGeom prst="ellipse">
            <a:avLst/>
          </a:prstGeom>
          <a:solidFill>
            <a:schemeClr val="accent6">
              <a:lumMod val="75000"/>
            </a:schemeClr>
          </a:solidFill>
          <a:ln w="9525" cap="flat" cmpd="sng" algn="ctr">
            <a:solidFill>
              <a:schemeClr val="accent6">
                <a:lumMod val="75000"/>
              </a:schemeClr>
            </a:solidFill>
            <a:prstDash val="solid"/>
          </a:ln>
          <a:effectLst>
            <a:outerShdw blurRad="40000" dist="23000" dir="5400000" rotWithShape="0">
              <a:srgbClr val="000000">
                <a:alpha val="35000"/>
              </a:srgbClr>
            </a:outerShdw>
          </a:effectLst>
        </p:spPr>
        <p:txBody>
          <a:bodyPr wrap="square" lIns="9144" tIns="9144" rIns="9144" bIns="9144" rtlCol="0" anchor="ctr">
            <a:noAutofit/>
          </a:bodyPr>
          <a:lstStyle/>
          <a:p>
            <a:pPr algn="ctr"/>
            <a:r>
              <a:rPr b="1" dirty="0">
                <a:solidFill>
                  <a:srgbClr val="FFFFFF"/>
                </a:solidFill>
                <a:latin typeface="微软雅黑" panose="020B0503020204020204" pitchFamily="34" charset="-122"/>
              </a:rPr>
              <a:t>3</a:t>
            </a:r>
            <a:endParaRPr b="1" dirty="0">
              <a:solidFill>
                <a:srgbClr val="FFFFFF"/>
              </a:solidFill>
              <a:latin typeface="微软雅黑" panose="020B0503020204020204" pitchFamily="34" charset="-122"/>
            </a:endParaRPr>
          </a:p>
        </p:txBody>
      </p:sp>
      <p:sp>
        <p:nvSpPr>
          <p:cNvPr id="117" name="Rounded Rectangle 61"/>
          <p:cNvSpPr/>
          <p:nvPr/>
        </p:nvSpPr>
        <p:spPr>
          <a:xfrm>
            <a:off x="6230990" y="4511559"/>
            <a:ext cx="10501931" cy="980460"/>
          </a:xfrm>
          <a:prstGeom prst="roundRect">
            <a:avLst/>
          </a:prstGeom>
          <a:solidFill>
            <a:srgbClr val="FFFFFF"/>
          </a:solidFill>
          <a:ln w="15240" cap="flat" cmpd="sng" algn="ctr">
            <a:solidFill>
              <a:schemeClr val="accent6">
                <a:lumMod val="75000"/>
              </a:schemeClr>
            </a:solidFill>
            <a:prstDash val="solid"/>
          </a:ln>
          <a:effectLst>
            <a:outerShdw blurRad="40000" dist="23000" dir="5400000" rotWithShape="0">
              <a:srgbClr val="000000">
                <a:alpha val="35000"/>
              </a:srgbClr>
            </a:outerShdw>
          </a:effectLst>
        </p:spPr>
        <p:txBody>
          <a:bodyPr rtlCol="0" anchor="ctr"/>
          <a:lstStyle/>
          <a:p>
            <a:pPr algn="ctr"/>
            <a:endParaRPr dirty="0">
              <a:solidFill>
                <a:schemeClr val="lt1"/>
              </a:solidFill>
            </a:endParaRPr>
          </a:p>
        </p:txBody>
      </p:sp>
      <p:cxnSp>
        <p:nvCxnSpPr>
          <p:cNvPr id="118" name="Connector 62"/>
          <p:cNvCxnSpPr/>
          <p:nvPr/>
        </p:nvCxnSpPr>
        <p:spPr>
          <a:xfrm>
            <a:off x="7671310" y="4580896"/>
            <a:ext cx="0" cy="840568"/>
          </a:xfrm>
          <a:prstGeom prst="line">
            <a:avLst/>
          </a:prstGeom>
          <a:noFill/>
          <a:ln w="12700" cap="flat" cmpd="sng" algn="ctr">
            <a:solidFill>
              <a:srgbClr val="A0A0A0"/>
            </a:solidFill>
            <a:prstDash val="solid"/>
          </a:ln>
          <a:effectLst>
            <a:outerShdw blurRad="40000" dist="20000" dir="5400000" rotWithShape="0">
              <a:srgbClr val="000000">
                <a:alpha val="38000"/>
              </a:srgbClr>
            </a:outerShdw>
          </a:effectLst>
        </p:spPr>
      </p:cxnSp>
      <p:cxnSp>
        <p:nvCxnSpPr>
          <p:cNvPr id="119" name="Connector 63"/>
          <p:cNvCxnSpPr/>
          <p:nvPr/>
        </p:nvCxnSpPr>
        <p:spPr>
          <a:xfrm>
            <a:off x="10265428" y="4580896"/>
            <a:ext cx="0" cy="840568"/>
          </a:xfrm>
          <a:prstGeom prst="line">
            <a:avLst/>
          </a:prstGeom>
          <a:noFill/>
          <a:ln w="12700" cap="flat" cmpd="sng" algn="ctr">
            <a:solidFill>
              <a:srgbClr val="A0A0A0"/>
            </a:solidFill>
            <a:prstDash val="solid"/>
          </a:ln>
          <a:effectLst>
            <a:outerShdw blurRad="40000" dist="20000" dir="5400000" rotWithShape="0">
              <a:srgbClr val="000000">
                <a:alpha val="38000"/>
              </a:srgbClr>
            </a:outerShdw>
          </a:effectLst>
        </p:spPr>
      </p:cxnSp>
      <p:sp>
        <p:nvSpPr>
          <p:cNvPr id="120" name="TextBox 64"/>
          <p:cNvSpPr txBox="1"/>
          <p:nvPr/>
        </p:nvSpPr>
        <p:spPr>
          <a:xfrm>
            <a:off x="6258500" y="4677992"/>
            <a:ext cx="1453702" cy="645160"/>
          </a:xfrm>
          <a:prstGeom prst="rect">
            <a:avLst/>
          </a:prstGeom>
          <a:noFill/>
        </p:spPr>
        <p:txBody>
          <a:bodyPr wrap="square" anchor="ctr">
            <a:spAutoFit/>
          </a:bodyPr>
          <a:lstStyle/>
          <a:p>
            <a:pPr algn="ctr"/>
            <a:r>
              <a:rPr b="0" dirty="0">
                <a:solidFill>
                  <a:srgbClr val="000000"/>
                </a:solidFill>
                <a:latin typeface="微软雅黑" panose="020B0503020204020204" pitchFamily="34" charset="-122"/>
              </a:rPr>
              <a:t>2026.1</a:t>
            </a:r>
            <a:r>
              <a:rPr lang="en-US" b="0" dirty="0">
                <a:solidFill>
                  <a:srgbClr val="000000"/>
                </a:solidFill>
                <a:latin typeface="微软雅黑" panose="020B0503020204020204" pitchFamily="34" charset="-122"/>
              </a:rPr>
              <a:t>1</a:t>
            </a:r>
            <a:r>
              <a:rPr b="0" dirty="0">
                <a:solidFill>
                  <a:srgbClr val="000000"/>
                </a:solidFill>
                <a:latin typeface="微软雅黑" panose="020B0503020204020204" pitchFamily="34" charset="-122"/>
              </a:rPr>
              <a:t>—2026.12</a:t>
            </a:r>
            <a:endParaRPr b="0" dirty="0">
              <a:solidFill>
                <a:srgbClr val="000000"/>
              </a:solidFill>
              <a:latin typeface="微软雅黑" panose="020B0503020204020204" pitchFamily="34" charset="-122"/>
            </a:endParaRPr>
          </a:p>
        </p:txBody>
      </p:sp>
      <p:sp>
        <p:nvSpPr>
          <p:cNvPr id="121" name="TextBox 65"/>
          <p:cNvSpPr txBox="1"/>
          <p:nvPr/>
        </p:nvSpPr>
        <p:spPr>
          <a:xfrm>
            <a:off x="7696200" y="4643345"/>
            <a:ext cx="2560108" cy="646331"/>
          </a:xfrm>
          <a:prstGeom prst="rect">
            <a:avLst/>
          </a:prstGeom>
          <a:noFill/>
        </p:spPr>
        <p:txBody>
          <a:bodyPr wrap="square" anchor="ctr">
            <a:spAutoFit/>
          </a:bodyPr>
          <a:lstStyle/>
          <a:p>
            <a:pPr algn="l"/>
            <a:r>
              <a:rPr b="1" dirty="0">
                <a:solidFill>
                  <a:srgbClr val="000000"/>
                </a:solidFill>
                <a:latin typeface="微软雅黑" panose="020B0503020204020204" pitchFamily="34" charset="-122"/>
              </a:rPr>
              <a:t>阶段三：
产品细化与定价测算</a:t>
            </a:r>
            <a:endParaRPr b="1" dirty="0">
              <a:solidFill>
                <a:srgbClr val="000000"/>
              </a:solidFill>
              <a:latin typeface="微软雅黑" panose="020B0503020204020204" pitchFamily="34" charset="-122"/>
            </a:endParaRPr>
          </a:p>
        </p:txBody>
      </p:sp>
      <p:sp>
        <p:nvSpPr>
          <p:cNvPr id="122" name="TextBox 66"/>
          <p:cNvSpPr txBox="1"/>
          <p:nvPr/>
        </p:nvSpPr>
        <p:spPr>
          <a:xfrm>
            <a:off x="10335777" y="3421262"/>
            <a:ext cx="3240721" cy="588763"/>
          </a:xfrm>
          <a:prstGeom prst="rect">
            <a:avLst/>
          </a:prstGeom>
          <a:noFill/>
        </p:spPr>
        <p:txBody>
          <a:bodyPr wrap="square" lIns="18288" tIns="18288" rIns="18288" bIns="18288">
            <a:spAutoFit/>
          </a:bodyPr>
          <a:lstStyle/>
          <a:p>
            <a:pPr algn="l"/>
            <a:r>
              <a:rPr dirty="0">
                <a:solidFill>
                  <a:srgbClr val="000000"/>
                </a:solidFill>
                <a:latin typeface="微软雅黑" panose="020B0503020204020204" pitchFamily="34" charset="-122"/>
              </a:rPr>
              <a:t>•  细化核心条款与赎回机制</a:t>
            </a:r>
            <a:endParaRPr dirty="0">
              <a:solidFill>
                <a:srgbClr val="000000"/>
              </a:solidFill>
              <a:latin typeface="微软雅黑" panose="020B0503020204020204" pitchFamily="34" charset="-122"/>
            </a:endParaRPr>
          </a:p>
          <a:p>
            <a:pPr algn="l"/>
            <a:r>
              <a:rPr dirty="0">
                <a:solidFill>
                  <a:srgbClr val="000000"/>
                </a:solidFill>
                <a:latin typeface="微软雅黑" panose="020B0503020204020204" pitchFamily="34" charset="-122"/>
              </a:rPr>
              <a:t>•  构建养老金给付测算模型</a:t>
            </a:r>
            <a:endParaRPr dirty="0">
              <a:solidFill>
                <a:srgbClr val="000000"/>
              </a:solidFill>
              <a:latin typeface="微软雅黑" panose="020B0503020204020204" pitchFamily="34" charset="-122"/>
            </a:endParaRPr>
          </a:p>
        </p:txBody>
      </p:sp>
      <p:sp>
        <p:nvSpPr>
          <p:cNvPr id="123" name="TextBox 67"/>
          <p:cNvSpPr txBox="1"/>
          <p:nvPr/>
        </p:nvSpPr>
        <p:spPr>
          <a:xfrm>
            <a:off x="13271500" y="3362960"/>
            <a:ext cx="3203575" cy="880745"/>
          </a:xfrm>
          <a:prstGeom prst="rect">
            <a:avLst/>
          </a:prstGeom>
          <a:noFill/>
        </p:spPr>
        <p:txBody>
          <a:bodyPr wrap="square" lIns="18288" tIns="18288" rIns="18288" bIns="18288">
            <a:noAutofit/>
          </a:bodyPr>
          <a:lstStyle/>
          <a:p>
            <a:pPr algn="l"/>
            <a:r>
              <a:rPr dirty="0">
                <a:solidFill>
                  <a:srgbClr val="000000"/>
                </a:solidFill>
                <a:latin typeface="微软雅黑" panose="020B0503020204020204" pitchFamily="34" charset="-122"/>
              </a:rPr>
              <a:t>•  </a:t>
            </a:r>
            <a:r>
              <a:rPr lang="zh-CN" dirty="0">
                <a:solidFill>
                  <a:srgbClr val="000000"/>
                </a:solidFill>
                <a:latin typeface="微软雅黑" panose="020B0503020204020204" pitchFamily="34" charset="-122"/>
              </a:rPr>
              <a:t>和上海信托对齐新一轮</a:t>
            </a:r>
            <a:r>
              <a:rPr dirty="0">
                <a:solidFill>
                  <a:srgbClr val="000000"/>
                </a:solidFill>
                <a:latin typeface="微软雅黑" panose="020B0503020204020204" pitchFamily="34" charset="-122"/>
                <a:sym typeface="+mn-ea"/>
              </a:rPr>
              <a:t>问卷与访谈提纲</a:t>
            </a:r>
            <a:r>
              <a:rPr lang="zh-CN" dirty="0">
                <a:solidFill>
                  <a:srgbClr val="000000"/>
                </a:solidFill>
                <a:latin typeface="微软雅黑" panose="020B0503020204020204" pitchFamily="34" charset="-122"/>
                <a:sym typeface="+mn-ea"/>
              </a:rPr>
              <a:t>，确定浦发银行网点抽样</a:t>
            </a:r>
            <a:r>
              <a:rPr lang="zh-CN" dirty="0">
                <a:solidFill>
                  <a:srgbClr val="000000"/>
                </a:solidFill>
                <a:latin typeface="微软雅黑" panose="020B0503020204020204" pitchFamily="34" charset="-122"/>
                <a:sym typeface="+mn-ea"/>
              </a:rPr>
              <a:t>方案</a:t>
            </a:r>
            <a:endParaRPr lang="zh-CN" dirty="0">
              <a:solidFill>
                <a:srgbClr val="000000"/>
              </a:solidFill>
              <a:latin typeface="微软雅黑" panose="020B0503020204020204" pitchFamily="34" charset="-122"/>
              <a:sym typeface="+mn-ea"/>
            </a:endParaRPr>
          </a:p>
        </p:txBody>
      </p:sp>
      <p:sp>
        <p:nvSpPr>
          <p:cNvPr id="124" name="Oval 68"/>
          <p:cNvSpPr/>
          <p:nvPr/>
        </p:nvSpPr>
        <p:spPr>
          <a:xfrm>
            <a:off x="5357213" y="5882315"/>
            <a:ext cx="454966" cy="454953"/>
          </a:xfrm>
          <a:prstGeom prst="ellipse">
            <a:avLst/>
          </a:prstGeom>
          <a:solidFill>
            <a:schemeClr val="accent6">
              <a:lumMod val="75000"/>
            </a:schemeClr>
          </a:solidFill>
          <a:ln w="9525" cap="flat" cmpd="sng" algn="ctr">
            <a:solidFill>
              <a:schemeClr val="accent6">
                <a:lumMod val="75000"/>
              </a:schemeClr>
            </a:solidFill>
            <a:prstDash val="solid"/>
          </a:ln>
          <a:effectLst>
            <a:outerShdw blurRad="40000" dist="23000" dir="5400000" rotWithShape="0">
              <a:srgbClr val="000000">
                <a:alpha val="35000"/>
              </a:srgbClr>
            </a:outerShdw>
          </a:effectLst>
        </p:spPr>
        <p:txBody>
          <a:bodyPr wrap="square" lIns="9144" tIns="9144" rIns="9144" bIns="9144" rtlCol="0" anchor="ctr">
            <a:noAutofit/>
          </a:bodyPr>
          <a:lstStyle/>
          <a:p>
            <a:pPr algn="ctr"/>
            <a:r>
              <a:rPr b="1" dirty="0">
                <a:solidFill>
                  <a:srgbClr val="FFFFFF"/>
                </a:solidFill>
                <a:latin typeface="微软雅黑" panose="020B0503020204020204" pitchFamily="34" charset="-122"/>
              </a:rPr>
              <a:t>4</a:t>
            </a:r>
            <a:endParaRPr b="1" dirty="0">
              <a:solidFill>
                <a:srgbClr val="FFFFFF"/>
              </a:solidFill>
              <a:latin typeface="微软雅黑" panose="020B0503020204020204" pitchFamily="34" charset="-122"/>
            </a:endParaRPr>
          </a:p>
        </p:txBody>
      </p:sp>
      <p:sp>
        <p:nvSpPr>
          <p:cNvPr id="125" name="Rounded Rectangle 69"/>
          <p:cNvSpPr/>
          <p:nvPr/>
        </p:nvSpPr>
        <p:spPr>
          <a:xfrm>
            <a:off x="6078590" y="5790049"/>
            <a:ext cx="10501931" cy="980460"/>
          </a:xfrm>
          <a:prstGeom prst="roundRect">
            <a:avLst/>
          </a:prstGeom>
          <a:solidFill>
            <a:srgbClr val="FFFFFF"/>
          </a:solidFill>
          <a:ln w="15240" cap="flat" cmpd="sng" algn="ctr">
            <a:solidFill>
              <a:schemeClr val="accent6">
                <a:lumMod val="75000"/>
              </a:schemeClr>
            </a:solidFill>
            <a:prstDash val="solid"/>
          </a:ln>
          <a:effectLst>
            <a:outerShdw blurRad="40000" dist="23000" dir="5400000" rotWithShape="0">
              <a:srgbClr val="000000">
                <a:alpha val="35000"/>
              </a:srgbClr>
            </a:outerShdw>
          </a:effectLst>
        </p:spPr>
        <p:txBody>
          <a:bodyPr rtlCol="0" anchor="ctr"/>
          <a:lstStyle/>
          <a:p>
            <a:pPr algn="ctr"/>
            <a:endParaRPr dirty="0">
              <a:solidFill>
                <a:schemeClr val="lt1"/>
              </a:solidFill>
            </a:endParaRPr>
          </a:p>
        </p:txBody>
      </p:sp>
      <p:cxnSp>
        <p:nvCxnSpPr>
          <p:cNvPr id="126" name="Connector 70"/>
          <p:cNvCxnSpPr/>
          <p:nvPr/>
        </p:nvCxnSpPr>
        <p:spPr>
          <a:xfrm>
            <a:off x="7671310" y="5859387"/>
            <a:ext cx="0" cy="840568"/>
          </a:xfrm>
          <a:prstGeom prst="line">
            <a:avLst/>
          </a:prstGeom>
          <a:noFill/>
          <a:ln w="12700" cap="flat" cmpd="sng" algn="ctr">
            <a:solidFill>
              <a:srgbClr val="A0A0A0"/>
            </a:solidFill>
            <a:prstDash val="solid"/>
          </a:ln>
          <a:effectLst>
            <a:outerShdw blurRad="40000" dist="20000" dir="5400000" rotWithShape="0">
              <a:srgbClr val="000000">
                <a:alpha val="38000"/>
              </a:srgbClr>
            </a:outerShdw>
          </a:effectLst>
        </p:spPr>
      </p:cxnSp>
      <p:cxnSp>
        <p:nvCxnSpPr>
          <p:cNvPr id="127" name="Connector 71"/>
          <p:cNvCxnSpPr/>
          <p:nvPr/>
        </p:nvCxnSpPr>
        <p:spPr>
          <a:xfrm>
            <a:off x="10265428" y="5859387"/>
            <a:ext cx="0" cy="840568"/>
          </a:xfrm>
          <a:prstGeom prst="line">
            <a:avLst/>
          </a:prstGeom>
          <a:noFill/>
          <a:ln w="12700" cap="flat" cmpd="sng" algn="ctr">
            <a:solidFill>
              <a:srgbClr val="A0A0A0"/>
            </a:solidFill>
            <a:prstDash val="solid"/>
          </a:ln>
          <a:effectLst>
            <a:outerShdw blurRad="40000" dist="20000" dir="5400000" rotWithShape="0">
              <a:srgbClr val="000000">
                <a:alpha val="38000"/>
              </a:srgbClr>
            </a:outerShdw>
          </a:effectLst>
        </p:spPr>
      </p:cxnSp>
      <p:sp>
        <p:nvSpPr>
          <p:cNvPr id="128" name="TextBox 72"/>
          <p:cNvSpPr txBox="1"/>
          <p:nvPr/>
        </p:nvSpPr>
        <p:spPr>
          <a:xfrm>
            <a:off x="6223222" y="6010227"/>
            <a:ext cx="1488980" cy="644719"/>
          </a:xfrm>
          <a:prstGeom prst="rect">
            <a:avLst/>
          </a:prstGeom>
          <a:noFill/>
        </p:spPr>
        <p:txBody>
          <a:bodyPr wrap="square" anchor="ctr">
            <a:spAutoFit/>
          </a:bodyPr>
          <a:lstStyle/>
          <a:p>
            <a:pPr algn="ctr"/>
            <a:r>
              <a:rPr b="0" dirty="0">
                <a:solidFill>
                  <a:srgbClr val="000000"/>
                </a:solidFill>
                <a:latin typeface="微软雅黑" panose="020B0503020204020204" pitchFamily="34" charset="-122"/>
              </a:rPr>
              <a:t>2027.01—2027.0</a:t>
            </a:r>
            <a:r>
              <a:rPr lang="en-US" b="0" dirty="0">
                <a:solidFill>
                  <a:srgbClr val="000000"/>
                </a:solidFill>
                <a:latin typeface="微软雅黑" panose="020B0503020204020204" pitchFamily="34" charset="-122"/>
              </a:rPr>
              <a:t>3</a:t>
            </a:r>
            <a:endParaRPr lang="en-US" b="0" dirty="0">
              <a:solidFill>
                <a:srgbClr val="000000"/>
              </a:solidFill>
              <a:latin typeface="微软雅黑" panose="020B0503020204020204" pitchFamily="34" charset="-122"/>
            </a:endParaRPr>
          </a:p>
        </p:txBody>
      </p:sp>
      <p:sp>
        <p:nvSpPr>
          <p:cNvPr id="129" name="TextBox 73"/>
          <p:cNvSpPr txBox="1"/>
          <p:nvPr/>
        </p:nvSpPr>
        <p:spPr>
          <a:xfrm>
            <a:off x="7803975" y="5921836"/>
            <a:ext cx="2375018" cy="646331"/>
          </a:xfrm>
          <a:prstGeom prst="rect">
            <a:avLst/>
          </a:prstGeom>
          <a:noFill/>
        </p:spPr>
        <p:txBody>
          <a:bodyPr wrap="square" anchor="ctr">
            <a:spAutoFit/>
          </a:bodyPr>
          <a:lstStyle/>
          <a:p>
            <a:pPr algn="l"/>
            <a:r>
              <a:rPr b="1" dirty="0">
                <a:solidFill>
                  <a:srgbClr val="000000"/>
                </a:solidFill>
                <a:latin typeface="微软雅黑" panose="020B0503020204020204" pitchFamily="34" charset="-122"/>
              </a:rPr>
              <a:t>阶段四：
成果凝练与结题准备</a:t>
            </a:r>
            <a:endParaRPr b="1" dirty="0">
              <a:solidFill>
                <a:srgbClr val="000000"/>
              </a:solidFill>
              <a:latin typeface="微软雅黑" panose="020B0503020204020204" pitchFamily="34" charset="-122"/>
            </a:endParaRPr>
          </a:p>
        </p:txBody>
      </p:sp>
      <p:sp>
        <p:nvSpPr>
          <p:cNvPr id="130" name="TextBox 74"/>
          <p:cNvSpPr txBox="1"/>
          <p:nvPr/>
        </p:nvSpPr>
        <p:spPr>
          <a:xfrm>
            <a:off x="10335984" y="5877586"/>
            <a:ext cx="6656616" cy="866140"/>
          </a:xfrm>
          <a:prstGeom prst="rect">
            <a:avLst/>
          </a:prstGeom>
          <a:noFill/>
        </p:spPr>
        <p:txBody>
          <a:bodyPr wrap="square" lIns="18288" tIns="18288" rIns="18288" bIns="18288">
            <a:spAutoFit/>
          </a:bodyPr>
          <a:lstStyle/>
          <a:p>
            <a:pPr algn="l"/>
            <a:r>
              <a:rPr dirty="0">
                <a:solidFill>
                  <a:srgbClr val="000000"/>
                </a:solidFill>
                <a:latin typeface="微软雅黑" panose="020B0503020204020204" pitchFamily="34" charset="-122"/>
              </a:rPr>
              <a:t>•  </a:t>
            </a:r>
            <a:r>
              <a:rPr lang="zh-CN" dirty="0">
                <a:solidFill>
                  <a:srgbClr val="000000"/>
                </a:solidFill>
                <a:latin typeface="微软雅黑" panose="020B0503020204020204" pitchFamily="34" charset="-122"/>
              </a:rPr>
              <a:t>进行新一轮</a:t>
            </a:r>
            <a:r>
              <a:rPr lang="en-US" altLang="zh-CN" dirty="0">
                <a:solidFill>
                  <a:srgbClr val="000000"/>
                </a:solidFill>
                <a:latin typeface="微软雅黑" panose="020B0503020204020204" pitchFamily="34" charset="-122"/>
              </a:rPr>
              <a:t>3000</a:t>
            </a:r>
            <a:r>
              <a:rPr lang="zh-CN" altLang="en-US" dirty="0">
                <a:solidFill>
                  <a:srgbClr val="000000"/>
                </a:solidFill>
                <a:latin typeface="微软雅黑" panose="020B0503020204020204" pitchFamily="34" charset="-122"/>
              </a:rPr>
              <a:t>份问卷的数据建模分析，更新产品设计</a:t>
            </a:r>
            <a:endParaRPr dirty="0">
              <a:solidFill>
                <a:srgbClr val="000000"/>
              </a:solidFill>
              <a:latin typeface="微软雅黑" panose="020B0503020204020204" pitchFamily="34" charset="-122"/>
            </a:endParaRPr>
          </a:p>
          <a:p>
            <a:pPr algn="l"/>
            <a:r>
              <a:rPr dirty="0">
                <a:solidFill>
                  <a:srgbClr val="000000"/>
                </a:solidFill>
                <a:latin typeface="微软雅黑" panose="020B0503020204020204" pitchFamily="34" charset="-122"/>
              </a:rPr>
              <a:t>•  </a:t>
            </a:r>
            <a:r>
              <a:rPr lang="zh-CN" dirty="0">
                <a:solidFill>
                  <a:srgbClr val="000000"/>
                </a:solidFill>
                <a:latin typeface="微软雅黑" panose="020B0503020204020204" pitchFamily="34" charset="-122"/>
              </a:rPr>
              <a:t>与上海信托和上海统计局确认最终数据建模和产品设计方案</a:t>
            </a:r>
            <a:endParaRPr dirty="0">
              <a:solidFill>
                <a:srgbClr val="000000"/>
              </a:solidFill>
              <a:latin typeface="微软雅黑" panose="020B0503020204020204" pitchFamily="34" charset="-122"/>
            </a:endParaRPr>
          </a:p>
          <a:p>
            <a:pPr algn="l"/>
            <a:r>
              <a:rPr dirty="0">
                <a:solidFill>
                  <a:srgbClr val="000000"/>
                </a:solidFill>
                <a:latin typeface="微软雅黑" panose="020B0503020204020204" pitchFamily="34" charset="-122"/>
              </a:rPr>
              <a:t>•  整理全过程数据与成果</a:t>
            </a:r>
            <a:endParaRPr dirty="0">
              <a:solidFill>
                <a:srgbClr val="000000"/>
              </a:solidFill>
              <a:latin typeface="微软雅黑" panose="020B0503020204020204" pitchFamily="34" charset="-122"/>
            </a:endParaRPr>
          </a:p>
        </p:txBody>
      </p:sp>
      <p:sp>
        <p:nvSpPr>
          <p:cNvPr id="131" name="Oval 75"/>
          <p:cNvSpPr/>
          <p:nvPr/>
        </p:nvSpPr>
        <p:spPr>
          <a:xfrm>
            <a:off x="5357213" y="7160805"/>
            <a:ext cx="454966" cy="454953"/>
          </a:xfrm>
          <a:prstGeom prst="ellipse">
            <a:avLst/>
          </a:prstGeom>
          <a:solidFill>
            <a:schemeClr val="accent6">
              <a:lumMod val="75000"/>
            </a:schemeClr>
          </a:solidFill>
          <a:ln w="9525" cap="flat" cmpd="sng" algn="ctr">
            <a:solidFill>
              <a:schemeClr val="accent6">
                <a:lumMod val="75000"/>
              </a:schemeClr>
            </a:solidFill>
            <a:prstDash val="solid"/>
          </a:ln>
          <a:effectLst>
            <a:outerShdw blurRad="40000" dist="23000" dir="5400000" rotWithShape="0">
              <a:srgbClr val="000000">
                <a:alpha val="35000"/>
              </a:srgbClr>
            </a:outerShdw>
          </a:effectLst>
        </p:spPr>
        <p:txBody>
          <a:bodyPr wrap="square" lIns="9144" tIns="9144" rIns="9144" bIns="9144" rtlCol="0" anchor="ctr">
            <a:noAutofit/>
          </a:bodyPr>
          <a:lstStyle/>
          <a:p>
            <a:pPr algn="ctr"/>
            <a:r>
              <a:rPr b="1" dirty="0">
                <a:solidFill>
                  <a:srgbClr val="FFFFFF"/>
                </a:solidFill>
                <a:latin typeface="微软雅黑" panose="020B0503020204020204" pitchFamily="34" charset="-122"/>
              </a:rPr>
              <a:t>5</a:t>
            </a:r>
            <a:endParaRPr b="1" dirty="0">
              <a:solidFill>
                <a:srgbClr val="FFFFFF"/>
              </a:solidFill>
              <a:latin typeface="微软雅黑" panose="020B0503020204020204" pitchFamily="34" charset="-122"/>
            </a:endParaRPr>
          </a:p>
        </p:txBody>
      </p:sp>
      <p:sp>
        <p:nvSpPr>
          <p:cNvPr id="132" name="Rounded Rectangle 76"/>
          <p:cNvSpPr/>
          <p:nvPr/>
        </p:nvSpPr>
        <p:spPr>
          <a:xfrm>
            <a:off x="6078590" y="7068540"/>
            <a:ext cx="10501931" cy="980460"/>
          </a:xfrm>
          <a:prstGeom prst="roundRect">
            <a:avLst/>
          </a:prstGeom>
          <a:solidFill>
            <a:srgbClr val="FFFFFF"/>
          </a:solidFill>
          <a:ln w="15240" cap="flat" cmpd="sng" algn="ctr">
            <a:solidFill>
              <a:schemeClr val="accent6">
                <a:lumMod val="75000"/>
              </a:schemeClr>
            </a:solidFill>
            <a:prstDash val="solid"/>
          </a:ln>
          <a:effectLst>
            <a:outerShdw blurRad="40000" dist="23000" dir="5400000" rotWithShape="0">
              <a:srgbClr val="000000">
                <a:alpha val="35000"/>
              </a:srgbClr>
            </a:outerShdw>
          </a:effectLst>
        </p:spPr>
        <p:txBody>
          <a:bodyPr rtlCol="0" anchor="ctr"/>
          <a:lstStyle/>
          <a:p>
            <a:pPr algn="ctr"/>
            <a:endParaRPr dirty="0">
              <a:solidFill>
                <a:schemeClr val="lt1"/>
              </a:solidFill>
            </a:endParaRPr>
          </a:p>
        </p:txBody>
      </p:sp>
      <p:cxnSp>
        <p:nvCxnSpPr>
          <p:cNvPr id="133" name="Connector 77"/>
          <p:cNvCxnSpPr/>
          <p:nvPr/>
        </p:nvCxnSpPr>
        <p:spPr>
          <a:xfrm>
            <a:off x="7671310" y="7139094"/>
            <a:ext cx="0" cy="840568"/>
          </a:xfrm>
          <a:prstGeom prst="line">
            <a:avLst/>
          </a:prstGeom>
          <a:noFill/>
          <a:ln w="12700" cap="flat" cmpd="sng" algn="ctr">
            <a:solidFill>
              <a:srgbClr val="A0A0A0"/>
            </a:solidFill>
            <a:prstDash val="solid"/>
          </a:ln>
          <a:effectLst>
            <a:outerShdw blurRad="40000" dist="20000" dir="5400000" rotWithShape="0">
              <a:srgbClr val="000000">
                <a:alpha val="38000"/>
              </a:srgbClr>
            </a:outerShdw>
          </a:effectLst>
        </p:spPr>
      </p:cxnSp>
      <p:cxnSp>
        <p:nvCxnSpPr>
          <p:cNvPr id="134" name="Connector 78"/>
          <p:cNvCxnSpPr/>
          <p:nvPr/>
        </p:nvCxnSpPr>
        <p:spPr>
          <a:xfrm>
            <a:off x="10265428" y="7139094"/>
            <a:ext cx="0" cy="840568"/>
          </a:xfrm>
          <a:prstGeom prst="line">
            <a:avLst/>
          </a:prstGeom>
          <a:noFill/>
          <a:ln w="12700" cap="flat" cmpd="sng" algn="ctr">
            <a:solidFill>
              <a:srgbClr val="A0A0A0"/>
            </a:solidFill>
            <a:prstDash val="solid"/>
          </a:ln>
          <a:effectLst>
            <a:outerShdw blurRad="40000" dist="20000" dir="5400000" rotWithShape="0">
              <a:srgbClr val="000000">
                <a:alpha val="38000"/>
              </a:srgbClr>
            </a:outerShdw>
          </a:effectLst>
        </p:spPr>
      </p:cxnSp>
      <p:sp>
        <p:nvSpPr>
          <p:cNvPr id="135" name="TextBox 79"/>
          <p:cNvSpPr txBox="1"/>
          <p:nvPr/>
        </p:nvSpPr>
        <p:spPr>
          <a:xfrm>
            <a:off x="6223222" y="7261956"/>
            <a:ext cx="1488980" cy="644719"/>
          </a:xfrm>
          <a:prstGeom prst="rect">
            <a:avLst/>
          </a:prstGeom>
          <a:noFill/>
        </p:spPr>
        <p:txBody>
          <a:bodyPr wrap="square" anchor="ctr">
            <a:spAutoFit/>
          </a:bodyPr>
          <a:lstStyle/>
          <a:p>
            <a:pPr algn="ctr"/>
            <a:r>
              <a:rPr b="0" dirty="0">
                <a:solidFill>
                  <a:srgbClr val="000000"/>
                </a:solidFill>
                <a:latin typeface="微软雅黑" panose="020B0503020204020204" pitchFamily="34" charset="-122"/>
              </a:rPr>
              <a:t>2027.0</a:t>
            </a:r>
            <a:r>
              <a:rPr lang="en-US" b="0" dirty="0">
                <a:solidFill>
                  <a:srgbClr val="000000"/>
                </a:solidFill>
                <a:latin typeface="微软雅黑" panose="020B0503020204020204" pitchFamily="34" charset="-122"/>
              </a:rPr>
              <a:t>4</a:t>
            </a:r>
            <a:r>
              <a:rPr b="0" dirty="0">
                <a:solidFill>
                  <a:srgbClr val="000000"/>
                </a:solidFill>
                <a:latin typeface="微软雅黑" panose="020B0503020204020204" pitchFamily="34" charset="-122"/>
              </a:rPr>
              <a:t>—2027.0</a:t>
            </a:r>
            <a:r>
              <a:rPr lang="en-US" b="0" dirty="0">
                <a:solidFill>
                  <a:srgbClr val="000000"/>
                </a:solidFill>
                <a:latin typeface="微软雅黑" panose="020B0503020204020204" pitchFamily="34" charset="-122"/>
              </a:rPr>
              <a:t>5</a:t>
            </a:r>
            <a:endParaRPr lang="en-US" b="0" dirty="0">
              <a:solidFill>
                <a:srgbClr val="000000"/>
              </a:solidFill>
              <a:latin typeface="微软雅黑" panose="020B0503020204020204" pitchFamily="34" charset="-122"/>
            </a:endParaRPr>
          </a:p>
        </p:txBody>
      </p:sp>
      <p:sp>
        <p:nvSpPr>
          <p:cNvPr id="136" name="TextBox 80"/>
          <p:cNvSpPr txBox="1"/>
          <p:nvPr/>
        </p:nvSpPr>
        <p:spPr>
          <a:xfrm>
            <a:off x="7803975" y="7215519"/>
            <a:ext cx="2375018" cy="646331"/>
          </a:xfrm>
          <a:prstGeom prst="rect">
            <a:avLst/>
          </a:prstGeom>
          <a:noFill/>
        </p:spPr>
        <p:txBody>
          <a:bodyPr wrap="square" anchor="ctr">
            <a:spAutoFit/>
          </a:bodyPr>
          <a:lstStyle/>
          <a:p>
            <a:pPr algn="l"/>
            <a:r>
              <a:rPr b="1" dirty="0">
                <a:solidFill>
                  <a:srgbClr val="000000"/>
                </a:solidFill>
                <a:latin typeface="微软雅黑" panose="020B0503020204020204" pitchFamily="34" charset="-122"/>
              </a:rPr>
              <a:t>阶段五：
成果推广与试点对接</a:t>
            </a:r>
            <a:endParaRPr b="1" dirty="0">
              <a:solidFill>
                <a:srgbClr val="000000"/>
              </a:solidFill>
              <a:latin typeface="微软雅黑" panose="020B0503020204020204" pitchFamily="34" charset="-122"/>
            </a:endParaRPr>
          </a:p>
        </p:txBody>
      </p:sp>
      <p:sp>
        <p:nvSpPr>
          <p:cNvPr id="137" name="TextBox 81"/>
          <p:cNvSpPr txBox="1"/>
          <p:nvPr/>
        </p:nvSpPr>
        <p:spPr>
          <a:xfrm>
            <a:off x="10326252" y="7172986"/>
            <a:ext cx="6656616" cy="866140"/>
          </a:xfrm>
          <a:prstGeom prst="rect">
            <a:avLst/>
          </a:prstGeom>
          <a:noFill/>
        </p:spPr>
        <p:txBody>
          <a:bodyPr wrap="square" lIns="18288" tIns="18288" rIns="18288" bIns="18288">
            <a:spAutoFit/>
          </a:bodyPr>
          <a:lstStyle/>
          <a:p>
            <a:pPr algn="l"/>
            <a:r>
              <a:rPr dirty="0">
                <a:solidFill>
                  <a:srgbClr val="000000"/>
                </a:solidFill>
                <a:latin typeface="微软雅黑" panose="020B0503020204020204" pitchFamily="34" charset="-122"/>
              </a:rPr>
              <a:t>•  </a:t>
            </a:r>
            <a:r>
              <a:rPr dirty="0">
                <a:solidFill>
                  <a:srgbClr val="000000"/>
                </a:solidFill>
                <a:latin typeface="微软雅黑" panose="020B0503020204020204" pitchFamily="34" charset="-122"/>
                <a:sym typeface="+mn-ea"/>
              </a:rPr>
              <a:t>撰写研究报告与操作手册</a:t>
            </a:r>
            <a:endParaRPr dirty="0">
              <a:solidFill>
                <a:srgbClr val="000000"/>
              </a:solidFill>
              <a:latin typeface="微软雅黑" panose="020B0503020204020204" pitchFamily="34" charset="-122"/>
            </a:endParaRPr>
          </a:p>
          <a:p>
            <a:pPr algn="l"/>
            <a:r>
              <a:rPr dirty="0">
                <a:solidFill>
                  <a:srgbClr val="000000"/>
                </a:solidFill>
                <a:latin typeface="微软雅黑" panose="020B0503020204020204" pitchFamily="34" charset="-122"/>
              </a:rPr>
              <a:t>•  参与养老金融交流展示</a:t>
            </a:r>
            <a:endParaRPr dirty="0">
              <a:solidFill>
                <a:srgbClr val="000000"/>
              </a:solidFill>
              <a:latin typeface="微软雅黑" panose="020B0503020204020204" pitchFamily="34" charset="-122"/>
            </a:endParaRPr>
          </a:p>
          <a:p>
            <a:pPr algn="l"/>
            <a:r>
              <a:rPr dirty="0">
                <a:solidFill>
                  <a:srgbClr val="000000"/>
                </a:solidFill>
                <a:latin typeface="微软雅黑" panose="020B0503020204020204" pitchFamily="34" charset="-122"/>
              </a:rPr>
              <a:t>•  协助合作单位开展试点前准备</a:t>
            </a:r>
            <a:endParaRPr dirty="0">
              <a:solidFill>
                <a:srgbClr val="000000"/>
              </a:solidFill>
              <a:latin typeface="微软雅黑" panose="020B0503020204020204" pitchFamily="34" charset="-122"/>
            </a:endParaRPr>
          </a:p>
        </p:txBody>
      </p:sp>
      <p:sp>
        <p:nvSpPr>
          <p:cNvPr id="138" name="Down Arrow 82"/>
          <p:cNvSpPr/>
          <p:nvPr/>
        </p:nvSpPr>
        <p:spPr>
          <a:xfrm>
            <a:off x="10920208" y="8337299"/>
            <a:ext cx="420904" cy="385615"/>
          </a:xfrm>
          <a:prstGeom prst="downArrow">
            <a:avLst/>
          </a:prstGeom>
          <a:solidFill>
            <a:srgbClr val="000000"/>
          </a:solidFill>
          <a:ln w="9525" cap="flat" cmpd="sng" algn="ctr">
            <a:solidFill>
              <a:srgbClr val="000000"/>
            </a:solidFill>
            <a:prstDash val="solid"/>
          </a:ln>
          <a:effectLst>
            <a:outerShdw blurRad="40000" dist="23000" dir="5400000" rotWithShape="0">
              <a:srgbClr val="000000">
                <a:alpha val="35000"/>
              </a:srgbClr>
            </a:outerShdw>
          </a:effectLst>
        </p:spPr>
        <p:txBody>
          <a:bodyPr rtlCol="0" anchor="ctr"/>
          <a:lstStyle/>
          <a:p>
            <a:pPr algn="ctr"/>
            <a:endParaRPr dirty="0">
              <a:solidFill>
                <a:schemeClr val="lt1"/>
              </a:solidFill>
            </a:endParaRPr>
          </a:p>
        </p:txBody>
      </p:sp>
      <p:sp>
        <p:nvSpPr>
          <p:cNvPr id="139" name="Rounded Rectangle 83"/>
          <p:cNvSpPr/>
          <p:nvPr/>
        </p:nvSpPr>
        <p:spPr>
          <a:xfrm>
            <a:off x="3233227" y="8763057"/>
            <a:ext cx="13853353" cy="924503"/>
          </a:xfrm>
          <a:prstGeom prst="roundRect">
            <a:avLst/>
          </a:prstGeom>
          <a:solidFill>
            <a:srgbClr val="FFFFFF"/>
          </a:solidFill>
          <a:ln w="15240" cap="flat" cmpd="sng" algn="ctr">
            <a:solidFill>
              <a:schemeClr val="accent6">
                <a:lumMod val="75000"/>
              </a:schemeClr>
            </a:solidFill>
            <a:prstDash val="solid"/>
          </a:ln>
          <a:effectLst>
            <a:outerShdw blurRad="40000" dist="23000" dir="5400000" rotWithShape="0">
              <a:srgbClr val="000000">
                <a:alpha val="35000"/>
              </a:srgbClr>
            </a:outerShdw>
          </a:effectLst>
        </p:spPr>
        <p:txBody>
          <a:bodyPr rtlCol="0" anchor="ctr"/>
          <a:lstStyle/>
          <a:p>
            <a:pPr algn="ctr"/>
            <a:endParaRPr sz="3200" dirty="0">
              <a:solidFill>
                <a:schemeClr val="lt1"/>
              </a:solidFill>
            </a:endParaRPr>
          </a:p>
        </p:txBody>
      </p:sp>
      <p:sp>
        <p:nvSpPr>
          <p:cNvPr id="141" name="TextBox 85"/>
          <p:cNvSpPr txBox="1"/>
          <p:nvPr/>
        </p:nvSpPr>
        <p:spPr>
          <a:xfrm>
            <a:off x="4449714" y="8763057"/>
            <a:ext cx="3164082" cy="920854"/>
          </a:xfrm>
          <a:prstGeom prst="rect">
            <a:avLst/>
          </a:prstGeom>
          <a:noFill/>
        </p:spPr>
        <p:txBody>
          <a:bodyPr wrap="square" anchor="ctr">
            <a:noAutofit/>
          </a:bodyPr>
          <a:lstStyle/>
          <a:p>
            <a:pPr algn="l"/>
            <a:r>
              <a:rPr sz="2800" b="1" dirty="0" err="1">
                <a:solidFill>
                  <a:srgbClr val="DC5400"/>
                </a:solidFill>
                <a:latin typeface="微软雅黑" panose="020B0503020204020204" pitchFamily="34" charset="-122"/>
              </a:rPr>
              <a:t>预期成果</a:t>
            </a:r>
            <a:endParaRPr sz="2800" b="1" dirty="0" err="1">
              <a:solidFill>
                <a:srgbClr val="DC5400"/>
              </a:solidFill>
              <a:latin typeface="微软雅黑" panose="020B0503020204020204" pitchFamily="34" charset="-122"/>
            </a:endParaRPr>
          </a:p>
        </p:txBody>
      </p:sp>
      <p:sp>
        <p:nvSpPr>
          <p:cNvPr id="142" name="Rounded Rectangle 86"/>
          <p:cNvSpPr/>
          <p:nvPr/>
        </p:nvSpPr>
        <p:spPr>
          <a:xfrm>
            <a:off x="7612580" y="8877403"/>
            <a:ext cx="8967941" cy="628905"/>
          </a:xfrm>
          <a:prstGeom prst="roundRect">
            <a:avLst/>
          </a:prstGeom>
          <a:solidFill>
            <a:srgbClr val="F5F5F5"/>
          </a:solidFill>
          <a:ln w="15240" cap="flat" cmpd="sng" algn="ctr">
            <a:solidFill>
              <a:schemeClr val="accent6">
                <a:lumMod val="75000"/>
              </a:schemeClr>
            </a:solidFill>
            <a:prstDash val="solid"/>
          </a:ln>
          <a:effectLst>
            <a:outerShdw blurRad="40000" dist="23000" dir="5400000" rotWithShape="0">
              <a:srgbClr val="000000">
                <a:alpha val="35000"/>
              </a:srgbClr>
            </a:outerShdw>
          </a:effectLst>
        </p:spPr>
        <p:txBody>
          <a:bodyPr wrap="square" lIns="27432" tIns="27432" rIns="27432" bIns="27432" rtlCol="0" anchor="ctr">
            <a:noAutofit/>
          </a:bodyPr>
          <a:lstStyle/>
          <a:p>
            <a:pPr algn="ctr"/>
            <a:r>
              <a:rPr b="0" dirty="0">
                <a:solidFill>
                  <a:srgbClr val="000000"/>
                </a:solidFill>
                <a:latin typeface="微软雅黑" panose="020B0503020204020204" pitchFamily="34" charset="-122"/>
              </a:rPr>
              <a:t>《</a:t>
            </a:r>
            <a:r>
              <a:rPr b="0" dirty="0" err="1">
                <a:solidFill>
                  <a:srgbClr val="000000"/>
                </a:solidFill>
                <a:latin typeface="微软雅黑" panose="020B0503020204020204" pitchFamily="34" charset="-122"/>
              </a:rPr>
              <a:t>信托型以房养老产品落地可行性研究</a:t>
            </a:r>
            <a:r>
              <a:rPr lang="zh-CN" b="0" dirty="0" err="1">
                <a:solidFill>
                  <a:srgbClr val="000000"/>
                </a:solidFill>
                <a:latin typeface="微软雅黑" panose="020B0503020204020204" pitchFamily="34" charset="-122"/>
              </a:rPr>
              <a:t>专报</a:t>
            </a:r>
            <a:r>
              <a:rPr b="0" dirty="0">
                <a:solidFill>
                  <a:srgbClr val="000000"/>
                </a:solidFill>
                <a:latin typeface="微软雅黑" panose="020B0503020204020204" pitchFamily="34" charset="-122"/>
              </a:rPr>
              <a:t>》</a:t>
            </a:r>
            <a:r>
              <a:rPr lang="zh-CN" b="0" dirty="0">
                <a:solidFill>
                  <a:srgbClr val="000000"/>
                </a:solidFill>
                <a:latin typeface="微软雅黑" panose="020B0503020204020204" pitchFamily="34" charset="-122"/>
              </a:rPr>
              <a:t>，提交上海</a:t>
            </a:r>
            <a:r>
              <a:rPr lang="zh-CN" altLang="en-US" dirty="0">
                <a:sym typeface="+mn-ea"/>
              </a:rPr>
              <a:t>统计局的政府工作报告</a:t>
            </a:r>
            <a:endParaRPr lang="zh-CN" b="0" dirty="0">
              <a:solidFill>
                <a:srgbClr val="000000"/>
              </a:solidFill>
              <a:latin typeface="微软雅黑" panose="020B0503020204020204" pitchFamily="34" charset="-122"/>
            </a:endParaRPr>
          </a:p>
        </p:txBody>
      </p:sp>
      <p:grpSp>
        <p:nvGrpSpPr>
          <p:cNvPr id="4" name="Group 35"/>
          <p:cNvGrpSpPr/>
          <p:nvPr/>
        </p:nvGrpSpPr>
        <p:grpSpPr>
          <a:xfrm>
            <a:off x="15685757" y="-407516"/>
            <a:ext cx="2127827" cy="1166061"/>
            <a:chOff x="-4407" y="-123825"/>
            <a:chExt cx="613756" cy="307110"/>
          </a:xfrm>
        </p:grpSpPr>
        <p:sp>
          <p:nvSpPr>
            <p:cNvPr id="5" name="Freeform 36"/>
            <p:cNvSpPr/>
            <p:nvPr/>
          </p:nvSpPr>
          <p:spPr>
            <a:xfrm>
              <a:off x="-4407" y="8261"/>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dirty="0"/>
            </a:p>
          </p:txBody>
        </p:sp>
        <p:sp>
          <p:nvSpPr>
            <p:cNvPr id="6"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7" name="TextBox 64"/>
          <p:cNvSpPr txBox="1"/>
          <p:nvPr/>
        </p:nvSpPr>
        <p:spPr>
          <a:xfrm>
            <a:off x="11430000" y="207595"/>
            <a:ext cx="2314575" cy="4616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8" name="TextBox 66"/>
          <p:cNvSpPr txBox="1"/>
          <p:nvPr/>
        </p:nvSpPr>
        <p:spPr>
          <a:xfrm>
            <a:off x="5189672" y="199629"/>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0" name="TextBox 66"/>
          <p:cNvSpPr txBox="1"/>
          <p:nvPr/>
        </p:nvSpPr>
        <p:spPr>
          <a:xfrm>
            <a:off x="9366657" y="188007"/>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1" name="TextBox 66"/>
          <p:cNvSpPr txBox="1"/>
          <p:nvPr/>
        </p:nvSpPr>
        <p:spPr>
          <a:xfrm>
            <a:off x="7323860" y="191117"/>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2" name="TextBox 66"/>
          <p:cNvSpPr txBox="1"/>
          <p:nvPr/>
        </p:nvSpPr>
        <p:spPr>
          <a:xfrm>
            <a:off x="13487400" y="215312"/>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3" name="TextBox 66"/>
          <p:cNvSpPr txBox="1"/>
          <p:nvPr/>
        </p:nvSpPr>
        <p:spPr>
          <a:xfrm>
            <a:off x="15600022" y="199629"/>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15" name="TextBox 59"/>
          <p:cNvSpPr txBox="1"/>
          <p:nvPr/>
        </p:nvSpPr>
        <p:spPr>
          <a:xfrm>
            <a:off x="10317480" y="4566920"/>
            <a:ext cx="6217920" cy="866140"/>
          </a:xfrm>
          <a:prstGeom prst="rect">
            <a:avLst/>
          </a:prstGeom>
          <a:noFill/>
        </p:spPr>
        <p:txBody>
          <a:bodyPr wrap="square" lIns="18288" tIns="18288" rIns="18288" bIns="18288">
            <a:spAutoFit/>
          </a:bodyPr>
          <a:lstStyle/>
          <a:p>
            <a:pPr algn="l"/>
            <a:r>
              <a:rPr dirty="0">
                <a:solidFill>
                  <a:srgbClr val="000000"/>
                </a:solidFill>
                <a:latin typeface="微软雅黑" panose="020B0503020204020204" pitchFamily="34" charset="-122"/>
              </a:rPr>
              <a:t>•  开展</a:t>
            </a:r>
            <a:r>
              <a:rPr lang="zh-CN" dirty="0">
                <a:solidFill>
                  <a:srgbClr val="000000"/>
                </a:solidFill>
                <a:latin typeface="微软雅黑" panose="020B0503020204020204" pitchFamily="34" charset="-122"/>
              </a:rPr>
              <a:t>浦发银行</a:t>
            </a:r>
            <a:r>
              <a:rPr lang="en-US" altLang="zh-CN" dirty="0">
                <a:solidFill>
                  <a:srgbClr val="000000"/>
                </a:solidFill>
                <a:latin typeface="微软雅黑" panose="020B0503020204020204" pitchFamily="34" charset="-122"/>
              </a:rPr>
              <a:t>32</a:t>
            </a:r>
            <a:r>
              <a:rPr lang="zh-CN" altLang="en-US" dirty="0">
                <a:solidFill>
                  <a:srgbClr val="000000"/>
                </a:solidFill>
                <a:latin typeface="微软雅黑" panose="020B0503020204020204" pitchFamily="34" charset="-122"/>
              </a:rPr>
              <a:t>个</a:t>
            </a:r>
            <a:r>
              <a:rPr lang="zh-CN" dirty="0">
                <a:solidFill>
                  <a:srgbClr val="000000"/>
                </a:solidFill>
                <a:latin typeface="微软雅黑" panose="020B0503020204020204" pitchFamily="34" charset="-122"/>
              </a:rPr>
              <a:t>网点</a:t>
            </a:r>
            <a:r>
              <a:rPr lang="zh-CN" dirty="0">
                <a:solidFill>
                  <a:srgbClr val="000000"/>
                </a:solidFill>
                <a:latin typeface="微软雅黑" panose="020B0503020204020204" pitchFamily="34" charset="-122"/>
              </a:rPr>
              <a:t>的问卷发放和访谈</a:t>
            </a:r>
            <a:r>
              <a:rPr dirty="0">
                <a:solidFill>
                  <a:srgbClr val="000000"/>
                </a:solidFill>
                <a:latin typeface="微软雅黑" panose="020B0503020204020204" pitchFamily="34" charset="-122"/>
              </a:rPr>
              <a:t>补充调研</a:t>
            </a:r>
            <a:endParaRPr dirty="0">
              <a:solidFill>
                <a:srgbClr val="000000"/>
              </a:solidFill>
              <a:latin typeface="微软雅黑" panose="020B0503020204020204" pitchFamily="34" charset="-122"/>
            </a:endParaRPr>
          </a:p>
          <a:p>
            <a:pPr algn="l"/>
            <a:r>
              <a:rPr dirty="0">
                <a:solidFill>
                  <a:srgbClr val="000000"/>
                </a:solidFill>
                <a:latin typeface="微软雅黑" panose="020B0503020204020204" pitchFamily="34" charset="-122"/>
              </a:rPr>
              <a:t>•  深访信托经理、评估机构</a:t>
            </a:r>
            <a:endParaRPr dirty="0">
              <a:solidFill>
                <a:srgbClr val="000000"/>
              </a:solidFill>
              <a:latin typeface="微软雅黑" panose="020B0503020204020204" pitchFamily="34" charset="-122"/>
            </a:endParaRPr>
          </a:p>
          <a:p>
            <a:pPr algn="l"/>
            <a:r>
              <a:rPr dirty="0">
                <a:solidFill>
                  <a:srgbClr val="000000"/>
                </a:solidFill>
                <a:latin typeface="微软雅黑" panose="020B0503020204020204" pitchFamily="34" charset="-122"/>
              </a:rPr>
              <a:t>•  识别多主体需求差异与落地痛点</a:t>
            </a:r>
            <a:endParaRPr dirty="0">
              <a:solidFill>
                <a:srgbClr val="000000"/>
              </a:solidFill>
              <a:latin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00" b="-100"/>
            </a:stretch>
          </a:blipFill>
        </p:spPr>
        <p:txBody>
          <a:bodyPr/>
          <a:lstStyle/>
          <a:p>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Freeform 3"/>
          <p:cNvSpPr/>
          <p:nvPr/>
        </p:nvSpPr>
        <p:spPr>
          <a:xfrm>
            <a:off x="-2429673" y="8142545"/>
            <a:ext cx="13708378" cy="2233323"/>
          </a:xfrm>
          <a:custGeom>
            <a:avLst/>
            <a:gdLst/>
            <a:ahLst/>
            <a:cxnLst/>
            <a:rect l="l" t="t" r="r" b="b"/>
            <a:pathLst>
              <a:path w="13708378" h="2233323">
                <a:moveTo>
                  <a:pt x="0" y="0"/>
                </a:moveTo>
                <a:lnTo>
                  <a:pt x="13708378" y="0"/>
                </a:lnTo>
                <a:lnTo>
                  <a:pt x="13708378" y="2233324"/>
                </a:lnTo>
                <a:lnTo>
                  <a:pt x="0" y="2233324"/>
                </a:lnTo>
                <a:lnTo>
                  <a:pt x="0" y="0"/>
                </a:lnTo>
                <a:close/>
              </a:path>
            </a:pathLst>
          </a:custGeom>
          <a:blipFill>
            <a:blip r:embed="rId2"/>
            <a:stretch>
              <a:fillRect/>
            </a:stretch>
          </a:blipFill>
        </p:spPr>
      </p:sp>
      <p:sp>
        <p:nvSpPr>
          <p:cNvPr id="4" name="Freeform 4"/>
          <p:cNvSpPr/>
          <p:nvPr/>
        </p:nvSpPr>
        <p:spPr>
          <a:xfrm>
            <a:off x="-1014377" y="7029239"/>
            <a:ext cx="3083848" cy="2883398"/>
          </a:xfrm>
          <a:custGeom>
            <a:avLst/>
            <a:gdLst/>
            <a:ahLst/>
            <a:cxnLst/>
            <a:rect l="l" t="t" r="r" b="b"/>
            <a:pathLst>
              <a:path w="3083848" h="2883398">
                <a:moveTo>
                  <a:pt x="0" y="0"/>
                </a:moveTo>
                <a:lnTo>
                  <a:pt x="3083848" y="0"/>
                </a:lnTo>
                <a:lnTo>
                  <a:pt x="3083848" y="2883397"/>
                </a:lnTo>
                <a:lnTo>
                  <a:pt x="0" y="2883397"/>
                </a:lnTo>
                <a:lnTo>
                  <a:pt x="0" y="0"/>
                </a:lnTo>
                <a:close/>
              </a:path>
            </a:pathLst>
          </a:custGeom>
          <a:blipFill>
            <a:blip r:embed="rId3"/>
            <a:stretch>
              <a:fillRect/>
            </a:stretch>
          </a:blipFill>
        </p:spPr>
      </p:sp>
      <p:sp>
        <p:nvSpPr>
          <p:cNvPr id="5" name="Freeform 5"/>
          <p:cNvSpPr/>
          <p:nvPr/>
        </p:nvSpPr>
        <p:spPr>
          <a:xfrm>
            <a:off x="-577587" y="5007347"/>
            <a:ext cx="19443174" cy="5606115"/>
          </a:xfrm>
          <a:custGeom>
            <a:avLst/>
            <a:gdLst/>
            <a:ahLst/>
            <a:cxnLst/>
            <a:rect l="l" t="t" r="r" b="b"/>
            <a:pathLst>
              <a:path w="19443174" h="5606115">
                <a:moveTo>
                  <a:pt x="0" y="0"/>
                </a:moveTo>
                <a:lnTo>
                  <a:pt x="19443174" y="0"/>
                </a:lnTo>
                <a:lnTo>
                  <a:pt x="19443174" y="5606115"/>
                </a:lnTo>
                <a:lnTo>
                  <a:pt x="0" y="5606115"/>
                </a:lnTo>
                <a:lnTo>
                  <a:pt x="0" y="0"/>
                </a:lnTo>
                <a:close/>
              </a:path>
            </a:pathLst>
          </a:custGeom>
          <a:blipFill>
            <a:blip r:embed="rId4"/>
            <a:stretch>
              <a:fillRect/>
            </a:stretch>
          </a:blipFill>
        </p:spPr>
      </p:sp>
      <p:sp>
        <p:nvSpPr>
          <p:cNvPr id="6" name="Freeform 6"/>
          <p:cNvSpPr/>
          <p:nvPr/>
        </p:nvSpPr>
        <p:spPr>
          <a:xfrm>
            <a:off x="14181281" y="7810405"/>
            <a:ext cx="3531169" cy="1913252"/>
          </a:xfrm>
          <a:custGeom>
            <a:avLst/>
            <a:gdLst/>
            <a:ahLst/>
            <a:cxnLst/>
            <a:rect l="l" t="t" r="r" b="b"/>
            <a:pathLst>
              <a:path w="3531169" h="1913252">
                <a:moveTo>
                  <a:pt x="0" y="0"/>
                </a:moveTo>
                <a:lnTo>
                  <a:pt x="3531169" y="0"/>
                </a:lnTo>
                <a:lnTo>
                  <a:pt x="3531169" y="1913251"/>
                </a:lnTo>
                <a:lnTo>
                  <a:pt x="0" y="1913251"/>
                </a:lnTo>
                <a:lnTo>
                  <a:pt x="0" y="0"/>
                </a:lnTo>
                <a:close/>
              </a:path>
            </a:pathLst>
          </a:custGeom>
          <a:blipFill>
            <a:blip r:embed="rId5">
              <a:alphaModFix amt="59000"/>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1191904" y="1971670"/>
            <a:ext cx="5056495" cy="1486497"/>
          </a:xfrm>
          <a:prstGeom prst="rect">
            <a:avLst/>
          </a:prstGeom>
        </p:spPr>
        <p:txBody>
          <a:bodyPr wrap="square" lIns="0" tIns="0" rIns="0" bIns="0" rtlCol="0" anchor="t">
            <a:spAutoFit/>
          </a:bodyPr>
          <a:lstStyle/>
          <a:p>
            <a:pPr algn="ctr">
              <a:lnSpc>
                <a:spcPts val="12600"/>
              </a:lnSpc>
              <a:spcBef>
                <a:spcPct val="0"/>
              </a:spcBef>
            </a:pPr>
            <a:r>
              <a:rPr lang="en-US" sz="9000" b="1" dirty="0" err="1">
                <a:solidFill>
                  <a:srgbClr val="EE7E35"/>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感谢观看</a:t>
            </a:r>
            <a:endParaRPr lang="en-US" sz="9000" b="1" dirty="0">
              <a:solidFill>
                <a:srgbClr val="EE7E35"/>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9" name="TextBox 9"/>
          <p:cNvSpPr txBox="1"/>
          <p:nvPr/>
        </p:nvSpPr>
        <p:spPr>
          <a:xfrm>
            <a:off x="2069470" y="3470082"/>
            <a:ext cx="6160129" cy="1486497"/>
          </a:xfrm>
          <a:prstGeom prst="rect">
            <a:avLst/>
          </a:prstGeom>
        </p:spPr>
        <p:txBody>
          <a:bodyPr wrap="square" lIns="0" tIns="0" rIns="0" bIns="0" rtlCol="0" anchor="t">
            <a:spAutoFit/>
          </a:bodyPr>
          <a:lstStyle/>
          <a:p>
            <a:pPr algn="l">
              <a:lnSpc>
                <a:spcPts val="12600"/>
              </a:lnSpc>
              <a:spcBef>
                <a:spcPct val="0"/>
              </a:spcBef>
            </a:pPr>
            <a:r>
              <a:rPr lang="en-US" sz="9000" b="1" dirty="0" err="1">
                <a:solidFill>
                  <a:srgbClr val="EE7E35"/>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恳请指正</a:t>
            </a:r>
            <a:r>
              <a:rPr lang="en-US" sz="9000" b="1" dirty="0">
                <a:solidFill>
                  <a:srgbClr val="EE7E35"/>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a:t>
            </a:r>
            <a:endParaRPr lang="en-US" sz="9000" b="1" dirty="0">
              <a:solidFill>
                <a:srgbClr val="EE7E35"/>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10" name="TextBox 10"/>
          <p:cNvSpPr txBox="1"/>
          <p:nvPr/>
        </p:nvSpPr>
        <p:spPr>
          <a:xfrm>
            <a:off x="5450951" y="6171989"/>
            <a:ext cx="9525" cy="1266822"/>
          </a:xfrm>
          <a:prstGeom prst="rect">
            <a:avLst/>
          </a:prstGeom>
        </p:spPr>
        <p:txBody>
          <a:bodyPr lIns="0" tIns="0" rIns="0" bIns="0" rtlCol="0" anchor="t">
            <a:spAutoFit/>
          </a:bodyPr>
          <a:lstStyle/>
          <a:p>
            <a:pPr algn="ctr">
              <a:lnSpc>
                <a:spcPts val="12600"/>
              </a:lnSpc>
              <a:spcBef>
                <a:spcPct val="0"/>
              </a:spcBef>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AutoShape 11"/>
          <p:cNvSpPr/>
          <p:nvPr/>
        </p:nvSpPr>
        <p:spPr>
          <a:xfrm flipV="1">
            <a:off x="1191905" y="3514738"/>
            <a:ext cx="2540490" cy="0"/>
          </a:xfrm>
          <a:prstGeom prst="line">
            <a:avLst/>
          </a:prstGeom>
          <a:ln w="57150" cap="flat">
            <a:solidFill>
              <a:srgbClr val="EE7E35"/>
            </a:solidFill>
            <a:prstDash val="solid"/>
            <a:headEnd type="none" w="sm" len="sm"/>
            <a:tailEnd type="none" w="sm" len="sm"/>
          </a:ln>
        </p:spPr>
      </p:sp>
      <p:sp>
        <p:nvSpPr>
          <p:cNvPr id="13" name="Freeform 13"/>
          <p:cNvSpPr/>
          <p:nvPr/>
        </p:nvSpPr>
        <p:spPr>
          <a:xfrm>
            <a:off x="5105400" y="102245"/>
            <a:ext cx="8647771" cy="2003178"/>
          </a:xfrm>
          <a:custGeom>
            <a:avLst/>
            <a:gdLst/>
            <a:ahLst/>
            <a:cxnLst/>
            <a:rect l="l" t="t" r="r" b="b"/>
            <a:pathLst>
              <a:path w="8647771" h="2003178">
                <a:moveTo>
                  <a:pt x="0" y="0"/>
                </a:moveTo>
                <a:lnTo>
                  <a:pt x="8647770" y="0"/>
                </a:lnTo>
                <a:lnTo>
                  <a:pt x="8647770" y="2003178"/>
                </a:lnTo>
                <a:lnTo>
                  <a:pt x="0" y="2003178"/>
                </a:lnTo>
                <a:lnTo>
                  <a:pt x="0" y="0"/>
                </a:lnTo>
                <a:close/>
              </a:path>
            </a:pathLst>
          </a:custGeom>
          <a:blipFill>
            <a:blip r:embed="rId7"/>
            <a:stretch>
              <a:fillRect/>
            </a:stretch>
          </a:blipFill>
        </p:spPr>
      </p:sp>
      <p:sp>
        <p:nvSpPr>
          <p:cNvPr id="14" name="Freeform 20"/>
          <p:cNvSpPr/>
          <p:nvPr/>
        </p:nvSpPr>
        <p:spPr>
          <a:xfrm>
            <a:off x="10886" y="5469657"/>
            <a:ext cx="10522868" cy="803463"/>
          </a:xfrm>
          <a:custGeom>
            <a:avLst/>
            <a:gdLst/>
            <a:ahLst/>
            <a:cxnLst/>
            <a:rect l="l" t="t" r="r" b="b"/>
            <a:pathLst>
              <a:path w="10522868" h="803463">
                <a:moveTo>
                  <a:pt x="0" y="0"/>
                </a:moveTo>
                <a:lnTo>
                  <a:pt x="10522868" y="0"/>
                </a:lnTo>
                <a:lnTo>
                  <a:pt x="10522868" y="803463"/>
                </a:lnTo>
                <a:lnTo>
                  <a:pt x="0" y="803463"/>
                </a:lnTo>
                <a:lnTo>
                  <a:pt x="0" y="0"/>
                </a:lnTo>
                <a:close/>
              </a:path>
            </a:pathLst>
          </a:custGeom>
          <a:blipFill>
            <a:blip r:embed="rId8">
              <a:alphaModFix amt="70000"/>
            </a:blip>
            <a:stretch>
              <a:fillRect l="-7277" t="-32726" r="-13042" b="-17961"/>
            </a:stretch>
          </a:blipFill>
        </p:spPr>
      </p:sp>
      <p:sp>
        <p:nvSpPr>
          <p:cNvPr id="15" name="文本框 18"/>
          <p:cNvSpPr txBox="1"/>
          <p:nvPr/>
        </p:nvSpPr>
        <p:spPr>
          <a:xfrm>
            <a:off x="2118431" y="5502414"/>
            <a:ext cx="6559633" cy="707886"/>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dist">
              <a:defRPr/>
            </a:pPr>
            <a:r>
              <a:rPr lang="zh-CN" altLang="en-US" sz="4000" b="1" i="1" kern="0" spc="70" dirty="0">
                <a:solidFill>
                  <a:prstClr val="white">
                    <a:alpha val="100000"/>
                  </a:prst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charset="0"/>
                <a:sym typeface="+mn-ea"/>
              </a:rPr>
              <a:t>房有所“信”，老有所“托”</a:t>
            </a:r>
            <a:endParaRPr lang="en-US" altLang="zh-CN" sz="4000" b="1" i="1" kern="0" spc="70" dirty="0">
              <a:solidFill>
                <a:prstClr val="white">
                  <a:alpha val="100000"/>
                </a:prst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charset="0"/>
              <a:sym typeface="+mn-ea"/>
            </a:endParaRPr>
          </a:p>
        </p:txBody>
      </p:sp>
      <p:grpSp>
        <p:nvGrpSpPr>
          <p:cNvPr id="24" name="组合 23"/>
          <p:cNvGrpSpPr/>
          <p:nvPr/>
        </p:nvGrpSpPr>
        <p:grpSpPr>
          <a:xfrm>
            <a:off x="2069465" y="8496300"/>
            <a:ext cx="6482713" cy="503555"/>
            <a:chOff x="2466100" y="7064544"/>
            <a:chExt cx="4086988" cy="317501"/>
          </a:xfrm>
        </p:grpSpPr>
        <p:sp>
          <p:nvSpPr>
            <p:cNvPr id="27" name="矩形: 圆角 68"/>
            <p:cNvSpPr/>
            <p:nvPr/>
          </p:nvSpPr>
          <p:spPr>
            <a:xfrm>
              <a:off x="2910868" y="7064544"/>
              <a:ext cx="3642220" cy="317501"/>
            </a:xfrm>
            <a:prstGeom prst="roundRect">
              <a:avLst>
                <a:gd name="adj" fmla="val 50000"/>
              </a:avLst>
            </a:prstGeom>
            <a:solidFill>
              <a:sysClr val="window" lastClr="FFFFFF"/>
            </a:solidFill>
            <a:ln w="19050" cap="flat" cmpd="sng" algn="ctr">
              <a:noFill/>
              <a:prstDash val="solid"/>
              <a:miter lim="800000"/>
            </a:ln>
            <a:effectLst/>
          </p:spPr>
          <p:txBody>
            <a:bodyPr rtlCol="0" anchor="ctr"/>
            <a:lstStyle/>
            <a:p>
              <a:pPr algn="ctr"/>
              <a:r>
                <a:rPr lang="en-US" altLang="zh-CN"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          </a:t>
              </a: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路锦非、陈力闻</a:t>
              </a:r>
              <a:endPar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endParaRPr>
            </a:p>
          </p:txBody>
        </p:sp>
        <p:sp>
          <p:nvSpPr>
            <p:cNvPr id="28" name="矩形: 圆角 69"/>
            <p:cNvSpPr/>
            <p:nvPr/>
          </p:nvSpPr>
          <p:spPr>
            <a:xfrm>
              <a:off x="2466100" y="7064544"/>
              <a:ext cx="1190334" cy="317501"/>
            </a:xfrm>
            <a:prstGeom prst="roundRect">
              <a:avLst>
                <a:gd name="adj" fmla="val 50000"/>
              </a:avLst>
            </a:prstGeom>
            <a:gradFill>
              <a:gsLst>
                <a:gs pos="0">
                  <a:srgbClr val="FAB05A"/>
                </a:gs>
                <a:gs pos="95000">
                  <a:srgbClr val="EE6516"/>
                </a:gs>
              </a:gsLst>
              <a:lin ang="0" scaled="1"/>
            </a:gradFill>
            <a:ln w="19050" cap="flat" cmpd="sng" algn="ctr">
              <a:noFill/>
              <a:prstDash val="solid"/>
              <a:miter lim="800000"/>
            </a:ln>
            <a:effectLst/>
          </p:spPr>
          <p:txBody>
            <a:bodyPr rtlCol="0" anchor="ctr"/>
            <a:lstStyle/>
            <a:p>
              <a:pPr algn="ctr"/>
              <a:r>
                <a:rPr lang="zh-CN" altLang="en-US" sz="2800" dirty="0">
                  <a:solidFill>
                    <a:sysClr val="window" lastClr="FFFFFF"/>
                  </a:solidFill>
                  <a:latin typeface="思源宋体 CN Heavy" panose="02020900000000000000" charset="-122"/>
                  <a:ea typeface="思源宋体 CN Heavy" panose="02020900000000000000" charset="-122"/>
                </a:rPr>
                <a:t>指导老师</a:t>
              </a:r>
              <a:endParaRPr lang="zh-CN" altLang="en-US" sz="2800" dirty="0">
                <a:solidFill>
                  <a:sysClr val="window" lastClr="FFFFFF"/>
                </a:solidFill>
                <a:latin typeface="思源宋体 CN Heavy" panose="02020900000000000000" charset="-122"/>
                <a:ea typeface="思源宋体 CN Heavy" panose="02020900000000000000" charset="-122"/>
              </a:endParaRPr>
            </a:p>
          </p:txBody>
        </p:sp>
      </p:grpSp>
      <p:sp>
        <p:nvSpPr>
          <p:cNvPr id="7" name="矩形: 圆角 68"/>
          <p:cNvSpPr/>
          <p:nvPr/>
        </p:nvSpPr>
        <p:spPr>
          <a:xfrm>
            <a:off x="3155950" y="7223125"/>
            <a:ext cx="7539355" cy="503555"/>
          </a:xfrm>
          <a:prstGeom prst="roundRect">
            <a:avLst>
              <a:gd name="adj" fmla="val 50000"/>
            </a:avLst>
          </a:prstGeom>
          <a:solidFill>
            <a:sysClr val="window" lastClr="FFFFFF"/>
          </a:solidFill>
          <a:ln w="19050" cap="flat" cmpd="sng" algn="ctr">
            <a:noFill/>
            <a:prstDash val="solid"/>
            <a:miter lim="800000"/>
          </a:ln>
          <a:effectLst/>
        </p:spPr>
        <p:txBody>
          <a:bodyPr rtlCol="0" anchor="ctr"/>
          <a:lstStyle/>
          <a:p>
            <a:pPr algn="ct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沈妍</a:t>
            </a:r>
            <a:r>
              <a:rPr lang="en-US" altLang="zh-CN"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  </a:t>
            </a: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昝佳禾</a:t>
            </a:r>
            <a:r>
              <a:rPr lang="en-US" altLang="zh-CN"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  </a:t>
            </a: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金羿飞</a:t>
            </a:r>
            <a:r>
              <a:rPr lang="en-US" altLang="zh-CN"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  </a:t>
            </a: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黎逸帆</a:t>
            </a:r>
            <a:r>
              <a:rPr lang="en-US" altLang="zh-CN"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  </a:t>
            </a: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朱子</a:t>
            </a: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墨</a:t>
            </a:r>
            <a:endPar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endParaRPr>
          </a:p>
        </p:txBody>
      </p:sp>
      <p:sp>
        <p:nvSpPr>
          <p:cNvPr id="31" name="矩形: 圆角 69"/>
          <p:cNvSpPr/>
          <p:nvPr/>
        </p:nvSpPr>
        <p:spPr>
          <a:xfrm>
            <a:off x="2036445" y="7200900"/>
            <a:ext cx="1887855" cy="503555"/>
          </a:xfrm>
          <a:prstGeom prst="roundRect">
            <a:avLst>
              <a:gd name="adj" fmla="val 50000"/>
            </a:avLst>
          </a:prstGeom>
          <a:gradFill>
            <a:gsLst>
              <a:gs pos="0">
                <a:srgbClr val="FAB05A"/>
              </a:gs>
              <a:gs pos="95000">
                <a:srgbClr val="EE6516"/>
              </a:gs>
            </a:gsLst>
            <a:lin ang="0" scaled="1"/>
          </a:gradFill>
          <a:ln w="19050" cap="flat" cmpd="sng" algn="ctr">
            <a:noFill/>
            <a:prstDash val="solid"/>
            <a:miter lim="800000"/>
          </a:ln>
          <a:effectLst/>
        </p:spPr>
        <p:txBody>
          <a:bodyPr rtlCol="0" anchor="ctr"/>
          <a:lstStyle/>
          <a:p>
            <a:pPr algn="ctr"/>
            <a:r>
              <a:rPr lang="zh-CN" altLang="en-US" sz="2800" dirty="0">
                <a:solidFill>
                  <a:sysClr val="window" lastClr="FFFFFF"/>
                </a:solidFill>
                <a:latin typeface="思源宋体 CN Heavy" panose="02020900000000000000" charset="-122"/>
                <a:ea typeface="思源宋体 CN Heavy" panose="02020900000000000000" charset="-122"/>
              </a:rPr>
              <a:t>团队成员</a:t>
            </a:r>
            <a:endParaRPr lang="zh-CN" altLang="en-US" sz="2800" dirty="0">
              <a:solidFill>
                <a:sysClr val="window" lastClr="FFFFFF"/>
              </a:solidFill>
              <a:latin typeface="思源宋体 CN Heavy" panose="02020900000000000000" charset="-122"/>
              <a:ea typeface="思源宋体 CN Heavy" panose="02020900000000000000" charset="-122"/>
            </a:endParaRPr>
          </a:p>
        </p:txBody>
      </p:sp>
      <p:pic>
        <p:nvPicPr>
          <p:cNvPr id="17" name="图片 16"/>
          <p:cNvPicPr>
            <a:picLocks noChangeAspect="1"/>
          </p:cNvPicPr>
          <p:nvPr/>
        </p:nvPicPr>
        <p:blipFill>
          <a:blip r:embed="rId9">
            <a:extLst>
              <a:ext uri="{BEBA8EAE-BF5A-486C-A8C5-ECC9F3942E4B}">
                <a14:imgProps xmlns:a14="http://schemas.microsoft.com/office/drawing/2010/main">
                  <a14:imgLayer r:embed="rId10">
                    <a14:imgEffect>
                      <a14:backgroundRemoval t="9927" b="89961" l="9941" r="99323">
                        <a14:foregroundMark x1="33587" y1="53864" x2="33587" y2="53864"/>
                        <a14:foregroundMark x1="93486" y1="71686" x2="93486" y2="71686"/>
                        <a14:foregroundMark x1="99323" y1="68528" x2="99323" y2="68528"/>
                      </a14:backgroundRemoval>
                    </a14:imgEffect>
                  </a14:imgLayer>
                </a14:imgProps>
              </a:ext>
            </a:extLst>
          </a:blip>
          <a:stretch>
            <a:fillRect/>
          </a:stretch>
        </p:blipFill>
        <p:spPr>
          <a:xfrm>
            <a:off x="10740693" y="5050948"/>
            <a:ext cx="7558193" cy="5668645"/>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4.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5.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6.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7.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8.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9.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10.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11.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12.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13.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14.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15.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16.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17.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18.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19.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0.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1.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2.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3.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4.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5.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6.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7.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8.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9.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0.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1.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2.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3.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4.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5.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6.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7.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8.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9.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40.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41.xml><?xml version="1.0" encoding="utf-8"?>
<p:tagLst xmlns:p="http://schemas.openxmlformats.org/presentationml/2006/main">
  <p:tag name="KSO_WM_DIAGRAM_VIRTUALLY_FRAME" val="{&quot;height&quot;:418.3,&quot;left&quot;:243.3,&quot;top&quot;:99.6,&quot;width&quot;:690.4}"/>
</p:tagLst>
</file>

<file path=ppt/tags/tag42.xml><?xml version="1.0" encoding="utf-8"?>
<p:tagLst xmlns:p="http://schemas.openxmlformats.org/presentationml/2006/main">
  <p:tag name="KSO_WM_DIAGRAM_VIRTUALLY_FRAME" val="{&quot;height&quot;:418.3,&quot;left&quot;:243.3,&quot;top&quot;:99.6,&quot;width&quot;:690.4}"/>
</p:tagLst>
</file>

<file path=ppt/tags/tag43.xml><?xml version="1.0" encoding="utf-8"?>
<p:tagLst xmlns:p="http://schemas.openxmlformats.org/presentationml/2006/main">
  <p:tag name="KSO_WM_DIAGRAM_VIRTUALLY_FRAME" val="{&quot;height&quot;:418.3,&quot;left&quot;:243.3,&quot;top&quot;:99.6,&quot;width&quot;:690.4}"/>
</p:tagLst>
</file>

<file path=ppt/tags/tag44.xml><?xml version="1.0" encoding="utf-8"?>
<p:tagLst xmlns:p="http://schemas.openxmlformats.org/presentationml/2006/main">
  <p:tag name="KSO_WM_DIAGRAM_VIRTUALLY_FRAME" val="{&quot;height&quot;:418.3,&quot;left&quot;:243.3,&quot;top&quot;:99.6,&quot;width&quot;:690.4}"/>
</p:tagLst>
</file>

<file path=ppt/tags/tag45.xml><?xml version="1.0" encoding="utf-8"?>
<p:tagLst xmlns:p="http://schemas.openxmlformats.org/presentationml/2006/main">
  <p:tag name="KSO_WM_DIAGRAM_VIRTUALLY_FRAME" val="{&quot;height&quot;:418.3,&quot;left&quot;:243.3,&quot;top&quot;:99.6,&quot;width&quot;:690.4}"/>
</p:tagLst>
</file>

<file path=ppt/tags/tag46.xml><?xml version="1.0" encoding="utf-8"?>
<p:tagLst xmlns:p="http://schemas.openxmlformats.org/presentationml/2006/main">
  <p:tag name="KSO_WM_DIAGRAM_VIRTUALLY_FRAME" val="{&quot;height&quot;:418.3,&quot;left&quot;:243.3,&quot;top&quot;:99.6,&quot;width&quot;:690.4}"/>
</p:tagLst>
</file>

<file path=ppt/tags/tag47.xml><?xml version="1.0" encoding="utf-8"?>
<p:tagLst xmlns:p="http://schemas.openxmlformats.org/presentationml/2006/main">
  <p:tag name="KSO_WM_DIAGRAM_VIRTUALLY_FRAME" val="{&quot;height&quot;:418.3,&quot;left&quot;:243.3,&quot;top&quot;:99.6,&quot;width&quot;:690.4}"/>
</p:tagLst>
</file>

<file path=ppt/tags/tag48.xml><?xml version="1.0" encoding="utf-8"?>
<p:tagLst xmlns:p="http://schemas.openxmlformats.org/presentationml/2006/main">
  <p:tag name="KSO_WM_DIAGRAM_VIRTUALLY_FRAME" val="{&quot;height&quot;:418.3,&quot;left&quot;:243.3,&quot;top&quot;:99.6,&quot;width&quot;:690.4}"/>
</p:tagLst>
</file>

<file path=ppt/tags/tag49.xml><?xml version="1.0" encoding="utf-8"?>
<p:tagLst xmlns:p="http://schemas.openxmlformats.org/presentationml/2006/main">
  <p:tag name="KSO_WM_DIAGRAM_VIRTUALLY_FRAME" val="{&quot;height&quot;:418.3,&quot;left&quot;:243.3,&quot;top&quot;:99.6,&quot;width&quot;:690.4}"/>
</p:tagLst>
</file>

<file path=ppt/tags/tag50.xml><?xml version="1.0" encoding="utf-8"?>
<p:tagLst xmlns:p="http://schemas.openxmlformats.org/presentationml/2006/main">
  <p:tag name="KSO_WM_DIAGRAM_VIRTUALLY_FRAME" val="{&quot;height&quot;:418.3,&quot;left&quot;:243.3,&quot;top&quot;:99.6,&quot;width&quot;:690.4}"/>
</p:tagLst>
</file>

<file path=ppt/tags/tag51.xml><?xml version="1.0" encoding="utf-8"?>
<p:tagLst xmlns:p="http://schemas.openxmlformats.org/presentationml/2006/main">
  <p:tag name="KSO_WM_DIAGRAM_VIRTUALLY_FRAME" val="{&quot;height&quot;:418.3,&quot;left&quot;:243.3,&quot;top&quot;:99.6,&quot;width&quot;:690.4}"/>
</p:tagLst>
</file>

<file path=ppt/tags/tag52.xml><?xml version="1.0" encoding="utf-8"?>
<p:tagLst xmlns:p="http://schemas.openxmlformats.org/presentationml/2006/main">
  <p:tag name="KSO_WM_DIAGRAM_VIRTUALLY_FRAME" val="{&quot;height&quot;:418.3,&quot;left&quot;:243.3,&quot;top&quot;:99.6,&quot;width&quot;:690.4}"/>
</p:tagLst>
</file>

<file path=ppt/tags/tag53.xml><?xml version="1.0" encoding="utf-8"?>
<p:tagLst xmlns:p="http://schemas.openxmlformats.org/presentationml/2006/main">
  <p:tag name="KSO_WM_DIAGRAM_VIRTUALLY_FRAME" val="{&quot;height&quot;:418.3,&quot;left&quot;:243.3,&quot;top&quot;:99.6,&quot;width&quot;:690.4}"/>
</p:tagLst>
</file>

<file path=ppt/tags/tag54.xml><?xml version="1.0" encoding="utf-8"?>
<p:tagLst xmlns:p="http://schemas.openxmlformats.org/presentationml/2006/main">
  <p:tag name="KSO_WM_DIAGRAM_VIRTUALLY_FRAME" val="{&quot;height&quot;:418.3,&quot;left&quot;:243.3,&quot;top&quot;:99.6,&quot;width&quot;:690.4}"/>
</p:tagLst>
</file>

<file path=ppt/tags/tag55.xml><?xml version="1.0" encoding="utf-8"?>
<p:tagLst xmlns:p="http://schemas.openxmlformats.org/presentationml/2006/main">
  <p:tag name="KSO_WM_DIAGRAM_VIRTUALLY_FRAME" val="{&quot;height&quot;:418.3,&quot;left&quot;:243.3,&quot;top&quot;:99.6,&quot;width&quot;:690.4}"/>
</p:tagLst>
</file>

<file path=ppt/tags/tag56.xml><?xml version="1.0" encoding="utf-8"?>
<p:tagLst xmlns:p="http://schemas.openxmlformats.org/presentationml/2006/main">
  <p:tag name="KSO_WM_DIAGRAM_VIRTUALLY_FRAME" val="{&quot;height&quot;:385.45,&quot;left&quot;:9,&quot;top&quot;:126.1,&quot;width&quot;:902.8665354330709}"/>
</p:tagLst>
</file>

<file path=ppt/tags/tag57.xml><?xml version="1.0" encoding="utf-8"?>
<p:tagLst xmlns:p="http://schemas.openxmlformats.org/presentationml/2006/main">
  <p:tag name="KSO_WM_DIAGRAM_VIRTUALLY_FRAME" val="{&quot;height&quot;:385.45,&quot;left&quot;:9,&quot;top&quot;:126.1,&quot;width&quot;:902.8665354330709}"/>
</p:tagLst>
</file>

<file path=ppt/tags/tag58.xml><?xml version="1.0" encoding="utf-8"?>
<p:tagLst xmlns:p="http://schemas.openxmlformats.org/presentationml/2006/main">
  <p:tag name="KSO_WM_DIAGRAM_VIRTUALLY_FRAME" val="{&quot;height&quot;:385.45,&quot;left&quot;:9,&quot;top&quot;:126.1,&quot;width&quot;:902.8665354330709}"/>
</p:tagLst>
</file>

<file path=ppt/tags/tag59.xml><?xml version="1.0" encoding="utf-8"?>
<p:tagLst xmlns:p="http://schemas.openxmlformats.org/presentationml/2006/main">
  <p:tag name="KSO_WM_DIAGRAM_VIRTUALLY_FRAME" val="{&quot;height&quot;:385.45,&quot;left&quot;:9,&quot;top&quot;:126.1,&quot;width&quot;:902.8665354330709}"/>
</p:tagLst>
</file>

<file path=ppt/tags/tag60.xml><?xml version="1.0" encoding="utf-8"?>
<p:tagLst xmlns:p="http://schemas.openxmlformats.org/presentationml/2006/main">
  <p:tag name="KSO_WM_DIAGRAM_VIRTUALLY_FRAME" val="{&quot;height&quot;:385.45,&quot;left&quot;:9,&quot;top&quot;:126.1,&quot;width&quot;:902.8665354330709}"/>
</p:tagLst>
</file>

<file path=ppt/tags/tag61.xml><?xml version="1.0" encoding="utf-8"?>
<p:tagLst xmlns:p="http://schemas.openxmlformats.org/presentationml/2006/main">
  <p:tag name="KSO_WM_DIAGRAM_VIRTUALLY_FRAME" val="{&quot;height&quot;:385.45,&quot;left&quot;:9,&quot;top&quot;:126.1,&quot;width&quot;:902.8665354330709}"/>
</p:tagLst>
</file>

<file path=ppt/tags/tag62.xml><?xml version="1.0" encoding="utf-8"?>
<p:tagLst xmlns:p="http://schemas.openxmlformats.org/presentationml/2006/main">
  <p:tag name="KSO_WM_DIAGRAM_VIRTUALLY_FRAME" val="{&quot;height&quot;:385.45,&quot;left&quot;:9,&quot;top&quot;:126.1,&quot;width&quot;:902.8665354330709}"/>
</p:tagLst>
</file>

<file path=ppt/tags/tag63.xml><?xml version="1.0" encoding="utf-8"?>
<p:tagLst xmlns:p="http://schemas.openxmlformats.org/presentationml/2006/main">
  <p:tag name="KSO_WM_DIAGRAM_VIRTUALLY_FRAME" val="{&quot;height&quot;:385.45,&quot;left&quot;:9,&quot;top&quot;:126.1,&quot;width&quot;:902.8665354330709}"/>
</p:tagLst>
</file>

<file path=ppt/tags/tag64.xml><?xml version="1.0" encoding="utf-8"?>
<p:tagLst xmlns:p="http://schemas.openxmlformats.org/presentationml/2006/main">
  <p:tag name="KSO_WM_DIAGRAM_VIRTUALLY_FRAME" val="{&quot;height&quot;:48,&quot;left&quot;:71.45,&quot;top&quot;:164,&quot;width&quot;:510.65}"/>
</p:tagLst>
</file>

<file path=ppt/tags/tag65.xml><?xml version="1.0" encoding="utf-8"?>
<p:tagLst xmlns:p="http://schemas.openxmlformats.org/presentationml/2006/main">
  <p:tag name="KSO_WM_DIAGRAM_VIRTUALLY_FRAME" val="{&quot;height&quot;:48,&quot;left&quot;:71.45,&quot;top&quot;:164,&quot;width&quot;:510.65}"/>
</p:tagLst>
</file>

<file path=ppt/tags/tag6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564_3*l_h_f*1_1_1"/>
  <p:tag name="KSO_WM_TEMPLATE_CATEGORY" val="diagram"/>
  <p:tag name="KSO_WM_TEMPLATE_INDEX" val="20231564"/>
  <p:tag name="KSO_WM_UNIT_LAYERLEVEL" val="1_1_1"/>
  <p:tag name="KSO_WM_TAG_VERSION" val="3.0"/>
  <p:tag name="KSO_WM_UNIT_TEXT_FILL_FORE_SCHEMECOLOR_INDEX_BRIGHTNESS" val="0.15"/>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8,&quot;left&quot;:71.45,&quot;top&quot;:164,&quot;width&quot;:510.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你的项正文，文字是您思想的提炼"/>
  <p:tag name="KSO_WM_UNIT_TEXT_FILL_FORE_SCHEMECOLOR_INDEX" val="1"/>
  <p:tag name="KSO_WM_UNIT_TEXT_FILL_TYPE" val="1"/>
  <p:tag name="KSO_WM_DIAGRAM_USE_COLOR_VALUE" val="{&quot;color_scheme&quot;:1,&quot;theme_color_indexes&quot;:[8,9,8,9,8,9]}"/>
</p:tagLst>
</file>

<file path=ppt/tags/tag67.xml><?xml version="1.0" encoding="utf-8"?>
<p:tagLst xmlns:p="http://schemas.openxmlformats.org/presentationml/2006/main">
  <p:tag name="KSO_WM_DIAGRAM_VIRTUALLY_FRAME" val="{&quot;height&quot;:48,&quot;left&quot;:71.45,&quot;top&quot;:164,&quot;width&quot;:510.65}"/>
</p:tagLst>
</file>

<file path=ppt/tags/tag68.xml><?xml version="1.0" encoding="utf-8"?>
<p:tagLst xmlns:p="http://schemas.openxmlformats.org/presentationml/2006/main">
  <p:tag name="KSO_WM_DIAGRAM_VIRTUALLY_FRAME" val="{&quot;height&quot;:48,&quot;left&quot;:71.45,&quot;top&quot;:164,&quot;width&quot;:510.65}"/>
</p:tagLst>
</file>

<file path=ppt/tags/tag6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564_3*l_h_f*1_1_1"/>
  <p:tag name="KSO_WM_TEMPLATE_CATEGORY" val="diagram"/>
  <p:tag name="KSO_WM_TEMPLATE_INDEX" val="20231564"/>
  <p:tag name="KSO_WM_UNIT_LAYERLEVEL" val="1_1_1"/>
  <p:tag name="KSO_WM_TAG_VERSION" val="3.0"/>
  <p:tag name="KSO_WM_UNIT_TEXT_FILL_FORE_SCHEMECOLOR_INDEX_BRIGHTNESS" val="0.15"/>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8,&quot;left&quot;:71.45,&quot;top&quot;:164,&quot;width&quot;:510.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你的项正文，文字是您思想的提炼"/>
  <p:tag name="KSO_WM_UNIT_TEXT_FILL_FORE_SCHEMECOLOR_INDEX" val="1"/>
  <p:tag name="KSO_WM_UNIT_TEXT_FILL_TYPE" val="1"/>
  <p:tag name="KSO_WM_DIAGRAM_USE_COLOR_VALUE" val="{&quot;color_scheme&quot;:1,&quot;theme_color_indexes&quot;:[8,9,8,9,8,9]}"/>
</p:tagLst>
</file>

<file path=ppt/tags/tag70.xml><?xml version="1.0" encoding="utf-8"?>
<p:tagLst xmlns:p="http://schemas.openxmlformats.org/presentationml/2006/main">
  <p:tag name="KSO_WM_DIAGRAM_VIRTUALLY_FRAME" val="{&quot;height&quot;:385.45,&quot;left&quot;:9,&quot;top&quot;:126.1,&quot;width&quot;:902.8665354330709}"/>
</p:tagLst>
</file>

<file path=ppt/tags/tag71.xml><?xml version="1.0" encoding="utf-8"?>
<p:tagLst xmlns:p="http://schemas.openxmlformats.org/presentationml/2006/main">
  <p:tag name="KSO_WM_DIAGRAM_VIRTUALLY_FRAME" val="{&quot;height&quot;:48,&quot;left&quot;:71.45,&quot;top&quot;:164,&quot;width&quot;:510.65}"/>
</p:tagLst>
</file>

<file path=ppt/tags/tag72.xml><?xml version="1.0" encoding="utf-8"?>
<p:tagLst xmlns:p="http://schemas.openxmlformats.org/presentationml/2006/main">
  <p:tag name="KSO_WM_DIAGRAM_VIRTUALLY_FRAME" val="{&quot;height&quot;:48,&quot;left&quot;:71.45,&quot;top&quot;:164,&quot;width&quot;:510.65}"/>
</p:tagLst>
</file>

<file path=ppt/tags/tag7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564_3*l_h_f*1_1_1"/>
  <p:tag name="KSO_WM_TEMPLATE_CATEGORY" val="diagram"/>
  <p:tag name="KSO_WM_TEMPLATE_INDEX" val="20231564"/>
  <p:tag name="KSO_WM_UNIT_LAYERLEVEL" val="1_1_1"/>
  <p:tag name="KSO_WM_TAG_VERSION" val="3.0"/>
  <p:tag name="KSO_WM_UNIT_TEXT_FILL_FORE_SCHEMECOLOR_INDEX_BRIGHTNESS" val="0.15"/>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8,&quot;left&quot;:71.45,&quot;top&quot;:164,&quot;width&quot;:510.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你的项正文，文字是您思想的提炼"/>
  <p:tag name="KSO_WM_UNIT_TEXT_FILL_FORE_SCHEMECOLOR_INDEX" val="1"/>
  <p:tag name="KSO_WM_UNIT_TEXT_FILL_TYPE" val="1"/>
  <p:tag name="KSO_WM_DIAGRAM_USE_COLOR_VALUE" val="{&quot;color_scheme&quot;:1,&quot;theme_color_indexes&quot;:[8,9,8,9,8,9]}"/>
</p:tagLst>
</file>

<file path=ppt/tags/tag74.xml><?xml version="1.0" encoding="utf-8"?>
<p:tagLst xmlns:p="http://schemas.openxmlformats.org/presentationml/2006/main">
  <p:tag name="KSO_WM_DIAGRAM_VIRTUALLY_FRAME" val="{&quot;height&quot;:48,&quot;left&quot;:71.45,&quot;top&quot;:164,&quot;width&quot;:510.65}"/>
</p:tagLst>
</file>

<file path=ppt/tags/tag75.xml><?xml version="1.0" encoding="utf-8"?>
<p:tagLst xmlns:p="http://schemas.openxmlformats.org/presentationml/2006/main">
  <p:tag name="KSO_WM_DIAGRAM_VIRTUALLY_FRAME" val="{&quot;height&quot;:48,&quot;left&quot;:71.45,&quot;top&quot;:164,&quot;width&quot;:510.65}"/>
</p:tagLst>
</file>

<file path=ppt/tags/tag7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564_3*l_h_f*1_1_1"/>
  <p:tag name="KSO_WM_TEMPLATE_CATEGORY" val="diagram"/>
  <p:tag name="KSO_WM_TEMPLATE_INDEX" val="20231564"/>
  <p:tag name="KSO_WM_UNIT_LAYERLEVEL" val="1_1_1"/>
  <p:tag name="KSO_WM_TAG_VERSION" val="3.0"/>
  <p:tag name="KSO_WM_UNIT_TEXT_FILL_FORE_SCHEMECOLOR_INDEX_BRIGHTNESS" val="0.15"/>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8,&quot;left&quot;:71.45,&quot;top&quot;:164,&quot;width&quot;:510.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你的项正文，文字是您思想的提炼"/>
  <p:tag name="KSO_WM_UNIT_TEXT_FILL_FORE_SCHEMECOLOR_INDEX" val="1"/>
  <p:tag name="KSO_WM_UNIT_TEXT_FILL_TYPE" val="1"/>
  <p:tag name="KSO_WM_DIAGRAM_USE_COLOR_VALUE" val="{&quot;color_scheme&quot;:1,&quot;theme_color_indexes&quot;:[8,9,8,9,8,9]}"/>
</p:tagLst>
</file>

<file path=ppt/tags/tag77.xml><?xml version="1.0" encoding="utf-8"?>
<p:tagLst xmlns:p="http://schemas.openxmlformats.org/presentationml/2006/main">
  <p:tag name="KSO_WM_DIAGRAM_VIRTUALLY_FRAME" val="{&quot;height&quot;:415.6,&quot;left&quot;:22,&quot;top&quot;:128.7,&quot;width&quot;:919.65}"/>
</p:tagLst>
</file>

<file path=ppt/tags/tag78.xml><?xml version="1.0" encoding="utf-8"?>
<p:tagLst xmlns:p="http://schemas.openxmlformats.org/presentationml/2006/main">
  <p:tag name="KSO_WM_DIAGRAM_VIRTUALLY_FRAME" val="{&quot;height&quot;:415.6,&quot;left&quot;:22,&quot;top&quot;:128.7,&quot;width&quot;:919.65}"/>
</p:tagLst>
</file>

<file path=ppt/tags/tag79.xml><?xml version="1.0" encoding="utf-8"?>
<p:tagLst xmlns:p="http://schemas.openxmlformats.org/presentationml/2006/main">
  <p:tag name="KSO_WM_DIAGRAM_VIRTUALLY_FRAME" val="{&quot;height&quot;:415.6,&quot;left&quot;:22,&quot;top&quot;:128.7,&quot;width&quot;:919.65}"/>
</p:tagLst>
</file>

<file path=ppt/tags/tag80.xml><?xml version="1.0" encoding="utf-8"?>
<p:tagLst xmlns:p="http://schemas.openxmlformats.org/presentationml/2006/main">
  <p:tag name="KSO_WM_DIAGRAM_VIRTUALLY_FRAME" val="{&quot;height&quot;:415.6,&quot;left&quot;:22,&quot;top&quot;:128.7,&quot;width&quot;:919.65}"/>
</p:tagLst>
</file>

<file path=ppt/tags/tag81.xml><?xml version="1.0" encoding="utf-8"?>
<p:tagLst xmlns:p="http://schemas.openxmlformats.org/presentationml/2006/main">
  <p:tag name="KSO_WM_DIAGRAM_VIRTUALLY_FRAME" val="{&quot;height&quot;:415.6,&quot;left&quot;:22,&quot;top&quot;:128.7,&quot;width&quot;:919.65}"/>
</p:tagLst>
</file>

<file path=ppt/tags/tag82.xml><?xml version="1.0" encoding="utf-8"?>
<p:tagLst xmlns:p="http://schemas.openxmlformats.org/presentationml/2006/main">
  <p:tag name="KSO_WM_DIAGRAM_VIRTUALLY_FRAME" val="{&quot;height&quot;:415.6,&quot;left&quot;:22,&quot;top&quot;:128.7,&quot;width&quot;:919.65}"/>
</p:tagLst>
</file>

<file path=ppt/tags/tag83.xml><?xml version="1.0" encoding="utf-8"?>
<p:tagLst xmlns:p="http://schemas.openxmlformats.org/presentationml/2006/main">
  <p:tag name="KSO_WM_DIAGRAM_VIRTUALLY_FRAME" val="{&quot;height&quot;:415.6,&quot;left&quot;:22,&quot;top&quot;:128.7,&quot;width&quot;:919.65}"/>
</p:tagLst>
</file>

<file path=ppt/tags/tag84.xml><?xml version="1.0" encoding="utf-8"?>
<p:tagLst xmlns:p="http://schemas.openxmlformats.org/presentationml/2006/main">
  <p:tag name="KSO_WM_DIAGRAM_VIRTUALLY_FRAME" val="{&quot;height&quot;:415.6,&quot;left&quot;:22,&quot;top&quot;:128.7,&quot;width&quot;:919.65}"/>
</p:tagLst>
</file>

<file path=ppt/tags/tag85.xml><?xml version="1.0" encoding="utf-8"?>
<p:tagLst xmlns:p="http://schemas.openxmlformats.org/presentationml/2006/main">
  <p:tag name="KSO_WM_DIAGRAM_VIRTUALLY_FRAME" val="{&quot;height&quot;:415.6,&quot;left&quot;:22,&quot;top&quot;:128.7,&quot;width&quot;:919.65}"/>
</p:tagLst>
</file>

<file path=ppt/tags/tag86.xml><?xml version="1.0" encoding="utf-8"?>
<p:tagLst xmlns:p="http://schemas.openxmlformats.org/presentationml/2006/main">
  <p:tag name="KSO_WM_DIAGRAM_VIRTUALLY_FRAME" val="{&quot;height&quot;:415.6,&quot;left&quot;:22,&quot;top&quot;:128.7,&quot;width&quot;:919.65}"/>
</p:tagLst>
</file>

<file path=ppt/tags/tag87.xml><?xml version="1.0" encoding="utf-8"?>
<p:tagLst xmlns:p="http://schemas.openxmlformats.org/presentationml/2006/main">
  <p:tag name="KSO_WM_DIAGRAM_VIRTUALLY_FRAME" val="{&quot;height&quot;:415.6,&quot;left&quot;:22,&quot;top&quot;:128.7,&quot;width&quot;:919.65}"/>
</p:tagLst>
</file>

<file path=ppt/tags/tag88.xml><?xml version="1.0" encoding="utf-8"?>
<p:tagLst xmlns:p="http://schemas.openxmlformats.org/presentationml/2006/main">
  <p:tag name="KSO_WM_DIAGRAM_VIRTUALLY_FRAME" val="{&quot;height&quot;:415.6,&quot;left&quot;:22,&quot;top&quot;:128.7,&quot;width&quot;:919.65}"/>
</p:tagLst>
</file>

<file path=ppt/tags/tag89.xml><?xml version="1.0" encoding="utf-8"?>
<p:tagLst xmlns:p="http://schemas.openxmlformats.org/presentationml/2006/main">
  <p:tag name="KSO_WM_DIAGRAM_VIRTUALLY_FRAME" val="{&quot;height&quot;:415.6,&quot;left&quot;:22,&quot;top&quot;:128.7,&quot;width&quot;:919.65}"/>
</p:tagLst>
</file>

<file path=ppt/tags/tag90.xml><?xml version="1.0" encoding="utf-8"?>
<p:tagLst xmlns:p="http://schemas.openxmlformats.org/presentationml/2006/main">
  <p:tag name="KSO_WM_DIAGRAM_VIRTUALLY_FRAME" val="{&quot;height&quot;:415.6,&quot;left&quot;:22,&quot;top&quot;:128.7,&quot;width&quot;:919.65}"/>
</p:tagLst>
</file>

<file path=ppt/tags/tag91.xml><?xml version="1.0" encoding="utf-8"?>
<p:tagLst xmlns:p="http://schemas.openxmlformats.org/presentationml/2006/main">
  <p:tag name="KSO_WM_DIAGRAM_VIRTUALLY_FRAME" val="{&quot;height&quot;:415.6,&quot;left&quot;:22,&quot;top&quot;:128.7,&quot;width&quot;:919.65}"/>
</p:tagLst>
</file>

<file path=ppt/tags/tag92.xml><?xml version="1.0" encoding="utf-8"?>
<p:tagLst xmlns:p="http://schemas.openxmlformats.org/presentationml/2006/main">
  <p:tag name="KSO_WM_DIAGRAM_VIRTUALLY_FRAME" val="{&quot;height&quot;:415.6,&quot;left&quot;:22,&quot;top&quot;:128.7,&quot;width&quot;:919.65}"/>
</p:tagLst>
</file>

<file path=ppt/tags/tag93.xml><?xml version="1.0" encoding="utf-8"?>
<p:tagLst xmlns:p="http://schemas.openxmlformats.org/presentationml/2006/main">
  <p:tag name="KSO_WM_DIAGRAM_VIRTUALLY_FRAME" val="{&quot;height&quot;:415.6,&quot;left&quot;:22,&quot;top&quot;:128.7,&quot;width&quot;:919.65}"/>
</p:tagLst>
</file>

<file path=ppt/tags/tag94.xml><?xml version="1.0" encoding="utf-8"?>
<p:tagLst xmlns:p="http://schemas.openxmlformats.org/presentationml/2006/main">
  <p:tag name="KSO_WM_DIAGRAM_VIRTUALLY_FRAME" val="{&quot;height&quot;:415.6,&quot;left&quot;:22,&quot;top&quot;:128.7,&quot;width&quot;:919.65}"/>
</p:tagLst>
</file>

<file path=ppt/tags/tag95.xml><?xml version="1.0" encoding="utf-8"?>
<p:tagLst xmlns:p="http://schemas.openxmlformats.org/presentationml/2006/main">
  <p:tag name="KSO_WM_DIAGRAM_VIRTUALLY_FRAME" val="{&quot;height&quot;:415.6,&quot;left&quot;:22,&quot;top&quot;:128.7,&quot;width&quot;:919.65}"/>
</p:tagLst>
</file>

<file path=ppt/tags/tag96.xml><?xml version="1.0" encoding="utf-8"?>
<p:tagLst xmlns:p="http://schemas.openxmlformats.org/presentationml/2006/main">
  <p:tag name="KSO_WM_DIAGRAM_VIRTUALLY_FRAME" val="{&quot;height&quot;:415.6,&quot;left&quot;:22,&quot;top&quot;:128.7,&quot;width&quot;:919.65}"/>
</p:tagLst>
</file>

<file path=ppt/tags/tag97.xml><?xml version="1.0" encoding="utf-8"?>
<p:tagLst xmlns:p="http://schemas.openxmlformats.org/presentationml/2006/main">
  <p:tag name="KSO_WM_DIAGRAM_VIRTUALLY_FRAME" val="{&quot;height&quot;:415.6,&quot;left&quot;:22,&quot;top&quot;:128.7,&quot;width&quot;:919.65}"/>
</p:tagLst>
</file>

<file path=ppt/tags/tag98.xml><?xml version="1.0" encoding="utf-8"?>
<p:tagLst xmlns:p="http://schemas.openxmlformats.org/presentationml/2006/main">
  <p:tag name="KSO_WM_DIAGRAM_VIRTUALLY_FRAME" val="{&quot;height&quot;:415.6,&quot;left&quot;:22,&quot;top&quot;:128.7,&quot;width&quot;:919.65}"/>
</p:tagLst>
</file>

<file path=ppt/tags/tag99.xml><?xml version="1.0" encoding="utf-8"?>
<p:tagLst xmlns:p="http://schemas.openxmlformats.org/presentationml/2006/main">
  <p:tag name="KSO_WM_DIAGRAM_VIRTUALLY_FRAME" val="{&quot;height&quot;:415.6,&quot;left&quot;:22,&quot;top&quot;:128.7,&quot;width&quot;:919.65}"/>
</p:tagLst>
</file>

<file path=ppt/tags/tag100.xml><?xml version="1.0" encoding="utf-8"?>
<p:tagLst xmlns:p="http://schemas.openxmlformats.org/presentationml/2006/main">
  <p:tag name="KSO_WM_DIAGRAM_VIRTUALLY_FRAME" val="{&quot;height&quot;:415.6,&quot;left&quot;:22,&quot;top&quot;:128.7,&quot;width&quot;:919.65}"/>
</p:tagLst>
</file>

<file path=ppt/tags/tag101.xml><?xml version="1.0" encoding="utf-8"?>
<p:tagLst xmlns:p="http://schemas.openxmlformats.org/presentationml/2006/main">
  <p:tag name="KSO_WM_DIAGRAM_VIRTUALLY_FRAME" val="{&quot;height&quot;:415.6,&quot;left&quot;:22,&quot;top&quot;:128.7,&quot;width&quot;:919.65}"/>
</p:tagLst>
</file>

<file path=ppt/tags/tag102.xml><?xml version="1.0" encoding="utf-8"?>
<p:tagLst xmlns:p="http://schemas.openxmlformats.org/presentationml/2006/main">
  <p:tag name="KSO_WM_DIAGRAM_VIRTUALLY_FRAME" val="{&quot;height&quot;:415.6,&quot;left&quot;:22,&quot;top&quot;:128.7,&quot;width&quot;:919.65}"/>
</p:tagLst>
</file>

<file path=ppt/tags/tag103.xml><?xml version="1.0" encoding="utf-8"?>
<p:tagLst xmlns:p="http://schemas.openxmlformats.org/presentationml/2006/main">
  <p:tag name="KSO_WM_DIAGRAM_VIRTUALLY_FRAME" val="{&quot;height&quot;:415.6,&quot;left&quot;:22,&quot;top&quot;:128.7,&quot;width&quot;:919.65}"/>
</p:tagLst>
</file>

<file path=ppt/tags/tag104.xml><?xml version="1.0" encoding="utf-8"?>
<p:tagLst xmlns:p="http://schemas.openxmlformats.org/presentationml/2006/main">
  <p:tag name="KSO_WM_DIAGRAM_VIRTUALLY_FRAME" val="{&quot;height&quot;:415.6,&quot;left&quot;:22,&quot;top&quot;:128.7,&quot;width&quot;:919.65}"/>
</p:tagLst>
</file>

<file path=ppt/tags/tag105.xml><?xml version="1.0" encoding="utf-8"?>
<p:tagLst xmlns:p="http://schemas.openxmlformats.org/presentationml/2006/main">
  <p:tag name="KSO_WM_DIAGRAM_VIRTUALLY_FRAME" val="{&quot;height&quot;:415.6,&quot;left&quot;:22,&quot;top&quot;:128.7,&quot;width&quot;:919.65}"/>
</p:tagLst>
</file>

<file path=ppt/tags/tag106.xml><?xml version="1.0" encoding="utf-8"?>
<p:tagLst xmlns:p="http://schemas.openxmlformats.org/presentationml/2006/main">
  <p:tag name="KSO_WM_DIAGRAM_VIRTUALLY_FRAME" val="{&quot;height&quot;:415.6,&quot;left&quot;:22,&quot;top&quot;:128.7,&quot;width&quot;:919.65}"/>
</p:tagLst>
</file>

<file path=ppt/tags/tag107.xml><?xml version="1.0" encoding="utf-8"?>
<p:tagLst xmlns:p="http://schemas.openxmlformats.org/presentationml/2006/main">
  <p:tag name="SHADOWSIZE" val="100"/>
  <p:tag name="KSO_WM_DIAGRAM_VIRTUALLY_FRAME" val="{&quot;height&quot;:415.6,&quot;left&quot;:22,&quot;top&quot;:128.7,&quot;width&quot;:919.65}"/>
</p:tagLst>
</file>

<file path=ppt/tags/tag108.xml><?xml version="1.0" encoding="utf-8"?>
<p:tagLst xmlns:p="http://schemas.openxmlformats.org/presentationml/2006/main">
  <p:tag name="SHADOWSIZE" val="100"/>
  <p:tag name="KSO_WM_DIAGRAM_VIRTUALLY_FRAME" val="{&quot;height&quot;:415.6,&quot;left&quot;:22,&quot;top&quot;:128.7,&quot;width&quot;:919.65}"/>
</p:tagLst>
</file>

<file path=ppt/tags/tag109.xml><?xml version="1.0" encoding="utf-8"?>
<p:tagLst xmlns:p="http://schemas.openxmlformats.org/presentationml/2006/main">
  <p:tag name="SHADOWSIZE" val="100"/>
  <p:tag name="KSO_WM_DIAGRAM_VIRTUALLY_FRAME" val="{&quot;height&quot;:415.6,&quot;left&quot;:22,&quot;top&quot;:128.7,&quot;width&quot;:919.65}"/>
</p:tagLst>
</file>

<file path=ppt/tags/tag110.xml><?xml version="1.0" encoding="utf-8"?>
<p:tagLst xmlns:p="http://schemas.openxmlformats.org/presentationml/2006/main">
  <p:tag name="SHADOWSIZE" val="100"/>
  <p:tag name="KSO_WM_DIAGRAM_VIRTUALLY_FRAME" val="{&quot;height&quot;:415.6,&quot;left&quot;:22,&quot;top&quot;:128.7,&quot;width&quot;:919.65}"/>
</p:tagLst>
</file>

<file path=ppt/tags/tag111.xml><?xml version="1.0" encoding="utf-8"?>
<p:tagLst xmlns:p="http://schemas.openxmlformats.org/presentationml/2006/main">
  <p:tag name="KSO_WM_DIAGRAM_VIRTUALLY_FRAME" val="{&quot;height&quot;:415.6,&quot;left&quot;:22,&quot;top&quot;:128.7,&quot;width&quot;:919.65}"/>
</p:tagLst>
</file>

<file path=ppt/tags/tag112.xml><?xml version="1.0" encoding="utf-8"?>
<p:tagLst xmlns:p="http://schemas.openxmlformats.org/presentationml/2006/main">
  <p:tag name="KSO_WM_DIAGRAM_VIRTUALLY_FRAME" val="{&quot;height&quot;:415.6,&quot;left&quot;:22,&quot;top&quot;:128.7,&quot;width&quot;:919.65}"/>
</p:tagLst>
</file>

<file path=ppt/tags/tag113.xml><?xml version="1.0" encoding="utf-8"?>
<p:tagLst xmlns:p="http://schemas.openxmlformats.org/presentationml/2006/main">
  <p:tag name="KSO_WM_DIAGRAM_VIRTUALLY_FRAME" val="{&quot;height&quot;:415.6,&quot;left&quot;:22,&quot;top&quot;:128.7,&quot;width&quot;:919.65}"/>
</p:tagLst>
</file>

<file path=ppt/tags/tag114.xml><?xml version="1.0" encoding="utf-8"?>
<p:tagLst xmlns:p="http://schemas.openxmlformats.org/presentationml/2006/main">
  <p:tag name="KSO_WM_DIAGRAM_VIRTUALLY_FRAME" val="{&quot;height&quot;:415.6,&quot;left&quot;:22,&quot;top&quot;:128.7,&quot;width&quot;:919.65}"/>
</p:tagLst>
</file>

<file path=ppt/tags/tag115.xml><?xml version="1.0" encoding="utf-8"?>
<p:tagLst xmlns:p="http://schemas.openxmlformats.org/presentationml/2006/main">
  <p:tag name="KSO_WM_DIAGRAM_VIRTUALLY_FRAME" val="{&quot;height&quot;:611.65,&quot;left&quot;:85.75,&quot;top&quot;:169.5,&quot;width&quot;:1290.85}"/>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
  <p:tag name="KSO_WM_TAG_VERSION" val="3.0"/>
  <p:tag name="KSO_WM_DIAGRAM_VERSION" val="3"/>
  <p:tag name="KSO_WM_DIAGRAM_COLOR_TRICK" val="4"/>
  <p:tag name="KSO_WM_DIAGRAM_COLOR_TEXT_CAN_REMOVE" val="n"/>
  <p:tag name="KSO_WM_UNIT_TYPE" val="q_i"/>
  <p:tag name="KSO_WM_DIAGRAM_MAX_ITEMCNT" val="6"/>
  <p:tag name="KSO_WM_DIAGRAM_MIN_ITEMCNT" val="2"/>
  <p:tag name="KSO_WM_DIAGRAM_VIRTUALLY_FRAME" val="{&quot;height&quot;:611.65,&quot;left&quot;:85.75,&quot;top&quot;:169.5,&quot;width&quot;:1290.85}"/>
  <p:tag name="KSO_WM_DIAGRAM_COLOR_MATCH_VALUE" val="{&quot;shape&quot;:{&quot;fill&quot;:{&quot;type&quot;:0},&quot;glow&quot;:{&quot;colorType&quot;:0},&quot;line&quot;:{&quot;type&quot;:0},&quot;shadow&quot;:{&quot;brightness&quot;:0.3499999940395355,&quot;colorType&quot;:1,&quot;foreColorIndex&quot;:13,&quot;transparency&quot;:0.94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2*q_i*1_1"/>
  <p:tag name="KSO_WM_UNIT_INDEX" val="1_1"/>
  <p:tag name="KSO_WM_DIAGRAM_GROUP_CODE" val="q1-1"/>
  <p:tag name="KSO_WM_UNIT_FILL_TYPE" val="1"/>
  <p:tag name="KSO_WM_UNIT_FILL_FORE_SCHEMECOLOR_INDEX" val="16"/>
  <p:tag name="KSO_WM_UNIT_FILL_FORE_SCHEMECOLOR_INDEX_BRIGHTNESS" val="0"/>
  <p:tag name="KSO_WM_BEAUTIFY_FLAG" val="#wm#"/>
  <p:tag name="KSO_WM_DIAGRAM_USE_COLOR_VALUE" val="{&quot;color_scheme&quot;:1,&quot;color_type&quot;:1,&quot;theme_color_indexes&quot;:[8,8,8,8,8,8]}"/>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
  <p:tag name="KSO_WM_TAG_VERSION" val="3.0"/>
  <p:tag name="KSO_WM_DIAGRAM_VERSION" val="3"/>
  <p:tag name="KSO_WM_DIAGRAM_COLOR_TRICK" val="4"/>
  <p:tag name="KSO_WM_DIAGRAM_COLOR_TEXT_CAN_REMOVE" val="n"/>
  <p:tag name="KSO_WM_UNIT_TYPE" val="q_i"/>
  <p:tag name="KSO_WM_DIAGRAM_MAX_ITEMCNT" val="6"/>
  <p:tag name="KSO_WM_DIAGRAM_MIN_ITEMCNT" val="2"/>
  <p:tag name="KSO_WM_DIAGRAM_VIRTUALLY_FRAME" val="{&quot;height&quot;:611.65,&quot;left&quot;:85.75,&quot;top&quot;:169.5,&quot;width&quot;:1290.85}"/>
  <p:tag name="KSO_WM_DIAGRAM_COLOR_MATCH_VALUE" val="{&quot;shape&quot;:{&quot;fill&quot;:{&quot;solid&quot;:{&quot;brightness&quot;:0,&quot;colorType&quot;:1,&quot;foreColorIndex&quot;:2,&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2*q_i*1_2"/>
  <p:tag name="KSO_WM_UNIT_INDEX" val="1_2"/>
  <p:tag name="KSO_WM_DIAGRAM_GROUP_CODE" val="q1-1"/>
  <p:tag name="KSO_WM_BEAUTIFY_FLAG" val="#wm#"/>
  <p:tag name="KSO_WM_UNIT_FILL_TYPE" val="1"/>
  <p:tag name="KSO_WM_UNIT_FILL_FORE_SCHEMECOLOR_INDEX" val="2"/>
  <p:tag name="KSO_WM_UNIT_FILL_FORE_SCHEMECOLOR_INDEX_BRIGHTNESS" val="0"/>
  <p:tag name="KSO_WM_DIAGRAM_USE_COLOR_VALUE" val="{&quot;color_scheme&quot;:1,&quot;color_type&quot;:1,&quot;theme_color_indexes&quot;:[8,8,8,8,8,8]}"/>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
  <p:tag name="KSO_WM_TAG_VERSION" val="3.0"/>
  <p:tag name="KSO_WM_DIAGRAM_VERSION" val="3"/>
  <p:tag name="KSO_WM_DIAGRAM_COLOR_TRICK" val="4"/>
  <p:tag name="KSO_WM_DIAGRAM_COLOR_TEXT_CAN_REMOVE" val="n"/>
  <p:tag name="KSO_WM_UNIT_TYPE" val="q_i"/>
  <p:tag name="KSO_WM_DIAGRAM_MAX_ITEMCNT" val="6"/>
  <p:tag name="KSO_WM_DIAGRAM_MIN_ITEMCNT" val="2"/>
  <p:tag name="KSO_WM_DIAGRAM_VIRTUALLY_FRAME" val="{&quot;height&quot;:611.65,&quot;left&quot;:85.75,&quot;top&quot;:169.5,&quot;width&quot;:1290.85}"/>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2*q_i*1_4"/>
  <p:tag name="KSO_WM_UNIT_INDEX" val="1_4"/>
  <p:tag name="KSO_WM_DIAGRAM_GROUP_CODE" val="q1-1"/>
  <p:tag name="KSO_WM_BEAUTIFY_FLAG" val="#wm#"/>
  <p:tag name="KSO_WM_UNIT_LINE_FORE_SCHEMECOLOR_INDEX" val="13"/>
  <p:tag name="KSO_WM_DIAGRAM_USE_COLOR_VALUE" val="{&quot;color_scheme&quot;:1,&quot;color_type&quot;:1,&quot;theme_color_indexes&quot;:[8,8,8,8,8,8]}"/>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
  <p:tag name="KSO_WM_TAG_VERSION" val="3.0"/>
  <p:tag name="KSO_WM_DIAGRAM_VERSION" val="3"/>
  <p:tag name="KSO_WM_DIAGRAM_COLOR_TRICK" val="4"/>
  <p:tag name="KSO_WM_DIAGRAM_COLOR_TEXT_CAN_REMOVE" val="n"/>
  <p:tag name="KSO_WM_UNIT_TYPE" val="q_i"/>
  <p:tag name="KSO_WM_DIAGRAM_MAX_ITEMCNT" val="6"/>
  <p:tag name="KSO_WM_DIAGRAM_MIN_ITEMCNT" val="2"/>
  <p:tag name="KSO_WM_DIAGRAM_VIRTUALLY_FRAME" val="{&quot;height&quot;:611.65,&quot;left&quot;:85.75,&quot;top&quot;:169.5,&quot;width&quot;:1290.85}"/>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2*q_i*1_3"/>
  <p:tag name="KSO_WM_UNIT_INDEX" val="1_3"/>
  <p:tag name="KSO_WM_DIAGRAM_GROUP_CODE" val="q1-1"/>
  <p:tag name="KSO_WM_BEAUTIFY_FLAG" val="#wm#"/>
  <p:tag name="KSO_WM_UNIT_LINE_FORE_SCHEMECOLOR_INDEX" val="13"/>
  <p:tag name="KSO_WM_DIAGRAM_USE_COLOR_VALUE" val="{&quot;color_scheme&quot;:1,&quot;color_type&quot;:1,&quot;theme_color_indexes&quot;:[8,8,8,8,8,8]}"/>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_1"/>
  <p:tag name="KSO_WM_TAG_VERSION" val="3.0"/>
  <p:tag name="KSO_WM_DIAGRAM_VERSION" val="3"/>
  <p:tag name="KSO_WM_DIAGRAM_COLOR_TRICK" val="4"/>
  <p:tag name="KSO_WM_DIAGRAM_COLOR_TEXT_CAN_REMOVE" val="n"/>
  <p:tag name="KSO_WM_UNIT_TYPE" val="q_h_i"/>
  <p:tag name="KSO_WM_DIAGRAM_MAX_ITEMCNT" val="6"/>
  <p:tag name="KSO_WM_DIAGRAM_MIN_ITEMCNT" val="2"/>
  <p:tag name="KSO_WM_DIAGRAM_VIRTUALLY_FRAME" val="{&quot;height&quot;:611.65,&quot;left&quot;:85.75,&quot;top&quot;:169.5,&quot;width&quot;:1290.8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6000000238418579,&quot;transparency&quot;:0}],&quot;type&quot;:2},&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2*q_h_i*1_1_3"/>
  <p:tag name="KSO_WM_UNIT_INDEX" val="1_1_3"/>
  <p:tag name="KSO_WM_DIAGRAM_GROUP_CODE" val="q1-1"/>
  <p:tag name="KSO_WM_BEAUTIFY_FLAG" val="#wm#"/>
  <p:tag name="KSO_WM_DIAGRAM_USE_COLOR_VALUE" val="{&quot;color_scheme&quot;:1,&quot;color_type&quot;:1,&quot;theme_color_indexes&quot;:[8,8,8,8,8,8]}"/>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_1"/>
  <p:tag name="KSO_WM_TAG_VERSION" val="3.0"/>
  <p:tag name="KSO_WM_DIAGRAM_VERSION" val="3"/>
  <p:tag name="KSO_WM_DIAGRAM_COLOR_TRICK" val="4"/>
  <p:tag name="KSO_WM_DIAGRAM_COLOR_TEXT_CAN_REMOVE" val="n"/>
  <p:tag name="KSO_WM_UNIT_TYPE" val="q_h_i"/>
  <p:tag name="KSO_WM_DIAGRAM_MAX_ITEMCNT" val="6"/>
  <p:tag name="KSO_WM_DIAGRAM_MIN_ITEMCNT" val="2"/>
  <p:tag name="KSO_WM_DIAGRAM_VIRTUALLY_FRAME" val="{&quot;height&quot;:611.65,&quot;left&quot;:85.75,&quot;top&quot;:169.5,&quot;width&quot;:1290.85}"/>
  <p:tag name="KSO_WM_DIAGRAM_COLOR_MATCH_VALUE" val="{&quot;shape&quot;:{&quot;fill&quot;:{&quot;type&quot;:0},&quot;glow&quot;:{&quot;colorType&quot;:0},&quot;line&quot;:{&quot;gradient&quot;:[{&quot;brightness&quot;:0,&quot;colorType&quot;:1,&quot;foreColorIndex&quot;:6,&quot;pos&quot;:0,&quot;transparency&quot;:1},{&quot;brightness&quot;:0,&quot;colorType&quot;:1,&quot;foreColorIndex&quot;:6,&quot;pos&quot;:0.6000000238418579,&quot;transparency&quot;:0}],&quot;type&quot;:2},&quot;shadow&quot;:{&quot;brightness&quot;:-0.25,&quot;colorType&quot;:1,&quot;foreColorIndex&quot;:6,&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2*q_h_i*1_2_3"/>
  <p:tag name="KSO_WM_UNIT_INDEX" val="1_2_3"/>
  <p:tag name="KSO_WM_DIAGRAM_GROUP_CODE" val="q1-1"/>
  <p:tag name="KSO_WM_BEAUTIFY_FLAG" val="#wm#"/>
  <p:tag name="KSO_WM_DIAGRAM_USE_COLOR_VALUE" val="{&quot;color_scheme&quot;:1,&quot;color_type&quot;:1,&quot;theme_color_indexes&quot;:[8,8,8,8,8,8]}"/>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_1"/>
  <p:tag name="KSO_WM_TAG_VERSION" val="3.0"/>
  <p:tag name="KSO_WM_DIAGRAM_VERSION" val="3"/>
  <p:tag name="KSO_WM_DIAGRAM_COLOR_TRICK" val="4"/>
  <p:tag name="KSO_WM_DIAGRAM_COLOR_TEXT_CAN_REMOVE" val="n"/>
  <p:tag name="KSO_WM_UNIT_TYPE" val="q_h_i"/>
  <p:tag name="KSO_WM_DIAGRAM_MAX_ITEMCNT" val="6"/>
  <p:tag name="KSO_WM_DIAGRAM_MIN_ITEMCNT" val="2"/>
  <p:tag name="KSO_WM_DIAGRAM_VIRTUALLY_FRAME" val="{&quot;height&quot;:611.65,&quot;left&quot;:85.75,&quot;top&quot;:169.5,&quot;width&quot;:1290.85}"/>
  <p:tag name="KSO_WM_DIAGRAM_COLOR_MATCH_VALUE" val="{&quot;shape&quot;:{&quot;fill&quot;:{&quot;type&quot;:0},&quot;glow&quot;:{&quot;colorType&quot;:0},&quot;line&quot;:{&quot;gradient&quot;:[{&quot;brightness&quot;:0,&quot;colorType&quot;:1,&quot;foreColorIndex&quot;:7,&quot;pos&quot;:0,&quot;transparency&quot;:1},{&quot;brightness&quot;:0,&quot;colorType&quot;:1,&quot;foreColorIndex&quot;:7,&quot;pos&quot;:0.6000000238418579,&quot;transparency&quot;:0}],&quot;type&quot;:2},&quot;shadow&quot;:{&quot;brightness&quot;:-0.25,&quot;colorType&quot;:1,&quot;foreColorIndex&quot;:7,&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2*q_h_i*1_3_3"/>
  <p:tag name="KSO_WM_UNIT_INDEX" val="1_3_3"/>
  <p:tag name="KSO_WM_DIAGRAM_GROUP_CODE" val="q1-1"/>
  <p:tag name="KSO_WM_BEAUTIFY_FLAG" val="#wm#"/>
  <p:tag name="KSO_WM_DIAGRAM_USE_COLOR_VALUE" val="{&quot;color_scheme&quot;:1,&quot;color_type&quot;:1,&quot;theme_color_indexes&quot;:[8,8,8,8,8,8]}"/>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_1"/>
  <p:tag name="KSO_WM_TAG_VERSION" val="3.0"/>
  <p:tag name="KSO_WM_DIAGRAM_VERSION" val="3"/>
  <p:tag name="KSO_WM_DIAGRAM_COLOR_TRICK" val="4"/>
  <p:tag name="KSO_WM_DIAGRAM_COLOR_TEXT_CAN_REMOVE" val="n"/>
  <p:tag name="KSO_WM_UNIT_SUBTYPE" val="d"/>
  <p:tag name="KSO_WM_UNIT_TYPE" val="q_h_i"/>
  <p:tag name="KSO_WM_DIAGRAM_MAX_ITEMCNT" val="6"/>
  <p:tag name="KSO_WM_DIAGRAM_MIN_ITEMCNT" val="2"/>
  <p:tag name="KSO_WM_DIAGRAM_VIRTUALLY_FRAME" val="{&quot;height&quot;:611.65,&quot;left&quot;:85.75,&quot;top&quot;:169.5,&quot;width&quot;:1290.8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UNIT_ID" val="diagram20231070_2*q_h_i*1_1_1"/>
  <p:tag name="KSO_WM_UNIT_INDEX" val="1_1_1"/>
  <p:tag name="KSO_WM_DIAGRAM_GROUP_CODE" val="q1-1"/>
  <p:tag name="KSO_WM_UNIT_TEXT_FILL_TYPE" val="1"/>
  <p:tag name="KSO_WM_BEAUTIFY_FLAG" val="#wm#"/>
  <p:tag name="KSO_WM_UNIT_FILL_TYPE" val="3"/>
  <p:tag name="KSO_WM_DIAGRAM_USE_COLOR_VALUE" val="{&quot;color_scheme&quot;:1,&quot;color_type&quot;:1,&quot;theme_color_indexes&quot;:[8,8,8,8,8,8]}"/>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_1"/>
  <p:tag name="KSO_WM_TAG_VERSION" val="3.0"/>
  <p:tag name="KSO_WM_DIAGRAM_VERSION" val="3"/>
  <p:tag name="KSO_WM_DIAGRAM_COLOR_TRICK" val="4"/>
  <p:tag name="KSO_WM_DIAGRAM_COLOR_TEXT_CAN_REMOVE" val="n"/>
  <p:tag name="KSO_WM_UNIT_SUBTYPE" val="d"/>
  <p:tag name="KSO_WM_UNIT_TYPE" val="q_h_i"/>
  <p:tag name="KSO_WM_DIAGRAM_MAX_ITEMCNT" val="6"/>
  <p:tag name="KSO_WM_DIAGRAM_MIN_ITEMCNT" val="2"/>
  <p:tag name="KSO_WM_DIAGRAM_VIRTUALLY_FRAME" val="{&quot;height&quot;:611.65,&quot;left&quot;:85.75,&quot;top&quot;:169.5,&quot;width&quot;:1290.85}"/>
  <p:tag name="KSO_WM_DIAGRAM_COLOR_MATCH_VALUE" val="{&quot;shape&quot;:{&quot;fill&quot;:{&quot;gradient&quot;:[{&quot;brightness&quot;:0.4000000059604645,&quot;colorType&quot;:1,&quot;foreColorIndex&quot;:6,&quot;pos&quot;:0,&quot;transparency&quot;:0},{&quot;brightness&quot;:0,&quot;colorType&quot;:1,&quot;foreColorIndex&quot;:6,&quot;pos&quot;:1,&quot;transparency&quot;:0}],&quot;type&quot;:3},&quot;glow&quot;:{&quot;colorType&quot;:0},&quot;line&quot;:{&quot;type&quot;:0},&quot;shadow&quot;:{&quot;brightness&quot;:0,&quot;colorType&quot;:1,&quot;foreColorIndex&quot;:6,&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6,&quot;transparency&quot;:0.6000000238418579},&quot;threeD&quot;:{&quot;curvedSurface&quot;:{&quot;brightness&quot;:0,&quot;colorType&quot;:2,&quot;rgb&quot;:&quot;#000000&quot;},&quot;depth&quot;:{&quot;colorType&quot;:0}}}}"/>
  <p:tag name="KSO_WM_UNIT_ID" val="diagram20231070_2*q_h_i*1_2_1"/>
  <p:tag name="KSO_WM_UNIT_INDEX" val="1_2_1"/>
  <p:tag name="KSO_WM_DIAGRAM_GROUP_CODE" val="q1-1"/>
  <p:tag name="KSO_WM_UNIT_TEXT_FILL_TYPE" val="1"/>
  <p:tag name="KSO_WM_BEAUTIFY_FLAG" val="#wm#"/>
  <p:tag name="KSO_WM_UNIT_FILL_TYPE" val="3"/>
  <p:tag name="KSO_WM_DIAGRAM_USE_COLOR_VALUE" val="{&quot;color_scheme&quot;:1,&quot;color_type&quot;:1,&quot;theme_color_indexes&quot;:[8,8,8,8,8,8]}"/>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_1"/>
  <p:tag name="KSO_WM_TAG_VERSION" val="3.0"/>
  <p:tag name="KSO_WM_DIAGRAM_VERSION" val="3"/>
  <p:tag name="KSO_WM_DIAGRAM_COLOR_TRICK" val="4"/>
  <p:tag name="KSO_WM_DIAGRAM_COLOR_TEXT_CAN_REMOVE" val="n"/>
  <p:tag name="KSO_WM_UNIT_SUBTYPE" val="d"/>
  <p:tag name="KSO_WM_UNIT_TYPE" val="q_h_i"/>
  <p:tag name="KSO_WM_DIAGRAM_MAX_ITEMCNT" val="6"/>
  <p:tag name="KSO_WM_DIAGRAM_MIN_ITEMCNT" val="2"/>
  <p:tag name="KSO_WM_DIAGRAM_VIRTUALLY_FRAME" val="{&quot;height&quot;:611.65,&quot;left&quot;:85.75,&quot;top&quot;:169.5,&quot;width&quot;:1290.85}"/>
  <p:tag name="KSO_WM_DIAGRAM_COLOR_MATCH_VALUE" val="{&quot;shape&quot;:{&quot;fill&quot;:{&quot;gradient&quot;:[{&quot;brightness&quot;:0.4000000059604645,&quot;colorType&quot;:1,&quot;foreColorIndex&quot;:7,&quot;pos&quot;:0,&quot;transparency&quot;:0},{&quot;brightness&quot;:0,&quot;colorType&quot;:1,&quot;foreColorIndex&quot;:7,&quot;pos&quot;:1,&quot;transparency&quot;:0}],&quot;type&quot;:3},&quot;glow&quot;:{&quot;colorType&quot;:0},&quot;line&quot;:{&quot;type&quot;:0},&quot;shadow&quot;:{&quot;brightness&quot;:0,&quot;colorType&quot;:1,&quot;foreColorIndex&quot;:7,&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7,&quot;transparency&quot;:0.6000000238418579},&quot;threeD&quot;:{&quot;curvedSurface&quot;:{&quot;brightness&quot;:0,&quot;colorType&quot;:2,&quot;rgb&quot;:&quot;#000000&quot;},&quot;depth&quot;:{&quot;colorType&quot;:0}}}}"/>
  <p:tag name="KSO_WM_UNIT_ID" val="diagram20231070_2*q_h_i*1_3_1"/>
  <p:tag name="KSO_WM_UNIT_INDEX" val="1_3_1"/>
  <p:tag name="KSO_WM_DIAGRAM_GROUP_CODE" val="q1-1"/>
  <p:tag name="KSO_WM_UNIT_TEXT_FILL_TYPE" val="1"/>
  <p:tag name="KSO_WM_BEAUTIFY_FLAG" val="#wm#"/>
  <p:tag name="KSO_WM_UNIT_FILL_TYPE" val="3"/>
  <p:tag name="KSO_WM_DIAGRAM_USE_COLOR_VALUE" val="{&quot;color_scheme&quot;:1,&quot;color_type&quot;:1,&quot;theme_color_indexes&quot;:[8,8,8,8,8,8]}"/>
</p:tagLst>
</file>

<file path=ppt/tags/tag126.xml><?xml version="1.0" encoding="utf-8"?>
<p:tagLst xmlns:p="http://schemas.openxmlformats.org/presentationml/2006/main">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UNIT_TYPE" val="q_i"/>
  <p:tag name="KSO_WM_TEMPLATE_CATEGORY" val="diagram"/>
  <p:tag name="KSO_WM_TEMPLATE_INDEX" val="20231070"/>
  <p:tag name="KSO_WM_UNIT_LAYERLEVEL" val="1_1"/>
  <p:tag name="KSO_WM_TAG_VERSION" val="3.0"/>
  <p:tag name="KSO_WM_DIAGRAM_MAX_ITEMCNT" val="6"/>
  <p:tag name="KSO_WM_DIAGRAM_MIN_ITEMCNT" val="2"/>
  <p:tag name="KSO_WM_DIAGRAM_VIRTUALLY_FRAME" val="{&quot;height&quot;:611.65,&quot;left&quot;:85.75,&quot;top&quot;:169.5,&quot;width&quot;:1290.85}"/>
  <p:tag name="KSO_WM_DIAGRAM_COLOR_MATCH_VALUE" val="{&quot;shape&quot;:{&quot;fill&quot;:{&quot;type&quot;:0},&quot;glow&quot;:{&quot;colorType&quot;:0},&quot;line&quot;:{&quot;type&quot;:0},&quot;shadow&quot;:{&quot;brightness&quot;:0.3499999940395355,&quot;colorType&quot;:1,&quot;foreColorIndex&quot;:13,&quot;transparency&quot;:0.94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1*q_i*2_1"/>
  <p:tag name="KSO_WM_UNIT_INDEX" val="2_1"/>
  <p:tag name="KSO_WM_DIAGRAM_GROUP_CODE" val="q1-1"/>
  <p:tag name="KSO_WM_UNIT_FILL_TYPE" val="1"/>
  <p:tag name="KSO_WM_UNIT_FILL_FORE_SCHEMECOLOR_INDEX" val="16"/>
  <p:tag name="KSO_WM_UNIT_FILL_FORE_SCHEMECOLOR_INDEX_BRIGHTNESS" val="0"/>
  <p:tag name="KSO_WM_BEAUTIFY_FLAG" val="#wm#"/>
  <p:tag name="KSO_WM_DIAGRAM_USE_COLOR_VALUE" val="{&quot;color_scheme&quot;:1,&quot;color_type&quot;:1,&quot;theme_color_indexes&quot;:[8,8,8,8,8,8]}"/>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
  <p:tag name="KSO_WM_TAG_VERSION" val="3.0"/>
  <p:tag name="KSO_WM_DIAGRAM_VERSION" val="3"/>
  <p:tag name="KSO_WM_DIAGRAM_COLOR_TRICK" val="4"/>
  <p:tag name="KSO_WM_DIAGRAM_COLOR_TEXT_CAN_REMOVE" val="n"/>
  <p:tag name="KSO_WM_UNIT_TYPE" val="q_i"/>
  <p:tag name="KSO_WM_DIAGRAM_MAX_ITEMCNT" val="6"/>
  <p:tag name="KSO_WM_DIAGRAM_MIN_ITEMCNT" val="2"/>
  <p:tag name="KSO_WM_DIAGRAM_VIRTUALLY_FRAME" val="{&quot;height&quot;:611.65,&quot;left&quot;:85.75,&quot;top&quot;:169.5,&quot;width&quot;:1290.85}"/>
  <p:tag name="KSO_WM_DIAGRAM_COLOR_MATCH_VALUE" val="{&quot;shape&quot;:{&quot;fill&quot;:{&quot;solid&quot;:{&quot;brightness&quot;:0,&quot;colorType&quot;:1,&quot;foreColorIndex&quot;:2,&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1*q_i*2_2"/>
  <p:tag name="KSO_WM_UNIT_INDEX" val="2_2"/>
  <p:tag name="KSO_WM_DIAGRAM_GROUP_CODE" val="q1-1"/>
  <p:tag name="KSO_WM_BEAUTIFY_FLAG" val="#wm#"/>
  <p:tag name="KSO_WM_UNIT_FILL_TYPE" val="1"/>
  <p:tag name="KSO_WM_UNIT_FILL_FORE_SCHEMECOLOR_INDEX" val="2"/>
  <p:tag name="KSO_WM_UNIT_FILL_FORE_SCHEMECOLOR_INDEX_BRIGHTNESS" val="0"/>
  <p:tag name="KSO_WM_DIAGRAM_USE_COLOR_VALUE" val="{&quot;color_scheme&quot;:1,&quot;color_type&quot;:1,&quot;theme_color_indexes&quot;:[8,8,8,8,8,8]}"/>
</p:tagLst>
</file>

<file path=ppt/tags/tag128.xml><?xml version="1.0" encoding="utf-8"?>
<p:tagLst xmlns:p="http://schemas.openxmlformats.org/presentationml/2006/main">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UNIT_TYPE" val="q_i"/>
  <p:tag name="KSO_WM_TEMPLATE_CATEGORY" val="diagram"/>
  <p:tag name="KSO_WM_TEMPLATE_INDEX" val="20231070"/>
  <p:tag name="KSO_WM_UNIT_LAYERLEVEL" val="1_1"/>
  <p:tag name="KSO_WM_TAG_VERSION" val="3.0"/>
  <p:tag name="KSO_WM_DIAGRAM_MAX_ITEMCNT" val="6"/>
  <p:tag name="KSO_WM_DIAGRAM_MIN_ITEMCNT" val="2"/>
  <p:tag name="KSO_WM_DIAGRAM_VIRTUALLY_FRAME" val="{&quot;height&quot;:611.65,&quot;left&quot;:85.75,&quot;top&quot;:169.5,&quot;width&quot;:1290.85}"/>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1*q_i*2_3"/>
  <p:tag name="KSO_WM_UNIT_INDEX" val="2_3"/>
  <p:tag name="KSO_WM_DIAGRAM_GROUP_CODE" val="q1-1"/>
  <p:tag name="KSO_WM_BEAUTIFY_FLAG" val="#wm#"/>
  <p:tag name="KSO_WM_UNIT_LINE_FORE_SCHEMECOLOR_INDEX" val="13"/>
  <p:tag name="KSO_WM_DIAGRAM_USE_COLOR_VALUE" val="{&quot;color_scheme&quot;:1,&quot;color_type&quot;:1,&quot;theme_color_indexes&quot;:[8,8,8,8,8,8]}"/>
</p:tagLst>
</file>

<file path=ppt/tags/tag129.xml><?xml version="1.0" encoding="utf-8"?>
<p:tagLst xmlns:p="http://schemas.openxmlformats.org/presentationml/2006/main">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UNIT_TYPE" val="q_i"/>
  <p:tag name="KSO_WM_TEMPLATE_CATEGORY" val="diagram"/>
  <p:tag name="KSO_WM_TEMPLATE_INDEX" val="20231070"/>
  <p:tag name="KSO_WM_UNIT_LAYERLEVEL" val="1_1"/>
  <p:tag name="KSO_WM_TAG_VERSION" val="3.0"/>
  <p:tag name="KSO_WM_DIAGRAM_MAX_ITEMCNT" val="6"/>
  <p:tag name="KSO_WM_DIAGRAM_MIN_ITEMCNT" val="2"/>
  <p:tag name="KSO_WM_DIAGRAM_VIRTUALLY_FRAME" val="{&quot;height&quot;:611.65,&quot;left&quot;:85.75,&quot;top&quot;:169.5,&quot;width&quot;:1290.85}"/>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1*q_i*2_4"/>
  <p:tag name="KSO_WM_UNIT_INDEX" val="2_4"/>
  <p:tag name="KSO_WM_DIAGRAM_GROUP_CODE" val="q1-1"/>
  <p:tag name="KSO_WM_BEAUTIFY_FLAG" val="#wm#"/>
  <p:tag name="KSO_WM_UNIT_LINE_FORE_SCHEMECOLOR_INDEX" val="13"/>
  <p:tag name="KSO_WM_DIAGRAM_USE_COLOR_VALUE" val="{&quot;color_scheme&quot;:1,&quot;color_type&quot;:1,&quot;theme_color_indexes&quot;:[8,8,8,8,8,8]}"/>
</p:tagLst>
</file>

<file path=ppt/tags/tag130.xml><?xml version="1.0" encoding="utf-8"?>
<p:tagLst xmlns:p="http://schemas.openxmlformats.org/presentationml/2006/main">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UNIT_SUBTYPE" val="d"/>
  <p:tag name="KSO_WM_UNIT_TYPE" val="q_h_i"/>
  <p:tag name="KSO_WM_TEMPLATE_CATEGORY" val="diagram"/>
  <p:tag name="KSO_WM_TEMPLATE_INDEX" val="20231070"/>
  <p:tag name="KSO_WM_UNIT_LAYERLEVEL" val="1_1_1"/>
  <p:tag name="KSO_WM_TAG_VERSION" val="3.0"/>
  <p:tag name="KSO_WM_DIAGRAM_MAX_ITEMCNT" val="6"/>
  <p:tag name="KSO_WM_DIAGRAM_MIN_ITEMCNT" val="2"/>
  <p:tag name="KSO_WM_DIAGRAM_VIRTUALLY_FRAME" val="{&quot;height&quot;:611.65,&quot;left&quot;:85.75,&quot;top&quot;:169.5,&quot;width&quot;:1290.85}"/>
  <p:tag name="KSO_WM_DIAGRAM_COLOR_MATCH_VALUE" val="{&quot;shape&quot;:{&quot;fill&quot;:{&quot;gradient&quot;:[{&quot;brightness&quot;:0.4000000059604645,&quot;colorType&quot;:1,&quot;foreColorIndex&quot;:6,&quot;pos&quot;:0,&quot;transparency&quot;:0},{&quot;brightness&quot;:0,&quot;colorType&quot;:1,&quot;foreColorIndex&quot;:6,&quot;pos&quot;:1,&quot;transparency&quot;:0}],&quot;type&quot;:3},&quot;glow&quot;:{&quot;colorType&quot;:0},&quot;line&quot;:{&quot;type&quot;:0},&quot;shadow&quot;:{&quot;brightness&quot;:0,&quot;colorType&quot;:1,&quot;foreColorIndex&quot;:6,&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6,&quot;transparency&quot;:0.5686299800872803},&quot;threeD&quot;:{&quot;curvedSurface&quot;:{&quot;brightness&quot;:0,&quot;colorType&quot;:2,&quot;rgb&quot;:&quot;#000000&quot;},&quot;depth&quot;:{&quot;colorType&quot;:0}}}}"/>
  <p:tag name="KSO_WM_UNIT_ID" val="diagram20231070_1*q_h_i*2_2_1"/>
  <p:tag name="KSO_WM_UNIT_INDEX" val="2_2_1"/>
  <p:tag name="KSO_WM_DIAGRAM_GROUP_CODE" val="q1-1"/>
  <p:tag name="KSO_WM_UNIT_TEXT_FILL_TYPE" val="1"/>
  <p:tag name="KSO_WM_BEAUTIFY_FLAG" val="#wm#"/>
  <p:tag name="KSO_WM_UNIT_FILL_TYPE" val="3"/>
  <p:tag name="KSO_WM_DIAGRAM_USE_COLOR_VALUE" val="{&quot;color_scheme&quot;:1,&quot;color_type&quot;:1,&quot;theme_color_indexes&quot;:[8,8,8,8,8,8]}"/>
</p:tagLst>
</file>

<file path=ppt/tags/tag131.xml><?xml version="1.0" encoding="utf-8"?>
<p:tagLst xmlns:p="http://schemas.openxmlformats.org/presentationml/2006/main">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UNIT_SUBTYPE" val="d"/>
  <p:tag name="KSO_WM_UNIT_TYPE" val="q_h_i"/>
  <p:tag name="KSO_WM_TEMPLATE_CATEGORY" val="diagram"/>
  <p:tag name="KSO_WM_TEMPLATE_INDEX" val="20231070"/>
  <p:tag name="KSO_WM_UNIT_LAYERLEVEL" val="1_1_1"/>
  <p:tag name="KSO_WM_TAG_VERSION" val="3.0"/>
  <p:tag name="KSO_WM_DIAGRAM_MAX_ITEMCNT" val="6"/>
  <p:tag name="KSO_WM_DIAGRAM_MIN_ITEMCNT" val="2"/>
  <p:tag name="KSO_WM_DIAGRAM_VIRTUALLY_FRAME" val="{&quot;height&quot;:611.65,&quot;left&quot;:85.75,&quot;top&quot;:169.5,&quot;width&quot;:1290.8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5686299800872803},&quot;threeD&quot;:{&quot;curvedSurface&quot;:{&quot;brightness&quot;:0,&quot;colorType&quot;:2,&quot;rgb&quot;:&quot;#000000&quot;},&quot;depth&quot;:{&quot;colorType&quot;:0}}}}"/>
  <p:tag name="KSO_WM_UNIT_ID" val="diagram20231070_1*q_h_i*2_1_1"/>
  <p:tag name="KSO_WM_UNIT_INDEX" val="2_1_1"/>
  <p:tag name="KSO_WM_DIAGRAM_GROUP_CODE" val="q1-1"/>
  <p:tag name="KSO_WM_UNIT_TEXT_FILL_TYPE" val="1"/>
  <p:tag name="KSO_WM_BEAUTIFY_FLAG" val="#wm#"/>
  <p:tag name="KSO_WM_UNIT_FILL_TYPE" val="3"/>
  <p:tag name="KSO_WM_DIAGRAM_USE_COLOR_VALUE" val="{&quot;color_scheme&quot;:1,&quot;color_type&quot;:1,&quot;theme_color_indexes&quot;:[8,8,8,8,8,8]}"/>
</p:tagLst>
</file>

<file path=ppt/tags/tag132.xml><?xml version="1.0" encoding="utf-8"?>
<p:tagLst xmlns:p="http://schemas.openxmlformats.org/presentationml/2006/main">
  <p:tag name="KSO_WM_DIAGRAM_VIRTUALLY_FRAME" val="{&quot;height&quot;:499.6752948974853,&quot;left&quot;:81,&quot;top&quot;:147,&quot;width&quot;:1280.6596850393703}"/>
</p:tagLst>
</file>

<file path=ppt/tags/tag133.xml><?xml version="1.0" encoding="utf-8"?>
<p:tagLst xmlns:p="http://schemas.openxmlformats.org/presentationml/2006/main">
  <p:tag name="KSO_WM_DIAGRAM_VIRTUALLY_FRAME" val="{&quot;height&quot;:499.6752948974853,&quot;left&quot;:81,&quot;top&quot;:147,&quot;width&quot;:1280.6596850393703}"/>
</p:tagLst>
</file>

<file path=ppt/tags/tag134.xml><?xml version="1.0" encoding="utf-8"?>
<p:tagLst xmlns:p="http://schemas.openxmlformats.org/presentationml/2006/main">
  <p:tag name="KSO_WM_DIAGRAM_VIRTUALLY_FRAME" val="{&quot;height&quot;:499.6752948974853,&quot;left&quot;:81,&quot;top&quot;:147,&quot;width&quot;:1280.6596850393703}"/>
</p:tagLst>
</file>

<file path=ppt/tags/tag135.xml><?xml version="1.0" encoding="utf-8"?>
<p:tagLst xmlns:p="http://schemas.openxmlformats.org/presentationml/2006/main">
  <p:tag name="KSO_WM_DIAGRAM_VIRTUALLY_FRAME" val="{&quot;height&quot;:499.6752948974853,&quot;left&quot;:81,&quot;top&quot;:147,&quot;width&quot;:1280.6596850393703}"/>
</p:tagLst>
</file>

<file path=ppt/tags/tag136.xml><?xml version="1.0" encoding="utf-8"?>
<p:tagLst xmlns:p="http://schemas.openxmlformats.org/presentationml/2006/main">
  <p:tag name="KSO_WM_DIAGRAM_VIRTUALLY_FRAME" val="{&quot;height&quot;:499.6752948974853,&quot;left&quot;:81,&quot;top&quot;:147,&quot;width&quot;:1280.6596850393703}"/>
</p:tagLst>
</file>

<file path=ppt/tags/tag137.xml><?xml version="1.0" encoding="utf-8"?>
<p:tagLst xmlns:p="http://schemas.openxmlformats.org/presentationml/2006/main">
  <p:tag name="KSO_WM_DIAGRAM_VIRTUALLY_FRAME" val="{&quot;height&quot;:499.6752948974853,&quot;left&quot;:81,&quot;top&quot;:147,&quot;width&quot;:1280.6596850393703}"/>
</p:tagLst>
</file>

<file path=ppt/tags/tag138.xml><?xml version="1.0" encoding="utf-8"?>
<p:tagLst xmlns:p="http://schemas.openxmlformats.org/presentationml/2006/main">
  <p:tag name="KSO_WM_DIAGRAM_VIRTUALLY_FRAME" val="{&quot;height&quot;:499.6752948974853,&quot;left&quot;:81,&quot;top&quot;:147,&quot;width&quot;:1280.6596850393703}"/>
</p:tagLst>
</file>

<file path=ppt/tags/tag139.xml><?xml version="1.0" encoding="utf-8"?>
<p:tagLst xmlns:p="http://schemas.openxmlformats.org/presentationml/2006/main">
  <p:tag name="KSO_WM_DIAGRAM_VIRTUALLY_FRAME" val="{&quot;height&quot;:499.6752948974853,&quot;left&quot;:81,&quot;top&quot;:147,&quot;width&quot;:1280.6596850393703}"/>
</p:tagLst>
</file>

<file path=ppt/tags/tag140.xml><?xml version="1.0" encoding="utf-8"?>
<p:tagLst xmlns:p="http://schemas.openxmlformats.org/presentationml/2006/main">
  <p:tag name="KSO_WM_DIAGRAM_VIRTUALLY_FRAME" val="{&quot;height&quot;:499.6752948974853,&quot;left&quot;:81,&quot;top&quot;:147,&quot;width&quot;:1280.6596850393703}"/>
</p:tagLst>
</file>

<file path=ppt/tags/tag141.xml><?xml version="1.0" encoding="utf-8"?>
<p:tagLst xmlns:p="http://schemas.openxmlformats.org/presentationml/2006/main">
  <p:tag name="KSO_WM_DIAGRAM_VIRTUALLY_FRAME" val="{&quot;height&quot;:499.6752948974853,&quot;left&quot;:81,&quot;top&quot;:147,&quot;width&quot;:1280.6596850393703}"/>
</p:tagLst>
</file>

<file path=ppt/tags/tag142.xml><?xml version="1.0" encoding="utf-8"?>
<p:tagLst xmlns:p="http://schemas.openxmlformats.org/presentationml/2006/main">
  <p:tag name="RESOURCE_RECORD_KEY" val="{&quot;29&quot;:[5005324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微软雅黑"/>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微软雅黑"/>
        <a:ea typeface=""/>
        <a:cs typeface=""/>
        <a:font script="Jpan" typeface="ＭＳ Ｐゴシック"/>
        <a:font script="Hang" typeface="맑은 고딕"/>
        <a:font script="Hans" typeface="宋体"/>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版式库标准字体">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ＭＳ Ｐゴシック"/>
        <a:font script="Hang" typeface="맑은 고딕"/>
        <a:font script="Hans" typeface="宋体"/>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44546A"/>
    </a:dk2>
    <a:lt2>
      <a:srgbClr val="E7E6E6"/>
    </a:lt2>
    <a:accent1>
      <a:srgbClr val="0084CF"/>
    </a:accent1>
    <a:accent2>
      <a:srgbClr val="8DC21F"/>
    </a:accent2>
    <a:accent3>
      <a:srgbClr val="E40077"/>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0</TotalTime>
  <Words>5861</Words>
  <Application>WPS 演示</Application>
  <PresentationFormat>自定义</PresentationFormat>
  <Paragraphs>1083</Paragraphs>
  <Slides>22</Slides>
  <Notes>23</Notes>
  <HiddenSlides>1</HiddenSlides>
  <MMClips>0</MMClips>
  <ScaleCrop>false</ScaleCrop>
  <HeadingPairs>
    <vt:vector size="6" baseType="variant">
      <vt:variant>
        <vt:lpstr>已用的字体</vt:lpstr>
      </vt:variant>
      <vt:variant>
        <vt:i4>35</vt:i4>
      </vt:variant>
      <vt:variant>
        <vt:lpstr>主题</vt:lpstr>
      </vt:variant>
      <vt:variant>
        <vt:i4>3</vt:i4>
      </vt:variant>
      <vt:variant>
        <vt:lpstr>幻灯片标题</vt:lpstr>
      </vt:variant>
      <vt:variant>
        <vt:i4>22</vt:i4>
      </vt:variant>
    </vt:vector>
  </HeadingPairs>
  <TitlesOfParts>
    <vt:vector size="60" baseType="lpstr">
      <vt:lpstr>Arial</vt:lpstr>
      <vt:lpstr>宋体</vt:lpstr>
      <vt:lpstr>Wingdings</vt:lpstr>
      <vt:lpstr>微软雅黑</vt:lpstr>
      <vt:lpstr>Calibri</vt:lpstr>
      <vt:lpstr>阿里巴巴普惠体 Bold</vt:lpstr>
      <vt:lpstr>可画手书</vt:lpstr>
      <vt:lpstr>思源宋体 CN Heavy</vt:lpstr>
      <vt:lpstr>阿里妈妈数黑体</vt:lpstr>
      <vt:lpstr>华文新魏</vt:lpstr>
      <vt:lpstr>思源宋体</vt:lpstr>
      <vt:lpstr>思源黑体 CN Heavy</vt:lpstr>
      <vt:lpstr>江城律动宋</vt:lpstr>
      <vt:lpstr>方正颜宋简体_中</vt:lpstr>
      <vt:lpstr>演示流云楷</vt:lpstr>
      <vt:lpstr>微软雅黑 Bold</vt:lpstr>
      <vt:lpstr>Times New Roman</vt:lpstr>
      <vt:lpstr>演示镇魂行楷</vt:lpstr>
      <vt:lpstr>Consolas</vt:lpstr>
      <vt:lpstr>Arial Unicode MS</vt:lpstr>
      <vt:lpstr>仿宋</vt:lpstr>
      <vt:lpstr>Wingdings</vt:lpstr>
      <vt:lpstr>阿里巴巴普惠体</vt:lpstr>
      <vt:lpstr>华文中宋</vt:lpstr>
      <vt:lpstr>HarmonyOS Sans SC</vt:lpstr>
      <vt:lpstr>华文楷体</vt:lpstr>
      <vt:lpstr>Times New Roman</vt:lpstr>
      <vt:lpstr>OPPOSans R</vt:lpstr>
      <vt:lpstr>OPPOSans H</vt:lpstr>
      <vt:lpstr>思源黑体 CN Bold</vt:lpstr>
      <vt:lpstr>思源黑体 1 Bold</vt:lpstr>
      <vt:lpstr>黑体</vt:lpstr>
      <vt:lpstr>思源黑体 1</vt:lpstr>
      <vt:lpstr>Arial</vt:lpstr>
      <vt:lpstr>Calibri</vt:lpstr>
      <vt:lpstr>Office Theme</vt:lpstr>
      <vt:lpstr>1_Office Theme</vt:lpstr>
      <vt:lpstr>3_自定义设计方案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橙黄色商务风智慧养老关爱老年生活演示文稿</dc:title>
  <dc:creator>郑HAPPY</dc:creator>
  <cp:lastModifiedBy>欣欣</cp:lastModifiedBy>
  <cp:revision>69</cp:revision>
  <dcterms:created xsi:type="dcterms:W3CDTF">2006-08-16T00:00:00Z</dcterms:created>
  <dcterms:modified xsi:type="dcterms:W3CDTF">2026-10-24T02:45:47Z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{"Label":"1","ContentProducer":"001191110105MA01AN806X00000","ProduceID":"DAHFhUjb9kI","ReservedCode1":"","ContentPropagator":"001191110105MA01AN806X00000","PropagateID":"DAHFhUjb9kI","ReservedCode2":""}</vt:lpwstr>
  </property>
  <property fmtid="{D5CDD505-2E9C-101B-9397-08002B2CF9AE}" pid="3" name="KSOProductBuildVer">
    <vt:lpwstr>2052-12.1.0.22529</vt:lpwstr>
  </property>
  <property fmtid="{D5CDD505-2E9C-101B-9397-08002B2CF9AE}" pid="4" name="ICV">
    <vt:lpwstr>47D938AFE81C4BC38E1FA1B210931A65_13</vt:lpwstr>
  </property>
</Properties>
</file>