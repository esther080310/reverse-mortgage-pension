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1" r:id="rId3"/>
    <p:sldId id="257" r:id="rId5"/>
    <p:sldId id="258" r:id="rId6"/>
    <p:sldId id="259" r:id="rId7"/>
    <p:sldId id="260" r:id="rId8"/>
    <p:sldId id="262" r:id="rId9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培训目标：工作人员了解问卷目的、题型填写规则、量表方向和情景试验执行要求。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建议工作人员按页面上的一句话解释概念。若受访者继续询问具体收益、费用或法律后果，应说明本问卷不构成产品推介，实际条款以正式合同为准。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覆盖填写载体和主要题型。受访者能填写电子版时应优先使用电子版；没有手机或操作不便时可填写纸质版。全部问卷收集结束后，工作人员须将所有纸质问卷完整录入电子系统，并对照原件复核。工作人员只核对填写形式，不评价答案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量表包括风险感知R、功能认知C、接受意愿W、制度信任T、家庭观念F，以及子女支持频率量表。F2属于反向表述，</a:t>
            </a:r>
            <a:r>
              <a:rPr lang="zh-CN"/>
              <a:t>理论上各量表内回答应具有一致性，但</a:t>
            </a:r>
            <a:r>
              <a:t>工作人员不可因前后回答不一致而纠正受访者。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情景试验是本次培训的重点。后台随机进入四个情景之一，展示顺序随机。工作人员应完整呈现系统分配的单个情景，随后让受访者完成风险感知、功能认知和接受意愿等题目。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.xml"/><Relationship Id="rId8" Type="http://schemas.openxmlformats.org/officeDocument/2006/relationships/slideLayout" Target="../slideLayouts/slideLayout6.xml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6740525" y="635"/>
            <a:ext cx="6572250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76000">
                <a:srgbClr val="FFFFFF">
                  <a:alpha val="94902"/>
                </a:srgbClr>
              </a:gs>
              <a:gs pos="100000">
                <a:srgbClr val="FFFFFF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6708775" y="965200"/>
            <a:ext cx="538162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98000"/>
              </a:lnSpc>
              <a:buNone/>
              <a:defRPr sz="33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住房信托养老</a:t>
            </a:r>
            <a:endParaRPr sz="330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98000"/>
              </a:lnSpc>
              <a:buNone/>
              <a:defRPr sz="33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专项问卷发放指引</a:t>
            </a:r>
            <a:endParaRPr sz="330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600190" y="3140710"/>
            <a:ext cx="5161915" cy="5784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20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适用对象</a:t>
            </a:r>
            <a:r>
              <a:rPr lang="zh-CN" sz="180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sz="180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问卷发放、现场引导与访问协助人员</a:t>
            </a:r>
            <a:endParaRPr sz="1800" b="1">
              <a:solidFill>
                <a:srgbClr val="075E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17" name="组合 16"/>
          <p:cNvGrpSpPr/>
          <p:nvPr/>
        </p:nvGrpSpPr>
        <p:grpSpPr>
          <a:xfrm>
            <a:off x="-152016" y="-130110"/>
            <a:ext cx="11524231" cy="7069656"/>
            <a:chOff x="-170431" y="2604588"/>
            <a:chExt cx="12591031" cy="7696648"/>
          </a:xfrm>
        </p:grpSpPr>
        <p:pic>
          <p:nvPicPr>
            <p:cNvPr id="18" name="图片 17"/>
            <p:cNvPicPr>
              <a:picLocks noChangeAspect="1"/>
            </p:cNvPicPr>
            <p:nvPr/>
          </p:nvPicPr>
          <p:blipFill>
            <a:blip r:embed="rId1">
              <a:alphaModFix amt="50000"/>
            </a:blip>
            <a:stretch>
              <a:fillRect/>
            </a:stretch>
          </p:blipFill>
          <p:spPr>
            <a:xfrm>
              <a:off x="10058401" y="8539060"/>
              <a:ext cx="2362199" cy="1755058"/>
            </a:xfrm>
            <a:prstGeom prst="rect">
              <a:avLst/>
            </a:prstGeom>
            <a:effectLst>
              <a:outerShdw blurRad="50800" dist="50800" dir="5400000" sx="1000" sy="1000" algn="ctr" rotWithShape="0">
                <a:srgbClr val="000000"/>
              </a:outerShdw>
            </a:effectLst>
          </p:spPr>
        </p:pic>
        <p:grpSp>
          <p:nvGrpSpPr>
            <p:cNvPr id="19" name="组合 18"/>
            <p:cNvGrpSpPr/>
            <p:nvPr/>
          </p:nvGrpSpPr>
          <p:grpSpPr>
            <a:xfrm>
              <a:off x="-170431" y="2604588"/>
              <a:ext cx="10228832" cy="7696648"/>
              <a:chOff x="531655" y="798409"/>
              <a:chExt cx="12444021" cy="9363458"/>
            </a:xfrm>
          </p:grpSpPr>
          <p:pic>
            <p:nvPicPr>
              <p:cNvPr id="20" name="图片 19"/>
              <p:cNvPicPr>
                <a:picLocks noChangeAspect="1"/>
              </p:cNvPicPr>
              <p:nvPr/>
            </p:nvPicPr>
            <p:blipFill>
              <a:blip r:embed="rId2">
                <a:alphaModFix amt="50000"/>
              </a:blip>
              <a:srcRect l="15" r="15"/>
              <a:stretch>
                <a:fillRect/>
              </a:stretch>
            </p:blipFill>
            <p:spPr>
              <a:xfrm>
                <a:off x="9274665" y="7451562"/>
                <a:ext cx="3701011" cy="2710305"/>
              </a:xfrm>
              <a:prstGeom prst="rect">
                <a:avLst/>
              </a:prstGeom>
            </p:spPr>
          </p:pic>
          <p:pic>
            <p:nvPicPr>
              <p:cNvPr id="21" name="图片 20"/>
              <p:cNvPicPr>
                <a:picLocks noChangeAspect="1"/>
              </p:cNvPicPr>
              <p:nvPr/>
            </p:nvPicPr>
            <p:blipFill>
              <a:blip r:embed="rId3">
                <a:alphaModFix amt="50000"/>
              </a:blip>
              <a:stretch>
                <a:fillRect/>
              </a:stretch>
            </p:blipFill>
            <p:spPr>
              <a:xfrm>
                <a:off x="531655" y="3870947"/>
                <a:ext cx="2370431" cy="3300219"/>
              </a:xfrm>
              <a:prstGeom prst="rect">
                <a:avLst/>
              </a:prstGeom>
            </p:spPr>
          </p:pic>
          <p:pic>
            <p:nvPicPr>
              <p:cNvPr id="22" name="图片 21"/>
              <p:cNvPicPr>
                <a:picLocks noChangeAspect="1"/>
              </p:cNvPicPr>
              <p:nvPr/>
            </p:nvPicPr>
            <p:blipFill>
              <a:blip r:embed="rId4">
                <a:alphaModFix amt="50000"/>
              </a:blip>
              <a:stretch>
                <a:fillRect/>
              </a:stretch>
            </p:blipFill>
            <p:spPr>
              <a:xfrm>
                <a:off x="720455" y="798409"/>
                <a:ext cx="4132238" cy="3099894"/>
              </a:xfrm>
              <a:prstGeom prst="rect">
                <a:avLst/>
              </a:prstGeom>
            </p:spPr>
          </p:pic>
          <p:pic>
            <p:nvPicPr>
              <p:cNvPr id="23" name="图片 22"/>
              <p:cNvPicPr>
                <a:picLocks noChangeAspect="1"/>
              </p:cNvPicPr>
              <p:nvPr/>
            </p:nvPicPr>
            <p:blipFill>
              <a:blip r:embed="rId5">
                <a:alphaModFix amt="50000"/>
              </a:blip>
              <a:stretch>
                <a:fillRect/>
              </a:stretch>
            </p:blipFill>
            <p:spPr>
              <a:xfrm>
                <a:off x="2824879" y="3861675"/>
                <a:ext cx="4303571" cy="3221333"/>
              </a:xfrm>
              <a:prstGeom prst="rect">
                <a:avLst/>
              </a:prstGeom>
            </p:spPr>
          </p:pic>
          <p:pic>
            <p:nvPicPr>
              <p:cNvPr id="24" name="图片 23"/>
              <p:cNvPicPr>
                <a:picLocks noChangeAspect="1"/>
              </p:cNvPicPr>
              <p:nvPr/>
            </p:nvPicPr>
            <p:blipFill>
              <a:blip r:embed="rId6">
                <a:alphaModFix amt="50000"/>
              </a:blip>
              <a:stretch>
                <a:fillRect/>
              </a:stretch>
            </p:blipFill>
            <p:spPr>
              <a:xfrm>
                <a:off x="699723" y="7044657"/>
                <a:ext cx="4513529" cy="3099893"/>
              </a:xfrm>
              <a:prstGeom prst="rect">
                <a:avLst/>
              </a:prstGeom>
            </p:spPr>
          </p:pic>
          <p:pic>
            <p:nvPicPr>
              <p:cNvPr id="25" name="图片 24"/>
              <p:cNvPicPr>
                <a:picLocks noChangeAspect="1"/>
              </p:cNvPicPr>
              <p:nvPr/>
            </p:nvPicPr>
            <p:blipFill>
              <a:blip r:embed="rId7">
                <a:alphaModFix amt="50000"/>
              </a:blip>
              <a:srcRect l="15" r="15"/>
              <a:stretch>
                <a:fillRect/>
              </a:stretch>
            </p:blipFill>
            <p:spPr>
              <a:xfrm>
                <a:off x="4817284" y="7044655"/>
                <a:ext cx="4513529" cy="3099893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1" name="矩形 40"/>
          <p:cNvSpPr>
            <a:spLocks noGrp="1"/>
          </p:cNvSpPr>
          <p:nvPr/>
        </p:nvSpPr>
        <p:spPr>
          <a:xfrm>
            <a:off x="609600" y="371475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05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1050" b="1">
              <a:solidFill>
                <a:srgbClr val="C33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666750"/>
            <a:ext cx="9334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25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住房信托养老的概念与解释边界</a:t>
            </a:r>
            <a:endParaRPr sz="255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1504950"/>
            <a:ext cx="10972800" cy="19050"/>
          </a:xfrm>
          <a:prstGeom prst="rect">
            <a:avLst/>
          </a:prstGeom>
          <a:solidFill>
            <a:srgbClr val="D7E0DD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695325" y="1727200"/>
            <a:ext cx="2402205" cy="23939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20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160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住房信托养老的简单解释：</a:t>
            </a:r>
            <a:endParaRPr lang="zh-CN" sz="1600" b="1">
              <a:solidFill>
                <a:srgbClr val="C33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217170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14000"/>
              </a:lnSpc>
              <a:buNone/>
              <a:defRPr sz="16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个人把资金或房产相关权益纳入信托合同，由受托机构按事先约定管理，并用于养老费用、房产事务、失能后的安排或身后财产分配。</a:t>
            </a:r>
            <a:endParaRPr sz="165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609600" y="3209925"/>
            <a:ext cx="2333625" cy="9144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7E0DD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62000" y="3381375"/>
            <a:ext cx="20288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房产相关权益</a:t>
            </a:r>
            <a:endParaRPr sz="135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62000" y="3714750"/>
            <a:ext cx="20288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94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94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明确纳入范围</a:t>
            </a:r>
            <a:endParaRPr sz="94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019425" y="3467100"/>
            <a:ext cx="247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37"/>
          </a:bodyPr>
          <a:lstStyle>
            <a:defPPr algn="ctr">
              <a:defRPr sz="2250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2250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›</a:t>
            </a:r>
            <a:endParaRPr sz="2250" b="1">
              <a:solidFill>
                <a:srgbClr val="B8872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3343275" y="3209925"/>
            <a:ext cx="2333625" cy="914400"/>
          </a:xfrm>
          <a:prstGeom prst="roundRect">
            <a:avLst>
              <a:gd name="adj" fmla="val 6250"/>
            </a:avLst>
          </a:prstGeom>
          <a:solidFill>
            <a:srgbClr val="087F78"/>
          </a:solidFill>
          <a:ln w="9525">
            <a:solidFill>
              <a:srgbClr val="087F78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3495675" y="3381375"/>
            <a:ext cx="20288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信托合同</a:t>
            </a:r>
            <a:endParaRPr sz="13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495675" y="3714750"/>
            <a:ext cx="20288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940" b="0">
                <a:solidFill>
                  <a:srgbClr val="D8F0E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940" b="0">
                <a:solidFill>
                  <a:srgbClr val="D8F0E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D8F0E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写清管理与退出规则</a:t>
            </a:r>
            <a:endParaRPr sz="940" b="0">
              <a:solidFill>
                <a:srgbClr val="D8F0E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753100" y="3467100"/>
            <a:ext cx="247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37"/>
          </a:bodyPr>
          <a:lstStyle>
            <a:defPPr algn="ctr">
              <a:defRPr sz="2250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2250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›</a:t>
            </a:r>
            <a:endParaRPr sz="2250" b="1">
              <a:solidFill>
                <a:srgbClr val="B8872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6076950" y="3209925"/>
            <a:ext cx="2333625" cy="9144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7E0DD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229350" y="3381375"/>
            <a:ext cx="20288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受托管理</a:t>
            </a:r>
            <a:endParaRPr sz="135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229350" y="3714750"/>
            <a:ext cx="20288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94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94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按约定管理和支付</a:t>
            </a:r>
            <a:endParaRPr sz="94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486775" y="3467100"/>
            <a:ext cx="247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37"/>
          </a:bodyPr>
          <a:lstStyle>
            <a:defPPr algn="ctr">
              <a:defRPr sz="2250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2250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›</a:t>
            </a:r>
            <a:endParaRPr sz="2250" b="1">
              <a:solidFill>
                <a:srgbClr val="B8872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8810625" y="3209925"/>
            <a:ext cx="2333625" cy="9144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7E0DD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8963025" y="3381375"/>
            <a:ext cx="20288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养老与传承</a:t>
            </a:r>
            <a:endParaRPr sz="135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963025" y="3714750"/>
            <a:ext cx="20288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94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94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服务养老并安排剩余财产</a:t>
            </a:r>
            <a:endParaRPr sz="94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09600" y="4514850"/>
            <a:ext cx="3429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425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工作人员</a:t>
            </a:r>
            <a:r>
              <a:rPr lang="zh-CN" sz="1425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需要注意的</a:t>
            </a:r>
            <a:r>
              <a:rPr lang="zh-CN" sz="1425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要点：</a:t>
            </a:r>
            <a:endParaRPr lang="zh-CN" sz="1425" b="1">
              <a:solidFill>
                <a:srgbClr val="075E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椭圆 22"/>
          <p:cNvSpPr>
            <a:spLocks noGrp="1"/>
          </p:cNvSpPr>
          <p:nvPr/>
        </p:nvSpPr>
        <p:spPr>
          <a:xfrm>
            <a:off x="609600" y="4991100"/>
            <a:ext cx="142875" cy="142875"/>
          </a:xfrm>
          <a:prstGeom prst="ellipse">
            <a:avLst/>
          </a:prstGeom>
          <a:solidFill>
            <a:srgbClr val="087F78"/>
          </a:solidFill>
          <a:ln w="0">
            <a:noFill/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09600" y="4962525"/>
            <a:ext cx="1428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876300" y="4933950"/>
            <a:ext cx="4876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中立说明</a:t>
            </a:r>
            <a:endParaRPr sz="135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76300" y="5210175"/>
            <a:ext cx="4876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15000"/>
              </a:lnSpc>
              <a:buNone/>
              <a:def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只解释题意和填写规则，不推销产品，也不替受访者判断是否适合。</a:t>
            </a:r>
            <a:endParaRPr sz="109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椭圆 26"/>
          <p:cNvSpPr>
            <a:spLocks noGrp="1"/>
          </p:cNvSpPr>
          <p:nvPr/>
        </p:nvSpPr>
        <p:spPr>
          <a:xfrm>
            <a:off x="6191250" y="4991100"/>
            <a:ext cx="142875" cy="142875"/>
          </a:xfrm>
          <a:prstGeom prst="ellipse">
            <a:avLst/>
          </a:prstGeom>
          <a:solidFill>
            <a:srgbClr val="C33D35"/>
          </a:solidFill>
          <a:ln w="0">
            <a:noFill/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6191250" y="4962525"/>
            <a:ext cx="1428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6457950" y="4933950"/>
            <a:ext cx="50673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不作承诺</a:t>
            </a:r>
            <a:endParaRPr sz="135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6457950" y="5210175"/>
            <a:ext cx="5067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15000"/>
              </a:lnSpc>
              <a:buNone/>
              <a:def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情景仅用于调查，实际权利、费用、收益和退出条件以正式合同为准。</a:t>
            </a:r>
            <a:endParaRPr sz="109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椭圆 30"/>
          <p:cNvSpPr>
            <a:spLocks noGrp="1"/>
          </p:cNvSpPr>
          <p:nvPr/>
        </p:nvSpPr>
        <p:spPr>
          <a:xfrm>
            <a:off x="609600" y="5810250"/>
            <a:ext cx="142875" cy="142875"/>
          </a:xfrm>
          <a:prstGeom prst="ellipse">
            <a:avLst/>
          </a:prstGeom>
          <a:solidFill>
            <a:srgbClr val="087F78"/>
          </a:solidFill>
          <a:ln w="0">
            <a:noFill/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609600" y="5781675"/>
            <a:ext cx="1428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876300" y="5753100"/>
            <a:ext cx="4876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尊重选择</a:t>
            </a:r>
            <a:endParaRPr sz="135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876300" y="6029325"/>
            <a:ext cx="4876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15000"/>
              </a:lnSpc>
              <a:buNone/>
              <a:def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问卷匿名；受访者</a:t>
            </a:r>
            <a:r>
              <a:rPr lang="zh-CN"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可以按自己真实情况回答</a:t>
            </a:r>
            <a:r>
              <a: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题目。</a:t>
            </a:r>
            <a:endParaRPr sz="109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椭圆 34"/>
          <p:cNvSpPr>
            <a:spLocks noGrp="1"/>
          </p:cNvSpPr>
          <p:nvPr/>
        </p:nvSpPr>
        <p:spPr>
          <a:xfrm>
            <a:off x="6191250" y="5810250"/>
            <a:ext cx="142875" cy="142875"/>
          </a:xfrm>
          <a:prstGeom prst="ellipse">
            <a:avLst/>
          </a:prstGeom>
          <a:solidFill>
            <a:srgbClr val="C33D35"/>
          </a:solidFill>
          <a:ln w="0">
            <a:noFill/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6191250" y="5781675"/>
            <a:ext cx="1428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6457950" y="5753100"/>
            <a:ext cx="50673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保护隐私</a:t>
            </a:r>
            <a:endParaRPr sz="135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6457950" y="6029325"/>
            <a:ext cx="5067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15000"/>
              </a:lnSpc>
              <a:buNone/>
              <a:def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不要追问姓名、身份证等身份信息，不公开讨论家庭健康或资产答案。</a:t>
            </a:r>
            <a:endParaRPr sz="109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609600" y="6543675"/>
            <a:ext cx="476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住房信托养老专项问卷｜工作人员宣导</a:t>
            </a:r>
            <a:endParaRPr sz="750" b="0">
              <a:solidFill>
                <a:srgbClr val="75837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11191875" y="65436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r">
              <a:lnSpc>
                <a:spcPct val="108000"/>
              </a:lnSpc>
              <a:buNone/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750" b="0">
              <a:solidFill>
                <a:srgbClr val="75837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7" name="矩形 66"/>
          <p:cNvSpPr>
            <a:spLocks noGrp="1"/>
          </p:cNvSpPr>
          <p:nvPr/>
        </p:nvSpPr>
        <p:spPr>
          <a:xfrm>
            <a:off x="609600" y="371475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05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1050" b="1">
              <a:solidFill>
                <a:srgbClr val="C33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666750"/>
            <a:ext cx="9334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25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问卷题型与填写方法</a:t>
            </a:r>
            <a:endParaRPr sz="255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181100"/>
            <a:ext cx="10287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20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先确定填写方式，再看题干括号中的要求并确认是否需要跳题</a:t>
            </a:r>
            <a:endParaRPr sz="120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1504950"/>
            <a:ext cx="10972800" cy="19050"/>
          </a:xfrm>
          <a:prstGeom prst="rect">
            <a:avLst/>
          </a:prstGeom>
          <a:solidFill>
            <a:srgbClr val="D7E0DD"/>
          </a:solidFill>
          <a:ln w="0">
            <a:noFill/>
            <a:prstDash val="solid"/>
          </a:ln>
        </p:spPr>
      </p:sp>
      <p:sp>
        <p:nvSpPr>
          <p:cNvPr id="5" name="圆角矩形 4"/>
          <p:cNvSpPr>
            <a:spLocks noGrp="1"/>
          </p:cNvSpPr>
          <p:nvPr/>
        </p:nvSpPr>
        <p:spPr>
          <a:xfrm>
            <a:off x="609600" y="1724025"/>
            <a:ext cx="10972800" cy="685800"/>
          </a:xfrm>
          <a:prstGeom prst="roundRect">
            <a:avLst>
              <a:gd name="adj" fmla="val 8333"/>
            </a:avLst>
          </a:prstGeom>
          <a:solidFill>
            <a:srgbClr val="E6F4F2"/>
          </a:solidFill>
          <a:ln w="0">
            <a:noFill/>
            <a:prstDash val="solid"/>
          </a:ln>
        </p:spPr>
      </p:sp>
      <p:sp>
        <p:nvSpPr>
          <p:cNvPr id="6" name="椭圆 5"/>
          <p:cNvSpPr>
            <a:spLocks noGrp="1"/>
          </p:cNvSpPr>
          <p:nvPr/>
        </p:nvSpPr>
        <p:spPr>
          <a:xfrm>
            <a:off x="838200" y="1914525"/>
            <a:ext cx="266700" cy="266700"/>
          </a:xfrm>
          <a:prstGeom prst="ellipse">
            <a:avLst/>
          </a:prstGeom>
          <a:solidFill>
            <a:srgbClr val="087F78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38200" y="1943100"/>
            <a:ext cx="266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238250" y="1838325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20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电子版优先</a:t>
            </a:r>
            <a:endParaRPr sz="1200" b="1">
              <a:solidFill>
                <a:srgbClr val="075E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238250" y="2085975"/>
            <a:ext cx="2781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94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94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1">
                <a:solidFill>
                  <a:srgbClr val="56666D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受访者能使用手机或设备时，尽量填写电子版</a:t>
            </a:r>
            <a:endParaRPr sz="940" b="1">
              <a:solidFill>
                <a:srgbClr val="56666D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229100" y="1876425"/>
            <a:ext cx="9525" cy="381000"/>
          </a:xfrm>
          <a:prstGeom prst="rect">
            <a:avLst/>
          </a:prstGeom>
          <a:solidFill>
            <a:srgbClr val="B9DCD8"/>
          </a:solidFill>
          <a:ln w="0">
            <a:noFill/>
            <a:prstDash val="solid"/>
          </a:ln>
        </p:spPr>
      </p:sp>
      <p:sp>
        <p:nvSpPr>
          <p:cNvPr id="11" name="椭圆 10"/>
          <p:cNvSpPr>
            <a:spLocks noGrp="1"/>
          </p:cNvSpPr>
          <p:nvPr/>
        </p:nvSpPr>
        <p:spPr>
          <a:xfrm>
            <a:off x="4419600" y="1914525"/>
            <a:ext cx="266700" cy="266700"/>
          </a:xfrm>
          <a:prstGeom prst="ellipse">
            <a:avLst/>
          </a:prstGeom>
          <a:solidFill>
            <a:srgbClr val="087F78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4419600" y="1943100"/>
            <a:ext cx="266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819650" y="1838325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20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纸质版</a:t>
            </a:r>
            <a:r>
              <a:rPr lang="zh-CN" sz="120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预备</a:t>
            </a:r>
            <a:endParaRPr lang="zh-CN" sz="1200" b="1">
              <a:solidFill>
                <a:srgbClr val="075E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819650" y="2085975"/>
            <a:ext cx="2781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94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94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4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没有手机或操作不便的老人，可以填写纸质版</a:t>
            </a:r>
            <a:endParaRPr sz="94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810500" y="1876425"/>
            <a:ext cx="9525" cy="381000"/>
          </a:xfrm>
          <a:prstGeom prst="rect">
            <a:avLst/>
          </a:prstGeom>
          <a:solidFill>
            <a:srgbClr val="B9DCD8"/>
          </a:solidFill>
          <a:ln w="0">
            <a:noFill/>
            <a:prstDash val="solid"/>
          </a:ln>
        </p:spPr>
      </p:sp>
      <p:sp>
        <p:nvSpPr>
          <p:cNvPr id="16" name="椭圆 15"/>
          <p:cNvSpPr>
            <a:spLocks noGrp="1"/>
          </p:cNvSpPr>
          <p:nvPr/>
        </p:nvSpPr>
        <p:spPr>
          <a:xfrm>
            <a:off x="8001000" y="1914525"/>
            <a:ext cx="266700" cy="266700"/>
          </a:xfrm>
          <a:prstGeom prst="ellipse">
            <a:avLst/>
          </a:prstGeom>
          <a:solidFill>
            <a:srgbClr val="C33D35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001000" y="1943100"/>
            <a:ext cx="266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401050" y="1838325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20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全部电子化</a:t>
            </a:r>
            <a:endParaRPr sz="1200" b="1">
              <a:solidFill>
                <a:srgbClr val="C33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8256270" y="2061210"/>
            <a:ext cx="314134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94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ClrTx/>
              <a:buSzTx/>
              <a:buFontTx/>
              <a:buNone/>
              <a:defRPr sz="94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1">
                <a:solidFill>
                  <a:srgbClr val="56666D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收集结束后，工作人员须将纸质问卷全部录入电子版并复核</a:t>
            </a:r>
            <a:endParaRPr sz="900" b="1">
              <a:solidFill>
                <a:srgbClr val="56666D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609600" y="2590800"/>
            <a:ext cx="7086600" cy="3200400"/>
          </a:xfrm>
          <a:prstGeom prst="roundRect">
            <a:avLst>
              <a:gd name="adj" fmla="val 1786"/>
            </a:avLst>
          </a:prstGeom>
          <a:solidFill>
            <a:srgbClr val="F7F9F8"/>
          </a:solidFill>
          <a:ln w="9525">
            <a:solidFill>
              <a:srgbClr val="D7E0DD"/>
            </a:solidFill>
            <a:prstDash val="solid"/>
          </a:ln>
        </p:spPr>
      </p:sp>
      <p:sp>
        <p:nvSpPr>
          <p:cNvPr id="21" name="圆角矩形 20"/>
          <p:cNvSpPr>
            <a:spLocks noGrp="1"/>
          </p:cNvSpPr>
          <p:nvPr/>
        </p:nvSpPr>
        <p:spPr>
          <a:xfrm>
            <a:off x="819150" y="2705100"/>
            <a:ext cx="781050" cy="304800"/>
          </a:xfrm>
          <a:prstGeom prst="roundRect">
            <a:avLst>
              <a:gd name="adj" fmla="val 18750"/>
            </a:avLst>
          </a:prstGeom>
          <a:solidFill>
            <a:srgbClr val="E6F4F2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819150" y="2733675"/>
            <a:ext cx="781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09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9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单选</a:t>
            </a:r>
            <a:endParaRPr sz="1090" b="1">
              <a:solidFill>
                <a:srgbClr val="075E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1828800" y="2686050"/>
            <a:ext cx="209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2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只能勾选 1 项</a:t>
            </a:r>
            <a:endParaRPr sz="120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4086225" y="2686050"/>
            <a:ext cx="3333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例：了解程度、居住方式、住房套数</a:t>
            </a:r>
            <a:endParaRPr sz="975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800100" y="3124200"/>
            <a:ext cx="6705600" cy="9525"/>
          </a:xfrm>
          <a:prstGeom prst="rect">
            <a:avLst/>
          </a:prstGeom>
          <a:solidFill>
            <a:srgbClr val="D7E0DD"/>
          </a:solidFill>
          <a:ln w="0">
            <a:noFill/>
            <a:prstDash val="solid"/>
          </a:ln>
        </p:spPr>
      </p:sp>
      <p:sp>
        <p:nvSpPr>
          <p:cNvPr id="26" name="圆角矩形 25"/>
          <p:cNvSpPr>
            <a:spLocks noGrp="1"/>
          </p:cNvSpPr>
          <p:nvPr/>
        </p:nvSpPr>
        <p:spPr>
          <a:xfrm>
            <a:off x="819150" y="3238500"/>
            <a:ext cx="781050" cy="304800"/>
          </a:xfrm>
          <a:prstGeom prst="roundRect">
            <a:avLst>
              <a:gd name="adj" fmla="val 18750"/>
            </a:avLst>
          </a:prstGeom>
          <a:solidFill>
            <a:srgbClr val="E6F4F2"/>
          </a:solidFill>
          <a:ln w="0">
            <a:noFill/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819150" y="3267075"/>
            <a:ext cx="781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09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9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多选</a:t>
            </a:r>
            <a:endParaRPr sz="1090" b="1">
              <a:solidFill>
                <a:srgbClr val="075E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1828800" y="3219450"/>
            <a:ext cx="209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2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可勾选多项</a:t>
            </a:r>
            <a:endParaRPr sz="120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4086225" y="3219450"/>
            <a:ext cx="3333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例：听说过的产品、信息获取渠道</a:t>
            </a:r>
            <a:endParaRPr sz="975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800100" y="3657600"/>
            <a:ext cx="6705600" cy="9525"/>
          </a:xfrm>
          <a:prstGeom prst="rect">
            <a:avLst/>
          </a:prstGeom>
          <a:solidFill>
            <a:srgbClr val="D7E0DD"/>
          </a:solidFill>
          <a:ln w="0">
            <a:noFill/>
            <a:prstDash val="solid"/>
          </a:ln>
        </p:spPr>
      </p:sp>
      <p:sp>
        <p:nvSpPr>
          <p:cNvPr id="31" name="圆角矩形 30"/>
          <p:cNvSpPr>
            <a:spLocks noGrp="1"/>
          </p:cNvSpPr>
          <p:nvPr/>
        </p:nvSpPr>
        <p:spPr>
          <a:xfrm>
            <a:off x="819150" y="3771900"/>
            <a:ext cx="781050" cy="304800"/>
          </a:xfrm>
          <a:prstGeom prst="roundRect">
            <a:avLst>
              <a:gd name="adj" fmla="val 18750"/>
            </a:avLst>
          </a:prstGeom>
          <a:solidFill>
            <a:srgbClr val="E6F4F2"/>
          </a:solidFill>
          <a:ln w="0">
            <a:noFill/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819150" y="3800475"/>
            <a:ext cx="781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09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9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限选</a:t>
            </a:r>
            <a:endParaRPr sz="1090" b="1">
              <a:solidFill>
                <a:srgbClr val="075E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1828800" y="3752850"/>
            <a:ext cx="209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2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不得超过题目上限</a:t>
            </a:r>
            <a:endParaRPr sz="120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4086225" y="3752850"/>
            <a:ext cx="3333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例：养老需求最多选 3 项</a:t>
            </a:r>
            <a:endParaRPr sz="975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800100" y="4191000"/>
            <a:ext cx="6705600" cy="9525"/>
          </a:xfrm>
          <a:prstGeom prst="rect">
            <a:avLst/>
          </a:prstGeom>
          <a:solidFill>
            <a:srgbClr val="D7E0DD"/>
          </a:solidFill>
          <a:ln w="0">
            <a:noFill/>
            <a:prstDash val="solid"/>
          </a:ln>
        </p:spPr>
      </p:sp>
      <p:sp>
        <p:nvSpPr>
          <p:cNvPr id="36" name="圆角矩形 35"/>
          <p:cNvSpPr>
            <a:spLocks noGrp="1"/>
          </p:cNvSpPr>
          <p:nvPr/>
        </p:nvSpPr>
        <p:spPr>
          <a:xfrm>
            <a:off x="819150" y="4305300"/>
            <a:ext cx="781050" cy="304800"/>
          </a:xfrm>
          <a:prstGeom prst="roundRect">
            <a:avLst>
              <a:gd name="adj" fmla="val 18750"/>
            </a:avLst>
          </a:prstGeom>
          <a:solidFill>
            <a:srgbClr val="E6F4F2"/>
          </a:solidFill>
          <a:ln w="0">
            <a:noFill/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819150" y="4333875"/>
            <a:ext cx="781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09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9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排序</a:t>
            </a:r>
            <a:endParaRPr sz="1090" b="1">
              <a:solidFill>
                <a:srgbClr val="075E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1828800" y="4286250"/>
            <a:ext cx="209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2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按意愿从高到低排全序</a:t>
            </a:r>
            <a:endParaRPr sz="120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4086225" y="4286250"/>
            <a:ext cx="3333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每个选项只出现一次，不可并列</a:t>
            </a:r>
            <a:endParaRPr sz="975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800100" y="4724400"/>
            <a:ext cx="6705600" cy="9525"/>
          </a:xfrm>
          <a:prstGeom prst="rect">
            <a:avLst/>
          </a:prstGeom>
          <a:solidFill>
            <a:srgbClr val="D7E0DD"/>
          </a:solidFill>
          <a:ln w="0">
            <a:noFill/>
            <a:prstDash val="solid"/>
          </a:ln>
        </p:spPr>
      </p:sp>
      <p:sp>
        <p:nvSpPr>
          <p:cNvPr id="41" name="圆角矩形 40"/>
          <p:cNvSpPr>
            <a:spLocks noGrp="1"/>
          </p:cNvSpPr>
          <p:nvPr/>
        </p:nvSpPr>
        <p:spPr>
          <a:xfrm>
            <a:off x="819150" y="4838700"/>
            <a:ext cx="781050" cy="304800"/>
          </a:xfrm>
          <a:prstGeom prst="roundRect">
            <a:avLst>
              <a:gd name="adj" fmla="val 18750"/>
            </a:avLst>
          </a:prstGeom>
          <a:solidFill>
            <a:srgbClr val="E6F4F2"/>
          </a:solidFill>
          <a:ln w="0">
            <a:noFill/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819150" y="4867275"/>
            <a:ext cx="781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09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9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填空</a:t>
            </a:r>
            <a:endParaRPr sz="1090" b="1">
              <a:solidFill>
                <a:srgbClr val="075E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1828800" y="4819650"/>
            <a:ext cx="209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2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填写明确内容</a:t>
            </a:r>
            <a:endParaRPr sz="120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4086225" y="4819650"/>
            <a:ext cx="3333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例：出生年份填 4 位数字</a:t>
            </a:r>
            <a:endParaRPr sz="975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800100" y="5257800"/>
            <a:ext cx="6705600" cy="9525"/>
          </a:xfrm>
          <a:prstGeom prst="rect">
            <a:avLst/>
          </a:prstGeom>
          <a:solidFill>
            <a:srgbClr val="D7E0DD"/>
          </a:solidFill>
          <a:ln w="0">
            <a:noFill/>
            <a:prstDash val="solid"/>
          </a:ln>
        </p:spPr>
      </p:sp>
      <p:sp>
        <p:nvSpPr>
          <p:cNvPr id="46" name="圆角矩形 45"/>
          <p:cNvSpPr>
            <a:spLocks noGrp="1"/>
          </p:cNvSpPr>
          <p:nvPr/>
        </p:nvSpPr>
        <p:spPr>
          <a:xfrm>
            <a:off x="819150" y="5372100"/>
            <a:ext cx="781050" cy="304800"/>
          </a:xfrm>
          <a:prstGeom prst="roundRect">
            <a:avLst>
              <a:gd name="adj" fmla="val 18750"/>
            </a:avLst>
          </a:prstGeom>
          <a:solidFill>
            <a:srgbClr val="FBE9E7"/>
          </a:solidFill>
          <a:ln w="0">
            <a:noFill/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819150" y="5400675"/>
            <a:ext cx="781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09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9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跳题</a:t>
            </a:r>
            <a:endParaRPr sz="1090" b="1">
              <a:solidFill>
                <a:srgbClr val="C33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1828800" y="5353050"/>
            <a:ext cx="209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2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满足条件才回答</a:t>
            </a:r>
            <a:endParaRPr sz="120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4086225" y="5353050"/>
            <a:ext cx="3333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例：无住房者跳过房产价值、用途和贷款题</a:t>
            </a:r>
            <a:endParaRPr sz="975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8191500" y="25908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0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50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现场协助顺序</a:t>
            </a:r>
            <a:endParaRPr sz="1500" b="1">
              <a:solidFill>
                <a:srgbClr val="075E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8191500" y="3038475"/>
            <a:ext cx="428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25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125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1125" b="1">
              <a:solidFill>
                <a:srgbClr val="B8872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8724900" y="3019425"/>
            <a:ext cx="2381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读题干</a:t>
            </a:r>
            <a:endParaRPr sz="135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8724900" y="3314700"/>
            <a:ext cx="2476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15000"/>
              </a:lnSpc>
              <a:buNone/>
              <a:def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特别看单选、多选、最多选几项</a:t>
            </a:r>
            <a:endParaRPr sz="105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矩形 53"/>
          <p:cNvSpPr>
            <a:spLocks noGrp="1"/>
          </p:cNvSpPr>
          <p:nvPr/>
        </p:nvSpPr>
        <p:spPr>
          <a:xfrm>
            <a:off x="8191500" y="3771900"/>
            <a:ext cx="428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25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125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1125" b="1">
              <a:solidFill>
                <a:srgbClr val="B8872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8724900" y="3752850"/>
            <a:ext cx="2381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等待作答</a:t>
            </a:r>
            <a:endParaRPr sz="135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6" name="矩形 55"/>
          <p:cNvSpPr>
            <a:spLocks noGrp="1"/>
          </p:cNvSpPr>
          <p:nvPr/>
        </p:nvSpPr>
        <p:spPr>
          <a:xfrm>
            <a:off x="8724900" y="4048125"/>
            <a:ext cx="2476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15000"/>
              </a:lnSpc>
              <a:buNone/>
              <a:def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不要抢答，也不要用语气暗示答案</a:t>
            </a:r>
            <a:endParaRPr sz="105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8191500" y="4505325"/>
            <a:ext cx="428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25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125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1125" b="1">
              <a:solidFill>
                <a:srgbClr val="B8872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8724900" y="4486275"/>
            <a:ext cx="2381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核对格式</a:t>
            </a:r>
            <a:endParaRPr sz="135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8724900" y="4781550"/>
            <a:ext cx="2476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15000"/>
              </a:lnSpc>
              <a:buNone/>
              <a:def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检查漏项、超选、排序重复</a:t>
            </a:r>
            <a:endParaRPr sz="105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5" name="矩形 64"/>
          <p:cNvSpPr>
            <a:spLocks noGrp="1"/>
          </p:cNvSpPr>
          <p:nvPr/>
        </p:nvSpPr>
        <p:spPr>
          <a:xfrm>
            <a:off x="609600" y="6543675"/>
            <a:ext cx="476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住房信托养老专项问卷｜工作人员宣导</a:t>
            </a:r>
            <a:endParaRPr sz="750" b="0">
              <a:solidFill>
                <a:srgbClr val="75837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6" name="矩形 65"/>
          <p:cNvSpPr>
            <a:spLocks noGrp="1"/>
          </p:cNvSpPr>
          <p:nvPr/>
        </p:nvSpPr>
        <p:spPr>
          <a:xfrm>
            <a:off x="11191875" y="65436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r">
              <a:lnSpc>
                <a:spcPct val="108000"/>
              </a:lnSpc>
              <a:buNone/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750" b="0">
              <a:solidFill>
                <a:srgbClr val="75837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3" name="矩形 52"/>
          <p:cNvSpPr>
            <a:spLocks noGrp="1"/>
          </p:cNvSpPr>
          <p:nvPr/>
        </p:nvSpPr>
        <p:spPr>
          <a:xfrm>
            <a:off x="609600" y="371475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05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1050" b="1">
              <a:solidFill>
                <a:srgbClr val="C33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666750"/>
            <a:ext cx="9334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25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量表题填写规则</a:t>
            </a:r>
            <a:endParaRPr sz="255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181100"/>
            <a:ext cx="10287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20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同意度量表统一使用 1 到 5，每行只选一个数字</a:t>
            </a:r>
            <a:endParaRPr sz="120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1504950"/>
            <a:ext cx="10972800" cy="19050"/>
          </a:xfrm>
          <a:prstGeom prst="rect">
            <a:avLst/>
          </a:prstGeom>
          <a:solidFill>
            <a:srgbClr val="D7E0DD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485900" y="2476500"/>
            <a:ext cx="8153400" cy="38100"/>
          </a:xfrm>
          <a:prstGeom prst="rect">
            <a:avLst/>
          </a:prstGeom>
          <a:solidFill>
            <a:srgbClr val="D7E0DD"/>
          </a:solidFill>
          <a:ln w="0">
            <a:noFill/>
            <a:prstDash val="solid"/>
          </a:ln>
        </p:spPr>
      </p:sp>
      <p:sp>
        <p:nvSpPr>
          <p:cNvPr id="6" name="椭圆 5"/>
          <p:cNvSpPr>
            <a:spLocks noGrp="1"/>
          </p:cNvSpPr>
          <p:nvPr/>
        </p:nvSpPr>
        <p:spPr>
          <a:xfrm>
            <a:off x="1485900" y="2238375"/>
            <a:ext cx="514350" cy="514350"/>
          </a:xfrm>
          <a:prstGeom prst="ellipse">
            <a:avLst/>
          </a:prstGeom>
          <a:solidFill>
            <a:srgbClr val="E6F4F2"/>
          </a:solidFill>
          <a:ln w="9525">
            <a:solidFill>
              <a:srgbClr val="087F78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485900" y="230505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575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575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1575" b="1">
              <a:solidFill>
                <a:srgbClr val="075E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047750" y="2867025"/>
            <a:ext cx="1390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完全不同意</a:t>
            </a:r>
            <a:endParaRPr sz="105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椭圆 8"/>
          <p:cNvSpPr>
            <a:spLocks noGrp="1"/>
          </p:cNvSpPr>
          <p:nvPr/>
        </p:nvSpPr>
        <p:spPr>
          <a:xfrm>
            <a:off x="3409950" y="2238375"/>
            <a:ext cx="514350" cy="514350"/>
          </a:xfrm>
          <a:prstGeom prst="ellipse">
            <a:avLst/>
          </a:prstGeom>
          <a:solidFill>
            <a:srgbClr val="E6F4F2"/>
          </a:solidFill>
          <a:ln w="9525">
            <a:solidFill>
              <a:srgbClr val="087F78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3409950" y="230505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575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575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575" b="1">
              <a:solidFill>
                <a:srgbClr val="075E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2971800" y="2867025"/>
            <a:ext cx="1390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比较不同意</a:t>
            </a:r>
            <a:endParaRPr sz="105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椭圆 11"/>
          <p:cNvSpPr>
            <a:spLocks noGrp="1"/>
          </p:cNvSpPr>
          <p:nvPr/>
        </p:nvSpPr>
        <p:spPr>
          <a:xfrm>
            <a:off x="5334000" y="2238375"/>
            <a:ext cx="514350" cy="514350"/>
          </a:xfrm>
          <a:prstGeom prst="ellipse">
            <a:avLst/>
          </a:prstGeom>
          <a:solidFill>
            <a:srgbClr val="F8F0DF"/>
          </a:solidFill>
          <a:ln w="9525">
            <a:solidFill>
              <a:srgbClr val="B8872E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5334000" y="230505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575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575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1575" b="1">
              <a:solidFill>
                <a:srgbClr val="B8872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895850" y="2867025"/>
            <a:ext cx="1390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一般</a:t>
            </a:r>
            <a:endParaRPr sz="105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椭圆 14"/>
          <p:cNvSpPr>
            <a:spLocks noGrp="1"/>
          </p:cNvSpPr>
          <p:nvPr/>
        </p:nvSpPr>
        <p:spPr>
          <a:xfrm>
            <a:off x="7258050" y="2238375"/>
            <a:ext cx="514350" cy="514350"/>
          </a:xfrm>
          <a:prstGeom prst="ellipse">
            <a:avLst/>
          </a:prstGeom>
          <a:solidFill>
            <a:srgbClr val="E6F4F2"/>
          </a:solidFill>
          <a:ln w="9525">
            <a:solidFill>
              <a:srgbClr val="087F78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258050" y="230505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575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575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1575" b="1">
              <a:solidFill>
                <a:srgbClr val="075E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819900" y="2867025"/>
            <a:ext cx="1390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比较同意</a:t>
            </a:r>
            <a:endParaRPr sz="105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椭圆 17"/>
          <p:cNvSpPr>
            <a:spLocks noGrp="1"/>
          </p:cNvSpPr>
          <p:nvPr/>
        </p:nvSpPr>
        <p:spPr>
          <a:xfrm>
            <a:off x="9182100" y="2238375"/>
            <a:ext cx="514350" cy="514350"/>
          </a:xfrm>
          <a:prstGeom prst="ellipse">
            <a:avLst/>
          </a:prstGeom>
          <a:solidFill>
            <a:srgbClr val="E6F4F2"/>
          </a:solidFill>
          <a:ln w="9525">
            <a:solidFill>
              <a:srgbClr val="087F7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182100" y="230505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575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575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sz="1575" b="1">
              <a:solidFill>
                <a:srgbClr val="075E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8743950" y="2867025"/>
            <a:ext cx="1390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ctr">
              <a:def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完全同意</a:t>
            </a:r>
            <a:endParaRPr sz="105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609600" y="3457575"/>
            <a:ext cx="10972800" cy="952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E0DD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819150" y="3657600"/>
            <a:ext cx="571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25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125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示例</a:t>
            </a:r>
            <a:endParaRPr sz="1125" b="1">
              <a:solidFill>
                <a:srgbClr val="C33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1504950" y="3638550"/>
            <a:ext cx="4476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425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425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我愿意进一步了解相关产品</a:t>
            </a:r>
            <a:endParaRPr sz="1425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椭圆 23"/>
          <p:cNvSpPr>
            <a:spLocks noGrp="1"/>
          </p:cNvSpPr>
          <p:nvPr/>
        </p:nvSpPr>
        <p:spPr>
          <a:xfrm>
            <a:off x="6667500" y="3638550"/>
            <a:ext cx="342900" cy="3429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7E0DD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667500" y="3695700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050" b="1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50" b="1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1050" b="1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椭圆 25"/>
          <p:cNvSpPr>
            <a:spLocks noGrp="1"/>
          </p:cNvSpPr>
          <p:nvPr/>
        </p:nvSpPr>
        <p:spPr>
          <a:xfrm>
            <a:off x="7486650" y="3638550"/>
            <a:ext cx="342900" cy="3429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7E0DD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7486650" y="3695700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050" b="1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50" b="1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050" b="1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椭圆 27"/>
          <p:cNvSpPr>
            <a:spLocks noGrp="1"/>
          </p:cNvSpPr>
          <p:nvPr/>
        </p:nvSpPr>
        <p:spPr>
          <a:xfrm>
            <a:off x="8305800" y="3638550"/>
            <a:ext cx="342900" cy="3429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7E0DD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8305800" y="3695700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050" b="1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50" b="1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1050" b="1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椭圆 29"/>
          <p:cNvSpPr>
            <a:spLocks noGrp="1"/>
          </p:cNvSpPr>
          <p:nvPr/>
        </p:nvSpPr>
        <p:spPr>
          <a:xfrm>
            <a:off x="9124950" y="3638550"/>
            <a:ext cx="342900" cy="342900"/>
          </a:xfrm>
          <a:prstGeom prst="ellipse">
            <a:avLst/>
          </a:prstGeom>
          <a:solidFill>
            <a:srgbClr val="087F78"/>
          </a:solidFill>
          <a:ln w="9525">
            <a:solidFill>
              <a:srgbClr val="087F78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9124950" y="3695700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椭圆 31"/>
          <p:cNvSpPr>
            <a:spLocks noGrp="1"/>
          </p:cNvSpPr>
          <p:nvPr/>
        </p:nvSpPr>
        <p:spPr>
          <a:xfrm>
            <a:off x="9944100" y="3638550"/>
            <a:ext cx="342900" cy="3429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7E0DD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9944100" y="3695700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050" b="1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50" b="1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sz="1050" b="1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1504950" y="4048125"/>
            <a:ext cx="7334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75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每一行都应独立判断，不能把上一题答案直接沿用到下一题</a:t>
            </a:r>
            <a:endParaRPr sz="975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椭圆 34"/>
          <p:cNvSpPr>
            <a:spLocks noGrp="1"/>
          </p:cNvSpPr>
          <p:nvPr/>
        </p:nvSpPr>
        <p:spPr>
          <a:xfrm>
            <a:off x="609600" y="4933950"/>
            <a:ext cx="142875" cy="142875"/>
          </a:xfrm>
          <a:prstGeom prst="ellipse">
            <a:avLst/>
          </a:prstGeom>
          <a:solidFill>
            <a:srgbClr val="087F78"/>
          </a:solidFill>
          <a:ln w="0">
            <a:noFill/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609600" y="4905375"/>
            <a:ext cx="1428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876300" y="4876800"/>
            <a:ext cx="46863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先读完整陈述</a:t>
            </a:r>
            <a:endParaRPr sz="135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876300" y="5153025"/>
            <a:ext cx="4686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15000"/>
              </a:lnSpc>
              <a:buNone/>
              <a:def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允许受访者按真实感受选择，不提示“合理答案”。</a:t>
            </a:r>
            <a:endParaRPr sz="109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椭圆 38"/>
          <p:cNvSpPr>
            <a:spLocks noGrp="1"/>
          </p:cNvSpPr>
          <p:nvPr/>
        </p:nvSpPr>
        <p:spPr>
          <a:xfrm>
            <a:off x="6191250" y="4933950"/>
            <a:ext cx="142875" cy="142875"/>
          </a:xfrm>
          <a:prstGeom prst="ellipse">
            <a:avLst/>
          </a:prstGeom>
          <a:solidFill>
            <a:srgbClr val="C33D35"/>
          </a:solidFill>
          <a:ln w="0">
            <a:noFill/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6191250" y="4905375"/>
            <a:ext cx="1428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6457950" y="4876800"/>
            <a:ext cx="50673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只标一个数字</a:t>
            </a:r>
            <a:endParaRPr sz="135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6457950" y="5153025"/>
            <a:ext cx="5067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15000"/>
              </a:lnSpc>
              <a:buNone/>
              <a:def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出现漏选或一行多选时，只提醒受访者自行确认。</a:t>
            </a:r>
            <a:endParaRPr sz="109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椭圆 42"/>
          <p:cNvSpPr>
            <a:spLocks noGrp="1"/>
          </p:cNvSpPr>
          <p:nvPr/>
        </p:nvSpPr>
        <p:spPr>
          <a:xfrm>
            <a:off x="609600" y="5772150"/>
            <a:ext cx="142875" cy="142875"/>
          </a:xfrm>
          <a:prstGeom prst="ellipse">
            <a:avLst/>
          </a:prstGeom>
          <a:solidFill>
            <a:srgbClr val="087F78"/>
          </a:solidFill>
          <a:ln w="0">
            <a:noFill/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609600" y="5743575"/>
            <a:ext cx="1428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876300" y="5715000"/>
            <a:ext cx="46863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中间值可以选</a:t>
            </a:r>
            <a:endParaRPr sz="135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876300" y="5991225"/>
            <a:ext cx="4686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15000"/>
              </a:lnSpc>
              <a:buNone/>
              <a:def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“3 一般”代表中立或难以判断，不需要强迫表态。</a:t>
            </a:r>
            <a:endParaRPr sz="109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椭圆 46"/>
          <p:cNvSpPr>
            <a:spLocks noGrp="1"/>
          </p:cNvSpPr>
          <p:nvPr/>
        </p:nvSpPr>
        <p:spPr>
          <a:xfrm>
            <a:off x="6191250" y="5772150"/>
            <a:ext cx="142875" cy="142875"/>
          </a:xfrm>
          <a:prstGeom prst="ellipse">
            <a:avLst/>
          </a:prstGeom>
          <a:solidFill>
            <a:srgbClr val="C33D35"/>
          </a:solidFill>
          <a:ln w="0">
            <a:noFill/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6191250" y="5743575"/>
            <a:ext cx="1428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7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6457950" y="5715000"/>
            <a:ext cx="50673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反向题不要纠正</a:t>
            </a:r>
            <a:endParaRPr sz="135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6457950" y="5991225"/>
            <a:ext cx="5067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15000"/>
              </a:lnSpc>
              <a:buNone/>
              <a:def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F2“更希望把房子留给子女”方向与部分题目相反，这是正常设计。</a:t>
            </a:r>
            <a:endParaRPr sz="109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609600" y="6543675"/>
            <a:ext cx="476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住房信托养老专项问卷｜工作人员宣导</a:t>
            </a:r>
            <a:endParaRPr sz="750" b="0">
              <a:solidFill>
                <a:srgbClr val="75837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11191875" y="65436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r">
              <a:lnSpc>
                <a:spcPct val="108000"/>
              </a:lnSpc>
              <a:buNone/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750" b="0">
              <a:solidFill>
                <a:srgbClr val="75837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7" name="矩形 46"/>
          <p:cNvSpPr>
            <a:spLocks noGrp="1"/>
          </p:cNvSpPr>
          <p:nvPr/>
        </p:nvSpPr>
        <p:spPr>
          <a:xfrm>
            <a:off x="609600" y="371475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05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</a:t>
            </a:r>
            <a:endParaRPr sz="1050" b="1">
              <a:solidFill>
                <a:srgbClr val="C33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666750"/>
            <a:ext cx="9334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25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情景试验的执行要求</a:t>
            </a:r>
            <a:endParaRPr sz="255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181100"/>
            <a:ext cx="518541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20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随机只展示一个情景，保持原文与顺序，避免解释差异改变实验结果</a:t>
            </a:r>
            <a:endParaRPr sz="1200" b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1504950"/>
            <a:ext cx="10972800" cy="19050"/>
          </a:xfrm>
          <a:prstGeom prst="rect">
            <a:avLst/>
          </a:prstGeom>
          <a:solidFill>
            <a:srgbClr val="D7E0DD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1924050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25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125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1</a:t>
            </a:r>
            <a:endParaRPr sz="1125" b="1">
              <a:solidFill>
                <a:srgbClr val="C33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495425" y="2057400"/>
            <a:ext cx="523875" cy="19050"/>
          </a:xfrm>
          <a:prstGeom prst="rect">
            <a:avLst/>
          </a:prstGeom>
          <a:solidFill>
            <a:srgbClr val="B8872E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2171700" y="1847850"/>
            <a:ext cx="18954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425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基础出租 + 法定传承</a:t>
            </a:r>
            <a:endParaRPr sz="1425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2609850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25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125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2</a:t>
            </a:r>
            <a:endParaRPr sz="1125" b="1">
              <a:solidFill>
                <a:srgbClr val="C33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495425" y="2743200"/>
            <a:ext cx="523875" cy="19050"/>
          </a:xfrm>
          <a:prstGeom prst="rect">
            <a:avLst/>
          </a:prstGeom>
          <a:solidFill>
            <a:srgbClr val="B8872E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2171700" y="2533650"/>
            <a:ext cx="3429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425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增值运营 + 定向传承</a:t>
            </a:r>
            <a:endParaRPr sz="1425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09600" y="3295650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25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125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3</a:t>
            </a:r>
            <a:endParaRPr sz="1125" b="1">
              <a:solidFill>
                <a:srgbClr val="C33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495425" y="3429000"/>
            <a:ext cx="523875" cy="19050"/>
          </a:xfrm>
          <a:prstGeom prst="rect">
            <a:avLst/>
          </a:prstGeom>
          <a:solidFill>
            <a:srgbClr val="B8872E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2171700" y="3219450"/>
            <a:ext cx="3429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425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约定处置 + 定向传承</a:t>
            </a:r>
            <a:endParaRPr sz="1425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09600" y="3981450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125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125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情境 4</a:t>
            </a:r>
            <a:endParaRPr sz="1125" b="1">
              <a:solidFill>
                <a:srgbClr val="C33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495425" y="4114800"/>
            <a:ext cx="523875" cy="19050"/>
          </a:xfrm>
          <a:prstGeom prst="rect">
            <a:avLst/>
          </a:prstGeom>
          <a:solidFill>
            <a:srgbClr val="B8872E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2171700" y="3905250"/>
            <a:ext cx="3429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425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425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全权运作 + 闭环保障</a:t>
            </a:r>
            <a:endParaRPr sz="1425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09600" y="4791075"/>
            <a:ext cx="952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20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标准流程</a:t>
            </a:r>
            <a:endParaRPr sz="1200" b="1">
              <a:solidFill>
                <a:srgbClr val="075E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609600" y="5200650"/>
            <a:ext cx="2343150" cy="66675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42950" y="5343525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05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5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1050" b="1">
              <a:solidFill>
                <a:srgbClr val="075E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076325" y="5267325"/>
            <a:ext cx="173355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09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09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系统随机分配</a:t>
            </a:r>
            <a:endParaRPr sz="109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3000375" y="5343525"/>
            <a:ext cx="266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9031"/>
          </a:bodyPr>
          <a:lstStyle>
            <a:defPPr algn="ctr">
              <a:defRPr sz="1950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950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›</a:t>
            </a:r>
            <a:endParaRPr sz="1950" b="1">
              <a:solidFill>
                <a:srgbClr val="B8872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3333750" y="5200650"/>
            <a:ext cx="2343150" cy="666750"/>
          </a:xfrm>
          <a:prstGeom prst="roundRect">
            <a:avLst>
              <a:gd name="adj" fmla="val 8571"/>
            </a:avLst>
          </a:prstGeom>
          <a:solidFill>
            <a:srgbClr val="087F78"/>
          </a:solidFill>
          <a:ln w="9525">
            <a:solidFill>
              <a:srgbClr val="087F78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3467100" y="5343525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3800475" y="5267325"/>
            <a:ext cx="173355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09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09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完整展示 1 个情景</a:t>
            </a:r>
            <a:endParaRPr sz="109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5724525" y="5343525"/>
            <a:ext cx="266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9031"/>
          </a:bodyPr>
          <a:lstStyle>
            <a:defPPr algn="ctr">
              <a:defRPr sz="1950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950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›</a:t>
            </a:r>
            <a:endParaRPr sz="1950" b="1">
              <a:solidFill>
                <a:srgbClr val="B8872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6057900" y="5200650"/>
            <a:ext cx="2343150" cy="66675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 w="0">
            <a:noFill/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191250" y="5343525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05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5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1050" b="1">
              <a:solidFill>
                <a:srgbClr val="075E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524625" y="5267325"/>
            <a:ext cx="173355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09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09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受访者独立阅读或工作人员原文朗读</a:t>
            </a:r>
            <a:endParaRPr sz="109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448675" y="5343525"/>
            <a:ext cx="266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9031"/>
          </a:bodyPr>
          <a:lstStyle>
            <a:defPPr algn="ctr">
              <a:defRPr sz="1950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950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B8872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›</a:t>
            </a:r>
            <a:endParaRPr sz="1950" b="1">
              <a:solidFill>
                <a:srgbClr val="B8872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8782050" y="5200650"/>
            <a:ext cx="2343150" cy="66675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 w="0">
            <a:noFill/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8915400" y="5343525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05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ctr">
              <a:lnSpc>
                <a:spcPct val="108000"/>
              </a:lnSpc>
              <a:buNone/>
              <a:defRPr sz="105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>
                <a:solidFill>
                  <a:srgbClr val="075E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1050" b="1">
              <a:solidFill>
                <a:srgbClr val="075E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9248775" y="5267325"/>
            <a:ext cx="173355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l">
              <a:defRPr sz="109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09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9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完成后续 R、C、W 等题目</a:t>
            </a:r>
            <a:endParaRPr sz="1090" b="1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37" name="组合 36"/>
          <p:cNvGrpSpPr/>
          <p:nvPr/>
        </p:nvGrpSpPr>
        <p:grpSpPr>
          <a:xfrm>
            <a:off x="5737225" y="2820670"/>
            <a:ext cx="5391150" cy="1944370"/>
            <a:chOff x="9487" y="4103"/>
            <a:chExt cx="8490" cy="3062"/>
          </a:xfrm>
        </p:grpSpPr>
        <p:sp>
          <p:nvSpPr>
            <p:cNvPr id="33" name="圆角矩形 32"/>
            <p:cNvSpPr>
              <a:spLocks noGrp="1"/>
            </p:cNvSpPr>
            <p:nvPr/>
          </p:nvSpPr>
          <p:spPr>
            <a:xfrm>
              <a:off x="9487" y="4103"/>
              <a:ext cx="8490" cy="3062"/>
            </a:xfrm>
            <a:prstGeom prst="roundRect">
              <a:avLst>
                <a:gd name="adj" fmla="val 2055"/>
              </a:avLst>
            </a:prstGeom>
            <a:solidFill>
              <a:srgbClr val="FBE9E7"/>
            </a:solidFill>
            <a:ln w="9525">
              <a:solidFill>
                <a:srgbClr val="E8B8B4"/>
              </a:solidFill>
              <a:prstDash val="solid"/>
            </a:ln>
          </p:spPr>
        </p:sp>
        <p:sp>
          <p:nvSpPr>
            <p:cNvPr id="34" name="矩形 33"/>
            <p:cNvSpPr>
              <a:spLocks noGrp="1"/>
            </p:cNvSpPr>
            <p:nvPr/>
          </p:nvSpPr>
          <p:spPr>
            <a:xfrm>
              <a:off x="9907" y="4365"/>
              <a:ext cx="2250" cy="465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rmAutofit/>
            </a:bodyPr>
            <a:lstStyle>
              <a:defPPr algn="l">
                <a:defRPr sz="1500" b="1">
                  <a:solidFill>
                    <a:srgbClr val="C33D35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defPPr>
            </a:lstStyle>
            <a:p>
              <a:pPr algn="l">
                <a:lnSpc>
                  <a:spcPct val="108000"/>
                </a:lnSpc>
                <a:buNone/>
                <a:defRPr sz="1500" b="1">
                  <a:solidFill>
                    <a:srgbClr val="C33D35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pPr>
              <a:r>
                <a:rPr lang="zh-CN" sz="1500" b="1">
                  <a:solidFill>
                    <a:srgbClr val="C33D35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三</a:t>
              </a:r>
              <a:r>
                <a:rPr sz="1500" b="1">
                  <a:solidFill>
                    <a:srgbClr val="C33D35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项禁止</a:t>
              </a:r>
              <a:endParaRPr sz="150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35" name="矩形 34"/>
            <p:cNvSpPr>
              <a:spLocks noGrp="1"/>
            </p:cNvSpPr>
            <p:nvPr/>
          </p:nvSpPr>
          <p:spPr>
            <a:xfrm>
              <a:off x="9952" y="5160"/>
              <a:ext cx="375" cy="39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rmAutofit/>
            </a:bodyPr>
            <a:lstStyle>
              <a:defPPr algn="ctr">
                <a:defRPr sz="1500" b="1">
                  <a:solidFill>
                    <a:srgbClr val="C33D35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defPPr>
            </a:lstStyle>
            <a:p>
              <a:pPr algn="ctr">
                <a:lnSpc>
                  <a:spcPct val="108000"/>
                </a:lnSpc>
                <a:buNone/>
                <a:defRPr sz="1500" b="1">
                  <a:solidFill>
                    <a:srgbClr val="C33D35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pPr>
              <a:r>
                <a:rPr sz="1500" b="1">
                  <a:solidFill>
                    <a:srgbClr val="C33D35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×</a:t>
              </a:r>
              <a:endParaRPr sz="150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36" name="矩形 35"/>
            <p:cNvSpPr>
              <a:spLocks noGrp="1"/>
            </p:cNvSpPr>
            <p:nvPr/>
          </p:nvSpPr>
          <p:spPr>
            <a:xfrm>
              <a:off x="10537" y="5160"/>
              <a:ext cx="6900" cy="435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rmAutofit/>
            </a:bodyPr>
            <a:lstStyle>
              <a:defPPr algn="l">
                <a:defRPr sz="1200" b="1">
                  <a:solidFill>
                    <a:srgbClr val="18232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defPPr>
            </a:lstStyle>
            <a:p>
              <a:pPr algn="l">
                <a:lnSpc>
                  <a:spcPct val="108000"/>
                </a:lnSpc>
                <a:buNone/>
                <a:defRPr sz="1200" b="1">
                  <a:solidFill>
                    <a:srgbClr val="18232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pPr>
              <a:r>
                <a:rPr lang="zh-CN" sz="1200" b="1">
                  <a:solidFill>
                    <a:srgbClr val="18232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纸质版问卷：</a:t>
              </a:r>
              <a:r>
                <a:rPr sz="1200" b="1">
                  <a:solidFill>
                    <a:srgbClr val="18232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不要按受访者偏好挑选情景</a:t>
              </a:r>
              <a:endParaRPr sz="120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39" name="矩形 38"/>
            <p:cNvSpPr>
              <a:spLocks noGrp="1"/>
            </p:cNvSpPr>
            <p:nvPr/>
          </p:nvSpPr>
          <p:spPr>
            <a:xfrm>
              <a:off x="9952" y="5687"/>
              <a:ext cx="375" cy="39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rmAutofit/>
            </a:bodyPr>
            <a:lstStyle>
              <a:defPPr algn="ctr">
                <a:defRPr sz="1500" b="1">
                  <a:solidFill>
                    <a:srgbClr val="C33D35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defPPr>
            </a:lstStyle>
            <a:p>
              <a:pPr algn="ctr">
                <a:lnSpc>
                  <a:spcPct val="108000"/>
                </a:lnSpc>
                <a:buNone/>
                <a:defRPr sz="1500" b="1">
                  <a:solidFill>
                    <a:srgbClr val="C33D35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pPr>
              <a:r>
                <a:rPr sz="1500" b="1">
                  <a:solidFill>
                    <a:srgbClr val="C33D35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×</a:t>
              </a:r>
              <a:endParaRPr sz="150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0" name="矩形 39"/>
            <p:cNvSpPr>
              <a:spLocks noGrp="1"/>
            </p:cNvSpPr>
            <p:nvPr/>
          </p:nvSpPr>
          <p:spPr>
            <a:xfrm>
              <a:off x="10537" y="5745"/>
              <a:ext cx="6900" cy="435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rmAutofit/>
            </a:bodyPr>
            <a:lstStyle>
              <a:defPPr algn="l">
                <a:defRPr sz="1200" b="0">
                  <a:solidFill>
                    <a:srgbClr val="18232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defPPr>
            </a:lstStyle>
            <a:p>
              <a:pPr algn="l">
                <a:lnSpc>
                  <a:spcPct val="108000"/>
                </a:lnSpc>
                <a:buNone/>
                <a:defRPr sz="1200" b="0">
                  <a:solidFill>
                    <a:srgbClr val="18232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pPr>
              <a:r>
                <a:rPr sz="1200" b="0">
                  <a:solidFill>
                    <a:srgbClr val="18232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不要补充收益、费用或保障承诺</a:t>
              </a:r>
              <a:endParaRPr sz="1200" b="0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1" name="矩形 40"/>
            <p:cNvSpPr>
              <a:spLocks noGrp="1"/>
            </p:cNvSpPr>
            <p:nvPr/>
          </p:nvSpPr>
          <p:spPr>
            <a:xfrm>
              <a:off x="9952" y="6367"/>
              <a:ext cx="375" cy="39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rmAutofit/>
            </a:bodyPr>
            <a:lstStyle>
              <a:defPPr algn="ctr">
                <a:defRPr sz="1500" b="1">
                  <a:solidFill>
                    <a:srgbClr val="C33D35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defPPr>
            </a:lstStyle>
            <a:p>
              <a:pPr algn="ctr">
                <a:lnSpc>
                  <a:spcPct val="108000"/>
                </a:lnSpc>
                <a:buNone/>
                <a:defRPr sz="1500" b="1">
                  <a:solidFill>
                    <a:srgbClr val="C33D35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pPr>
              <a:r>
                <a:rPr sz="1500" b="1">
                  <a:solidFill>
                    <a:srgbClr val="C33D35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×</a:t>
              </a:r>
              <a:endParaRPr sz="150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2" name="矩形 41"/>
            <p:cNvSpPr>
              <a:spLocks noGrp="1"/>
            </p:cNvSpPr>
            <p:nvPr/>
          </p:nvSpPr>
          <p:spPr>
            <a:xfrm>
              <a:off x="10537" y="6390"/>
              <a:ext cx="6900" cy="435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wrap="square" lIns="0" tIns="0" rIns="0" bIns="0" anchor="t">
              <a:normAutofit/>
            </a:bodyPr>
            <a:lstStyle>
              <a:defPPr algn="l">
                <a:defRPr sz="1200" b="0">
                  <a:solidFill>
                    <a:srgbClr val="18232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defPPr>
            </a:lstStyle>
            <a:p>
              <a:pPr algn="l">
                <a:lnSpc>
                  <a:spcPct val="108000"/>
                </a:lnSpc>
                <a:buNone/>
                <a:defRPr sz="1200" b="0">
                  <a:solidFill>
                    <a:srgbClr val="18232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pPr>
              <a:r>
                <a:rPr sz="1200" b="0">
                  <a:solidFill>
                    <a:srgbClr val="18232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不要比较优劣，也不要引导后续量表答案</a:t>
              </a:r>
              <a:endParaRPr sz="1200" b="0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</p:grpSp>
      <p:sp>
        <p:nvSpPr>
          <p:cNvPr id="45" name="矩形 44"/>
          <p:cNvSpPr>
            <a:spLocks noGrp="1"/>
          </p:cNvSpPr>
          <p:nvPr/>
        </p:nvSpPr>
        <p:spPr>
          <a:xfrm>
            <a:off x="609600" y="6543675"/>
            <a:ext cx="476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住房信托养老专项问卷｜工作人员宣导</a:t>
            </a:r>
            <a:endParaRPr sz="750" b="0">
              <a:solidFill>
                <a:srgbClr val="75837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11191875" y="65436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r">
              <a:lnSpc>
                <a:spcPct val="108000"/>
              </a:lnSpc>
              <a:buNone/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sz="750" b="0">
              <a:solidFill>
                <a:srgbClr val="75837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5664200" y="1700530"/>
            <a:ext cx="609600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highlight>
                  <a:srgbClr val="FFFF00"/>
                </a:highlight>
              </a:rPr>
              <a:t>注意：回答情境实验题时，向受访者说明，需要沉浸式阅读想象有这样一种产品，并且根据自己的真实想法和感受填写材料后的题目。</a:t>
            </a:r>
            <a:endParaRPr lang="zh-CN" altLang="en-US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>
            <a:spLocks noGrp="1"/>
          </p:cNvSpPr>
          <p:nvPr/>
        </p:nvSpPr>
        <p:spPr>
          <a:xfrm>
            <a:off x="609600" y="371475"/>
            <a:ext cx="457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05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1050" b="1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050" b="1" dirty="0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</a:t>
            </a:r>
            <a:r>
              <a:rPr lang="en-US" altLang="zh-CN" sz="1050" b="1" dirty="0">
                <a:solidFill>
                  <a:srgbClr val="C33D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endParaRPr sz="1050" b="1" dirty="0">
              <a:solidFill>
                <a:srgbClr val="C33D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666750"/>
            <a:ext cx="9334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2550" b="1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2550" b="1" dirty="0">
                <a:solidFill>
                  <a:srgbClr val="18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深度访谈须知</a:t>
            </a:r>
            <a:endParaRPr sz="2550" b="1" dirty="0">
              <a:solidFill>
                <a:srgbClr val="18232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181100"/>
            <a:ext cx="6542314" cy="37655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20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>
              <a:defRPr sz="1200" b="0">
                <a:solidFill>
                  <a:srgbClr val="56666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zh-CN" sz="1200" b="1" dirty="0">
                <a:solidFill>
                  <a:srgbClr val="56666D"/>
                </a:solidFill>
                <a:latin typeface="微软雅黑" panose="020B0503020204020204" charset="-122"/>
              </a:rPr>
              <a:t>做耐心的倾听者，不做急功近利的推销员；用“温度”化解防备，用“专业”建立信任。</a:t>
            </a:r>
            <a:endParaRPr sz="1200" b="0" dirty="0">
              <a:solidFill>
                <a:srgbClr val="56666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1504950"/>
            <a:ext cx="10972800" cy="19050"/>
          </a:xfrm>
          <a:prstGeom prst="rect">
            <a:avLst/>
          </a:prstGeom>
          <a:solidFill>
            <a:srgbClr val="D7E0DD"/>
          </a:solidFill>
          <a:ln w="0">
            <a:noFill/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609600" y="6543675"/>
            <a:ext cx="476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lnSpc>
                <a:spcPct val="108000"/>
              </a:lnSpc>
              <a:buNone/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住房信托养老专项问卷｜工作人员宣导</a:t>
            </a:r>
            <a:endParaRPr sz="750" b="0">
              <a:solidFill>
                <a:srgbClr val="75837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11191875" y="6543675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r"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r">
              <a:lnSpc>
                <a:spcPct val="108000"/>
              </a:lnSpc>
              <a:buNone/>
              <a:defRPr sz="750" b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750" dirty="0">
                <a:solidFill>
                  <a:srgbClr val="7583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endParaRPr sz="750" b="0" dirty="0">
              <a:solidFill>
                <a:srgbClr val="75837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609600" y="1704975"/>
            <a:ext cx="5072743" cy="383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zh-CN" altLang="zh-CN" sz="1600" b="1" i="0" u="none" strike="noStrike" dirty="0">
                <a:solidFill>
                  <a:schemeClr val="tx1"/>
                </a:solidFill>
                <a:effectLst/>
                <a:latin typeface="+mn-lt"/>
              </a:rPr>
              <a:t>一、 环境与氛围营造</a:t>
            </a:r>
            <a:endParaRPr lang="zh-CN" altLang="zh-CN" sz="1600" b="1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-342900" algn="l"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zh-CN" sz="1600" b="1" i="0" u="none" strike="noStrike" dirty="0">
                <a:solidFill>
                  <a:schemeClr val="tx1"/>
                </a:solidFill>
                <a:effectLst/>
                <a:latin typeface="+mn-lt"/>
              </a:rPr>
              <a:t>物理环境</a:t>
            </a:r>
            <a:r>
              <a:rPr lang="zh-CN" altLang="zh-CN" sz="1600" b="0" i="0" u="none" strike="noStrike" dirty="0">
                <a:solidFill>
                  <a:schemeClr val="tx1"/>
                </a:solidFill>
                <a:effectLst/>
                <a:latin typeface="+mn-lt"/>
              </a:rPr>
              <a:t>：准备一个安静、私密、不受打扰的洽谈室（最好是软座沙发）。准备适老化的细节：</a:t>
            </a:r>
            <a:r>
              <a:rPr lang="zh-CN" altLang="zh-CN" sz="1600" b="1" i="0" u="none" strike="noStrike" dirty="0">
                <a:solidFill>
                  <a:schemeClr val="tx1"/>
                </a:solidFill>
                <a:effectLst/>
                <a:latin typeface="+mn-lt"/>
              </a:rPr>
              <a:t>倒一杯温水（或热茶）、备好纸巾</a:t>
            </a:r>
            <a:r>
              <a:rPr lang="zh-CN" altLang="zh-CN" sz="1600" b="0" i="0" u="none" strike="noStrike" dirty="0">
                <a:solidFill>
                  <a:schemeClr val="tx1"/>
                </a:solidFill>
                <a:effectLst/>
                <a:latin typeface="+mn-lt"/>
              </a:rPr>
              <a:t>、室内温度适宜、光线柔和。</a:t>
            </a:r>
            <a:endParaRPr lang="zh-CN" altLang="zh-CN" sz="1600" b="0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zh-CN" sz="1600" b="1" i="0" u="none" strike="noStrike" dirty="0">
                <a:solidFill>
                  <a:schemeClr val="tx1"/>
                </a:solidFill>
                <a:effectLst/>
                <a:latin typeface="+mn-lt"/>
              </a:rPr>
              <a:t>身份声明</a:t>
            </a:r>
            <a:r>
              <a:rPr lang="zh-CN" altLang="zh-CN" sz="1600" b="0" i="0" u="none" strike="noStrike" dirty="0">
                <a:solidFill>
                  <a:schemeClr val="tx1"/>
                </a:solidFill>
                <a:effectLst/>
                <a:latin typeface="+mn-lt"/>
              </a:rPr>
              <a:t>：开场必须先亮明身份与目的——“我们是来做养老需求调研的，不是来卖产品逼您签字的，您的真实想法对我们非常重要。”</a:t>
            </a:r>
            <a:endParaRPr lang="zh-CN" altLang="zh-CN" sz="1600" b="0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zh-CN" sz="1600" b="1" i="0" u="none" strike="noStrike" dirty="0">
                <a:solidFill>
                  <a:schemeClr val="tx1"/>
                </a:solidFill>
                <a:effectLst/>
                <a:latin typeface="+mn-lt"/>
              </a:rPr>
              <a:t>代际陪同</a:t>
            </a:r>
            <a:r>
              <a:rPr lang="zh-CN" altLang="zh-CN" sz="1600" b="0" i="0" u="none" strike="noStrike" dirty="0">
                <a:solidFill>
                  <a:schemeClr val="tx1"/>
                </a:solidFill>
                <a:effectLst/>
                <a:latin typeface="+mn-lt"/>
              </a:rPr>
              <a:t>：若老人有子女陪同，</a:t>
            </a:r>
            <a:r>
              <a:rPr lang="zh-CN" altLang="zh-CN" sz="1600" b="1" i="0" u="none" strike="noStrike" dirty="0">
                <a:solidFill>
                  <a:schemeClr val="tx1"/>
                </a:solidFill>
                <a:effectLst/>
                <a:latin typeface="+mn-lt"/>
              </a:rPr>
              <a:t>切勿让子女代替老人回答</a:t>
            </a:r>
            <a:r>
              <a:rPr lang="zh-CN" altLang="zh-CN" sz="1600" b="0" i="0" u="none" strike="noStrike" dirty="0">
                <a:solidFill>
                  <a:schemeClr val="tx1"/>
                </a:solidFill>
                <a:effectLst/>
                <a:latin typeface="+mn-lt"/>
              </a:rPr>
              <a:t>。</a:t>
            </a:r>
            <a:endParaRPr lang="en-US" altLang="zh-CN" sz="1600" b="0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pPr indent="-342900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sz="1600" b="1" dirty="0"/>
              <a:t>录音许可：</a:t>
            </a:r>
            <a:r>
              <a:rPr lang="zh-CN" altLang="en-US" sz="1600" dirty="0"/>
              <a:t>“为了保证我们准确记录您的宝贵意见，我们可以录个音吗？这份录音只用于学术研究，绝对保密。”（须征得口头同意）。</a:t>
            </a:r>
            <a:endParaRPr lang="zh-CN" altLang="zh-CN" sz="1600" i="0" u="none" strike="noStrike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49" name="文本框 48"/>
          <p:cNvSpPr txBox="1"/>
          <p:nvPr/>
        </p:nvSpPr>
        <p:spPr>
          <a:xfrm>
            <a:off x="5890533" y="1704975"/>
            <a:ext cx="5817053" cy="4085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zh-CN" altLang="zh-CN" sz="1600" b="1" i="0" u="none" strike="noStrike" dirty="0">
                <a:solidFill>
                  <a:schemeClr val="tx1"/>
                </a:solidFill>
                <a:effectLst/>
                <a:latin typeface="+mn-lt"/>
              </a:rPr>
              <a:t>二、 沟通技巧与话术转化（降维沟通，破解“认知黑箱”）</a:t>
            </a:r>
            <a:endParaRPr lang="zh-CN" altLang="zh-CN" sz="1600" b="1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-342900" algn="l"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zh-CN" sz="1600" b="1" i="0" u="none" strike="noStrike" dirty="0">
                <a:solidFill>
                  <a:schemeClr val="tx1"/>
                </a:solidFill>
                <a:effectLst/>
                <a:latin typeface="+mn-lt"/>
              </a:rPr>
              <a:t>去专业化</a:t>
            </a:r>
            <a:r>
              <a:rPr lang="zh-CN" altLang="zh-CN" sz="1600" b="0" i="0" u="none" strike="noStrike" dirty="0">
                <a:solidFill>
                  <a:schemeClr val="tx1"/>
                </a:solidFill>
                <a:effectLst/>
                <a:latin typeface="+mn-lt"/>
              </a:rPr>
              <a:t>：把“信托、财产隔离”</a:t>
            </a:r>
            <a:r>
              <a:rPr lang="zh-CN" altLang="en-US" sz="1600" b="0" i="0" u="none" strike="noStrike" dirty="0">
                <a:solidFill>
                  <a:schemeClr val="tx1"/>
                </a:solidFill>
                <a:effectLst/>
                <a:latin typeface="+mn-lt"/>
              </a:rPr>
              <a:t>等词汇</a:t>
            </a:r>
            <a:r>
              <a:rPr lang="zh-CN" altLang="zh-CN" sz="1600" b="0" i="0" u="none" strike="noStrike" dirty="0">
                <a:solidFill>
                  <a:schemeClr val="tx1"/>
                </a:solidFill>
                <a:effectLst/>
                <a:latin typeface="+mn-lt"/>
              </a:rPr>
              <a:t>翻译成</a:t>
            </a:r>
            <a:r>
              <a:rPr lang="zh-CN" altLang="en-US" sz="1600" b="0" i="0" u="none" strike="noStrike" dirty="0">
                <a:solidFill>
                  <a:schemeClr val="tx1"/>
                </a:solidFill>
                <a:effectLst/>
                <a:latin typeface="+mn-lt"/>
              </a:rPr>
              <a:t>便于业余人士理解的语言</a:t>
            </a:r>
            <a:r>
              <a:rPr lang="zh-CN" altLang="zh-CN" sz="1600" b="0" i="0" u="none" strike="noStrike" dirty="0">
                <a:solidFill>
                  <a:schemeClr val="tx1"/>
                </a:solidFill>
                <a:effectLst/>
                <a:latin typeface="+mn-lt"/>
              </a:rPr>
              <a:t>。</a:t>
            </a:r>
            <a:endParaRPr lang="en-US" altLang="zh-CN" sz="1600" b="0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-342900" algn="l"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zh-CN" sz="1600" b="1" i="0" u="none" strike="noStrike" dirty="0">
                <a:solidFill>
                  <a:schemeClr val="tx1"/>
                </a:solidFill>
                <a:effectLst/>
                <a:latin typeface="+mn-lt"/>
              </a:rPr>
              <a:t>深度追问</a:t>
            </a:r>
            <a:r>
              <a:rPr lang="zh-CN" altLang="zh-CN" sz="1600" b="0" i="0" u="none" strike="noStrike" dirty="0">
                <a:solidFill>
                  <a:schemeClr val="tx1"/>
                </a:solidFill>
                <a:effectLst/>
                <a:latin typeface="+mn-lt"/>
              </a:rPr>
              <a:t>：不要只满足于“愿意/不愿意”，要多问“</a:t>
            </a:r>
            <a:r>
              <a:rPr lang="zh-CN" altLang="zh-CN" sz="1600" b="1" i="0" u="none" strike="noStrike" dirty="0">
                <a:solidFill>
                  <a:schemeClr val="tx1"/>
                </a:solidFill>
                <a:effectLst/>
                <a:latin typeface="+mn-lt"/>
              </a:rPr>
              <a:t>为什么呢？</a:t>
            </a:r>
            <a:r>
              <a:rPr lang="zh-CN" altLang="zh-CN" sz="1600" b="0" i="0" u="none" strike="noStrike" dirty="0">
                <a:solidFill>
                  <a:schemeClr val="tx1"/>
                </a:solidFill>
                <a:effectLst/>
                <a:latin typeface="+mn-lt"/>
              </a:rPr>
              <a:t>”“</a:t>
            </a:r>
            <a:r>
              <a:rPr lang="zh-CN" altLang="zh-CN" sz="1600" b="1" i="0" u="none" strike="noStrike" dirty="0">
                <a:solidFill>
                  <a:schemeClr val="tx1"/>
                </a:solidFill>
                <a:effectLst/>
                <a:latin typeface="+mn-lt"/>
              </a:rPr>
              <a:t>您最担心的是哪一点？</a:t>
            </a:r>
            <a:r>
              <a:rPr lang="zh-CN" altLang="zh-CN" sz="1600" b="0" i="0" u="none" strike="noStrike" dirty="0">
                <a:solidFill>
                  <a:schemeClr val="tx1"/>
                </a:solidFill>
                <a:effectLst/>
                <a:latin typeface="+mn-lt"/>
              </a:rPr>
              <a:t>”</a:t>
            </a:r>
            <a:r>
              <a:rPr lang="zh-CN" altLang="en-US" sz="1600" b="0" i="0" u="none" strike="noStrike" dirty="0">
                <a:solidFill>
                  <a:schemeClr val="tx1"/>
                </a:solidFill>
                <a:effectLst/>
                <a:latin typeface="+mn-lt"/>
              </a:rPr>
              <a:t>。</a:t>
            </a:r>
            <a:endParaRPr lang="zh-CN" altLang="zh-CN" sz="1600" b="0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zh-CN" sz="1600" b="1" i="0" u="none" strike="noStrike" dirty="0">
                <a:solidFill>
                  <a:schemeClr val="tx1"/>
                </a:solidFill>
                <a:effectLst/>
                <a:latin typeface="+mn-lt"/>
              </a:rPr>
              <a:t>共情回应</a:t>
            </a:r>
            <a:r>
              <a:rPr lang="zh-CN" altLang="zh-CN" sz="1600" b="0" i="0" u="none" strike="noStrike" dirty="0">
                <a:solidFill>
                  <a:schemeClr val="tx1"/>
                </a:solidFill>
                <a:effectLst/>
                <a:latin typeface="+mn-lt"/>
              </a:rPr>
              <a:t>：遇到老人抱怨、叹气或表达对机构的不信任时，不要反驳。可以说：“我特别理解您的顾虑，很多老人都有这个担心，所以我们才来做这个调研，看怎么帮大家解决。”</a:t>
            </a:r>
            <a:endParaRPr lang="zh-CN" altLang="zh-CN" sz="1600" b="0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zh-CN" sz="1600" b="1" i="0" u="none" strike="noStrike" dirty="0">
                <a:solidFill>
                  <a:schemeClr val="tx1"/>
                </a:solidFill>
                <a:effectLst/>
                <a:latin typeface="+mn-lt"/>
              </a:rPr>
              <a:t>敏感话题脱敏</a:t>
            </a:r>
            <a:r>
              <a:rPr lang="zh-CN" altLang="zh-CN" sz="1600" b="0" i="0" u="none" strike="noStrike" dirty="0">
                <a:solidFill>
                  <a:schemeClr val="tx1"/>
                </a:solidFill>
                <a:effectLst/>
                <a:latin typeface="+mn-lt"/>
              </a:rPr>
              <a:t>：谈及“失能、重病、身后事”时，语速放缓，语气温和，尊重受访者的情绪，如果不愿深聊不要强迫。</a:t>
            </a:r>
            <a:endParaRPr lang="zh-CN" altLang="zh-CN" sz="1600" b="0" i="0" u="none" strike="noStrike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zh-CN" sz="1600" b="1" i="0" u="none" strike="noStrike" dirty="0">
                <a:solidFill>
                  <a:schemeClr val="tx1"/>
                </a:solidFill>
                <a:effectLst/>
                <a:latin typeface="+mn-lt"/>
              </a:rPr>
              <a:t>资产隐私</a:t>
            </a:r>
            <a:r>
              <a:rPr lang="zh-CN" altLang="zh-CN" sz="1600" b="0" i="0" u="none" strike="noStrike" dirty="0">
                <a:solidFill>
                  <a:schemeClr val="tx1"/>
                </a:solidFill>
                <a:effectLst/>
                <a:latin typeface="+mn-lt"/>
              </a:rPr>
              <a:t>：涉及具体金额、房产套数时，允许老人模糊回答（如“够用就行”），绝不追问具体数字和</a:t>
            </a:r>
            <a:r>
              <a:rPr lang="zh-CN" altLang="en-US" sz="1600" dirty="0"/>
              <a:t>隐私信息</a:t>
            </a:r>
            <a:r>
              <a:rPr lang="zh-CN" altLang="zh-CN" sz="1600" b="0" i="0" u="none" strike="noStrike" dirty="0">
                <a:solidFill>
                  <a:schemeClr val="tx1"/>
                </a:solidFill>
                <a:effectLst/>
                <a:latin typeface="+mn-lt"/>
              </a:rPr>
              <a:t>。</a:t>
            </a:r>
            <a:endParaRPr lang="zh-CN" altLang="zh-CN" sz="1600" b="0" i="0" u="none" strike="noStrike" dirty="0">
              <a:solidFill>
                <a:srgbClr val="0F1115"/>
              </a:solidFill>
              <a:effectLst/>
              <a:latin typeface="quote-cjk-patch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1811</Words>
  <Application>WPS 演示</Application>
  <PresentationFormat>Converted Presentation</PresentationFormat>
  <Paragraphs>308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6" baseType="lpstr">
      <vt:lpstr>Arial</vt:lpstr>
      <vt:lpstr>宋体</vt:lpstr>
      <vt:lpstr>Wingdings</vt:lpstr>
      <vt:lpstr>微软雅黑</vt:lpstr>
      <vt:lpstr>Arial Unicode MS</vt:lpstr>
      <vt:lpstr>Aptos</vt:lpstr>
      <vt:lpstr>Segoe UI</vt:lpstr>
      <vt:lpstr>quote-cjk-patch</vt:lpstr>
      <vt:lpstr>Segoe Print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欣欣</cp:lastModifiedBy>
  <cp:revision>7</cp:revision>
  <dcterms:created xsi:type="dcterms:W3CDTF">2026-10-14T14:05:00Z</dcterms:created>
  <dcterms:modified xsi:type="dcterms:W3CDTF">2026-10-29T12:16:45Z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0ACADB10757C40FDA7940F7554F2ED82_12</vt:lpwstr>
  </property>
  <property fmtid="{D5CDD505-2E9C-101B-9397-08002B2CF9AE}" pid="3" name="KSOProductBuildVer">
    <vt:lpwstr>2052-12.1.0.22529</vt:lpwstr>
  </property>
</Properties>
</file>