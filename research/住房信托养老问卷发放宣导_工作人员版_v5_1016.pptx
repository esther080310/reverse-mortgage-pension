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培训目标：工作人员了解问卷目的、题型填写规则、量表方向和情景试验执行要求。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建议工作人员按页面上的一句话解释概念。若受访者继续询问具体收益、费用或法律后果，应说明本问卷不构成产品推介，实际条款以正式合同为准。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覆盖填写载体和主要题型。受访者能填写电子版时应优先使用电子版；没有手机或操作不便时可填写纸质版。全部问卷收集结束后，工作人员须将所有纸质问卷完整录入电子系统，并对照原件复核。工作人员只核对填写形式，不评价答案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量表包括风险感知R、功能认知C、接受意愿W、制度信任T、家庭观念F，以及子女支持频率量表。F2属于反向表述，</a:t>
            </a:r>
            <a:r>
              <a:rPr lang="zh-CN"/>
              <a:t>理论上各量表内回答应具有一致性，但</a:t>
            </a:r>
            <a:r>
              <a:t>工作人员不可因前后回答不一致而纠正受访者。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情景试验是本次培训的重点。后台随机进入四个情景之一，展示顺序随机。工作人员应完整呈现系统分配的单个情景，随后让受访者完成风险感知、功能认知和接受意愿等题目。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740525" y="635"/>
            <a:ext cx="657225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76000">
                <a:srgbClr val="FFFFFF">
                  <a:alpha val="94902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708775" y="965200"/>
            <a:ext cx="53816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98000"/>
              </a:lnSpc>
              <a:buNone/>
              <a:defRPr sz="33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住房信托养老</a:t>
            </a:r>
            <a:endParaRPr sz="330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8000"/>
              </a:lnSpc>
              <a:buNone/>
              <a:defRPr sz="33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专项问卷发放指引</a:t>
            </a:r>
            <a:endParaRPr sz="330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00190" y="3140710"/>
            <a:ext cx="5161915" cy="578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适用对象</a:t>
            </a:r>
            <a:r>
              <a:rPr lang="zh-CN" sz="18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8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问卷发放、现场引导与访问协助人员</a:t>
            </a:r>
            <a:endParaRPr sz="180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-152016" y="-130110"/>
            <a:ext cx="11524231" cy="7069656"/>
            <a:chOff x="-170431" y="2604588"/>
            <a:chExt cx="12591031" cy="7696648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">
              <a:alphaModFix amt="50000"/>
            </a:blip>
            <a:stretch>
              <a:fillRect/>
            </a:stretch>
          </p:blipFill>
          <p:spPr>
            <a:xfrm>
              <a:off x="10058401" y="8539060"/>
              <a:ext cx="2362199" cy="1755058"/>
            </a:xfrm>
            <a:prstGeom prst="rect">
              <a:avLst/>
            </a:prstGeom>
            <a:effectLst>
              <a:outerShdw blurRad="50800" dist="50800" dir="5400000" sx="1000" sy="1000" algn="ctr" rotWithShape="0">
                <a:srgbClr val="000000"/>
              </a:outerShdw>
            </a:effectLst>
          </p:spPr>
        </p:pic>
        <p:grpSp>
          <p:nvGrpSpPr>
            <p:cNvPr id="19" name="组合 18"/>
            <p:cNvGrpSpPr/>
            <p:nvPr/>
          </p:nvGrpSpPr>
          <p:grpSpPr>
            <a:xfrm>
              <a:off x="-170431" y="2604588"/>
              <a:ext cx="10228832" cy="7696648"/>
              <a:chOff x="531655" y="798409"/>
              <a:chExt cx="12444021" cy="9363458"/>
            </a:xfrm>
          </p:grpSpPr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2">
                <a:alphaModFix amt="50000"/>
              </a:blip>
              <a:srcRect l="15" r="15"/>
              <a:stretch>
                <a:fillRect/>
              </a:stretch>
            </p:blipFill>
            <p:spPr>
              <a:xfrm>
                <a:off x="9274665" y="7451562"/>
                <a:ext cx="3701011" cy="2710305"/>
              </a:xfrm>
              <a:prstGeom prst="rect">
                <a:avLst/>
              </a:prstGeom>
            </p:spPr>
          </p:pic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3">
                <a:alphaModFix amt="50000"/>
              </a:blip>
              <a:stretch>
                <a:fillRect/>
              </a:stretch>
            </p:blipFill>
            <p:spPr>
              <a:xfrm>
                <a:off x="531655" y="3870947"/>
                <a:ext cx="2370431" cy="3300219"/>
              </a:xfrm>
              <a:prstGeom prst="rect">
                <a:avLst/>
              </a:prstGeom>
            </p:spPr>
          </p:pic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4">
                <a:alphaModFix amt="50000"/>
              </a:blip>
              <a:stretch>
                <a:fillRect/>
              </a:stretch>
            </p:blipFill>
            <p:spPr>
              <a:xfrm>
                <a:off x="720455" y="798409"/>
                <a:ext cx="4132238" cy="3099894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>
                <a:alphaModFix amt="50000"/>
              </a:blip>
              <a:stretch>
                <a:fillRect/>
              </a:stretch>
            </p:blipFill>
            <p:spPr>
              <a:xfrm>
                <a:off x="2824879" y="3861675"/>
                <a:ext cx="4303571" cy="3221333"/>
              </a:xfrm>
              <a:prstGeom prst="rect">
                <a:avLst/>
              </a:prstGeom>
            </p:spPr>
          </p:pic>
          <p:pic>
            <p:nvPicPr>
              <p:cNvPr id="24" name="图片 23"/>
              <p:cNvPicPr>
                <a:picLocks noChangeAspect="1"/>
              </p:cNvPicPr>
              <p:nvPr/>
            </p:nvPicPr>
            <p:blipFill>
              <a:blip r:embed="rId6">
                <a:alphaModFix amt="50000"/>
              </a:blip>
              <a:stretch>
                <a:fillRect/>
              </a:stretch>
            </p:blipFill>
            <p:spPr>
              <a:xfrm>
                <a:off x="699723" y="7044657"/>
                <a:ext cx="4513529" cy="3099893"/>
              </a:xfrm>
              <a:prstGeom prst="rect">
                <a:avLst/>
              </a:prstGeom>
            </p:spPr>
          </p:pic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7">
                <a:alphaModFix amt="50000"/>
              </a:blip>
              <a:srcRect l="15" r="15"/>
              <a:stretch>
                <a:fillRect/>
              </a:stretch>
            </p:blipFill>
            <p:spPr>
              <a:xfrm>
                <a:off x="4817284" y="7044655"/>
                <a:ext cx="4513529" cy="309989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609600" y="37147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住房信托养老的概念与解释边界</a:t>
            </a:r>
            <a:endParaRPr sz="25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04950"/>
            <a:ext cx="10972800" cy="19050"/>
          </a:xfrm>
          <a:prstGeom prst="rect">
            <a:avLst/>
          </a:prstGeom>
          <a:solidFill>
            <a:srgbClr val="D7E0D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95325" y="1727200"/>
            <a:ext cx="2402205" cy="2393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住房信托养老的简单解释：</a:t>
            </a:r>
            <a:endParaRPr lang="zh-CN" sz="160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17170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4000"/>
              </a:lnSpc>
              <a:buNone/>
              <a:defRPr sz="16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个人把资金或房产相关权益纳入信托合同，由受托机构按事先约定管理，并用于养老费用、房产事务、失能后的安排或身后财产分配。</a:t>
            </a:r>
            <a:endParaRPr sz="16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3209925"/>
            <a:ext cx="2333625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0DD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381375"/>
            <a:ext cx="2028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房产相关权益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3714750"/>
            <a:ext cx="2028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明确纳入范围</a:t>
            </a:r>
            <a:endParaRPr sz="94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19425" y="3467100"/>
            <a:ext cx="247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37"/>
          </a:bodyPr>
          <a:lstStyle>
            <a:defPPr algn="ctr">
              <a:defRPr sz="22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250" b="1">
              <a:solidFill>
                <a:srgbClr val="B88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43275" y="3209925"/>
            <a:ext cx="2333625" cy="914400"/>
          </a:xfrm>
          <a:prstGeom prst="roundRect">
            <a:avLst>
              <a:gd name="adj" fmla="val 6250"/>
            </a:avLst>
          </a:prstGeom>
          <a:solidFill>
            <a:srgbClr val="087F78"/>
          </a:solidFill>
          <a:ln w="9525">
            <a:solidFill>
              <a:srgbClr val="087F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495675" y="3381375"/>
            <a:ext cx="2028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信托合同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95675" y="3714750"/>
            <a:ext cx="2028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40" b="0">
                <a:solidFill>
                  <a:srgbClr val="D8F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940" b="0">
                <a:solidFill>
                  <a:srgbClr val="D8F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D8F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写清管理与退出规则</a:t>
            </a:r>
            <a:endParaRPr sz="940" b="0">
              <a:solidFill>
                <a:srgbClr val="D8F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53100" y="3467100"/>
            <a:ext cx="247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37"/>
          </a:bodyPr>
          <a:lstStyle>
            <a:defPPr algn="ctr">
              <a:defRPr sz="22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250" b="1">
              <a:solidFill>
                <a:srgbClr val="B88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076950" y="3209925"/>
            <a:ext cx="2333625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0D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229350" y="3381375"/>
            <a:ext cx="2028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受托管理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29350" y="3714750"/>
            <a:ext cx="2028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按约定管理和支付</a:t>
            </a:r>
            <a:endParaRPr sz="94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486775" y="3467100"/>
            <a:ext cx="247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37"/>
          </a:bodyPr>
          <a:lstStyle>
            <a:defPPr algn="ctr">
              <a:defRPr sz="22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22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250" b="1">
              <a:solidFill>
                <a:srgbClr val="B88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810625" y="3209925"/>
            <a:ext cx="2333625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0D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963025" y="3381375"/>
            <a:ext cx="2028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养老与传承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63025" y="3714750"/>
            <a:ext cx="2028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服务养老并安排剩余财产</a:t>
            </a:r>
            <a:endParaRPr sz="94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4514850"/>
            <a:ext cx="3429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42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工作人员</a:t>
            </a:r>
            <a:r>
              <a:rPr lang="zh-CN" sz="142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需要注意的</a:t>
            </a:r>
            <a:r>
              <a:rPr lang="zh-CN" sz="142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要点：</a:t>
            </a:r>
            <a:endParaRPr lang="zh-CN" sz="1425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09600" y="4991100"/>
            <a:ext cx="142875" cy="142875"/>
          </a:xfrm>
          <a:prstGeom prst="ellipse">
            <a:avLst/>
          </a:prstGeom>
          <a:solidFill>
            <a:srgbClr val="087F78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4962525"/>
            <a:ext cx="142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4933950"/>
            <a:ext cx="4876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中立说明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76300" y="5210175"/>
            <a:ext cx="4876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只解释题意和填写规则，不推销产品，也不替受访者判断是否适合。</a:t>
            </a:r>
            <a:endParaRPr sz="109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6191250" y="4991100"/>
            <a:ext cx="142875" cy="142875"/>
          </a:xfrm>
          <a:prstGeom prst="ellipse">
            <a:avLst/>
          </a:prstGeom>
          <a:solidFill>
            <a:srgbClr val="C33D35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191250" y="4962525"/>
            <a:ext cx="142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457950" y="4933950"/>
            <a:ext cx="5067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不作承诺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57950" y="5210175"/>
            <a:ext cx="5067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情景仅用于调查，实际权利、费用、收益和退出条件以正式合同为准。</a:t>
            </a:r>
            <a:endParaRPr sz="109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609600" y="5810250"/>
            <a:ext cx="142875" cy="142875"/>
          </a:xfrm>
          <a:prstGeom prst="ellipse">
            <a:avLst/>
          </a:prstGeom>
          <a:solidFill>
            <a:srgbClr val="087F78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5781675"/>
            <a:ext cx="142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76300" y="5753100"/>
            <a:ext cx="4876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尊重选择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76300" y="6029325"/>
            <a:ext cx="4876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问卷匿名；受访者</a:t>
            </a:r>
            <a:r>
              <a:rPr lang="zh-CN"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可以按自己真实情况回答</a:t>
            </a:r>
            <a:r>
              <a: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题目。</a:t>
            </a:r>
            <a:endParaRPr sz="109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6191250" y="5810250"/>
            <a:ext cx="142875" cy="142875"/>
          </a:xfrm>
          <a:prstGeom prst="ellipse">
            <a:avLst/>
          </a:prstGeom>
          <a:solidFill>
            <a:srgbClr val="C33D35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191250" y="5781675"/>
            <a:ext cx="142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457950" y="5753100"/>
            <a:ext cx="5067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保护隐私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457950" y="6029325"/>
            <a:ext cx="5067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不要追问姓名、身份证等身份信息，不公开讨论家庭健康或资产答案。</a:t>
            </a:r>
            <a:endParaRPr sz="109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09600" y="65436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住房信托养老专项问卷｜工作人员宣导</a:t>
            </a:r>
            <a:endParaRPr sz="750" b="0">
              <a:solidFill>
                <a:srgbClr val="7583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191875" y="65436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08000"/>
              </a:lnSpc>
              <a:buNone/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50" b="0">
              <a:solidFill>
                <a:srgbClr val="7583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7" name="矩形 66"/>
          <p:cNvSpPr>
            <a:spLocks noGrp="1"/>
          </p:cNvSpPr>
          <p:nvPr/>
        </p:nvSpPr>
        <p:spPr>
          <a:xfrm>
            <a:off x="609600" y="37147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问卷题型与填写方法</a:t>
            </a:r>
            <a:endParaRPr sz="25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81100"/>
            <a:ext cx="1028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先确定填写方式，再看题干括号中的要求并确认是否需要跳题</a:t>
            </a:r>
            <a:endParaRPr sz="120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04950"/>
            <a:ext cx="10972800" cy="19050"/>
          </a:xfrm>
          <a:prstGeom prst="rect">
            <a:avLst/>
          </a:prstGeom>
          <a:solidFill>
            <a:srgbClr val="D7E0DD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724025"/>
            <a:ext cx="10972800" cy="685800"/>
          </a:xfrm>
          <a:prstGeom prst="roundRect">
            <a:avLst>
              <a:gd name="adj" fmla="val 8333"/>
            </a:avLst>
          </a:prstGeom>
          <a:solidFill>
            <a:srgbClr val="E6F4F2"/>
          </a:solidFill>
          <a:ln w="0">
            <a:noFill/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838200" y="1914525"/>
            <a:ext cx="266700" cy="266700"/>
          </a:xfrm>
          <a:prstGeom prst="ellipse">
            <a:avLst/>
          </a:prstGeom>
          <a:solidFill>
            <a:srgbClr val="087F78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9431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18383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电子版优先</a:t>
            </a:r>
            <a:endParaRPr sz="120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2085975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56666D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受访者能使用手机或设备时，尽量填写电子版</a:t>
            </a:r>
            <a:endParaRPr sz="940" b="1">
              <a:solidFill>
                <a:srgbClr val="56666D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229100" y="1876425"/>
            <a:ext cx="9525" cy="381000"/>
          </a:xfrm>
          <a:prstGeom prst="rect">
            <a:avLst/>
          </a:prstGeom>
          <a:solidFill>
            <a:srgbClr val="B9DCD8"/>
          </a:solidFill>
          <a:ln w="0">
            <a:noFill/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4419600" y="1914525"/>
            <a:ext cx="266700" cy="266700"/>
          </a:xfrm>
          <a:prstGeom prst="ellipse">
            <a:avLst/>
          </a:prstGeom>
          <a:solidFill>
            <a:srgbClr val="087F78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19600" y="19431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19650" y="18383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纸质版</a:t>
            </a:r>
            <a:r>
              <a:rPr lang="zh-CN"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预备</a:t>
            </a:r>
            <a:endParaRPr lang="zh-CN" sz="120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19650" y="2085975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没有手机或操作不便的老人，可以填写纸质版</a:t>
            </a:r>
            <a:endParaRPr sz="94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0" y="1876425"/>
            <a:ext cx="9525" cy="381000"/>
          </a:xfrm>
          <a:prstGeom prst="rect">
            <a:avLst/>
          </a:prstGeom>
          <a:solidFill>
            <a:srgbClr val="B9DCD8"/>
          </a:solidFill>
          <a:ln w="0">
            <a:noFill/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8001000" y="1914525"/>
            <a:ext cx="266700" cy="266700"/>
          </a:xfrm>
          <a:prstGeom prst="ellipse">
            <a:avLst/>
          </a:prstGeom>
          <a:solidFill>
            <a:srgbClr val="C33D35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01000" y="19431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401050" y="18383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全部电子化</a:t>
            </a:r>
            <a:endParaRPr sz="120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56270" y="2061210"/>
            <a:ext cx="314134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ClrTx/>
              <a:buSzTx/>
              <a:buFontTx/>
              <a:buNone/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56666D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收集结束后，工作人员须将纸质问卷全部录入电子版并复核</a:t>
            </a:r>
            <a:endParaRPr sz="900" b="1">
              <a:solidFill>
                <a:srgbClr val="56666D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09600" y="2590800"/>
            <a:ext cx="7086600" cy="3200400"/>
          </a:xfrm>
          <a:prstGeom prst="roundRect">
            <a:avLst>
              <a:gd name="adj" fmla="val 1786"/>
            </a:avLst>
          </a:prstGeom>
          <a:solidFill>
            <a:srgbClr val="F7F9F8"/>
          </a:solidFill>
          <a:ln w="9525">
            <a:solidFill>
              <a:srgbClr val="D7E0DD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819150" y="2705100"/>
            <a:ext cx="781050" cy="304800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27336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单选</a:t>
            </a:r>
            <a:endParaRPr sz="109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828800" y="26860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只能勾选 1 项</a:t>
            </a:r>
            <a:endParaRPr sz="120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086225" y="26860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例：了解程度、居住方式、住房套数</a:t>
            </a:r>
            <a:endParaRPr sz="975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0100" y="3124200"/>
            <a:ext cx="6705600" cy="9525"/>
          </a:xfrm>
          <a:prstGeom prst="rect">
            <a:avLst/>
          </a:prstGeom>
          <a:solidFill>
            <a:srgbClr val="D7E0DD"/>
          </a:solidFill>
          <a:ln w="0">
            <a:noFill/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819150" y="3238500"/>
            <a:ext cx="781050" cy="304800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19150" y="32670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多选</a:t>
            </a:r>
            <a:endParaRPr sz="109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828800" y="32194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可勾选多项</a:t>
            </a:r>
            <a:endParaRPr sz="120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086225" y="32194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例：听说过的产品、信息获取渠道</a:t>
            </a:r>
            <a:endParaRPr sz="975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00100" y="3657600"/>
            <a:ext cx="6705600" cy="9525"/>
          </a:xfrm>
          <a:prstGeom prst="rect">
            <a:avLst/>
          </a:prstGeom>
          <a:solidFill>
            <a:srgbClr val="D7E0DD"/>
          </a:solidFill>
          <a:ln w="0">
            <a:noFill/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819150" y="3771900"/>
            <a:ext cx="781050" cy="304800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19150" y="38004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限选</a:t>
            </a:r>
            <a:endParaRPr sz="109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828800" y="37528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不得超过题目上限</a:t>
            </a:r>
            <a:endParaRPr sz="120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086225" y="37528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例：养老需求最多选 3 项</a:t>
            </a:r>
            <a:endParaRPr sz="975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0100" y="4191000"/>
            <a:ext cx="6705600" cy="9525"/>
          </a:xfrm>
          <a:prstGeom prst="rect">
            <a:avLst/>
          </a:prstGeom>
          <a:solidFill>
            <a:srgbClr val="D7E0DD"/>
          </a:solidFill>
          <a:ln w="0">
            <a:noFill/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819150" y="4305300"/>
            <a:ext cx="781050" cy="304800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19150" y="43338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</a:t>
            </a:r>
            <a:endParaRPr sz="109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828800" y="42862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按意愿从高到低排全序</a:t>
            </a:r>
            <a:endParaRPr sz="120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086225" y="42862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每个选项只出现一次，不可并列</a:t>
            </a:r>
            <a:endParaRPr sz="975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00100" y="4724400"/>
            <a:ext cx="6705600" cy="9525"/>
          </a:xfrm>
          <a:prstGeom prst="rect">
            <a:avLst/>
          </a:prstGeom>
          <a:solidFill>
            <a:srgbClr val="D7E0DD"/>
          </a:solidFill>
          <a:ln w="0">
            <a:noFill/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819150" y="4838700"/>
            <a:ext cx="781050" cy="304800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19150" y="48672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填空</a:t>
            </a:r>
            <a:endParaRPr sz="109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828800" y="48196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填写明确内容</a:t>
            </a:r>
            <a:endParaRPr sz="120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086225" y="48196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例：出生年份填 4 位数字</a:t>
            </a:r>
            <a:endParaRPr sz="975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00100" y="5257800"/>
            <a:ext cx="6705600" cy="9525"/>
          </a:xfrm>
          <a:prstGeom prst="rect">
            <a:avLst/>
          </a:prstGeom>
          <a:solidFill>
            <a:srgbClr val="D7E0DD"/>
          </a:solidFill>
          <a:ln w="0">
            <a:noFill/>
            <a:prstDash val="solid"/>
          </a:ln>
        </p:spPr>
      </p:sp>
      <p:sp>
        <p:nvSpPr>
          <p:cNvPr id="46" name="圆角矩形 45"/>
          <p:cNvSpPr>
            <a:spLocks noGrp="1"/>
          </p:cNvSpPr>
          <p:nvPr/>
        </p:nvSpPr>
        <p:spPr>
          <a:xfrm>
            <a:off x="819150" y="5372100"/>
            <a:ext cx="781050" cy="304800"/>
          </a:xfrm>
          <a:prstGeom prst="roundRect">
            <a:avLst>
              <a:gd name="adj" fmla="val 18750"/>
            </a:avLst>
          </a:prstGeom>
          <a:solidFill>
            <a:srgbClr val="FBE9E7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19150" y="54006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9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9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跳题</a:t>
            </a:r>
            <a:endParaRPr sz="109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828800" y="53530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满足条件才回答</a:t>
            </a:r>
            <a:endParaRPr sz="120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086225" y="53530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例：无住房者跳过房产价值、用途和贷款题</a:t>
            </a:r>
            <a:endParaRPr sz="975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191500" y="2590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现场协助顺序</a:t>
            </a:r>
            <a:endParaRPr sz="150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191500" y="3038475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25" b="1">
              <a:solidFill>
                <a:srgbClr val="B88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724900" y="3019425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读题干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724900" y="33147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特别看单选、多选、最多选几项</a:t>
            </a:r>
            <a:endParaRPr sz="105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191500" y="3771900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1">
              <a:solidFill>
                <a:srgbClr val="B88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724900" y="375285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等待作答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724900" y="404812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不要抢答，也不要用语气暗示答案</a:t>
            </a:r>
            <a:endParaRPr sz="105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191500" y="4505325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1">
              <a:solidFill>
                <a:srgbClr val="B88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724900" y="4486275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核对格式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724900" y="478155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检查漏项、超选、排序重复</a:t>
            </a:r>
            <a:endParaRPr sz="105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609600" y="65436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住房信托养老专项问卷｜工作人员宣导</a:t>
            </a:r>
            <a:endParaRPr sz="750" b="0">
              <a:solidFill>
                <a:srgbClr val="7583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11191875" y="65436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08000"/>
              </a:lnSpc>
              <a:buNone/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50" b="0">
              <a:solidFill>
                <a:srgbClr val="7583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" name="矩形 52"/>
          <p:cNvSpPr>
            <a:spLocks noGrp="1"/>
          </p:cNvSpPr>
          <p:nvPr/>
        </p:nvSpPr>
        <p:spPr>
          <a:xfrm>
            <a:off x="609600" y="37147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量表题填写规则</a:t>
            </a:r>
            <a:endParaRPr sz="25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81100"/>
            <a:ext cx="1028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同意度量表统一使用 1 到 5，每行只选一个数字</a:t>
            </a:r>
            <a:endParaRPr sz="120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04950"/>
            <a:ext cx="10972800" cy="19050"/>
          </a:xfrm>
          <a:prstGeom prst="rect">
            <a:avLst/>
          </a:prstGeom>
          <a:solidFill>
            <a:srgbClr val="D7E0D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485900" y="2476500"/>
            <a:ext cx="8153400" cy="38100"/>
          </a:xfrm>
          <a:prstGeom prst="rect">
            <a:avLst/>
          </a:prstGeom>
          <a:solidFill>
            <a:srgbClr val="D7E0DD"/>
          </a:solidFill>
          <a:ln w="0">
            <a:noFill/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1485900" y="2238375"/>
            <a:ext cx="514350" cy="514350"/>
          </a:xfrm>
          <a:prstGeom prst="ellipse">
            <a:avLst/>
          </a:prstGeom>
          <a:solidFill>
            <a:srgbClr val="E6F4F2"/>
          </a:solidFill>
          <a:ln w="9525">
            <a:solidFill>
              <a:srgbClr val="087F7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85900" y="23050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75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86702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完全不同意</a:t>
            </a:r>
            <a:endParaRPr sz="105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3409950" y="2238375"/>
            <a:ext cx="514350" cy="514350"/>
          </a:xfrm>
          <a:prstGeom prst="ellipse">
            <a:avLst/>
          </a:prstGeom>
          <a:solidFill>
            <a:srgbClr val="E6F4F2"/>
          </a:solidFill>
          <a:ln w="9525">
            <a:solidFill>
              <a:srgbClr val="087F7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09950" y="23050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75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971800" y="286702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比较不同意</a:t>
            </a:r>
            <a:endParaRPr sz="105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5334000" y="2238375"/>
            <a:ext cx="514350" cy="514350"/>
          </a:xfrm>
          <a:prstGeom prst="ellipse">
            <a:avLst/>
          </a:prstGeom>
          <a:solidFill>
            <a:srgbClr val="F8F0DF"/>
          </a:solidFill>
          <a:ln w="9525">
            <a:solidFill>
              <a:srgbClr val="B8872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334000" y="23050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75" b="1">
              <a:solidFill>
                <a:srgbClr val="B88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95850" y="286702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</a:t>
            </a:r>
            <a:endParaRPr sz="105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7258050" y="2238375"/>
            <a:ext cx="514350" cy="514350"/>
          </a:xfrm>
          <a:prstGeom prst="ellipse">
            <a:avLst/>
          </a:prstGeom>
          <a:solidFill>
            <a:srgbClr val="E6F4F2"/>
          </a:solidFill>
          <a:ln w="9525">
            <a:solidFill>
              <a:srgbClr val="087F7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58050" y="23050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75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19900" y="286702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比较同意</a:t>
            </a:r>
            <a:endParaRPr sz="105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9182100" y="2238375"/>
            <a:ext cx="514350" cy="514350"/>
          </a:xfrm>
          <a:prstGeom prst="ellipse">
            <a:avLst/>
          </a:prstGeom>
          <a:solidFill>
            <a:srgbClr val="E6F4F2"/>
          </a:solidFill>
          <a:ln w="9525">
            <a:solidFill>
              <a:srgbClr val="087F7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182100" y="23050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75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43950" y="2867025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完全同意</a:t>
            </a:r>
            <a:endParaRPr sz="105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09600" y="3457575"/>
            <a:ext cx="109728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0D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365760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sz="1125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504950" y="36385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我愿意进一步了解相关产品</a:t>
            </a:r>
            <a:endParaRPr sz="1425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667500" y="3638550"/>
            <a:ext cx="342900" cy="342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0D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667500" y="36957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50" b="1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7486650" y="3638550"/>
            <a:ext cx="342900" cy="342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0DD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486650" y="36957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1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8305800" y="3638550"/>
            <a:ext cx="342900" cy="342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0DD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305800" y="36957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1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9124950" y="3638550"/>
            <a:ext cx="342900" cy="342900"/>
          </a:xfrm>
          <a:prstGeom prst="ellipse">
            <a:avLst/>
          </a:prstGeom>
          <a:solidFill>
            <a:srgbClr val="087F78"/>
          </a:solidFill>
          <a:ln w="9525">
            <a:solidFill>
              <a:srgbClr val="087F7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124950" y="36957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9944100" y="3638550"/>
            <a:ext cx="342900" cy="3429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0D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944100" y="369570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50" b="1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504950" y="4048125"/>
            <a:ext cx="733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每一行都应独立判断，不能把上一题答案直接沿用到下一题</a:t>
            </a:r>
            <a:endParaRPr sz="975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609600" y="4933950"/>
            <a:ext cx="142875" cy="142875"/>
          </a:xfrm>
          <a:prstGeom prst="ellipse">
            <a:avLst/>
          </a:prstGeom>
          <a:solidFill>
            <a:srgbClr val="087F78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9600" y="4905375"/>
            <a:ext cx="142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76300" y="4876800"/>
            <a:ext cx="4686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先读完整陈述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76300" y="5153025"/>
            <a:ext cx="4686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允许受访者按真实感受选择，不提示“合理答案”。</a:t>
            </a:r>
            <a:endParaRPr sz="109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椭圆 38"/>
          <p:cNvSpPr>
            <a:spLocks noGrp="1"/>
          </p:cNvSpPr>
          <p:nvPr/>
        </p:nvSpPr>
        <p:spPr>
          <a:xfrm>
            <a:off x="6191250" y="4933950"/>
            <a:ext cx="142875" cy="142875"/>
          </a:xfrm>
          <a:prstGeom prst="ellipse">
            <a:avLst/>
          </a:prstGeom>
          <a:solidFill>
            <a:srgbClr val="C33D35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191250" y="4905375"/>
            <a:ext cx="142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457950" y="4876800"/>
            <a:ext cx="5067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只标一个数字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457950" y="5153025"/>
            <a:ext cx="5067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出现漏选或一行多选时，只提醒受访者自行确认。</a:t>
            </a:r>
            <a:endParaRPr sz="109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椭圆 42"/>
          <p:cNvSpPr>
            <a:spLocks noGrp="1"/>
          </p:cNvSpPr>
          <p:nvPr/>
        </p:nvSpPr>
        <p:spPr>
          <a:xfrm>
            <a:off x="609600" y="5772150"/>
            <a:ext cx="142875" cy="142875"/>
          </a:xfrm>
          <a:prstGeom prst="ellipse">
            <a:avLst/>
          </a:prstGeom>
          <a:solidFill>
            <a:srgbClr val="087F78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09600" y="5743575"/>
            <a:ext cx="142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6300" y="5715000"/>
            <a:ext cx="4686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中间值可以选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76300" y="5991225"/>
            <a:ext cx="4686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“3 一般”代表中立或难以判断，不需要强迫表态。</a:t>
            </a:r>
            <a:endParaRPr sz="109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6191250" y="5772150"/>
            <a:ext cx="142875" cy="142875"/>
          </a:xfrm>
          <a:prstGeom prst="ellipse">
            <a:avLst/>
          </a:prstGeom>
          <a:solidFill>
            <a:srgbClr val="C33D35"/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191250" y="5743575"/>
            <a:ext cx="142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457950" y="5715000"/>
            <a:ext cx="5067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反向题不要纠正</a:t>
            </a:r>
            <a:endParaRPr sz="13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457950" y="5991225"/>
            <a:ext cx="5067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5000"/>
              </a:lnSpc>
              <a:buNone/>
              <a:def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F2“更希望把房子留给子女”方向与部分题目相反，这是正常设计。</a:t>
            </a:r>
            <a:endParaRPr sz="109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09600" y="65436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住房信托养老专项问卷｜工作人员宣导</a:t>
            </a:r>
            <a:endParaRPr sz="750" b="0">
              <a:solidFill>
                <a:srgbClr val="7583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1191875" y="65436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08000"/>
              </a:lnSpc>
              <a:buNone/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750" b="0">
              <a:solidFill>
                <a:srgbClr val="7583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" name="矩形 46"/>
          <p:cNvSpPr>
            <a:spLocks noGrp="1"/>
          </p:cNvSpPr>
          <p:nvPr/>
        </p:nvSpPr>
        <p:spPr>
          <a:xfrm>
            <a:off x="609600" y="37147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情景试验的执行要求</a:t>
            </a:r>
            <a:endParaRPr sz="255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181100"/>
            <a:ext cx="1028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随机只展示一个情景，保持原文与顺序，避免解释差异改变实验结果</a:t>
            </a:r>
            <a:endParaRPr sz="120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04950"/>
            <a:ext cx="10972800" cy="19050"/>
          </a:xfrm>
          <a:prstGeom prst="rect">
            <a:avLst/>
          </a:prstGeom>
          <a:solidFill>
            <a:srgbClr val="D7E0D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9240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1</a:t>
            </a:r>
            <a:endParaRPr sz="1125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495425" y="2057400"/>
            <a:ext cx="523875" cy="19050"/>
          </a:xfrm>
          <a:prstGeom prst="rect">
            <a:avLst/>
          </a:prstGeom>
          <a:solidFill>
            <a:srgbClr val="B8872E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171700" y="1847850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基础出租 + 法定传承</a:t>
            </a:r>
            <a:endParaRPr sz="1425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6098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2</a:t>
            </a:r>
            <a:endParaRPr sz="1125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95425" y="2743200"/>
            <a:ext cx="523875" cy="19050"/>
          </a:xfrm>
          <a:prstGeom prst="rect">
            <a:avLst/>
          </a:prstGeom>
          <a:solidFill>
            <a:srgbClr val="B8872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171700" y="2533650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增值运营 + 定向传承</a:t>
            </a:r>
            <a:endParaRPr sz="1425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32956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3</a:t>
            </a:r>
            <a:endParaRPr sz="1125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95425" y="3429000"/>
            <a:ext cx="523875" cy="19050"/>
          </a:xfrm>
          <a:prstGeom prst="rect">
            <a:avLst/>
          </a:prstGeom>
          <a:solidFill>
            <a:srgbClr val="B8872E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171700" y="3219450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约定处置 + 定向传承</a:t>
            </a:r>
            <a:endParaRPr sz="1425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39814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 4</a:t>
            </a:r>
            <a:endParaRPr sz="1125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95425" y="4114800"/>
            <a:ext cx="523875" cy="19050"/>
          </a:xfrm>
          <a:prstGeom prst="rect">
            <a:avLst/>
          </a:prstGeom>
          <a:solidFill>
            <a:srgbClr val="B8872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171700" y="3905250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全权运作 + 闭环保障</a:t>
            </a:r>
            <a:endParaRPr sz="1425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4791075"/>
            <a:ext cx="95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标准流程</a:t>
            </a:r>
            <a:endParaRPr sz="120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09600" y="5200650"/>
            <a:ext cx="2343150" cy="666750"/>
          </a:xfrm>
          <a:prstGeom prst="roundRect">
            <a:avLst>
              <a:gd name="adj" fmla="val 8571"/>
            </a:avLst>
          </a:prstGeom>
          <a:solidFill>
            <a:srgbClr val="E6F4F2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2950" y="53435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5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76325" y="5267325"/>
            <a:ext cx="17335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9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09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系统随机分配</a:t>
            </a:r>
            <a:endParaRPr sz="109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000375" y="53435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031"/>
          </a:bodyPr>
          <a:lstStyle>
            <a:defPPr algn="ctr">
              <a:defRPr sz="19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9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1950" b="1">
              <a:solidFill>
                <a:srgbClr val="B88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3333750" y="5200650"/>
            <a:ext cx="2343150" cy="666750"/>
          </a:xfrm>
          <a:prstGeom prst="roundRect">
            <a:avLst>
              <a:gd name="adj" fmla="val 8571"/>
            </a:avLst>
          </a:prstGeom>
          <a:solidFill>
            <a:srgbClr val="087F78"/>
          </a:solidFill>
          <a:ln w="9525">
            <a:solidFill>
              <a:srgbClr val="087F7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467100" y="53435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800475" y="5267325"/>
            <a:ext cx="17335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完整展示 1 个情景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724525" y="53435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031"/>
          </a:bodyPr>
          <a:lstStyle>
            <a:defPPr algn="ctr">
              <a:defRPr sz="19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9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1950" b="1">
              <a:solidFill>
                <a:srgbClr val="B88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057900" y="5200650"/>
            <a:ext cx="2343150" cy="666750"/>
          </a:xfrm>
          <a:prstGeom prst="roundRect">
            <a:avLst>
              <a:gd name="adj" fmla="val 8571"/>
            </a:avLst>
          </a:prstGeom>
          <a:solidFill>
            <a:srgbClr val="E6F4F2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191250" y="53435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24625" y="5267325"/>
            <a:ext cx="17335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9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09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受访者独立阅读或工作人员原文朗读</a:t>
            </a:r>
            <a:endParaRPr sz="109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448675" y="53435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031"/>
          </a:bodyPr>
          <a:lstStyle>
            <a:defPPr algn="ctr">
              <a:defRPr sz="19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9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B88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1950" b="1">
              <a:solidFill>
                <a:srgbClr val="B88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8782050" y="5200650"/>
            <a:ext cx="2343150" cy="666750"/>
          </a:xfrm>
          <a:prstGeom prst="roundRect">
            <a:avLst>
              <a:gd name="adj" fmla="val 8571"/>
            </a:avLst>
          </a:prstGeom>
          <a:solidFill>
            <a:srgbClr val="E6F4F2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915400" y="53435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05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7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1">
              <a:solidFill>
                <a:srgbClr val="07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248775" y="5267325"/>
            <a:ext cx="17335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9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09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完成后续 R、C、W 等题目</a:t>
            </a:r>
            <a:endParaRPr sz="109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191250" y="1847850"/>
            <a:ext cx="5391150" cy="2781300"/>
          </a:xfrm>
          <a:prstGeom prst="roundRect">
            <a:avLst>
              <a:gd name="adj" fmla="val 2055"/>
            </a:avLst>
          </a:prstGeom>
          <a:solidFill>
            <a:srgbClr val="FBE9E7"/>
          </a:solidFill>
          <a:ln w="9525">
            <a:solidFill>
              <a:srgbClr val="E8B8B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457950" y="2085975"/>
            <a:ext cx="1428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项禁止</a:t>
            </a:r>
            <a:endParaRPr sz="150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486525" y="2590800"/>
            <a:ext cx="23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150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858000" y="2590800"/>
            <a:ext cx="4381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不要按受访者偏好挑选情景</a:t>
            </a:r>
            <a:endParaRPr sz="1200" b="1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486525" y="2925445"/>
            <a:ext cx="23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150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58000" y="2962275"/>
            <a:ext cx="4381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0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不要补充收益、费用或保障承诺</a:t>
            </a:r>
            <a:endParaRPr sz="1200" b="0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486525" y="3357245"/>
            <a:ext cx="23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8000"/>
              </a:lnSpc>
              <a:buNone/>
              <a:def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1500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858000" y="3371850"/>
            <a:ext cx="4381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1200" b="0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8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不要比较优劣，也不要引导后续量表答案</a:t>
            </a:r>
            <a:endParaRPr sz="1200" b="0">
              <a:solidFill>
                <a:srgbClr val="18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457950" y="43338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7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3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受访者追问时</a:t>
            </a:r>
            <a:endParaRPr sz="975" b="1">
              <a:solidFill>
                <a:srgbClr val="C3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686675" y="4305300"/>
            <a:ext cx="361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666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重复题面信息，并说明这是调查中的假设情景，实际条款以正式合同为准。</a:t>
            </a:r>
            <a:endParaRPr sz="940" b="0">
              <a:solidFill>
                <a:srgbClr val="5666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09600" y="65436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08000"/>
              </a:lnSpc>
              <a:buNone/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住房信托养老专项问卷｜工作人员宣导</a:t>
            </a:r>
            <a:endParaRPr sz="750" b="0">
              <a:solidFill>
                <a:srgbClr val="7583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1191875" y="65436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08000"/>
              </a:lnSpc>
              <a:buNone/>
              <a:def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583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750" b="0">
              <a:solidFill>
                <a:srgbClr val="7583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534025" y="40513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注意：回答情境实验题和受访者说明，需要沉浸式阅读想象有这样一种产品，并且根据自己的真实想法和感受填写材料后的题目。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WPS 演示</Application>
  <PresentationFormat>Converted Presentation</PresentationFormat>
  <Paragraphs>289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金羿飞</cp:lastModifiedBy>
  <cp:revision>3</cp:revision>
  <dcterms:created xsi:type="dcterms:W3CDTF">2026-10-14T14:05:00Z</dcterms:created>
  <dcterms:modified xsi:type="dcterms:W3CDTF">2026-10-16T03:21:10Z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0ACADB10757C40FDA7940F7554F2ED82_12</vt:lpwstr>
  </property>
  <property fmtid="{D5CDD505-2E9C-101B-9397-08002B2CF9AE}" pid="3" name="KSOProductBuildVer">
    <vt:lpwstr>2052-12.1.0.28505</vt:lpwstr>
  </property>
</Properties>
</file>